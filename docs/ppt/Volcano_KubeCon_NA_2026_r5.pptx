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0:20。标题保持不变。Agentic AI 作为基础设施背景，不把每次 agent 调用等同于一个 Pod。讲者姓名以用户指示为准。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0:40。Ricardo：NA 2026 官方会议资料列为 Nunchux AI 的 AI Infrastructure Lead；CNCF TOC 页面列为 TOC Alternate (GB)，不是 Governing Board 成员，不写 Founder 或 CEO。2026-10-29 核查。照片来自 Linux Foundation 公开讲者页。</a:t>
            </a:r>
          </a:p>
          <a:p>
            <a:r>
              <a:t>https://events.linuxfoundation.org/kubecon-cloudnativecon-north-america/program/schedule/?id=1289640</a:t>
            </a:r>
          </a:p>
          <a:p>
            <a:r>
              <a:t>https://www.cncf.io/people/technical-oversight-committee/</a:t>
            </a:r>
          </a:p>
          <a:p>
            <a:r>
              <a:t>https://events.linuxfoundation.org/archive/2026/open-source-summit-north-america/program/program-committee/</a:t>
            </a:r>
          </a:p>
          <a:p>
            <a:r>
              <a:t>https://events.linuxfoundation.org/spinnaker-live/program/featured-speakers/</a:t>
            </a:r>
          </a:p>
          <a:p>
            <a:r>
              <a:t>https://yunikorn.apache.org/community/people/</a:t>
            </a:r>
          </a:p>
          <a:p>
            <a:r>
              <a:t>https://www.linkedin.com/in/rainie-li-71b2b146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0:10。从统一调度框架切入，后面落到工作负载、生态和验证。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1:20。训练图展示两个 PP stage，每个 stage 两个 TP ranks，需要完整子组及通信局部性。推理展示 P/D 分离，不同角色及副本的 gang 与 topology 约束。Agent 路径先命中预热池并复用 ready runtime；池子耗尽时由 runtime/pool controller 请求容量，经快速 Pod 调度补池。请求突发图是需求示意，没有测量值。池管理不是 Volcano 自带能力，也不是每次调用创建 Pod。</a:t>
            </a:r>
          </a:p>
          <a:p/>
          <a:p>
            <a:r>
              <a:t>技术来源：</a:t>
            </a:r>
          </a:p>
          <a:p/>
          <a:p/>
          <a:p>
            <a:r>
              <a:t>本页新版素材与说明：</a:t>
            </a:r>
          </a:p>
          <a:p>
            <a:r>
              <a:t>Visual: na2026/svg/04-workload-demands.svg。PNG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1:30。复用 China 架构图，从左右两条路径讲到中间 NodeShard。worker/Binder 的冲突检查是局部机制；不宣称并行一定带来性能提升。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7; same architecture family as EU 2026.</a:t>
            </a:r>
          </a:p>
          <a:p>
            <a:r>
              <a:t>Visual: na2026/svg/05-unified-architecture.svg。PNG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1:40。重点对照 nodesDesired 和 nodesInUse。期望集合变化后需等待协调器交接，不迁移运行中的 Pod。旧图中的资源策略是架构扩展点，不表示所有策略都已完成。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9; docs/design/agent-scheduler.md; shard API types.</a:t>
            </a:r>
          </a:p>
          <a:p>
            <a:r>
              <a:t>Visual: na2026/svg/06-nodeshard.svg。PNG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0:15。转场：拿到可用节点之后，还要保留完整副本以及它们的通信局部性。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2:00。用左边训练和右边 serving 两种结构解释 PodGroup 与 SubGroup，先看完整计算组，再看下面的放置域。一个 policy 可以按 replica label 分出多个实际 SubGroup。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14. Figure reused unchanged.</a:t>
            </a:r>
          </a:p>
          <a:p>
            <a:r>
              <a:t>Visual: na2026/svg/08-group-structure.svg。PNG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1:30。从物理网络映射到 HyperNode：非叶节点的成员是 HyperNode，叶节点的成员是 Node。standalone HyperNode 已交付；其他调度器 adapter 是独立的集成工作。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https://github.com/volcano-sh/volcano/releases/tag/v1.16.0</a:t>
            </a:r>
          </a:p>
          <a:p/>
          <a:p>
            <a:r>
              <a:t>本页新版素材与说明：China 2026 slide 16 (physical fabric); benchmark/scripts/create-hypernodes.sh.</a:t>
            </a:r>
          </a:p>
          <a:p>
            <a:r>
              <a:t>Visual: na2026/svg/09-hypernode-api.svg。PNG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2:00。PodGroup 是较大的实例边界，prefill 和 decode 的 locality 约束可以不同。两层约束都显式填写，不假设子组继承 PodGroup 的 topology。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/>
          <a:p>
            <a:r>
              <a:t>本页新版素材与说明：EU 2026 slide 16 / China 2026 slide 17; PodGroup API. Selector and Decode fragment below are explanatory excerpts.</a:t>
            </a:r>
          </a:p>
          <a:p>
            <a:r>
              <a:t>图例使用两个固定角色组，各4 Pods。spec 片段省略 labelSelector；实际使用时给两个 policy 配置匹配各自角色的 Pod selector。不是可直接 apply 的完整 manifest。</a:t>
            </a:r>
          </a:p>
          <a:p>
            <a:r>
              <a:t>Visual: na2026/svg/10-multilevel-placement.svg。PNG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1:40。复用第 10 页网络层级及交换机符号，两个 Supernode 共用上层 core fabric。两个完整服务实例各在一个域，避免一次域故障同时影响两份实例。P/D 是简化角色标记，不代表唯一模型结构。Kthena ServingGroup→PodGroup 可作为场景，但 topology affinity 接入截至 2026-10-29 仍是开放 proposal #1478 / issue #645，不能说 Kthena 已交付 anti-affinity。HA 的服务恢复还需 routing/health checks，scheduler 不提供应用故障切换。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https://github.com/volcano-sh/volcano/pull/5349</a:t>
            </a:r>
          </a:p>
          <a:p/>
          <a:p>
            <a:r>
              <a:t>本页新版素材与说明：docs/user-guide/how_to_use_podgroup_anti_affinity.md; group-topology-affinity plugin, v1.16.</a:t>
            </a:r>
          </a:p>
          <a:p>
            <a:r>
              <a:t>https://github.com/volcano-sh/kthena/pull/1478</a:t>
            </a:r>
          </a:p>
          <a:p>
            <a:r>
              <a:t>https://github.com/volcano-sh/kthena/issues/645</a:t>
            </a:r>
          </a:p>
          <a:p>
            <a:r>
              <a:t>启用 group-topology-affinity 与 network-topology-aware；每个 PodGroup 配置相同分离规则。selector 匹配 PodGroup 标签，默认同 namespace。</a:t>
            </a:r>
          </a:p>
          <a:p>
            <a:r>
              <a:t>Visual: na2026/svg/11-instance-isolation.svg。PNG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1:20。放在第二章，以相同 fabric 演进关系语义。同一个 PodGroup 的 Prefill 与两个 Decode SubGroup 都位于 Supernode A，满足上层亲和；两个 Decode 副本分别位于 Leaf 0 与 Leaf 1，满足更细层级的反亲和。每个 SubGroup 都是完整两 Pod 组。Supernode B 和其他空闲 rack 表明这些约束是有选择的放置，而非资源只剩此处。关系 API 为 proposed，不提供伪造的可执行 YAML。</a:t>
            </a:r>
          </a:p>
          <a:p/>
          <a:p>
            <a:r>
              <a:t>技术来源：</a:t>
            </a:r>
          </a:p>
          <a:p>
            <a:r>
              <a:t>https://github.com/volcano-sh/volcano/releases/tag/v1.16.0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https://github.com/volcano-sh/volcano/blob/v1.16.0/docs/design/group-topology-affinity.md</a:t>
            </a:r>
          </a:p>
          <a:p/>
          <a:p>
            <a:r>
              <a:t>本页新版素材与说明：docs/design/group-topology-affinity.md (proposed SubGroup relationships); roadmap #6166.</a:t>
            </a:r>
          </a:p>
          <a:p>
            <a:r>
              <a:t>本页为未来方向，不能当作已交付 API。示意同一 PodGroup 内将协作组放近、将副本分开；具体 selector 与亲和关系设计仍需社区讨论。</a:t>
            </a:r>
          </a:p>
          <a:p>
            <a:r>
              <a:t>Visual: na2026/svg/12-subgroup-next.svg。PNG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0:10。转场：这些分组和拓扑语义，最终要由用户真正使用的 controller 传进来。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1:40。沿用 China Kthena 图及关键 YAML，按 ServingGroup→PodGroup、role replica→SubGroup 的顺序讲。一个 Entry 加一个 Worker 组成两 Pod 副本。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22; Kthena ModelServing gang scheduling guide.</a:t>
            </a:r>
          </a:p>
          <a:p>
            <a:r>
              <a:t>图中每个 role replica 有一个 Entry 和一个 Worker Pod；YAML 保留 gangPolicy、role 副本数与 workerReplicas，省略 entryTemplate、workerTemplate 与 networkTopology。Gang 不表示所有 Pod 原子绑定或同时启动。</a:t>
            </a:r>
          </a:p>
          <a:p>
            <a:r>
              <a:t>Visual: na2026/svg/14-kthena-mapping.svg。PNG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1:30。两个 replica，每个两个 hosts；用 matchLabelKeys 保持副本身份。head 另有分组。本页不把尚在推进的 KubeRay topology PR 当作已合入能力。</a:t>
            </a:r>
          </a:p>
          <a:p/>
          <a:p>
            <a:r>
              <a:t>技术来源：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/>
          <a:p>
            <a:r>
              <a:t>本页新版素材与说明：KubeRay #5249; #5369 open as of 2026-10-29. Volcano SubGroup API.</a:t>
            </a:r>
          </a:p>
          <a:p>
            <a:r>
              <a:t>Visual: na2026/svg/15-ray-replicas.svg。PNG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0:50。根据 Grove main 的实际 Volcano backend：一个 PodGang 生成一个 Volcano PodGroup；PodGang.spec.podGroups 中每一项生成 SubGroup policy，name 和 PodClique label 选中组，subGroupSize=max(minReplicas,1)，minSubGroups=1。图示两个组分别 2 和 4 Pods，总 minMember=6。当前 main 明确拒绝 PodCliqueSet / PodClique / PodCliqueScalingGroup 上的 topologyConstraint。区分已合入的 adapter 与发布版本支持；不要只依据 #516 初始 PR 描述判断后续 main。</a:t>
            </a:r>
          </a:p>
          <a:p>
            <a:r>
              <a:t>https://github.com/NVIDIA/grove/blob/main/operator/internal/scheduler/volcano/backend.go</a:t>
            </a:r>
          </a:p>
          <a:p/>
          <a:p>
            <a:r>
              <a:t>本页新版素材与说明：https://github.com/NVIDIA/grove/blob/1d8f83b38a3f54d9827bb579a68c0315ed54ce91/operator/internal/scheduler/volcano/backend.go (reviewed 2026-10-29); #516 merged. topologyConstraint is currently rejected.</a:t>
            </a:r>
          </a:p>
          <a:p>
            <a:r>
              <a:t>Visual: na2026/svg/16-grove-mapping.svg。PNG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0:50。具体 Kthena、KubeRay、Grove 案例之后再讲后续社区方向。RBG 推进中，已有 RoleInstance→SubGroup 基础；Kubeflow 计划在现有 Volcano 插件上深化分组及拓扑；LWS 计划 multi-role/multi-group 支持。状态来自 maintainer 的推进计划，不能写作全部已交付。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>
            <a:r>
              <a:t>https://github.com/ai-dynamo/grove/pull/516</a:t>
            </a:r>
          </a:p>
          <a:p>
            <a:r>
              <a:t>https://trainer.kubeflow.org/en/latest/operator-guides/job-scheduling/volcano.html</a:t>
            </a:r>
          </a:p>
          <a:p>
            <a:r>
              <a:t>https://github.com/kubernetes-sigs/lws/pull/498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/>
          <a:p>
            <a:r>
              <a:t>本页新版素材与说明：Kthena docs; KubeRay #5249 / #5369; Grove #516; RBG gang-scheduling docs; Kubeflow Trainer Volcano plugin; LWS README / DisaggregatedSet. Roadmap intent supplied by maintainers.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>
            <a:r>
              <a:t>右侧为 maintainer 提供的推进方向；RBG 公开文档已有 RoleInstance→SubGroup 基础。LWS 已有副本组，下一步是跨角色 multi-group 调度集成。</a:t>
            </a:r>
          </a:p>
          <a:p>
            <a:r>
              <a:t>Visual: na2026/svg/17-ecosystem.svg。PNG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0:10。转场：接入的控制器和约束越多，就越需要可重复的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1:30。沿数据路径解释 benchmark：场景输入→API/调度器→audit-exporter 与 Prometheus→报告。KWOK 只验证调度行为，不代表真实 GPU 执行吞吐。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https://github.com/volcano-sh/volcano/blob/a3d50b503/benchmark/scripts/README.md</a:t>
            </a:r>
          </a:p>
          <a:p/>
          <a:p>
            <a:r>
              <a:t>本页新版素材与说明：benchmark/README.md; benchmark/scripts; benchmark/config; benchmark/testcases.</a:t>
            </a:r>
          </a:p>
          <a:p>
            <a:r>
              <a:t>Visual: na2026/svg/19-benchmark-architecture.svg。PNG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1:20。已有 harness 为重复场景和指标采集打底。后续在同样集群容量、相同 workload arrivals/grouping/resources 下逐个运行不同 scheduler；每次 reset，不能让调度器同时竞争资源。固定每个实现的版本、配置和指标口径；记录各自合理调参后的配置。Kubernetes scheduler 可作为支持场景的 baseline，其他调度器集合待确定。未支持 gang 或 topology 的调度器不强行比较相同语义，须标注差异。比较 tail latency、binding throughput、完整 gang 数及放置正确性，不展示虚构结果。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https://github.com/volcano-sh/volcano/blob/a3d50b503/benchmark/scripts/collect-report.sh</a:t>
            </a:r>
          </a:p>
          <a:p>
            <a:r>
              <a:t>https://github.com/volcano-sh/volcano/blob/a3d50b503/benchmark/manifests/monitoring/grafana-dashboard.json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本页新版素材与说明：benchmark/README.md; benchmark/Makefile; benchmark/scripts/collect-report.sh.</a:t>
            </a:r>
          </a:p>
          <a:p>
            <a:r>
              <a:t>Visual: na2026/svg/20-benchmark-progress.svg。PNG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1:20。选择代表性场景，寻找每种 scheduler 的适用边界，不只找有利 Volcano 的配置。第一类改变 arrival rate、预留容量，观察突发的尾延迟和积压恢复；只测试 pool 容量请求的调度，不用 KWOK 宣称完整 agent runtime 延迟。第二类改变 SubGroup 大小和可用资源碎片，观察完整 gangs 和 binding throughput。第三类组合 topology tier limits、可用域、gang/anti-affinity，检查 placement correctness 与完成延迟。KWOK 可以验证调度行为；NCCL/KV 带宽及实际模型吞吐需要真实硬件另测。本页是 ongoing/planned test matrix，没有 benchmark 数字。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https://github.com/volcano-sh/volcano/blob/a3d50b503/benchmark/scripts/collect-report.sh</a:t>
            </a:r>
          </a:p>
          <a:p/>
          <a:p>
            <a:r>
              <a:t>本页新版素材与说明：benchmark/scripts/collect-report.sh and audit-exporter event definitions. No performance results selected.</a:t>
            </a:r>
          </a:p>
          <a:p>
            <a:r>
              <a:t>口径：scheduledAt−createdAt；binding throughput 为成功 bindings / 首尾成功 bind 时间差。对照时保留原始事件、重复次数与环境配置。命令与完整指标定义见 benchmark/README.md。</a:t>
            </a:r>
          </a:p>
          <a:p>
            <a:r>
              <a:t>Visual: na2026/svg/21-benchmark-measurement.svg。PNG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1:00。收尾强调下一步：SubGroup affinity/anti-affinity 的语义与实现；RBG/Kubeflow/LWS multi-group 的社区工作；多调度器横向对照、代表性场景及 topology-aware gang 测试。</a:t>
            </a:r>
          </a:p>
          <a:p/>
          <a:p>
            <a:r>
              <a:t>技术来源：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https://github.com/volcano-sh/volcano/blob/a3d50b503/benchmark/README.md</a:t>
            </a:r>
          </a:p>
          <a:p/>
          <a:p>
            <a:r>
              <a:t>本页新版素材与说明：</a:t>
            </a:r>
          </a:p>
          <a:p>
            <a:r>
              <a:t>Visual: na2026/svg/22-takeaways.svg。PNG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5:00。问答。优先收集工作负载如何分组、需要哪些拓扑关系，以及可重复的测试场景。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</a:t>
            </a:r>
          </a:p>
          <a:p>
            <a:r>
              <a:t>Visual: na2026/svg/23-questions.svg。PNG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MAINTAINER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561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Volcano for the</a:t>
            </a:r>
          </a:p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Agentic AI Era: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83464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Unified Scheduling Across Training,</a:t>
            </a:r>
          </a:p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Inference, and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59028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283B"/>
                </a:solidFill>
                <a:latin typeface="Liberation Sans"/>
              </a:defRPr>
            </a:pPr>
            <a:r>
              <a:t>Ricardo Aravena  ·  Rainie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202936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KubeCon + CloudNativeCon North America 2026</a:t>
            </a:r>
          </a:p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Salt Lake City · November 9–12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MAINTAINER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17283B"/>
                </a:solidFill>
                <a:latin typeface="Liberation Sans"/>
              </a:defRPr>
            </a:pPr>
            <a:r>
              <a:t>Speakers</a:t>
            </a:r>
          </a:p>
        </p:txBody>
      </p:sp>
      <p:pic>
        <p:nvPicPr>
          <p:cNvPr id="6" name="Picture 5" descr="ricard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16002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Ricardo Aravena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AI Infrastructure Lead · Nunchux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CNCF TOC Alternate (GB)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Cloud native and AI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nunchux.ai · CNCF TOC</a:t>
            </a:r>
          </a:p>
        </p:txBody>
      </p:sp>
      <p:pic>
        <p:nvPicPr>
          <p:cNvPr id="11" name="Picture 10" descr="raini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160020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Rainie 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Pinterest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Data processing infrastructure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Apache YuniKorn PMC 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Apache YuniKorn · rainieli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Different paths. Shared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79145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414F60"/>
                </a:solidFill>
                <a:latin typeface="Liberation Sans"/>
              </a:defRPr>
            </a:pPr>
            <a:r>
              <a:t>How do schedulers coordinate node access?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Different Workloads, Shared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Training, inference, and agent applications put different demands on the same cluster.</a:t>
            </a:r>
          </a:p>
        </p:txBody>
      </p:sp>
      <p:pic>
        <p:nvPicPr>
          <p:cNvPr id="7" name="Picture 6" descr="04-workload-dem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Coordinated Scheduling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Specialized scheduling paths coordinate through NodeShard.</a:t>
            </a:r>
          </a:p>
        </p:txBody>
      </p:sp>
      <p:pic>
        <p:nvPicPr>
          <p:cNvPr id="7" name="Picture 6" descr="05-unified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NodeShard: Desired Nodes and Current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Changing a shard coordinates future placement; it does not migrate running Pods.</a:t>
            </a:r>
          </a:p>
        </p:txBody>
      </p:sp>
      <p:pic>
        <p:nvPicPr>
          <p:cNvPr id="7" name="Picture 6" descr="06-nodes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Multi-level gang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&amp; network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From available nodes to runnable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79145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414F60"/>
                </a:solidFill>
                <a:latin typeface="Liberation Sans"/>
              </a:defRPr>
            </a:pPr>
            <a:r>
              <a:t>What must run together, and where should it fit?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PodGroup and SubGroup: Preserve Workload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Gang requirements apply to the workload and to its complete subgroups.</a:t>
            </a:r>
          </a:p>
        </p:txBody>
      </p:sp>
      <p:pic>
        <p:nvPicPr>
          <p:cNvPr id="7" name="Picture 6" descr="08-group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50" b="1">
                <a:solidFill>
                  <a:srgbClr val="17283B"/>
                </a:solidFill>
                <a:latin typeface="Liberation Sans"/>
              </a:defRPr>
            </a:pPr>
            <a:r>
              <a:t>HyperNode: From Physical Fabric to Scheduling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A parent HyperNode groups child HyperNodes; a leaf groups Kubernetes Nodes.</a:t>
            </a:r>
          </a:p>
        </p:txBody>
      </p:sp>
      <p:pic>
        <p:nvPicPr>
          <p:cNvPr id="7" name="Picture 6" descr="09-hypernode-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Place Groups at Different Topology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An eight-Pod instance spans a larger domain; Prefill and Decode use different locality constraints.</a:t>
            </a:r>
          </a:p>
        </p:txBody>
      </p:sp>
      <p:pic>
        <p:nvPicPr>
          <p:cNvPr id="7" name="Picture 6" descr="10-multilevel-pla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Keep Each Instance Together, Place Instances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ServingGroup → PodGroup: a Kthena scenario. Anti-affinity integration in Kthena is proposed.</a:t>
            </a:r>
          </a:p>
        </p:txBody>
      </p:sp>
      <p:pic>
        <p:nvPicPr>
          <p:cNvPr id="7" name="Picture 6" descr="11-instance-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Relationships Between SubGroups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Keep cooperating groups local while separating replicas inside the same PodGroup.</a:t>
            </a:r>
          </a:p>
        </p:txBody>
      </p:sp>
      <p:pic>
        <p:nvPicPr>
          <p:cNvPr id="7" name="Picture 6" descr="12-subgroup-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Workload controllers carry scheduling intent.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79145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414F60"/>
                </a:solidFill>
                <a:latin typeface="Liberation Sans"/>
              </a:defRPr>
            </a:pPr>
            <a:r>
              <a:t>How do roles and replicas reach the scheduler?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Kthena: From Serving Roles to Scheduling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One ServingGroup maps to one PodGroup; each role replica forms a SubGroup.</a:t>
            </a:r>
          </a:p>
        </p:txBody>
      </p:sp>
      <p:pic>
        <p:nvPicPr>
          <p:cNvPr id="7" name="Picture 6" descr="14-kthena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KubeRay: A Replica Can Span Multiple Pods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The replica label separates complete groups inside one WorkerGroup.</a:t>
            </a:r>
          </a:p>
        </p:txBody>
      </p:sp>
      <p:pic>
        <p:nvPicPr>
          <p:cNvPr id="7" name="Picture 6" descr="15-ray-repl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Grove: Carry PodGang Structure into Volcano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The backend translates Grove PodGroups into Volcano SubGroup policies.</a:t>
            </a:r>
          </a:p>
        </p:txBody>
      </p:sp>
      <p:pic>
        <p:nvPicPr>
          <p:cNvPr id="7" name="Picture 6" descr="16-grove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RBG, Kubeflow, and LWS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Build on current integrations; carry finer group structure and placement requirements.</a:t>
            </a:r>
          </a:p>
        </p:txBody>
      </p:sp>
      <p:pic>
        <p:nvPicPr>
          <p:cNvPr id="7" name="Picture 6" descr="17-eco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Benchmark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framework &amp;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Measure behavior across workload shapes.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79145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414F60"/>
                </a:solidFill>
                <a:latin typeface="Liberation Sans"/>
              </a:defRPr>
            </a:pPr>
            <a:r>
              <a:t>What can we reproduce, compare, and improve?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Repeatable Scheduling Benchmark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Generate scenarios, observe API events, and retain comparable measurements.</a:t>
            </a:r>
          </a:p>
        </p:txBody>
      </p:sp>
      <p:pic>
        <p:nvPicPr>
          <p:cNvPr id="7" name="Picture 6" descr="19-benchmark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Compare Schedulers on the Same 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Repeat controlled runs to understand throughput, latency, and placement tradeoffs.</a:t>
            </a:r>
          </a:p>
        </p:txBody>
      </p:sp>
      <p:pic>
        <p:nvPicPr>
          <p:cNvPr id="7" name="Picture 6" descr="20-benchmark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Which Scenarios Fit Which Scheduler?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Expand tests across arrival patterns, group structure, and network topology.</a:t>
            </a:r>
          </a:p>
        </p:txBody>
      </p:sp>
      <p:pic>
        <p:nvPicPr>
          <p:cNvPr id="7" name="Picture 6" descr="21-benchmark-measu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What We Will Work On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Next steps in group placement, controller integration, and benchmarking.</a:t>
            </a:r>
          </a:p>
        </p:txBody>
      </p:sp>
      <p:pic>
        <p:nvPicPr>
          <p:cNvPr id="7" name="Picture 6" descr="22-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MAINTAINER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Workload shapes, integration feedback, and reproducible observations are welcome.</a:t>
            </a:r>
          </a:p>
        </p:txBody>
      </p:sp>
      <p:pic>
        <p:nvPicPr>
          <p:cNvPr id="7" name="Picture 6" descr="23-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for the Agentic AI Era: Unified Scheduling Across Training, Inference, and Agents</dc:title>
  <dc:subject>KubeCon NA 2026 — revised technical presentation</dc:subject>
  <dc:creator>Ricardo Aravena; Rainie Li</dc:creator>
  <cp:keywords/>
  <dc:description>2026-10-29. Retained China/EU figures; API excerpts; 4 chapter dividers. No invented benchmark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