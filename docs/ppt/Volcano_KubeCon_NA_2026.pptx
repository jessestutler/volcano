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0:40。Ricardo：NA 2026 官方会议资料列为 Nunchux AI 的 AI Infrastructure Lead；CNCF TOC 页面列为 TOC Alternate (GB)，不是 Governing Board 成员，不写 Founder 或 CEO。2026-10-29 核查。照片来自 Linux Foundation 公开讲者页。</a:t>
            </a:r>
          </a:p>
          <a:p>
            <a:r>
              <a:t>https://events.linuxfoundation.org/kubecon-cloudnativecon-north-america/program/schedule/?id=1289640</a:t>
            </a:r>
          </a:p>
          <a:p>
            <a:r>
              <a:t>https://www.cncf.io/people/technical-oversight-committee/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1:20。训练图展示两个 PP stage，每个 stage 两个 TP ranks，需要完整子组及通信局部性。推理展示 P/D 分离，不同角色及副本的 gang 与 topology 约束。Agent 路径先命中预热池并复用 ready runtime；池子耗尽时由 runtime/pool controller 请求容量，经快速 Pod 调度补池。请求突发图是需求示意，没有测量值。池管理不是 Volcano 自带能力，也不是每次调用创建 Pod。</a:t>
            </a:r>
          </a:p>
          <a:p>
            <a:r>
              <a:t>讲解提示：Training, inference, and agent applications put different demands on the same cluster.</a:t>
            </a:r>
          </a:p>
          <a:p>
            <a:r>
              <a:t>移入备注的解释：</a:t>
            </a:r>
          </a:p>
          <a:p>
            <a:r>
              <a:t>TRAINING</a:t>
            </a:r>
          </a:p>
          <a:p>
            <a:r>
              <a:t>INFERENCE</a:t>
            </a:r>
          </a:p>
          <a:p>
            <a:r>
              <a:t>PodGroup · pipeline stages</a:t>
            </a:r>
          </a:p>
          <a:p>
            <a:r>
              <a:t>PodGroup · disaggregated serving</a:t>
            </a:r>
          </a:p>
          <a:p>
            <a:r>
              <a:t>Complete TP / PP gangs + network locality</a:t>
            </a:r>
          </a:p>
          <a:p>
            <a:r>
              <a:t>Role groups + topology-aware placement</a:t>
            </a:r>
          </a:p>
          <a:p>
            <a:r>
              <a:t>AGENTS</a:t>
            </a:r>
          </a:p>
          <a:p>
            <a:r>
              <a:t>reuse ready capacity</a:t>
            </a:r>
          </a:p>
          <a:p>
            <a:r>
              <a:t>replenish the pool</a:t>
            </a:r>
          </a:p>
          <a:p>
            <a:r>
              <a:t>Schedule complete groups and their locality; keep latency-sensitive capacity ready.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>
            <a:r>
              <a:t>讲解提示：Specialized scheduling paths coordinate through NodeShard.</a:t>
            </a:r>
          </a:p>
          <a:p>
            <a:r>
              <a:t>移入备注的解释：</a:t>
            </a:r>
          </a:p>
          <a:p>
            <a:r>
              <a:t>01</a:t>
            </a:r>
          </a:p>
          <a:p>
            <a:r>
              <a:t>Workload paths</a:t>
            </a:r>
          </a:p>
          <a:p>
            <a:r>
              <a:t>Batch-oriented scheduling and a Pod-oriented fast path.</a:t>
            </a:r>
          </a:p>
          <a:p>
            <a:r>
              <a:t>02</a:t>
            </a:r>
          </a:p>
          <a:p>
            <a:r>
              <a:t>Local coordination</a:t>
            </a:r>
          </a:p>
          <a:p>
            <a:r>
              <a:t>Parallel workers use Binder conflict checks.</a:t>
            </a:r>
          </a:p>
          <a:p>
            <a:r>
              <a:t>03</a:t>
            </a:r>
          </a:p>
          <a:p>
            <a:r>
              <a:t>Shared node access</a:t>
            </a:r>
          </a:p>
          <a:p>
            <a:r>
              <a:t>NodeShard coordinates candidate-node pools.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>
            <a:r>
              <a:t>讲解提示：Changing a shard coordinates future placement; it does not migrate running Pods.</a:t>
            </a:r>
          </a:p>
          <a:p>
            <a:r>
              <a:t>移入备注的解释：</a:t>
            </a:r>
          </a:p>
          <a:p>
            <a:r>
              <a:t>NodeShard · spec / status excerpt</a:t>
            </a:r>
          </a:p>
          <a:p>
            <a:r>
              <a:t>Desired membership ≠ immediate use</a:t>
            </a:r>
          </a:p>
          <a:p>
            <a:r>
              <a:t>Coordinators reconcile node access.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>
            <a:r>
              <a:t>讲解提示：Gang requirements apply to the workload and to its complete subgroups.</a:t>
            </a:r>
          </a:p>
          <a:p>
            <a:r>
              <a:t>移入备注的解释：</a:t>
            </a:r>
          </a:p>
          <a:p>
            <a:r>
              <a:t>A SubGroup policy selects Pods; replica identity can split them into multiple SubGroups.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>
            <a:r>
              <a:t>讲解提示：A parent HyperNode groups child HyperNodes; a leaf groups Kubernetes Nodes.</a:t>
            </a:r>
          </a:p>
          <a:p>
            <a:r>
              <a:t>移入备注的解释：</a:t>
            </a:r>
          </a:p>
          <a:p>
            <a:r>
              <a:t>PHYSICAL FABRIC</a:t>
            </a:r>
          </a:p>
          <a:p>
            <a:r>
              <a:t>Parent · HyperNode.spec</a:t>
            </a:r>
          </a:p>
          <a:p>
            <a:r>
              <a:t>Leaf · HyperNode.spec</a:t>
            </a:r>
          </a:p>
          <a:p>
            <a:r>
              <a:t>The same hierarchy is available through the standalone HyperNode component.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>
            <a:r>
              <a:t>讲解提示：An eight-Pod instance spans a larger domain; Prefill and Decode use different locality constraints.</a:t>
            </a:r>
          </a:p>
          <a:p>
            <a:r>
              <a:t>移入备注的解释：</a:t>
            </a:r>
          </a:p>
          <a:p>
            <a:r>
              <a:t>PodGroup.spec · key fields</a:t>
            </a:r>
          </a:p>
          <a:p>
            <a:r>
              <a:t>Named tiers: core (3) · spine (2) · leaf (1)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1:40。复用第 10 页网络层级及交换机符号，两个 Supernode 共用上层 core fabric。两个完整服务实例各在一个域，避免一次域故障同时影响两份实例。P/D 是简化角色标记，不代表唯一模型结构。Kthena ServingGroup→PodGroup 可作为场景，但 topology affinity 接入截至 2026-10-29 仍是开放 proposal #1478 / issue #645，不能说 Kthena 已交付 anti-affinity。HA 的服务恢复还需 routing/health checks，scheduler 不提供应用故障切换。</a:t>
            </a:r>
          </a:p>
          <a:p>
            <a:r>
              <a:t>讲解提示：ServingGroup → PodGroup: a Kthena scenario. Anti-affinity integration in Kthena is proposed.</a:t>
            </a:r>
          </a:p>
          <a:p>
            <a:r>
              <a:t>移入备注的解释：</a:t>
            </a:r>
          </a:p>
          <a:p>
            <a:r>
              <a:t>PodGroup.spec · key fields</a:t>
            </a:r>
          </a:p>
          <a:p>
            <a:r>
              <a:t>One domain can fail without taking both complete instances with it.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https://github.com/volcano-sh/kthena/pull/1478</a:t>
            </a:r>
          </a:p>
          <a:p>
            <a:r>
              <a:t>https://github.com/volcano-sh/kthena/issues/645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1:20。放在第二章，以相同 fabric 演进关系语义。同一个 PodGroup 的 Prefill 与两个 Decode SubGroup 都位于 Supernode A，满足上层亲和；两个 Decode 副本分别位于 Leaf 0 与 Leaf 1，满足更细层级的反亲和。每个 SubGroup 都是完整两 Pod 组。Supernode B 和其他空闲 rack 表明这些约束是有选择的放置，而非资源只剩此处。关系 API 为 proposed，不提供伪造的可执行 YAML。</a:t>
            </a:r>
          </a:p>
          <a:p>
            <a:r>
              <a:t>讲解提示：Keep cooperating groups local while separating replicas inside the same PodGroup.</a:t>
            </a:r>
          </a:p>
          <a:p>
            <a:r>
              <a:t>移入备注的解释：</a:t>
            </a:r>
          </a:p>
          <a:p>
            <a:r>
              <a:t>PROPOSED · SUBGROUP RELATIONSHIPS</a:t>
            </a:r>
          </a:p>
          <a:p>
            <a:r>
              <a:t>Affinity · supernode</a:t>
            </a:r>
          </a:p>
          <a:p>
            <a:r>
              <a:t>Prefill + Decode</a:t>
            </a:r>
          </a:p>
          <a:p>
            <a:r>
              <a:t>Keep KV exchange inside the same supernode.</a:t>
            </a:r>
          </a:p>
          <a:p>
            <a:r>
              <a:t>Anti-affinity · leaf</a:t>
            </a:r>
          </a:p>
          <a:p>
            <a:r>
              <a:t>Decode replica 0 + replica 1</a:t>
            </a:r>
          </a:p>
          <a:p>
            <a:r>
              <a:t>Keep complete replicas on separate leaf domains.</a:t>
            </a:r>
          </a:p>
          <a:p>
            <a:r>
              <a:t>Cooperate at one topology level; isolate replicas at a finer level.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na2026/svg/12-subgroup-next.svg。PNG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>
            <a:r>
              <a:t>讲解提示：One ServingGroup maps to one PodGroup; each role replica forms a SubGroup.</a:t>
            </a:r>
          </a:p>
          <a:p>
            <a:r>
              <a:t>移入备注的解释：</a:t>
            </a:r>
          </a:p>
          <a:p>
            <a:r>
              <a:t>ModelServing.spec · excerpt</a:t>
            </a:r>
          </a:p>
          <a:p>
            <a:r>
              <a:t>Pod templates omitted.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>
            <a:r>
              <a:t>讲解提示：The replica label separates complete groups inside one WorkerGroup.</a:t>
            </a:r>
          </a:p>
          <a:p>
            <a:r>
              <a:t>移入备注的解释：</a:t>
            </a:r>
          </a:p>
          <a:p>
            <a:r>
              <a:t>RayCluster · worker group</a:t>
            </a:r>
          </a:p>
          <a:p>
            <a:r>
              <a:t>worker registration / RPC</a:t>
            </a:r>
          </a:p>
          <a:p>
            <a:r>
              <a:t>PodGroup.spec · generated grouping</a:t>
            </a:r>
          </a:p>
          <a:p>
            <a:r>
              <a:t>One replica label → one complete SubGroup</a:t>
            </a:r>
          </a:p>
          <a:p>
            <a:r>
              <a:t>Two replicas × two hosts = four worker Pods</a:t>
            </a:r>
          </a:p>
          <a:p>
            <a:r>
              <a:t>Grouping view, not a topology guarantee. Gang support is merged; replica topology is still in progress.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0:50。根据 Grove main 的实际 Volcano backend：一个 PodGang 生成一个 Volcano PodGroup；PodGang.spec.podGroups 中每一项生成 SubGroup policy，name 和 PodClique label 选中组，subGroupSize=max(minReplicas,1)，minSubGroups=1。图示两个组分别 2 和 4 Pods，总 minMember=6。当前 main 明确拒绝 PodCliqueSet / PodClique / PodCliqueScalingGroup 上的 topologyConstraint。区分已合入的 adapter 与发布版本支持；不要只依据 #516 初始 PR 描述判断后续 main。</a:t>
            </a:r>
          </a:p>
          <a:p>
            <a:r>
              <a:t>https://github.com/NVIDIA/grove/blob/main/operator/internal/scheduler/volcano/backend.go</a:t>
            </a:r>
          </a:p>
          <a:p>
            <a:r>
              <a:t>讲解提示：The backend translates Grove PodGroups into Volcano SubGroup policies.</a:t>
            </a:r>
          </a:p>
          <a:p>
            <a:r>
              <a:t>移入备注的解释：</a:t>
            </a:r>
          </a:p>
          <a:p>
            <a:r>
              <a:t>PodGang minimum = 2 + 4 = 6 Pods</a:t>
            </a:r>
          </a:p>
          <a:p>
            <a:r>
              <a:t>Gang / SubGroup mapping is available; topologyConstraint is not yet supported.</a:t>
            </a:r>
          </a:p>
          <a:p/>
          <a:p>
            <a:r>
              <a:t>本页新版素材与说明：https://github.com/NVIDIA/grove/blob/1d8f83b38a3f54d9827bb579a68c0315ed54ce91/operator/internal/scheduler/volcano/backend.go (reviewed 2026-10-29); #516 merged. topologyConstraint is currently rejected.</a:t>
            </a:r>
          </a:p>
          <a:p>
            <a:r>
              <a:t>Visual: na2026/svg/16-grove-mapping.svg。PNG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0:50。具体 Kthena、KubeRay、Grove 案例之后再讲后续社区方向。RBG 推进中，已有 RoleInstance→SubGroup 基础；Kubeflow 计划在现有 Volcano 插件上深化分组及拓扑；LWS 计划 multi-role/multi-group 支持。状态来自 maintainer 的推进计划，不能写作全部已交付。</a:t>
            </a:r>
          </a:p>
          <a:p>
            <a:r>
              <a:t>讲解提示：Build on current integrations; carry finer group structure and placement requirements.</a:t>
            </a:r>
          </a:p>
          <a:p>
            <a:r>
              <a:t>移入备注的解释：</a:t>
            </a:r>
          </a:p>
          <a:p>
            <a:r>
              <a:t>IN PROGRESS</a:t>
            </a:r>
          </a:p>
          <a:p>
            <a:r>
              <a:t>Extend the existing gang integration.</a:t>
            </a:r>
          </a:p>
          <a:p>
            <a:r>
              <a:t>PLANNED</a:t>
            </a:r>
          </a:p>
          <a:p>
            <a:r>
              <a:t>Training groups + topology</a:t>
            </a:r>
          </a:p>
          <a:p>
            <a:r>
              <a:t>Build on the Volcano scheduler plugin.</a:t>
            </a:r>
          </a:p>
          <a:p>
            <a:r>
              <a:t>PLANNED</a:t>
            </a:r>
          </a:p>
          <a:p>
            <a:r>
              <a:t>Multi-role / multi-group support</a:t>
            </a:r>
          </a:p>
          <a:p>
            <a:r>
              <a:t>Connect group relationships to scheduling.</a:t>
            </a:r>
          </a:p>
          <a:p>
            <a:r>
              <a:t>Carry roles, replicas, and placement intent from the controller into Volcano.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na2026/svg/17-ecosystem.svg。PNG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>
            <a:r>
              <a:t>讲解提示：Generate scenarios, observe API events, and retain comparable measurements.</a:t>
            </a:r>
          </a:p>
          <a:p>
            <a:r>
              <a:t>移入备注的解释：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OBSERVATION</a:t>
            </a:r>
          </a:p>
          <a:p>
            <a:r>
              <a:t>JOBS</a:t>
            </a:r>
          </a:p>
          <a:p>
            <a:r>
              <a:t>REPLICAS</a:t>
            </a:r>
          </a:p>
          <a:p>
            <a:r>
              <a:t>MIN_AVAILABLE</a:t>
            </a:r>
          </a:p>
          <a:p>
            <a:r>
              <a:t>Version + resources + topology</a:t>
            </a:r>
          </a:p>
          <a:p>
            <a:r>
              <a:t>Pods · PodGroups · HyperNodes</a:t>
            </a:r>
          </a:p>
          <a:p>
            <a:r>
              <a:t>Kind + KWOK / existing cluster</a:t>
            </a:r>
          </a:p>
          <a:p>
            <a:r>
              <a:t>The harness controls the scenario and records observations; KWOK does not execute GPU work.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na2026/svg/19-benchmark-architecture.svg。PNG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 harness 为重复场景和指标采集打底。后续在同样集群容量、相同 workload arrivals/grouping/resources 下逐个运行不同 scheduler；每次 reset，不能让调度器同时竞争资源。固定每个实现的版本、配置和指标口径；记录各自合理调参后的配置。Kubernetes scheduler 可作为支持场景的 baseline，其他调度器集合待确定。未支持 gang 或 topology 的调度器不强行比较相同语义，须标注差异。比较 tail latency、binding throughput、完整 gang 数及放置正确性，不展示虚构结果。</a:t>
            </a:r>
          </a:p>
          <a:p>
            <a:r>
              <a:t>讲解提示：Repeat controlled runs to understand throughput, latency, and placement tradeoffs.</a:t>
            </a:r>
          </a:p>
          <a:p>
            <a:r>
              <a:t>移入备注的解释：</a:t>
            </a:r>
          </a:p>
          <a:p>
            <a:r>
              <a:t>ONE WORKLOAD, REPLAYED</a:t>
            </a:r>
          </a:p>
          <a:p>
            <a:r>
              <a:t>CROSS-SCHEDULER TESTING</a:t>
            </a:r>
          </a:p>
          <a:p>
            <a:r>
              <a:t>Same arrivals · groups · resources</a:t>
            </a:r>
          </a:p>
          <a:p>
            <a:r>
              <a:t>Pin versions + config</a:t>
            </a:r>
          </a:p>
          <a:p>
            <a:r>
              <a:t>Kubernetes scheduler¹</a:t>
            </a:r>
          </a:p>
          <a:p>
            <a:r>
              <a:t>Other schedulers¹</a:t>
            </a:r>
          </a:p>
          <a:p>
            <a:r>
              <a:t>Compare latency · binding throughput · completed gangs · placement</a:t>
            </a:r>
          </a:p>
          <a:p>
            <a:r>
              <a:t>¹ Planned comparison set; match workload semantics and record unsupported constraints.</a:t>
            </a:r>
          </a:p>
          <a:p>
            <a:r>
              <a:t>Harness available. Next: cross-scheduler runs and representative scenarios.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na2026/svg/20-benchmark-progress.svg。PNG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1:20。选择代表性场景，寻找每种 scheduler 的适用边界，不只找有利 Volcano 的配置。第一类改变 arrival rate、预留容量，观察突发的尾延迟和积压恢复；只测试 pool 容量请求的调度，不用 KWOK 宣称完整 agent runtime 延迟。第二类改变 SubGroup 大小和可用资源碎片，观察完整 gangs 和 binding throughput。第三类组合 topology tier limits、可用域、gang/anti-affinity，检查 placement correctness 与完成延迟。KWOK 可以验证调度行为；NCCL/KV 带宽及实际模型吞吐需要真实硬件另测。本页是 ongoing/planned test matrix，没有 benchmark 数字。</a:t>
            </a:r>
          </a:p>
          <a:p>
            <a:r>
              <a:t>讲解提示：Expand tests across arrival patterns, group structure, and network topology.</a:t>
            </a:r>
          </a:p>
          <a:p>
            <a:r>
              <a:t>移入备注的解释：</a:t>
            </a:r>
          </a:p>
          <a:p>
            <a:r>
              <a:t>TEST SHAPE</a:t>
            </a:r>
          </a:p>
          <a:p>
            <a:r>
              <a:t>WHAT TO VARY</a:t>
            </a:r>
          </a:p>
          <a:p>
            <a:r>
              <a:t>WHAT TO OBSERVE</a:t>
            </a:r>
          </a:p>
          <a:p>
            <a:r>
              <a:t>Arrival rate / spare capacity</a:t>
            </a:r>
          </a:p>
          <a:p>
            <a:r>
              <a:t>Warm-pool capacity requests</a:t>
            </a:r>
          </a:p>
          <a:p>
            <a:r>
              <a:t>Backlog recovery</a:t>
            </a:r>
          </a:p>
          <a:p>
            <a:r>
              <a:t>SubGroup size / fragmentation</a:t>
            </a:r>
          </a:p>
          <a:p>
            <a:r>
              <a:t>Few large vs. many small groups</a:t>
            </a:r>
          </a:p>
          <a:p>
            <a:r>
              <a:t>Binding throughput</a:t>
            </a:r>
          </a:p>
          <a:p>
            <a:r>
              <a:t>Tier limits / available domains</a:t>
            </a:r>
          </a:p>
          <a:p>
            <a:r>
              <a:t>Locality + gang + anti-affinity</a:t>
            </a:r>
          </a:p>
          <a:p>
            <a:r>
              <a:t>Gang completion + latency</a:t>
            </a:r>
          </a:p>
          <a:p>
            <a:r>
              <a:t>Find the best-fit scenarios and their tradeoffs; validate topology-aware gang placement.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口径：scheduledAt−createdAt；binding throughput 为成功 bindings / 首尾成功 bind 时间差。对照时保留原始事件、重复次数与环境配置。命令与完整指标定义见 benchmark/README.md。</a:t>
            </a:r>
          </a:p>
          <a:p>
            <a:r>
              <a:t>Visual: na2026/svg/21-benchmark-measurement.svg。PNG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1:00。收尾强调下一步：SubGroup affinity/anti-affinity 的语义与实现；RBG/Kubeflow/LWS multi-group 的社区工作；多调度器横向对照、代表性场景及 topology-aware gang 测试。</a:t>
            </a:r>
          </a:p>
          <a:p>
            <a:r>
              <a:t>讲解提示：Next steps in group placement, controller integration, and benchmarking.</a:t>
            </a:r>
          </a:p>
          <a:p>
            <a:r>
              <a:t>移入备注的解释：</a:t>
            </a:r>
          </a:p>
          <a:p>
            <a:r>
              <a:t>Bring a controller mapping, a placement requirement, or a reproducible workload to the community.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na2026/svg/22-takeaways.svg。PNG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0:20。复用 China 2026 第 25 页的 32 个社区用户 logo，保持来源，不把用户称为商业伙伴，也不沿用未经本轮核实的 60+ 数字。</a:t>
            </a:r>
          </a:p>
          <a:p/>
          <a:p>
            <a:r>
              <a:t>本页新版素材与说明：China 2026 slide 25. Original user logos, rearranged into eight columns; no new adopter count or partnership claims.</a:t>
            </a:r>
          </a:p>
          <a:p>
            <a:r>
              <a:t>Visual: na2026/svg/23-community-users.svg。PNG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>
            <a:r>
              <a:t>讲解提示：Workload shapes, integration feedback, and reproducible observations are welcome.</a:t>
            </a:r>
          </a:p>
          <a:p>
            <a:r>
              <a:t>复用 China 第 25 页二维码。已解码：Website https://volcano.sh；GitHub https://github.com/volcano-sh/volcano；Slack https://cloud-native.slack.com/archives/C011GJDQS0N。Slack 需要对应工作区账号。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na2026/svg/24-questions.svg。PNG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222222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222222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222222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222222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22222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555555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5" name="Picture 4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222222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222222"/>
                </a:solidFill>
                <a:latin typeface="Liberation Sans"/>
              </a:defRPr>
            </a:pPr>
            <a:r>
              <a:t>AI Infrastructure Lead · Nunchux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55555"/>
                </a:solidFill>
                <a:latin typeface="Liberation Sans"/>
              </a:defRPr>
            </a:pPr>
            <a:r>
              <a:t>CNCF TOC Alternate (GB)</a:t>
            </a:r>
          </a:p>
        </p:txBody>
      </p:sp>
      <p:pic>
        <p:nvPicPr>
          <p:cNvPr id="9" name="Picture 8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222222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222222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55555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417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E64030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222222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pic>
        <p:nvPicPr>
          <p:cNvPr id="5" name="Picture 4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Unified scheduling</a:t>
            </a:r>
          </a:p>
        </p:txBody>
      </p:sp>
      <p:pic>
        <p:nvPicPr>
          <p:cNvPr id="5" name="Picture 4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NodeShard coordination</a:t>
            </a:r>
          </a:p>
        </p:txBody>
      </p:sp>
      <p:pic>
        <p:nvPicPr>
          <p:cNvPr id="5" name="Picture 4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417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E64030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222222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400" b="1">
                <a:solidFill>
                  <a:srgbClr val="222222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PodGroup and SubGroup</a:t>
            </a:r>
          </a:p>
        </p:txBody>
      </p:sp>
      <p:pic>
        <p:nvPicPr>
          <p:cNvPr id="5" name="Picture 4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HyperNode</a:t>
            </a:r>
          </a:p>
        </p:txBody>
      </p:sp>
      <p:pic>
        <p:nvPicPr>
          <p:cNvPr id="5" name="Picture 4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pic>
        <p:nvPicPr>
          <p:cNvPr id="5" name="Picture 4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PodGroup anti-affinity</a:t>
            </a:r>
          </a:p>
        </p:txBody>
      </p:sp>
      <p:pic>
        <p:nvPicPr>
          <p:cNvPr id="5" name="Picture 4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SubGroup affinity and anti-affinity</a:t>
            </a:r>
          </a:p>
        </p:txBody>
      </p:sp>
      <p:pic>
        <p:nvPicPr>
          <p:cNvPr id="5" name="Picture 4" descr="12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417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E64030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222222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Kthena</a:t>
            </a:r>
          </a:p>
        </p:txBody>
      </p:sp>
      <p:pic>
        <p:nvPicPr>
          <p:cNvPr id="5" name="Picture 4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KubeRay</a:t>
            </a:r>
          </a:p>
        </p:txBody>
      </p:sp>
      <p:pic>
        <p:nvPicPr>
          <p:cNvPr id="5" name="Picture 4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Grove</a:t>
            </a:r>
          </a:p>
        </p:txBody>
      </p:sp>
      <p:pic>
        <p:nvPicPr>
          <p:cNvPr id="5" name="Picture 4" descr="16-grove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Next integrations</a:t>
            </a:r>
          </a:p>
        </p:txBody>
      </p:sp>
      <p:pic>
        <p:nvPicPr>
          <p:cNvPr id="5" name="Picture 4" descr="17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417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E64030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222222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Benchmark framework</a:t>
            </a:r>
          </a:p>
        </p:txBody>
      </p:sp>
      <p:pic>
        <p:nvPicPr>
          <p:cNvPr id="5" name="Picture 4" descr="19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Comparing schedulers</a:t>
            </a:r>
          </a:p>
        </p:txBody>
      </p:sp>
      <p:pic>
        <p:nvPicPr>
          <p:cNvPr id="5" name="Picture 4" descr="20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Benchmark scenarios</a:t>
            </a:r>
          </a:p>
        </p:txBody>
      </p:sp>
      <p:pic>
        <p:nvPicPr>
          <p:cNvPr id="5" name="Picture 4" descr="21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What’s next</a:t>
            </a:r>
          </a:p>
        </p:txBody>
      </p:sp>
      <p:pic>
        <p:nvPicPr>
          <p:cNvPr id="5" name="Picture 4" descr="22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Volcano community</a:t>
            </a:r>
          </a:p>
        </p:txBody>
      </p:sp>
      <p:pic>
        <p:nvPicPr>
          <p:cNvPr id="5" name="Picture 4" descr="23-community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22222"/>
                </a:solidFill>
                <a:latin typeface="Liberation Sans"/>
              </a:defRPr>
            </a:pPr>
            <a:r>
              <a:t>Thank you</a:t>
            </a:r>
          </a:p>
        </p:txBody>
      </p:sp>
      <p:pic>
        <p:nvPicPr>
          <p:cNvPr id="5" name="Picture 4" descr="24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55555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555555"/>
                </a:solidFill>
                <a:latin typeface="Liberation Sans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