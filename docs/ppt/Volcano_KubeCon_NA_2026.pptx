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0:30。原标题保持不变。开场一句：今天先讲调度路径之间如何协调，再讲分布式工作负载内部如何成组和放置。姓名与单位由讲者最终确认。</a:t>
            </a:r>
          </a:p>
          <a:p/>
          <a:p>
            <a:r>
              <a:t>Sources (status checked 2026-10-28):</a:t>
            </a:r>
          </a:p>
          <a:p/>
          <a:p>
            <a:r>
              <a:t>讲者姓名采用官方议程顺序；暂不填写未确认的单位。</a:t>
            </a:r>
          </a:p>
          <a:p/>
          <a:p>
            <a:r>
              <a:t>Visual source: na2026/svg/cover-background.svg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1:00。Agentic AI 是应用背景，Volcano 讨论底层 Kubernetes 工作负载。训练与 RL 是平台工作负载，不暗示每次 Agent 请求都会触发它们。Substrate / CubeSandbox 可在 worker 资源池上自行调度执行单元。</a:t>
            </a:r>
          </a:p>
          <a:p/>
          <a:p>
            <a:r>
              <a:t>Sources (status checked 2026-10-28):</a:t>
            </a:r>
          </a:p>
          <a:p/>
          <a:p/>
          <a:p>
            <a:r>
              <a:t>Visual source: na2026/svg/02-workloads.svg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1:30。这张图是职责概览，不表示 Binder 是所有 scheduler 共享的全局事务协调器。Worker 使用自己的 snapshot；Binder 的冲突处理属于 Agent Scheduler 内部。统一框架不等于统一算法，也不代表全局资源记账已经强一致。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Visual source: na2026/svg/03-unified-framework.svg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2:00。controller 分配候选节点范围；coordinator 协调当前周期正在使用的节点与期望节点。讲一次从 A 向 B 调整一个节点的例子，等相关周期完成再确认交接。none 不分片，soft 可回退到 shard 外，hard 限定范围。NodeShard 不迁移运行中的 Pods；soft 也不代表消除所有跨 scheduler 冲突。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https://github.com/volcano-sh/volcano/blob/v1.16.0/docs/design/agent-scheduler.md</a:t>
            </a:r>
          </a:p>
          <a:p>
            <a:r>
              <a:t>图示是候选节点使用范围的交接，不表示 Pod 迁移。desired change 阶段 N2 仍在 A 的当前周期中使用；实际交接依赖 coordinator 状态同步。</a:t>
            </a:r>
          </a:p>
          <a:p/>
          <a:p>
            <a:r>
              <a:t>Visual source: na2026/svg/04-nodeshard-handoff.svg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1:00。交接句：So far, we have discussed how scheduling paths coordinate their use of cluster nodes. But a set of available nodes is not enough for a distributed AI workload. We also need complete groups, the right topology, and placement relationships between groups. 不将 NodeShard、HyperNode、SubGroup 画成一棵包含树。</a:t>
            </a:r>
          </a:p>
          <a:p/>
          <a:p>
            <a:r>
              <a:t>Sources (status checked 2026-10-28):</a:t>
            </a:r>
          </a:p>
          <a:p/>
          <a:p/>
          <a:p>
            <a:r>
              <a:t>Visual source: na2026/svg/05-complete-groups.svg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2:30。先用一个总 minMember 满足但必需角色缺失的反例。随后解释两级 gang。一个 subGroupPolicy 能生成多个实际 SubGroups；图中各画一个示意副本，不代表整个 Role 只能有一个 gang。成组调度不等于所有进程同一时刻启动或跨 Pod 原子 bind。</a:t>
            </a:r>
          </a:p>
          <a:p/>
          <a:p>
            <a:r>
              <a:t>Sources (status checked 2026-10-28):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Visual source: na2026/svg/06-podgroup-subgroup.svg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2:00。HyperNode 表达拓扑域；图示层级不是所有集群必须采用的物理架构。讲清 hard/soft topology constraint。它与 scheduler sharding mode 的 hard/soft 不是同一个配置，也不代表节点所有权。</a:t>
            </a:r>
          </a:p>
          <a:p/>
          <a:p>
            <a:r>
              <a:t>Sources (status checked 2026-10-28):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Visual source: na2026/svg/07-hypernode-hierarchy.svg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2:00。整个实例限制在较大的 HyperNode 范围，实际 SubGroups 使用较小的范围。这里是放置示意，不是 NodeShard→HyperNode→PodGroup 的 API 包含关系。硬约束下局部域容量不足时，即使全集群资源充足也可能无法放置。</a:t>
            </a:r>
          </a:p>
          <a:p/>
          <a:p>
            <a:r>
              <a:t>Sources (status checked 2026-10-28):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Visual source: na2026/svg/08-multilevel-topology.svg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2:00。顺带说明 required 无合法域则 Pending、preferred 可退化；不再单独占一页。每个实例是一个 PodGroup，内部约束到同一个 supernode，两个 PodGroups 用 anti-affinity 分散。需要启用 plugin；规则选择 PodGroup labels / namespaces，相互分离时双方都应配置规则。主要通过 allocate 执行，不承诺 backfill 的 BestEffort Pods 同样受约束。拓扑分散本身不等于应用 failover。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Visual source: na2026/svg/09-podgroup-anti-affinity.svg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2:00。Kthena 已有 gang/topology。KubeRay #5249 已合并，#5369 截至核查仍 open。Grove #516 最终实现包含 SubGroupPolicy，但显式拒绝 topology constraints。Kubeflow / LWS 不是从零集成，后续深化分组与拓扑。各条既有能力不都意味着同等支持两级 gang 或 topology。</a:t>
            </a:r>
          </a:p>
          <a:p/>
          <a:p>
            <a:r>
              <a:t>Sources (status checked 2026-10-28):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/>
          <a:p>
            <a:r>
              <a:t>Visual source: na2026/svg/10-ecosystem-matrix.svg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1:00。仅讨论一个 worker group，忽略 head 等其他需求。minReplicas=2,numOfHosts=2，需要两套完整 replica identity，每套两个 Pods。三个来自 replica 0、一个来自 replica 1 并不满足。一个 WorkerGroup / subgroup policy 能生成多个实际 SubGroups。</a:t>
            </a:r>
          </a:p>
          <a:p/>
          <a:p>
            <a:r>
              <a:t>Sources (status checked 2026-10-28):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Visual source: na2026/svg/11-kuberay-replicas.svg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1:30。第三章同时交代已有采用与扩展方向。HyperNode standalone 已发布；API 独立可用不等于所有 scheduler adapter 已交付。未来 SubGroup affinity/anti-affinity 位于同一 PodGroup 内，不与已发布的 PodGroup anti-affinity 混淆。转场：控制器与工作负载不断增加，下一步要用可重复的 benchmark 验证规模、延迟和调度开销。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Visual source: na2026/svg/12-ecosystem-next.svg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1:30。已核对 benchmark/README.md、testcases 与 scripts。框架提供部署、负载配置和指标收集，既支持 Kind/KWOK 也支持已有集群。按配置可创建 HyperNode。KWOK 测试不能证明真实训练、推理或网络吞吐。此处是调度 benchmark，不是应用 benchmark。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Visual source: na2026/svg/13-benchmark-framework.svg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1:30。用户确认 benchmark 持续推进与测试；具体测试重点仍待选择，右栏为建议。左侧仅描述代码已有能力。collect-report 包含 Pod created→scheduled 延迟直方图分位数与成功 binding 事件吞吐计算；本地 audit 文件不可用时吞吐可能缺失。不同来源和时间窗口的指标不能混用。后续可选一项有证据的优化讲进展，不展开 Unschedulable Job Cache。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Visual source: na2026/svg/14-benchmark-progress.svg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1:30。正式视觉版此页先讲测量口径，不展示待选的性能结果。优先选择一组能说明问题的曲线或对比，不把无上下文日志中的数字直接放上来。注明 scheduler build、Kubernetes、控制面资源、节点/Pod/Job规模、gang/topology规则、测量口径与重复次数。没有稳定数字时换成真实 profiling 发现及复测进展，不制造占位曲线，不把旧 scheduler 的优化结果归因于乐观并行架构。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本页明确以测量方法代替结果占位。收到选定结果后再用一张图替换；目前没有对外宣称速度提升。</a:t>
            </a:r>
          </a:p>
          <a:p/>
          <a:p>
            <a:r>
              <a:t>Visual source: na2026/svg/15-benchmark-measurement.svg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1:30。回顾四章：统一调度框架、工作负载语义、生态、benchmark。明确性能工作还在持续测试和优化，邀请用户贡献真实场景、可复现 profile 和对比方法。Global/混部不另开章节。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Visual source: na2026/svg/16-takeaways.svg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5:00。问答准备：NodeShard 和 HyperNode 的区别；hard shard 切开拓扑域的取舍；Gang 不等于进程同时启动；PodGroup anti-affinity 的 allocate 范围；SubGroup 关系尚未发布；生态 PR 合并与发行版本的区别。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https://github.com/volcano-sh/volcano/blob/v1.16.0/docs/design/agent-scheduler.md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https://github.com/volcano-sh/volcano/issues/6166</a:t>
            </a:r>
          </a:p>
          <a:p/>
          <a:p>
            <a:r>
              <a:t>Visual source: na2026/svg/17-questions.svg</a:t>
            </a:r>
          </a:p>
          <a:p>
            <a:r>
              <a:t>Diagram geometry is frozen in PNG; edit SVG and re-export to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202D3C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202D3C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356696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356696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202D3C"/>
                </a:solidFill>
                <a:latin typeface="Liberation Sans"/>
              </a:defRPr>
            </a:pPr>
            <a:r>
              <a:t>Kevin Wang  ·  Ricardo Aravena  ·  Chen Zicong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647282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647282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The infrastructure must support different arrival patterns and coordination needs.</a:t>
            </a:r>
          </a:p>
        </p:txBody>
      </p:sp>
      <p:pic>
        <p:nvPicPr>
          <p:cNvPr id="7" name="Picture 6" descr="02-workloa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Separate workload paths, coordinated node access, and local worker conflict handling.</a:t>
            </a:r>
          </a:p>
        </p:txBody>
      </p:sp>
      <p:pic>
        <p:nvPicPr>
          <p:cNvPr id="7" name="Picture 6" descr="03-unified-frame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NodeShard: Coordinating Node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A shard change affects future placement; running Pods do not move with the shard.</a:t>
            </a:r>
          </a:p>
        </p:txBody>
      </p:sp>
      <p:pic>
        <p:nvPicPr>
          <p:cNvPr id="7" name="Picture 6" descr="04-nodeshard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Available Nodes Are Only the Beginning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Replica identity and topology matter alongside resource quantity.</a:t>
            </a:r>
          </a:p>
        </p:txBody>
      </p:sp>
      <p:pic>
        <p:nvPicPr>
          <p:cNvPr id="7" name="Picture 6" descr="05-complete-grou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PodGroup and SubGroup: Complete Replicas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Use role and replica identity to describe what must be scheduled together.</a:t>
            </a:r>
          </a:p>
        </p:txBody>
      </p:sp>
      <p:pic>
        <p:nvPicPr>
          <p:cNvPr id="7" name="Picture 6" descr="06-podgroup-subgro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HyperNode: Expressing Topology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Topology boundaries express where a group can—or should—fit.</a:t>
            </a:r>
          </a:p>
        </p:txBody>
      </p:sp>
      <p:pic>
        <p:nvPicPr>
          <p:cNvPr id="7" name="Picture 6" descr="07-hypernode-hierarch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Keep the service instance local while preserving each complete replica.</a:t>
            </a:r>
          </a:p>
        </p:txBody>
      </p:sp>
      <p:pic>
        <p:nvPicPr>
          <p:cNvPr id="7" name="Picture 6" descr="08-multilevel-topo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Keep Each Instance Together, Place Instances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Combine group-local topology with PodGroup anti-affinity.</a:t>
            </a:r>
          </a:p>
        </p:txBody>
      </p:sp>
      <p:pic>
        <p:nvPicPr>
          <p:cNvPr id="7" name="Picture 6" descr="09-podgroup-anti-affin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Controllers Bring Workload Structure to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Adoption and integration depth are different questions.</a:t>
            </a:r>
          </a:p>
        </p:txBody>
      </p:sp>
      <p:pic>
        <p:nvPicPr>
          <p:cNvPr id="7" name="Picture 6" descr="10-ecosystem-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KubeRay: A Replica Can Span Multiple Pods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Two complete two-Pod replicas are more specific than a count of four.</a:t>
            </a:r>
          </a:p>
        </p:txBody>
      </p:sp>
      <p:pic>
        <p:nvPicPr>
          <p:cNvPr id="7" name="Picture 6" descr="11-kube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Extending the Ecosystem and Placement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Reuse topology components and extend the workload semantics carried by controllers.</a:t>
            </a:r>
          </a:p>
        </p:txBody>
      </p:sp>
      <p:pic>
        <p:nvPicPr>
          <p:cNvPr id="7" name="Picture 6" descr="12-ecosystem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A Repeatable Scheduling Benchmark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A common workflow for scenario setup, execution, observation, and comparison.</a:t>
            </a:r>
          </a:p>
        </p:txBody>
      </p:sp>
      <p:pic>
        <p:nvPicPr>
          <p:cNvPr id="7" name="Picture 6" descr="13-benchmark-frame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Benchmark Progress and Ongoing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The framework is available; scenario coverage and performance validation continue.</a:t>
            </a:r>
          </a:p>
        </p:txBody>
      </p:sp>
      <p:pic>
        <p:nvPicPr>
          <p:cNvPr id="7" name="Picture 6" descr="14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From Measurements to Reliable Comparisons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Keep scheduling metrics distinct from end-to-end application readiness.</a:t>
            </a:r>
          </a:p>
        </p:txBody>
      </p:sp>
      <p:pic>
        <p:nvPicPr>
          <p:cNvPr id="7" name="Picture 6" descr="15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Framework, Workloads, Ecosystem,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Coordinate placement, carry workload intent, and validate behavior.</a:t>
            </a:r>
          </a:p>
        </p:txBody>
      </p:sp>
      <p:pic>
        <p:nvPicPr>
          <p:cNvPr id="7" name="Picture 6" descr="16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Help shape the next set of scheduling and integration scenarios.</a:t>
            </a:r>
          </a:p>
        </p:txBody>
      </p:sp>
      <p:pic>
        <p:nvPicPr>
          <p:cNvPr id="7" name="Picture 6" descr="17-ques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+ CloudNativeCon North America 2026 — template-independent presentation</dc:subject>
  <dc:creator>Volcano maintainers</dc:creator>
  <cp:keywords/>
  <dc:description>2026-10-29. Native titles; editable SVG diagram sources rendered to PNG. Benchmark results not yet selected.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