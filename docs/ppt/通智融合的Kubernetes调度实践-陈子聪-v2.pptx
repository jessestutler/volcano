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305" r:id="rId6"/>
    <p:sldId id="259" r:id="rId7"/>
    <p:sldId id="260" r:id="rId8"/>
    <p:sldId id="296" r:id="rId9"/>
    <p:sldId id="302" r:id="rId10"/>
    <p:sldId id="263" r:id="rId11"/>
    <p:sldId id="264" r:id="rId12"/>
    <p:sldId id="303" r:id="rId13"/>
    <p:sldId id="289" r:id="rId14"/>
    <p:sldId id="290" r:id="rId15"/>
    <p:sldId id="291" r:id="rId16"/>
    <p:sldId id="292" r:id="rId17"/>
    <p:sldId id="293" r:id="rId18"/>
    <p:sldId id="294" r:id="rId19"/>
    <p:sldId id="295" r:id="rId20"/>
    <p:sldId id="273" r:id="rId21"/>
    <p:sldId id="274" r:id="rId22"/>
    <p:sldId id="275" r:id="rId23"/>
    <p:sldId id="276" r:id="rId24"/>
    <p:sldId id="278" r:id="rId25"/>
    <p:sldId id="279" r:id="rId26"/>
    <p:sldId id="277" r:id="rId27"/>
    <p:sldId id="280" r:id="rId28"/>
    <p:sldId id="297" r:id="rId29"/>
    <p:sldId id="283" r:id="rId30"/>
    <p:sldId id="298" r:id="rId31"/>
    <p:sldId id="299" r:id="rId32"/>
    <p:sldId id="301" r:id="rId33"/>
    <p:sldId id="304" r:id="rId3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B5CAD"/>
    <a:srgbClr val="003F8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7" Type="http://schemas.openxmlformats.org/officeDocument/2006/relationships/tableStyles" Target="tableStyles.xml"/><Relationship Id="rId36" Type="http://schemas.openxmlformats.org/officeDocument/2006/relationships/viewProps" Target="viewProps.xml"/><Relationship Id="rId35" Type="http://schemas.openxmlformats.org/officeDocument/2006/relationships/presProps" Target="presProps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/>
              <a:t>本次分享分为四个章节。</a:t>
            </a:r>
          </a:p>
          <a:p>
            <a:r>
              <a:t>第一章</a:t>
            </a:r>
            <a:r>
              <a:rPr lang="zh-CN"/>
              <a:t>会讲“从分池到共池</a:t>
            </a:r>
            <a:r>
              <a:t>”：</a:t>
            </a:r>
            <a:r>
              <a:rPr lang="en-US"/>
              <a:t>Volcano</a:t>
            </a:r>
            <a:r>
              <a:rPr lang="zh-CN" altLang="en-US"/>
              <a:t>是如何</a:t>
            </a:r>
            <a:r>
              <a:t>从分裂的集群和控制面，走向统一资源视图</a:t>
            </a:r>
            <a:r>
              <a:rPr lang="zh-CN"/>
              <a:t>的</a:t>
            </a:r>
            <a:r>
              <a:t>。第二章解决</a:t>
            </a:r>
            <a:r>
              <a:rPr lang="zh-CN"/>
              <a:t>共池中</a:t>
            </a:r>
            <a:r>
              <a:t>“资源怎么共享”：通过 </a:t>
            </a:r>
            <a:r>
              <a:rPr lang="zh-CN"/>
              <a:t>队列</a:t>
            </a:r>
            <a:r>
              <a:rPr lang="en-US" altLang="zh-CN"/>
              <a:t> </a:t>
            </a:r>
            <a:r>
              <a:t>的份额关系完成训推之间的借用和归还。第三章</a:t>
            </a:r>
            <a:r>
              <a:rPr lang="zh-CN"/>
              <a:t>介绍</a:t>
            </a:r>
            <a:r>
              <a:rPr lang="en-US" altLang="zh-CN"/>
              <a:t>AI</a:t>
            </a:r>
            <a:r>
              <a:rPr lang="zh-CN" altLang="en-US"/>
              <a:t>作业的结构化调度</a:t>
            </a:r>
            <a:r>
              <a:t>：</a:t>
            </a:r>
            <a:r>
              <a:rPr lang="en-US"/>
              <a:t>Volcano</a:t>
            </a:r>
            <a:r>
              <a:rPr lang="zh-CN" altLang="en-US"/>
              <a:t>是如何是如何抽象当前的网络拓扑结构的，进行网络拓扑感知调度的，以及对训练和推理任务是如何分组放置的</a:t>
            </a:r>
            <a:r>
              <a:t>。最后</a:t>
            </a:r>
            <a:r>
              <a:rPr lang="zh-CN"/>
              <a:t>介绍下我们的推理子项目</a:t>
            </a:r>
            <a:r>
              <a:rPr lang="en-US" altLang="zh-CN"/>
              <a:t>Kthena</a:t>
            </a:r>
            <a:r>
              <a:rPr lang="zh-CN" altLang="en-US"/>
              <a:t>，是如何进行推理任务的编排的以及如何和</a:t>
            </a:r>
            <a:r>
              <a:rPr lang="en-US" altLang="zh-CN"/>
              <a:t>Volcano</a:t>
            </a:r>
            <a:r>
              <a:rPr lang="zh-CN" altLang="en-US"/>
              <a:t>的调度原语</a:t>
            </a:r>
            <a:r>
              <a:rPr lang="en-US" altLang="zh-CN"/>
              <a:t>PodGroup</a:t>
            </a:r>
            <a:r>
              <a:rPr lang="zh-CN" altLang="en-US"/>
              <a:t>对应</a:t>
            </a:r>
            <a:r>
              <a:rPr lang="zh-CN" altLang="en-US"/>
              <a:t>的</a:t>
            </a:r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第一章先看资源管理方式的变化。随着</a:t>
            </a:r>
            <a:r>
              <a:rPr lang="en-US" altLang="en-US"/>
              <a:t> Kubernetes </a:t>
            </a:r>
            <a:r>
              <a:rPr lang="zh-CN" altLang="en-US"/>
              <a:t>上的工作负载从批处理和分布式训练，扩展到在线推理、</a:t>
            </a:r>
            <a:r>
              <a:rPr lang="en-US" altLang="en-US"/>
              <a:t> Agent</a:t>
            </a:r>
            <a:r>
              <a:rPr lang="zh-CN" altLang="en-US"/>
              <a:t>，调度系统既要提供统一的资源与策略视图，也要兼顾不同任务的调度特点。接下来会从</a:t>
            </a:r>
            <a:r>
              <a:rPr lang="en-US" altLang="en-US"/>
              <a:t> Volcano </a:t>
            </a:r>
            <a:r>
              <a:rPr lang="zh-CN" altLang="en-US"/>
              <a:t>的演进讲起，再介绍统一管理面、双路径调度架构，以及调度入口后续的演进方向。</a:t>
            </a:r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/>
              <a:t>先来简单介绍一下</a:t>
            </a:r>
            <a:r>
              <a:rPr lang="en-US" altLang="zh-CN"/>
              <a:t>Volcano</a:t>
            </a:r>
            <a:r>
              <a:rPr lang="zh-CN" altLang="en-US"/>
              <a:t>，可能有的听众没有听过</a:t>
            </a:r>
            <a:r>
              <a:rPr lang="en-US" altLang="zh-CN"/>
              <a:t>Volcano</a:t>
            </a:r>
            <a:r>
              <a:t>。Volcano 最早以批处理和 Gang Scheduling 见长，</a:t>
            </a:r>
            <a:r>
              <a:rPr lang="zh-CN"/>
              <a:t>是作为</a:t>
            </a:r>
            <a:r>
              <a:rPr lang="en-US" altLang="zh-CN"/>
              <a:t>K8s</a:t>
            </a:r>
            <a:r>
              <a:rPr lang="zh-CN" altLang="en-US"/>
              <a:t>生态上的最出色的</a:t>
            </a:r>
            <a:r>
              <a:rPr lang="en-US" altLang="zh-CN"/>
              <a:t>batch scheduler</a:t>
            </a:r>
            <a:r>
              <a:rPr lang="zh-CN" altLang="en-US"/>
              <a:t>，能够支持像</a:t>
            </a:r>
            <a:r>
              <a:rPr lang="en-US" altLang="zh-CN"/>
              <a:t>Ray</a:t>
            </a:r>
            <a:r>
              <a:rPr lang="zh-CN" altLang="en-US"/>
              <a:t>，</a:t>
            </a:r>
            <a:r>
              <a:rPr lang="en-US" altLang="zh-CN"/>
              <a:t>Pytorch</a:t>
            </a:r>
            <a:r>
              <a:rPr lang="zh-CN" altLang="en-US"/>
              <a:t>，</a:t>
            </a:r>
            <a:r>
              <a:rPr lang="en-US" altLang="zh-CN"/>
              <a:t>Kubeflow</a:t>
            </a:r>
            <a:r>
              <a:rPr lang="zh-CN" altLang="en-US"/>
              <a:t>等</a:t>
            </a:r>
            <a:r>
              <a:rPr lang="en-US" altLang="zh-CN"/>
              <a:t>AI workload</a:t>
            </a:r>
            <a:r>
              <a:rPr lang="zh-CN" altLang="en-US"/>
              <a:t>也能支持</a:t>
            </a:r>
            <a:r>
              <a:rPr lang="en-US" altLang="zh-CN"/>
              <a:t>spark</a:t>
            </a:r>
            <a:r>
              <a:rPr lang="zh-CN" altLang="en-US"/>
              <a:t>，</a:t>
            </a:r>
            <a:r>
              <a:rPr lang="en-US" altLang="zh-CN"/>
              <a:t>flink</a:t>
            </a:r>
            <a:r>
              <a:rPr lang="zh-CN" altLang="en-US"/>
              <a:t>等大数据</a:t>
            </a:r>
            <a:r>
              <a:rPr lang="en-US" altLang="zh-CN"/>
              <a:t>workload</a:t>
            </a:r>
            <a:r>
              <a:rPr lang="zh-CN" altLang="en-US"/>
              <a:t>的批调度。</a:t>
            </a:r>
            <a:endParaRPr lang="zh-CN" altLang="en-US"/>
          </a:p>
          <a:p>
            <a:endParaRPr lang="zh-CN" altLang="en-US"/>
          </a:p>
          <a:p>
            <a:r>
              <a:rPr lang="en-US" altLang="zh-CN"/>
              <a:t>Volcano</a:t>
            </a:r>
            <a:r>
              <a:rPr lang="zh-CN" altLang="en-US"/>
              <a:t>支持多种丰富的调度策略，也支持</a:t>
            </a:r>
            <a:r>
              <a:rPr lang="en-US" altLang="zh-CN"/>
              <a:t>gpu/npu</a:t>
            </a:r>
            <a:r>
              <a:rPr lang="zh-CN" altLang="en-US"/>
              <a:t>等异构设备的介入以及做算力切分，也拥有队列做精细化的配额控制，优先级调度以及资源借还的能力。</a:t>
            </a:r>
            <a:r>
              <a:t>这些能力组合在一起，</a:t>
            </a:r>
            <a:r>
              <a:rPr lang="en-US"/>
              <a:t>Volcano</a:t>
            </a:r>
            <a:r>
              <a:rPr lang="zh-CN" altLang="en-US"/>
              <a:t>正在从传统的</a:t>
            </a:r>
            <a:r>
              <a:rPr lang="en-US" altLang="zh-CN"/>
              <a:t>batch scheduler</a:t>
            </a:r>
            <a:r>
              <a:rPr lang="zh-CN" altLang="en-US"/>
              <a:t>往支持多类工作负载，多类异构设备的统一调度平台</a:t>
            </a:r>
            <a:r>
              <a:rPr lang="zh-CN" altLang="en-US"/>
              <a:t>演进。</a:t>
            </a:r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/>
              <a:t>Kubernetes </a:t>
            </a:r>
            <a:r>
              <a:rPr lang="zh-CN" altLang="en-US"/>
              <a:t>上承载的任务已经从传统的批处理和分布式训练，逐渐扩展到在线推理、通用服务和</a:t>
            </a:r>
            <a:r>
              <a:rPr lang="en-US" altLang="en-US"/>
              <a:t> Agent</a:t>
            </a:r>
            <a:r>
              <a:rPr lang="zh-CN" altLang="en-US"/>
              <a:t>。</a:t>
            </a:r>
            <a:endParaRPr lang="zh-CN" altLang="en-US"/>
          </a:p>
          <a:p>
            <a:r>
              <a:rPr lang="zh-CN" altLang="en-US"/>
              <a:t>批处理和分布式训练更关注任务的整体吞吐。特别是分布式训练，通常需要一组</a:t>
            </a:r>
            <a:r>
              <a:rPr lang="en-US" altLang="en-US"/>
              <a:t> Pod </a:t>
            </a:r>
            <a:r>
              <a:rPr lang="zh-CN" altLang="en-US"/>
              <a:t>同时运行，</a:t>
            </a:r>
            <a:r>
              <a:rPr lang="en-US" altLang="en-US"/>
              <a:t>TP</a:t>
            </a:r>
            <a:r>
              <a:rPr lang="zh-CN" altLang="en-US"/>
              <a:t>、</a:t>
            </a:r>
            <a:r>
              <a:rPr lang="en-US" altLang="en-US"/>
              <a:t>PP</a:t>
            </a:r>
            <a:r>
              <a:rPr lang="zh-CN" altLang="en-US"/>
              <a:t>、</a:t>
            </a:r>
            <a:r>
              <a:rPr lang="en-US" altLang="en-US"/>
              <a:t>DP</a:t>
            </a:r>
            <a:r>
              <a:rPr lang="zh-CN" altLang="en-US"/>
              <a:t>、</a:t>
            </a:r>
            <a:r>
              <a:rPr lang="en-US" altLang="en-US"/>
              <a:t>EP </a:t>
            </a:r>
            <a:r>
              <a:rPr lang="zh-CN" altLang="en-US"/>
              <a:t>等并行方式还会影响不同角色之间的通信关系，以及这些</a:t>
            </a:r>
            <a:r>
              <a:rPr lang="en-US" altLang="en-US"/>
              <a:t> Pod </a:t>
            </a:r>
            <a:r>
              <a:rPr lang="zh-CN" altLang="en-US"/>
              <a:t>应该如何放置。在线推理也不只是简单部署若干副本。在</a:t>
            </a:r>
            <a:r>
              <a:rPr lang="en-US" altLang="en-US"/>
              <a:t> PD </a:t>
            </a:r>
            <a:r>
              <a:rPr lang="zh-CN" altLang="en-US"/>
              <a:t>分离等架构下，</a:t>
            </a:r>
            <a:r>
              <a:rPr lang="en-US" altLang="en-US"/>
              <a:t>Prefill</a:t>
            </a:r>
            <a:r>
              <a:rPr lang="zh-CN" altLang="en-US"/>
              <a:t>、</a:t>
            </a:r>
            <a:r>
              <a:rPr lang="en-US" altLang="en-US"/>
              <a:t>Decode</a:t>
            </a:r>
            <a:r>
              <a:rPr lang="zh-CN" altLang="en-US"/>
              <a:t>等角色之间存在最小可用组合、亲和关系以及故障域分布等要求。</a:t>
            </a:r>
            <a:r>
              <a:rPr lang="en-US" altLang="en-US"/>
              <a:t>Agent </a:t>
            </a:r>
            <a:r>
              <a:rPr lang="zh-CN" altLang="en-US"/>
              <a:t>通常以单</a:t>
            </a:r>
            <a:r>
              <a:rPr lang="en-US" altLang="en-US"/>
              <a:t> Pod </a:t>
            </a:r>
            <a:r>
              <a:rPr lang="zh-CN" altLang="en-US"/>
              <a:t>为主，任务周期更短、突发性更强，因此会更加关注调度时延和节点查找效率。</a:t>
            </a:r>
            <a:endParaRPr lang="zh-CN" altLang="en-US"/>
          </a:p>
          <a:p>
            <a:r>
              <a:rPr lang="zh-CN" altLang="en-US"/>
              <a:t>这些工作负载虽然对调度的要求不同，但底层使用的仍然是同一套</a:t>
            </a:r>
            <a:r>
              <a:rPr lang="en-US" altLang="en-US"/>
              <a:t> CPU</a:t>
            </a:r>
            <a:r>
              <a:rPr lang="zh-CN" altLang="en-US"/>
              <a:t>、</a:t>
            </a:r>
            <a:r>
              <a:rPr lang="en-US" altLang="en-US"/>
              <a:t>GPU</a:t>
            </a:r>
            <a:r>
              <a:rPr lang="zh-CN" altLang="en-US"/>
              <a:t>、</a:t>
            </a:r>
            <a:r>
              <a:rPr lang="en-US" altLang="en-US"/>
              <a:t>NPU</a:t>
            </a:r>
            <a:r>
              <a:rPr lang="zh-CN" altLang="en-US"/>
              <a:t>、网络和存储资源。因此，统一调度并不是用同一种策略处理所有任务，而是在共享集群资源、节点状态和拓扑信息的基础上，为不同类型的工作负载保留适合自己的调度方式。</a:t>
            </a:r>
            <a:r>
              <a:rPr lang="en-US" altLang="en-US"/>
              <a:t>Volcano </a:t>
            </a:r>
            <a:r>
              <a:rPr lang="zh-CN" altLang="en-US"/>
              <a:t>一方面继续提供</a:t>
            </a:r>
            <a:r>
              <a:rPr lang="en-US" altLang="en-US"/>
              <a:t> Queue</a:t>
            </a:r>
            <a:r>
              <a:rPr lang="zh-CN" altLang="en-US"/>
              <a:t>、</a:t>
            </a:r>
            <a:r>
              <a:rPr lang="en-US" altLang="en-US"/>
              <a:t>Gang</a:t>
            </a:r>
            <a:r>
              <a:rPr lang="zh-CN" altLang="en-US"/>
              <a:t>、优先级、资源借还和拓扑感知等完整调度能力，另一方面也在探索面向单</a:t>
            </a:r>
            <a:r>
              <a:rPr lang="en-US" altLang="en-US"/>
              <a:t> Pod </a:t>
            </a:r>
            <a:r>
              <a:rPr lang="zh-CN" altLang="en-US"/>
              <a:t>和在线服务的快速调度路径，从而逐步由批处理调度器演进为支持多类工作负载的统一调度平台。</a:t>
            </a:r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/>
              <a:t>前一页介绍了工作负载形态的变化，这里用 RLHF 看分池带来的影响。一个后训练流程同时包含 CPU 数据与控制、Rollout 和 Reward Evaluation，以及分布式 Policy Training。KubeRay 可以管理这些 Ray 工作负载，但一个 RayCluster 仍属于单个 Kubernetes 集群；当训练和推理分别部署在不同集群时，只能由不同 RayCluster 各自承载。</a:t>
            </a:r>
            <a:endParaRPr lang="zh-CN"/>
          </a:p>
          <a:p>
            <a:r>
              <a:rPr lang="zh-CN"/>
              <a:t>比如训练任务需要更多的</a:t>
            </a:r>
            <a:r>
              <a:rPr lang="en-US" altLang="zh-CN"/>
              <a:t>gpu</a:t>
            </a:r>
            <a:r>
              <a:rPr lang="zh-CN" altLang="en-US"/>
              <a:t>卡的时候却无法向空间的推理集群内进行借用</a:t>
            </a:r>
            <a:r>
              <a:rPr lang="zh-CN"/>
              <a:t>。</a:t>
            </a:r>
            <a:endParaRPr lang="zh-CN"/>
          </a:p>
          <a:p>
            <a:r>
              <a:rPr lang="zh-CN"/>
              <a:t>一个后训练流程已经跨越两类负载，资源和拓扑仍然被隔在不同的调度视图中。</a:t>
            </a:r>
            <a:endParaRPr lang="en-US" altLang="zh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上一页的</a:t>
            </a:r>
            <a:r>
              <a:rPr lang="en-US" altLang="en-US"/>
              <a:t> RLHF </a:t>
            </a:r>
            <a:r>
              <a:rPr lang="zh-CN" altLang="en-US"/>
              <a:t>流程被拆到了三个</a:t>
            </a:r>
            <a:r>
              <a:rPr lang="en-US" altLang="en-US"/>
              <a:t> Kubernetes </a:t>
            </a:r>
            <a:r>
              <a:rPr lang="zh-CN" altLang="en-US"/>
              <a:t>集群中，每个</a:t>
            </a:r>
            <a:r>
              <a:rPr lang="en-US" altLang="en-US"/>
              <a:t> Scheduler </a:t>
            </a:r>
            <a:r>
              <a:rPr lang="zh-CN" altLang="en-US"/>
              <a:t>只能使用本集群的节点。要让训练真正使用推理侧的空闲</a:t>
            </a:r>
            <a:r>
              <a:rPr lang="en-US" altLang="en-US"/>
              <a:t> GPU</a:t>
            </a:r>
            <a:r>
              <a:rPr lang="zh-CN" altLang="en-US"/>
              <a:t>，首先需要把适合共池的</a:t>
            </a:r>
            <a:r>
              <a:rPr lang="en-US" altLang="en-US"/>
              <a:t> CPU</a:t>
            </a:r>
            <a:r>
              <a:rPr lang="zh-CN" altLang="en-US"/>
              <a:t>、</a:t>
            </a:r>
            <a:r>
              <a:rPr lang="en-US" altLang="en-US"/>
              <a:t>GPU </a:t>
            </a:r>
            <a:r>
              <a:rPr lang="zh-CN" altLang="en-US"/>
              <a:t>和</a:t>
            </a:r>
            <a:r>
              <a:rPr lang="en-US" altLang="en-US"/>
              <a:t> NPU </a:t>
            </a:r>
            <a:r>
              <a:rPr lang="zh-CN" altLang="en-US"/>
              <a:t>节点纳入同一个</a:t>
            </a:r>
            <a:r>
              <a:rPr lang="en-US" altLang="en-US"/>
              <a:t> Kubernetes </a:t>
            </a:r>
            <a:r>
              <a:rPr lang="zh-CN" altLang="en-US"/>
              <a:t>集群，由</a:t>
            </a:r>
            <a:r>
              <a:rPr lang="en-US" altLang="en-US"/>
              <a:t> Volcano </a:t>
            </a:r>
            <a:r>
              <a:rPr lang="zh-CN" altLang="en-US"/>
              <a:t>建立统一的资源和调度管理面。</a:t>
            </a:r>
            <a:endParaRPr lang="zh-CN" altLang="en-US"/>
          </a:p>
          <a:p>
            <a:r>
              <a:rPr lang="zh-CN" altLang="en-US"/>
              <a:t>在统一管理面下，</a:t>
            </a:r>
            <a:r>
              <a:rPr lang="en-US" altLang="en-US"/>
              <a:t>Volcano </a:t>
            </a:r>
            <a:r>
              <a:rPr lang="zh-CN" altLang="en-US"/>
              <a:t>可以统一管理</a:t>
            </a:r>
            <a:r>
              <a:rPr lang="en-US" altLang="en-US"/>
              <a:t> Node</a:t>
            </a:r>
            <a:r>
              <a:rPr lang="zh-CN" altLang="en-US"/>
              <a:t>、</a:t>
            </a:r>
            <a:r>
              <a:rPr lang="en-US" altLang="en-US"/>
              <a:t>Pod</a:t>
            </a:r>
            <a:r>
              <a:rPr lang="zh-CN" altLang="en-US"/>
              <a:t>、</a:t>
            </a:r>
            <a:r>
              <a:rPr lang="en-US" altLang="en-US"/>
              <a:t>PodGroup </a:t>
            </a:r>
            <a:r>
              <a:rPr lang="zh-CN" altLang="en-US"/>
              <a:t>和</a:t>
            </a:r>
            <a:r>
              <a:rPr lang="en-US" altLang="en-US"/>
              <a:t> Queue </a:t>
            </a:r>
            <a:r>
              <a:rPr lang="zh-CN" altLang="en-US"/>
              <a:t>等调度对象，通过</a:t>
            </a:r>
            <a:r>
              <a:rPr lang="en-US" altLang="en-US"/>
              <a:t> Device Plugin </a:t>
            </a:r>
            <a:r>
              <a:rPr lang="zh-CN" altLang="en-US"/>
              <a:t>或</a:t>
            </a:r>
            <a:r>
              <a:rPr lang="en-US" altLang="en-US"/>
              <a:t> DRA </a:t>
            </a:r>
            <a:r>
              <a:rPr lang="zh-CN" altLang="en-US"/>
              <a:t>接入</a:t>
            </a:r>
            <a:r>
              <a:rPr lang="en-US" altLang="en-US"/>
              <a:t> GPU</a:t>
            </a:r>
            <a:r>
              <a:rPr lang="zh-CN" altLang="en-US"/>
              <a:t>、</a:t>
            </a:r>
            <a:r>
              <a:rPr lang="en-US" altLang="en-US"/>
              <a:t>NPU </a:t>
            </a:r>
            <a:r>
              <a:rPr lang="zh-CN" altLang="en-US"/>
              <a:t>等异构设备，再通过</a:t>
            </a:r>
            <a:r>
              <a:rPr lang="en-US" altLang="en-US"/>
              <a:t> HyperNode </a:t>
            </a:r>
            <a:r>
              <a:rPr lang="zh-CN" altLang="en-US"/>
              <a:t>抽象</a:t>
            </a:r>
            <a:r>
              <a:rPr lang="en-US" altLang="en-US"/>
              <a:t>Spine</a:t>
            </a:r>
            <a:r>
              <a:rPr lang="zh-CN" altLang="en-US"/>
              <a:t>、</a:t>
            </a:r>
            <a:r>
              <a:rPr lang="en-US" altLang="en-US"/>
              <a:t>Leaf</a:t>
            </a:r>
            <a:r>
              <a:rPr lang="zh-CN" altLang="en-US"/>
              <a:t>、</a:t>
            </a:r>
            <a:r>
              <a:rPr lang="en-US" altLang="en-US"/>
              <a:t>Rack </a:t>
            </a:r>
            <a:r>
              <a:rPr lang="zh-CN" altLang="en-US"/>
              <a:t>和节点之间的网络层级。并且拥有丰富的调度</a:t>
            </a:r>
            <a:r>
              <a:rPr lang="zh-CN" altLang="en-US"/>
              <a:t>策略</a:t>
            </a:r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在统一资源和调度管理面之上，</a:t>
            </a:r>
            <a:r>
              <a:rPr lang="en-US" altLang="en-US"/>
              <a:t>Volcano </a:t>
            </a:r>
            <a:r>
              <a:rPr lang="zh-CN" altLang="en-US"/>
              <a:t>根据工作负载的调度特点提供了两条执行路径。批处理、分布式训练和</a:t>
            </a:r>
            <a:r>
              <a:rPr lang="en-US" altLang="en-US"/>
              <a:t> PD </a:t>
            </a:r>
            <a:r>
              <a:rPr lang="zh-CN" altLang="en-US"/>
              <a:t>分离推理都需要</a:t>
            </a:r>
            <a:r>
              <a:rPr lang="en-US" altLang="en-US"/>
              <a:t> Queue</a:t>
            </a:r>
            <a:r>
              <a:rPr lang="zh-CN" altLang="en-US"/>
              <a:t>、</a:t>
            </a:r>
            <a:r>
              <a:rPr lang="en-US" altLang="en-US"/>
              <a:t>Gang</a:t>
            </a:r>
            <a:r>
              <a:rPr lang="zh-CN" altLang="en-US"/>
              <a:t>、</a:t>
            </a:r>
            <a:r>
              <a:rPr lang="en-US" altLang="en-US"/>
              <a:t>SubGroup</a:t>
            </a:r>
            <a:r>
              <a:rPr lang="zh-CN" altLang="en-US"/>
              <a:t>、资源回收和网络拓扑等能力，因此进入</a:t>
            </a:r>
            <a:r>
              <a:rPr lang="en-US" altLang="en-US"/>
              <a:t> Volcano Scheduler </a:t>
            </a:r>
            <a:r>
              <a:rPr lang="zh-CN" altLang="en-US"/>
              <a:t>的完整调度路径。通用服务和</a:t>
            </a:r>
            <a:r>
              <a:rPr lang="en-US" altLang="en-US"/>
              <a:t> Agent </a:t>
            </a:r>
            <a:r>
              <a:rPr lang="zh-CN" altLang="en-US"/>
              <a:t>通常以单</a:t>
            </a:r>
            <a:r>
              <a:rPr lang="en-US" altLang="en-US"/>
              <a:t> Pod </a:t>
            </a:r>
            <a:r>
              <a:rPr lang="zh-CN" altLang="en-US"/>
              <a:t>为主，任务创建频繁，对调度时延更加敏感，因此可以进入</a:t>
            </a:r>
            <a:r>
              <a:rPr lang="en-US" altLang="en-US"/>
              <a:t> Agent Scheduler </a:t>
            </a:r>
            <a:r>
              <a:rPr lang="zh-CN" altLang="en-US"/>
              <a:t>的快速调度路径。</a:t>
            </a:r>
            <a:endParaRPr lang="zh-CN" altLang="en-US"/>
          </a:p>
          <a:p>
            <a:r>
              <a:rPr lang="zh-CN" altLang="en-US"/>
              <a:t>多个调度器协作时，</a:t>
            </a:r>
            <a:r>
              <a:rPr lang="zh-CN">
                <a:sym typeface="+mn-ea"/>
              </a:rPr>
              <a:t>NodeShard 为它们提供优先或独占的节点范围，但</a:t>
            </a:r>
            <a:r>
              <a:rPr lang="en-US" altLang="zh-CN">
                <a:sym typeface="+mn-ea"/>
              </a:rPr>
              <a:t>Node Shard</a:t>
            </a:r>
            <a:r>
              <a:rPr lang="zh-CN" altLang="en-US">
                <a:sym typeface="+mn-ea"/>
              </a:rPr>
              <a:t>不是一种固定的节点分片，而是会根据节点的状态，进行动态的节点在调度器间的流转，提高节点利用率，比如</a:t>
            </a:r>
            <a:r>
              <a:rPr lang="en-US" altLang="zh-CN">
                <a:sym typeface="+mn-ea"/>
              </a:rPr>
              <a:t>agent scheduler</a:t>
            </a:r>
            <a:r>
              <a:rPr lang="zh-CN" altLang="en-US">
                <a:sym typeface="+mn-ea"/>
              </a:rPr>
              <a:t>可以在</a:t>
            </a:r>
            <a:r>
              <a:rPr lang="en-US" altLang="zh-CN">
                <a:sym typeface="+mn-ea"/>
              </a:rPr>
              <a:t>batch scheduler</a:t>
            </a:r>
            <a:r>
              <a:rPr lang="zh-CN" altLang="en-US">
                <a:sym typeface="+mn-ea"/>
              </a:rPr>
              <a:t>调度完之后进行填缝式的调度</a:t>
            </a:r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solidFill>
            <a:srgbClr val="003F8F"/>
          </a:solidFill>
        </p:spPr>
        <p:txBody>
          <a:bodyPr/>
          <a:lstStyle/>
          <a:p>
            <a:r>
              <a:rPr lang="zh-CN"/>
              <a:t>来展开介绍一下</a:t>
            </a:r>
            <a:r>
              <a:rPr lang="en-US" altLang="zh-CN"/>
              <a:t>Agent Scheduler</a:t>
            </a:r>
            <a:r>
              <a:rPr lang="zh-CN" altLang="en-US"/>
              <a:t>。</a:t>
            </a:r>
            <a:r>
              <a:rPr lang="zh-CN"/>
              <a:t>传统 Volcano Scheduler 以 Session 为周期，周期性地去进行批调度，适合批作业的</a:t>
            </a:r>
            <a:r>
              <a:rPr lang="en-US" altLang="zh-CN"/>
              <a:t>gang</a:t>
            </a:r>
            <a:r>
              <a:rPr lang="zh-CN" altLang="en-US"/>
              <a:t>调度</a:t>
            </a:r>
            <a:r>
              <a:rPr lang="zh-CN"/>
              <a:t>；Agent Scheduler 专门面向单 Pod，使用多 Worker 进行乐观并行选</a:t>
            </a:r>
            <a:r>
              <a:rPr lang="en-US" altLang="zh-CN"/>
              <a:t>Node</a:t>
            </a:r>
            <a:r>
              <a:rPr lang="zh-CN"/>
              <a:t>，再由 Binder 检查并发绑定冲突，从而缩短 Pod 从入队到 Bind 的路径并且提高</a:t>
            </a:r>
            <a:r>
              <a:rPr lang="zh-CN"/>
              <a:t>吞吐。</a:t>
            </a:r>
            <a:endParaRPr lang="zh-CN"/>
          </a:p>
          <a:p>
            <a:r>
              <a:rPr lang="zh-CN"/>
              <a:t>两条路径可以复用一些调度插件的 等基础能力，但调度循环不同。再由</a:t>
            </a:r>
            <a:r>
              <a:rPr lang="en-US" altLang="zh-CN"/>
              <a:t>Node Shard</a:t>
            </a:r>
            <a:r>
              <a:rPr lang="zh-CN" altLang="en-US"/>
              <a:t>进行动态的节点</a:t>
            </a:r>
            <a:r>
              <a:rPr lang="zh-CN" altLang="en-US"/>
              <a:t>流转</a:t>
            </a:r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/>
              <a:t>双路径建立以后，还需要决定工作负载从哪个入口进入。当前仍需要指定</a:t>
            </a:r>
            <a:r>
              <a:rPr lang="en-US" altLang="zh-CN"/>
              <a:t>schedulerName</a:t>
            </a:r>
            <a:r>
              <a:rPr lang="zh-CN" altLang="en-US"/>
              <a:t>，</a:t>
            </a:r>
            <a:r>
              <a:rPr lang="zh-CN"/>
              <a:t>后续可以根据 Pod 是否属于 PodGroup、是否包含多个 Role、是否声明 Gang 和拓扑约束，以及任务对时延和吞吐的要求，自动选择 Fast Path 或完整调度路径。</a:t>
            </a:r>
            <a:endParaRPr lang="en-US" altLang="zh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/>
              <a:t>第一章讲了如何用统一的调度管理面来做不同的</a:t>
            </a:r>
            <a:r>
              <a:rPr lang="en-US" altLang="zh-CN"/>
              <a:t>workload</a:t>
            </a:r>
            <a:r>
              <a:rPr lang="zh-CN" altLang="en-US"/>
              <a:t>调度</a:t>
            </a:r>
            <a:r>
              <a:rPr lang="zh-CN"/>
              <a:t>，第二章继续讨论共池后的资源关系：每类任务可以使用多少资源，哪些空闲份额可以暂时借用，真实需求回来以后又怎样归还，即</a:t>
            </a:r>
            <a:r>
              <a:rPr lang="en-US" altLang="zh-CN"/>
              <a:t>Volcano</a:t>
            </a:r>
            <a:r>
              <a:rPr lang="zh-CN" altLang="en-US"/>
              <a:t>的队列管理是如何运作的</a:t>
            </a:r>
            <a:r>
              <a:rPr lang="zh-CN"/>
              <a:t>。先说明队列的各个配置的</a:t>
            </a:r>
            <a:r>
              <a:rPr lang="zh-CN"/>
              <a:t>概念，再通过训推低峰与扩容场景解释资源借还，最后讨论为什么资源回收必须理解完整 Gang。</a:t>
            </a:r>
            <a:endParaRPr lang="zh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Volcano</a:t>
            </a:r>
            <a:r>
              <a:rPr lang="zh-CN" altLang="en-US"/>
              <a:t>队列有三个主要的</a:t>
            </a:r>
            <a:r>
              <a:rPr lang="en-US" altLang="zh-CN"/>
              <a:t>fields</a:t>
            </a:r>
            <a:r>
              <a:rPr lang="zh-CN" altLang="en-US"/>
              <a:t>，</a:t>
            </a:r>
            <a:r>
              <a:rPr lang="zh-CN"/>
              <a:t>Guarantee 表示最低保障，Capability 限制最大使用量，Deserved 则表示当前公平分配中应当获得的份额。</a:t>
            </a:r>
            <a:endParaRPr lang="zh-CN"/>
          </a:p>
          <a:p>
            <a:r>
              <a:rPr lang="zh-CN"/>
              <a:t>图里 Serving 和 Training 都可以在同一批 GPU 上运行，用不同的队列来做优先级调度，配额</a:t>
            </a:r>
            <a:r>
              <a:rPr lang="zh-CN"/>
              <a:t>管理。对方没有需求时，Queue 可以使用超过 Deserved 的空闲资源；当真实需求出现，高于 Deserved 的部分进入归还范围。</a:t>
            </a:r>
            <a:endParaRPr lang="zh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/>
              <a:t>来看完整的借还</a:t>
            </a:r>
            <a:r>
              <a:rPr lang="zh-CN"/>
              <a:t>示例。推理低峰时，Serving 实际使用 2 张，Training 使用自己的 6 张以后，再借用 Serving 暂时空闲的 4 张，总共使用 10 张。空闲资源因此可以直接转化为训练吞吐。</a:t>
            </a:r>
            <a:endParaRPr lang="zh-CN"/>
          </a:p>
          <a:p>
            <a:r>
              <a:rPr lang="zh-CN"/>
              <a:t>当 Serving 新建了需要 4 张 GPU 的副本，Pod 进入 Queue 并形成真实 Pending 需求。</a:t>
            </a:r>
            <a:r>
              <a:rPr lang="en-US" altLang="zh-CN"/>
              <a:t>Volcano</a:t>
            </a:r>
            <a:r>
              <a:rPr lang="zh-CN" altLang="en-US"/>
              <a:t>的</a:t>
            </a:r>
            <a:r>
              <a:rPr lang="en-US" altLang="zh-CN"/>
              <a:t>Reclaim Action</a:t>
            </a:r>
            <a:r>
              <a:rPr lang="zh-CN" altLang="en-US"/>
              <a:t>就根据队列超过</a:t>
            </a:r>
            <a:r>
              <a:rPr lang="en-US" altLang="zh-CN"/>
              <a:t>deserved</a:t>
            </a:r>
            <a:r>
              <a:rPr lang="zh-CN" altLang="en-US"/>
              <a:t>的情况来进行资源归还，进行</a:t>
            </a:r>
            <a:r>
              <a:rPr lang="en-US" altLang="zh-CN"/>
              <a:t>pod</a:t>
            </a:r>
            <a:r>
              <a:rPr lang="zh-CN" altLang="en-US"/>
              <a:t>的</a:t>
            </a:r>
            <a:r>
              <a:rPr lang="zh-CN" altLang="en-US"/>
              <a:t>驱逐</a:t>
            </a:r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/>
              <a:t>刚才我们讲到资源归还是通过驱逐</a:t>
            </a:r>
            <a:r>
              <a:rPr lang="en-US" altLang="zh-CN"/>
              <a:t>pod</a:t>
            </a:r>
            <a:r>
              <a:rPr lang="zh-CN" altLang="en-US"/>
              <a:t>完成，</a:t>
            </a:r>
            <a:r>
              <a:rPr lang="zh-CN"/>
              <a:t>但这</a:t>
            </a:r>
            <a:r>
              <a:t>并不代表归还时随便删几个 Pod 就行。分布式训练依赖完整的 Worker 集合和同步通信，少一个 Rank 就可能让其余 Worker 全部卡在集合通信或者直接导致 Job 失败。</a:t>
            </a:r>
          </a:p>
          <a:p/>
          <a:p>
            <a:r>
              <a:t>很多调度框架只考虑了</a:t>
            </a:r>
            <a:r>
              <a:rPr lang="zh-CN"/>
              <a:t>发起抢占</a:t>
            </a:r>
            <a:r>
              <a:t>方的 Gang 能不能满足，却没有考虑 victim 被破坏后会发生什么。最坏情况是：一个推理任务需要 4 张卡，调度器从 4 个训练 Job 里各驱逐一个 Pod。推理任务看起来凑齐了 4 张卡，但 4 个训练 Job 都可能无法继续运行。</a:t>
            </a:r>
          </a:p>
          <a:p>
            <a:r>
              <a:t>所以资源归还的完成条件不是“Pod 数量减少了”，而是请求方得到了完整可运行的资源组合，同时 victim 也应按 Job 或 PodGroup 组织，不要一次回收打坏一批已经在运行的训练任务。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/>
              <a:t>简单过一下</a:t>
            </a:r>
            <a:r>
              <a:rPr lang="en-US" altLang="zh-CN"/>
              <a:t>gang aware</a:t>
            </a:r>
            <a:r>
              <a:rPr lang="zh-CN" altLang="en-US"/>
              <a:t>的抢占过程，</a:t>
            </a:r>
            <a:r>
              <a:rPr lang="zh-CN"/>
              <a:t>首先由 Capacity 根据 Deserved 和实际使用量判断哪条 Queue 需要归还多少资源；随后调度器以完整 Job 或 PodGroup 组织 victim 候选，而不是从不同训练任务中零散选 Pod。</a:t>
            </a:r>
            <a:endParaRPr lang="zh-CN"/>
          </a:p>
          <a:p>
            <a:r>
              <a:rPr lang="zh-CN"/>
              <a:t>提交前还要做一次模拟：victim 整体退出以后，请求方能否同时满足 minAvailable、GPU 数量和拓扑要求。只有新的 Gang 确实可以启动，回收才有意义。</a:t>
            </a:r>
            <a:endParaRPr lang="zh-CN"/>
          </a:p>
          <a:p>
            <a:r>
              <a:rPr lang="zh-CN"/>
              <a:t>这样 Queue 的公平关系才能落到真正可运行的工作负载上。</a:t>
            </a:r>
            <a:endParaRPr lang="zh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/>
              <a:t>不同平台会有不同的用户</a:t>
            </a:r>
            <a:r>
              <a:rPr lang="zh-CN"/>
              <a:t>模型，当前的公平调度主要基于 Queue 的即时使用情况。如果一条 Queue 对应一个租户，这种模型已经能够工作；但在一些平台中，多个 Namespace 代表不同租户，又会共同向同一条 GPU Queue 提交任务，只看 Queue 总量就无法区分各个租户的历史使用情况。</a:t>
            </a:r>
            <a:endParaRPr lang="zh-CN"/>
          </a:p>
          <a:p>
            <a:r>
              <a:rPr lang="zh-CN"/>
              <a:t>如果把 Namespace 作为用户维度，</a:t>
            </a:r>
            <a:r>
              <a:rPr lang="en-US" altLang="zh-CN"/>
              <a:t>Volcano</a:t>
            </a:r>
            <a:r>
              <a:rPr lang="zh-CN" altLang="en-US"/>
              <a:t>会</a:t>
            </a:r>
            <a:r>
              <a:rPr lang="zh-CN"/>
              <a:t>累计 GPU 使用量</a:t>
            </a:r>
            <a:r>
              <a:rPr lang="zh-CN"/>
              <a:t>计算，并参考 Slurm 的 Decay Fair Share，让历史使用量随时间衰减。过去使用较少的租户优先级更高，但使用较多的租户也不会被永久惩罚。目前也在演进这个</a:t>
            </a:r>
            <a:r>
              <a:rPr lang="en-US" altLang="zh-CN"/>
              <a:t>feature</a:t>
            </a:r>
            <a:r>
              <a:rPr lang="zh-CN" altLang="en-US"/>
              <a:t>过程</a:t>
            </a:r>
            <a:r>
              <a:rPr lang="zh-CN" altLang="en-US"/>
              <a:t>中</a:t>
            </a:r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/>
              <a:t>直接驱逐训练任务仍然可能丢失大量计算进度。Volcano 包括当前所有的调度</a:t>
            </a:r>
            <a:r>
              <a:rPr lang="zh-CN"/>
              <a:t>系统当前释放资源主要依赖 Evict 或 Delete，还没有通用的 Suspend、Checkpoint 和 Resume 协议。</a:t>
            </a:r>
            <a:endParaRPr lang="zh-CN"/>
          </a:p>
          <a:p>
            <a:r>
              <a:rPr lang="zh-CN"/>
              <a:t>比较可行的演进方式是：调度器先以 Job 或 PodGroup 为单位发出归还意图，训练控制器协调所有 Rank 在一致的训练步完成 Checkpoint，确认状态可恢复以后再释放资源。</a:t>
            </a:r>
            <a:endParaRPr lang="zh-CN"/>
          </a:p>
          <a:p>
            <a:r>
              <a:rPr lang="zh-CN"/>
              <a:t>Kubernetes 上游也在探索 Pod Checkpoint/Restore，但分布式一致性和 GPU 状态仍需要框架配合。</a:t>
            </a:r>
            <a:endParaRPr lang="zh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/>
              <a:t>第二章讲了队列来控制公平、配额以及资源的借还。第三章来看</a:t>
            </a:r>
            <a:r>
              <a:rPr lang="en-US" altLang="zh-CN"/>
              <a:t>Volcano</a:t>
            </a:r>
            <a:r>
              <a:rPr lang="zh-CN" altLang="en-US"/>
              <a:t>是如何更好地来优化</a:t>
            </a:r>
            <a:r>
              <a:rPr lang="en-US" altLang="zh-CN"/>
              <a:t>AI workload</a:t>
            </a:r>
            <a:r>
              <a:rPr lang="zh-CN" altLang="en-US"/>
              <a:t>的调度，</a:t>
            </a:r>
            <a:r>
              <a:rPr lang="zh-CN"/>
              <a:t>在 GPU 集群中，卡的总数满足并不代表任务能够高效运行，通信距离、故障域和角色依赖都会影响训练吞吐与推理可用性。</a:t>
            </a:r>
            <a:endParaRPr lang="zh-CN"/>
          </a:p>
          <a:p>
            <a:r>
              <a:rPr lang="zh-CN"/>
              <a:t>这一章先将</a:t>
            </a:r>
            <a:r>
              <a:rPr lang="en-US" altLang="zh-CN"/>
              <a:t>Volcano</a:t>
            </a:r>
            <a:r>
              <a:rPr lang="zh-CN" altLang="en-US"/>
              <a:t>是怎么从</a:t>
            </a:r>
            <a:r>
              <a:rPr lang="en-US" altLang="zh-CN"/>
              <a:t>PodGroup</a:t>
            </a:r>
            <a:r>
              <a:rPr lang="zh-CN" altLang="en-US"/>
              <a:t>到延伸出今天的</a:t>
            </a:r>
            <a:r>
              <a:rPr lang="en-US" altLang="zh-CN"/>
              <a:t>SubGroup</a:t>
            </a:r>
            <a:r>
              <a:rPr lang="zh-CN" altLang="en-US"/>
              <a:t>的</a:t>
            </a:r>
            <a:r>
              <a:rPr lang="zh-CN"/>
              <a:t>，再用 HyperNode 抽象超节点等网络</a:t>
            </a:r>
            <a:r>
              <a:rPr lang="zh-CN"/>
              <a:t>拓扑</a:t>
            </a:r>
            <a:endParaRPr lang="zh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/>
              <a:t>训练和推理虽然运行方式不同，但都不是一组彼此无关的 Pod。分布式训练内部包含 TP、PP、DP 和 EP，不同并行组的通信模式和放置范围并不相同；PD 分离推理则包含 Prefill、Decode，以及 Role 内的 Entry 和 Worker。</a:t>
            </a:r>
            <a:endParaRPr lang="zh-CN"/>
          </a:p>
          <a:p>
            <a:r>
              <a:rPr lang="zh-CN"/>
              <a:t>因此调度器不仅要知道整个</a:t>
            </a:r>
            <a:r>
              <a:rPr lang="zh-CN"/>
              <a:t>训练 Job 或 ServingGroup 最少需要多少资源，还要知道内部有哪些分组、每组需要多少 Pod，以及它们应该聚合在高带宽域还是分散到不同故障域。</a:t>
            </a:r>
            <a:endParaRPr lang="zh-CN"/>
          </a:p>
          <a:p>
            <a:r>
              <a:rPr lang="zh-CN"/>
              <a:t>这就是为什么一层 PodGroup 已经不够，需要在其内部继续表达 SubGroup。</a:t>
            </a:r>
            <a:endParaRPr lang="zh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/>
              <a:t>PodGroup 负责 Training Job 或 ServingGroup 的整体 Gang，SubGroup 则表达内部的并行组或 Role 实例组。subGroupSize 说明每组包含多少 Pod，minSubGroups 说明最少需要启动多少组，每组还可以配置自己的亲和、反亲和和网络拓扑要求。</a:t>
            </a:r>
            <a:endParaRPr lang="zh-CN"/>
          </a:p>
          <a:p>
            <a:r>
              <a:rPr lang="zh-CN"/>
              <a:t>以推理为例，期望规模可以扩展到 1P3D，但调度准入可以先要求最少 1P2D，并保证每个 P 或 D Role 内部的 Entry 和 Worker 完整启动。</a:t>
            </a:r>
            <a:endParaRPr lang="zh-CN"/>
          </a:p>
          <a:p>
            <a:r>
              <a:rPr lang="zh-CN"/>
              <a:t>这样既保留服务弹性，也避免资源不足时只启动一部分角色。</a:t>
            </a:r>
            <a:endParaRPr lang="zh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/>
              <a:t>有了 SubGroup，拓扑约束可以分成整体和局部两层。PodGroup 限制完整 Job 或 ServingGroup 允许跨越的最高拓扑层级；SubGroupPolicy 再为 TP 组、Prefill 或 Decode Role 指定更局部的放置要求。</a:t>
            </a:r>
            <a:endParaRPr lang="zh-CN"/>
          </a:p>
          <a:p>
            <a:r>
              <a:rPr lang="zh-CN"/>
              <a:t>例如 Prefill 可以使用 Leaf 级 hard 约束，保证组内高带宽通信；Decode 可以优先聚合在同一 Leaf，同时把不同 Decode 实例分散到不同 Rack，提高故障域可用性。</a:t>
            </a:r>
            <a:endParaRPr lang="zh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/>
              <a:t>声明了拓扑要求以后，Scheduler 还需要理解真实网络。只用 Node Label 表示 rack 或 zone，会把 Spine、Leaf、Rack 和节点之间的父子关系压扁，也不便表达拓扑状态变化。</a:t>
            </a:r>
            <a:endParaRPr lang="zh-CN"/>
          </a:p>
          <a:p>
            <a:r>
              <a:rPr lang="zh-CN"/>
              <a:t>HyperNode 将这些网络域抽象成可嵌套对象：上层 HyperNode 可以包含下层 HyperNode，最底层再包含真实 Node。Scheduler 因此可以在稳定的性能域上执行 Binpack、Spread、SubGroup 放置和拓扑感知回收</a:t>
            </a:r>
            <a:endParaRPr lang="zh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/>
              <a:t>大型 GPU 集群的交换机和节点数量很多，HyperNode 不能长期依靠人工维护。Volcano 目前支持从</a:t>
            </a:r>
            <a:r>
              <a:rPr lang="en-US" altLang="zh-CN"/>
              <a:t>Nvidia </a:t>
            </a:r>
            <a:r>
              <a:rPr lang="zh-CN"/>
              <a:t>UFM、节点 Label 等数据源读取拓扑，经过归一化和分层以后，由 Controller 创建或更新 HyperNode层级</a:t>
            </a:r>
            <a:r>
              <a:rPr lang="zh-CN"/>
              <a:t>树。</a:t>
            </a:r>
            <a:endParaRPr lang="zh-CN"/>
          </a:p>
          <a:p>
            <a:r>
              <a:rPr lang="zh-CN"/>
              <a:t>Scheduler 只消费统一的 HyperNode API，不直接绑定某个网络厂商。节点上线、下线或拓扑状态变化可以反映到层级树中，同一套调度策略也可以复用到 GPU、NPU 和不同网络环境。</a:t>
            </a:r>
            <a:endParaRPr lang="zh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/>
              <a:t>拓扑约束不仅影响一开始的调度，也影响抢占。一个 Decode SubGroup 需要同一 Leaf 内的 4 张卡，如果分别在两个 Leaf 各回收 2 张，最终仍然无法启动。因此也需要做到拓扑感知的抢占，在进行抢占的模拟调度时，</a:t>
            </a:r>
            <a:r>
              <a:rPr lang="en-US" altLang="zh-CN"/>
              <a:t>HyperNode</a:t>
            </a:r>
            <a:r>
              <a:rPr lang="zh-CN" altLang="en-US"/>
              <a:t>要能够放的下该</a:t>
            </a:r>
            <a:r>
              <a:rPr lang="en-US" altLang="zh-CN"/>
              <a:t>subgroup</a:t>
            </a:r>
            <a:r>
              <a:rPr lang="zh-CN" altLang="en-US"/>
              <a:t>才进行</a:t>
            </a:r>
            <a:r>
              <a:rPr lang="zh-CN" altLang="en-US"/>
              <a:t>驱逐</a:t>
            </a:r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/>
              <a:t>当前 HyperNode 适合表达 Spine、Leaf、Rack 和 Node 组成的分层树，但 集群还会出现 Multi-Rail、Mesh 和 3D Torus 等更复杂的互联结构，这些关系不一定能用一棵树完整描述。</a:t>
            </a:r>
            <a:endParaRPr lang="zh-CN"/>
          </a:p>
          <a:p>
            <a:r>
              <a:rPr lang="zh-CN"/>
              <a:t>后续可以让 HyperNode 继续负责跨节点网络域，DRA 描述节点内 GPU、NIC、NVLink 和 NUMA 等设备关系，调度器联合选择 Node、GPU、NIC 和 Rail。自动发现也需要接入 LLDP、SNMP、DCIM 等更多数据源。欢迎有更多的厂商来跟我们进行合作，构建统一的网络拓扑调度</a:t>
            </a:r>
            <a:endParaRPr lang="zh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/>
              <a:t>第四章来介绍下</a:t>
            </a:r>
            <a:r>
              <a:rPr lang="en-US" altLang="zh-CN"/>
              <a:t>Kthena</a:t>
            </a:r>
            <a:r>
              <a:rPr lang="zh-CN" altLang="en-US"/>
              <a:t>，</a:t>
            </a:r>
            <a:r>
              <a:rPr lang="en-US" altLang="zh-CN"/>
              <a:t>Kthena</a:t>
            </a:r>
            <a:r>
              <a:rPr lang="zh-CN" altLang="en-US"/>
              <a:t>是</a:t>
            </a:r>
            <a:r>
              <a:rPr lang="en-US" altLang="zh-CN"/>
              <a:t>Volcano</a:t>
            </a:r>
            <a:r>
              <a:rPr lang="zh-CN" altLang="en-US"/>
              <a:t>在去年推出的推理子项目，支持</a:t>
            </a:r>
            <a:r>
              <a:rPr lang="en-US" altLang="zh-CN"/>
              <a:t>PD</a:t>
            </a:r>
            <a:r>
              <a:rPr lang="zh-CN" altLang="en-US"/>
              <a:t>分离，丰富的编排，</a:t>
            </a:r>
            <a:r>
              <a:rPr lang="en-US" altLang="zh-CN"/>
              <a:t>Auto scale</a:t>
            </a:r>
            <a:r>
              <a:rPr lang="zh-CN" altLang="en-US"/>
              <a:t>和流量调度策略，这章将介绍</a:t>
            </a:r>
            <a:r>
              <a:rPr lang="en-US" altLang="zh-CN"/>
              <a:t>Kthena</a:t>
            </a:r>
            <a:r>
              <a:rPr lang="zh-CN" altLang="en-US"/>
              <a:t>的三层编排和</a:t>
            </a:r>
            <a:r>
              <a:rPr lang="en-US" altLang="zh-CN"/>
              <a:t>Volcano</a:t>
            </a:r>
            <a:r>
              <a:rPr lang="zh-CN" altLang="en-US"/>
              <a:t>的调度是怎么挂钩</a:t>
            </a:r>
            <a:r>
              <a:rPr lang="zh-CN" altLang="en-US"/>
              <a:t>的</a:t>
            </a:r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/>
              <a:t>先看 Kthena 的编排</a:t>
            </a:r>
            <a:r>
              <a:rPr lang="zh-CN"/>
              <a:t>原语。ModelServing 是用户提交的模型服务，一个 ModelServing 可以包含多个 ServingGroup；每个 ServingGroup 是一套能够对外服务的完整实例，内部再分 Prefill 和 Decode Role，Role 中还可能包含 Entry 与多个 Worker。</a:t>
            </a:r>
            <a:endParaRPr lang="zh-CN"/>
          </a:p>
          <a:p>
            <a:r>
              <a:rPr lang="zh-CN"/>
              <a:t>进入 Volcano 时，ServingGroup 对应 PodGroup，Role 实例组对应 SubGroup，Entry 和 Worker 则是实际调度的 Pod。Kthena 负责模型生命周期、角色副本和流量的调度，支持一系列</a:t>
            </a:r>
            <a:r>
              <a:rPr lang="en-US" altLang="zh-CN"/>
              <a:t>kv connector</a:t>
            </a:r>
            <a:r>
              <a:rPr lang="zh-CN" altLang="en-US"/>
              <a:t>和流量调度策略</a:t>
            </a:r>
            <a:r>
              <a:rPr lang="zh-CN"/>
              <a:t>，Volcano 负责资源准入、Gang、回收和节点放置。</a:t>
            </a:r>
            <a:endParaRPr lang="zh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/>
              <a:t>来看一份</a:t>
            </a:r>
            <a:r>
              <a:rPr lang="en-US" altLang="zh-CN"/>
              <a:t>ModelServing</a:t>
            </a:r>
            <a:r>
              <a:rPr lang="zh-CN" altLang="en-US"/>
              <a:t>的示例</a:t>
            </a:r>
            <a:r>
              <a:rPr lang="zh-CN"/>
              <a:t>。minRoleReplicas 表达 Prefill、Decode 的最小实例组合，groupPolicy 描述整个 ServingGroup 的拓扑范围，rolePolicy 再描述各个 Role 的局部放置要求。</a:t>
            </a:r>
            <a:endParaRPr lang="zh-CN"/>
          </a:p>
          <a:p>
            <a:r>
              <a:rPr lang="zh-CN"/>
              <a:t>Kthena Controller 根据这些配置计算 PodGroup 的 minMember，以及 SubGroupPolicy 的 subGroupSize 和 minSubGroups。</a:t>
            </a:r>
            <a:r>
              <a:rPr lang="en-US" altLang="zh-CN"/>
              <a:t>Volcano</a:t>
            </a:r>
            <a:r>
              <a:rPr lang="zh-CN" altLang="en-US"/>
              <a:t>根据</a:t>
            </a:r>
            <a:r>
              <a:rPr lang="en-US" altLang="zh-CN"/>
              <a:t>Kthena</a:t>
            </a:r>
            <a:r>
              <a:rPr lang="zh-CN" altLang="en-US"/>
              <a:t>转换的</a:t>
            </a:r>
            <a:r>
              <a:rPr lang="en-US" altLang="zh-CN"/>
              <a:t>PodGroup</a:t>
            </a:r>
            <a:r>
              <a:rPr lang="zh-CN" altLang="en-US"/>
              <a:t>进行</a:t>
            </a:r>
            <a:r>
              <a:rPr lang="en-US" altLang="zh-CN"/>
              <a:t>Prefill</a:t>
            </a:r>
            <a:r>
              <a:rPr lang="zh-CN" altLang="en-US"/>
              <a:t>和</a:t>
            </a:r>
            <a:r>
              <a:rPr lang="en-US" altLang="zh-CN"/>
              <a:t>Decode</a:t>
            </a:r>
            <a:r>
              <a:rPr lang="zh-CN" altLang="en-US"/>
              <a:t>的放置，并会遵循调度到哪个超节点</a:t>
            </a:r>
            <a:r>
              <a:rPr lang="zh-CN" altLang="en-US"/>
              <a:t>内</a:t>
            </a:r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很多调度器做 Gang Scheduling 时只考虑最外层的 Pod 数量，但 PD 分离的服务结构会更复杂。一个 Role 实例里既有 Entry Pod，也有 Worker Pod，两者的模板不同，Worker 还可能依赖 Entry 才能启动。资源有限时，最坏的情况是 Worker Pod 全部被调度，但 Entry Pod 没有获得资源，结果这组 Worker 无法启动、整体 Pending。</a:t>
            </a:r>
          </a:p>
          <a:p/>
          <a:p>
            <a:r>
              <a:t>另一层问题是 Prefill 和 Decode 的最小组合。如果只调度了一组 Decode，或者只有 Prefill 没有足够的 Decode，部分 Pod 虽然 Running，整个推理服务仍然不可用。因此平台不仅要能声明“总共要多少 Pod”，还要能声明最少需要 xPyD 多少组实例，以及每个 Role 内部 Entry 和 Worker 必须怎样一起就绪。</a:t>
            </a:r>
          </a:p>
          <a:p>
            <a:r>
              <a:t>以图里的 1P3D 为例，期望规模是一组 Prefill 和三组 Decode，每个 Role 实例内部有一个 Entry 和三个 Worker。Kthena 为整个 ServingGroup 创建一个 PodGroup，同时通过 minRoleReplicas 指定资源不足时最少需要 1P2D。Prefill 和 Decode 分别生成 SubGroupPolicy，每个 SubGroup 的 subGroupSize 是 4，保证同一 Role 实例内的 Entry 和 Worker 一起就绪。</a:t>
            </a:r>
          </a:p>
          <a:p>
            <a:r>
              <a:t>这样同时避免两种资源死锁：既不会因为 Entry 和 Worker 被拆开调度而卡住一个 Role，也不会在只有 P 或者只有少量 D 时占住 GPU 却不能提供完整服务。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/>
              <a:t>最后用一次推理扩容把前面讲到的</a:t>
            </a:r>
            <a:r>
              <a:rPr lang="zh-CN"/>
              <a:t>能力串起来。推理低峰时，Serving 实际使用 2 张 GPU，Training 在自己的 6 张之外借用了 4 张空闲份额，因此共池资源没有闲置。</a:t>
            </a:r>
            <a:endParaRPr lang="zh-CN"/>
          </a:p>
          <a:p>
            <a:r>
              <a:rPr lang="zh-CN"/>
              <a:t>当流量上升，Kthena 增加 Prefill 或 Decode 副本，新的 Serving PodGroup 形成真实 Pending 需求。Capacity 判断 Training 高于 Deserved，需要归还 4 张 GPU；Gang-aware 回收选择能够整体退出的训练 Job，避免分别破坏多个作业。</a:t>
            </a:r>
            <a:endParaRPr lang="zh-CN"/>
          </a:p>
          <a:p>
            <a:r>
              <a:rPr lang="zh-CN"/>
              <a:t>资源归还以后，PodGroup 先保证最小服务组合，SubGroupPolicy 保证 P、D 以及 Entry、Worker 的完整性，HyperNode 再把它们放到合适的网络域。缩容时，Serving 释放的资源又可以被 Training 或 Batch 使用。</a:t>
            </a:r>
            <a:endParaRPr lang="zh-CN"/>
          </a:p>
          <a:p>
            <a:r>
              <a:rPr lang="zh-CN"/>
              <a:t>Kthena 决定服务需要多少副本，Volcano 决定资源怎样分配、从哪里归还以及新副本放在哪里。这样模型服务才真正接入前面讲的共池调度体系。</a:t>
            </a:r>
            <a:endParaRPr lang="zh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/>
              <a:t>整场分享主要讲了四层连接：统一资源管理面、Queue 份额与借还、PodGroup/SubGroup 和 HyperNode 的任务放置，以及 Kthena 对模型服务语义的接入。</a:t>
            </a:r>
            <a:endParaRPr lang="zh-CN"/>
          </a:p>
          <a:p>
            <a:r>
              <a:rPr lang="zh-CN"/>
              <a:t>统一的是资源与调度域，差异化的是工作负载语义和执行路径。我的分享就到这里，谢谢大家，欢迎交流。</a:t>
            </a:r>
            <a:endParaRPr lang="zh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609600" y="8475133"/>
            <a:ext cx="2844800" cy="486833"/>
          </a:xfrm>
        </p:spPr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4165600" y="8475133"/>
            <a:ext cx="3860800" cy="486833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737600" y="8475133"/>
            <a:ext cx="2844800" cy="486833"/>
          </a:xfrm>
        </p:spPr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4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8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9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1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0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2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1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1" Type="http://schemas.openxmlformats.org/officeDocument/2006/relationships/image" Target="../media/image2.png"/></Relationships>
</file>

<file path=ppt/slides/_rels/slide2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2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8.png"/><Relationship Id="rId1" Type="http://schemas.openxmlformats.org/officeDocument/2006/relationships/image" Target="../media/image2.png"/></Relationships>
</file>

<file path=ppt/slides/_rels/slide2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3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2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25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5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image" Target="../media/image2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6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12.png"/></Relationships>
</file>

<file path=ppt/slides/_rels/slide2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7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3.png"/><Relationship Id="rId1" Type="http://schemas.openxmlformats.org/officeDocument/2006/relationships/image" Target="../media/image2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8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14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9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15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0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12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chenzicong/Documents/Codex/2026-07-20/wo/work/chapter1-v4-assets/academic-cluster-cover-bg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43D30"/>
          </a:solidFill>
          <a:ln w="12700">
            <a:solidFill>
              <a:srgbClr val="E43D30">
                <a:alpha val="0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822960" y="658368"/>
            <a:ext cx="1490472" cy="24688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20" b="1" dirty="0">
                <a:solidFill>
                  <a:srgbClr val="FFFFFF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TECHNICAL TALK</a:t>
            </a:r>
            <a:endParaRPr lang="en-US" sz="1220" dirty="0"/>
          </a:p>
        </p:txBody>
      </p:sp>
      <p:sp>
        <p:nvSpPr>
          <p:cNvPr id="6" name="Text 3"/>
          <p:cNvSpPr/>
          <p:nvPr/>
        </p:nvSpPr>
        <p:spPr>
          <a:xfrm>
            <a:off x="749808" y="1234440"/>
            <a:ext cx="5577840" cy="138988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3800" b="1" dirty="0">
                <a:solidFill>
                  <a:srgbClr val="003F8F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从通用计算到</a:t>
            </a:r>
            <a:endParaRPr lang="en-US" sz="3800" dirty="0"/>
          </a:p>
          <a:p>
            <a:pPr marL="0" indent="0">
              <a:buNone/>
            </a:pPr>
            <a:r>
              <a:rPr lang="en-US" sz="3800" b="1" dirty="0">
                <a:solidFill>
                  <a:srgbClr val="003F8F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AI 工作负载</a:t>
            </a:r>
            <a:endParaRPr lang="en-US" sz="3800" dirty="0"/>
          </a:p>
        </p:txBody>
      </p:sp>
      <p:sp>
        <p:nvSpPr>
          <p:cNvPr id="7" name="Text 4"/>
          <p:cNvSpPr/>
          <p:nvPr/>
        </p:nvSpPr>
        <p:spPr>
          <a:xfrm>
            <a:off x="786384" y="2779776"/>
            <a:ext cx="6172200" cy="4572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172033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通智融合的 Kubernetes 共池调度实践</a:t>
            </a:r>
            <a:endParaRPr lang="en-US" sz="2300" dirty="0"/>
          </a:p>
        </p:txBody>
      </p:sp>
      <p:sp>
        <p:nvSpPr>
          <p:cNvPr id="8" name="Shape 5"/>
          <p:cNvSpPr/>
          <p:nvPr/>
        </p:nvSpPr>
        <p:spPr>
          <a:xfrm>
            <a:off x="786384" y="3493008"/>
            <a:ext cx="4343400" cy="0"/>
          </a:xfrm>
          <a:prstGeom prst="line">
            <a:avLst/>
          </a:prstGeom>
          <a:noFill/>
          <a:ln w="38100">
            <a:solidFill>
              <a:srgbClr val="E43D30"/>
            </a:solidFill>
            <a:prstDash val="solid"/>
            <a:headEnd type="none"/>
          </a:ln>
        </p:spPr>
      </p:sp>
      <p:sp>
        <p:nvSpPr>
          <p:cNvPr id="9" name="Text 6"/>
          <p:cNvSpPr/>
          <p:nvPr/>
        </p:nvSpPr>
        <p:spPr>
          <a:xfrm>
            <a:off x="786384" y="3977640"/>
            <a:ext cx="1371600" cy="34747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100" b="1" dirty="0">
                <a:solidFill>
                  <a:srgbClr val="172033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陈子聪</a:t>
            </a:r>
            <a:endParaRPr lang="en-US" sz="2100" dirty="0"/>
          </a:p>
        </p:txBody>
      </p:sp>
      <p:sp>
        <p:nvSpPr>
          <p:cNvPr id="10" name="Text 7"/>
          <p:cNvSpPr/>
          <p:nvPr/>
        </p:nvSpPr>
        <p:spPr>
          <a:xfrm>
            <a:off x="786384" y="4407408"/>
            <a:ext cx="6035040" cy="34747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50" dirty="0">
                <a:solidFill>
                  <a:srgbClr val="5D6B7A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华为云研发工程师 · CNCF Volcano Maintainer</a:t>
            </a:r>
            <a:endParaRPr lang="en-US" sz="1650" dirty="0"/>
          </a:p>
        </p:txBody>
      </p:sp>
      <p:pic>
        <p:nvPicPr>
          <p:cNvPr id="12" name="Image 1" descr="/Users/chenzicong/Documents/Codex/2026-07-20/wo/outputs/volcano-unified-scheduling-editable/assets/volcano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384" y="5987890"/>
            <a:ext cx="1600200" cy="26803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1475720" y="6492240"/>
            <a:ext cx="347472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768597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01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F8F"/>
          </a:solidFill>
          <a:ln w="12700">
            <a:solidFill>
              <a:srgbClr val="003F8F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49808" y="502920"/>
            <a:ext cx="1828800" cy="56692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003F8F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目录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749808" y="1225296"/>
            <a:ext cx="10625328" cy="0"/>
          </a:xfrm>
          <a:prstGeom prst="line">
            <a:avLst/>
          </a:prstGeom>
          <a:noFill/>
          <a:ln w="12700">
            <a:solidFill>
              <a:srgbClr val="B9C8D8"/>
            </a:solidFill>
            <a:prstDash val="solid"/>
            <a:headEnd type="none"/>
          </a:ln>
        </p:spPr>
      </p:sp>
      <p:sp>
        <p:nvSpPr>
          <p:cNvPr id="5" name="Shape 3"/>
          <p:cNvSpPr/>
          <p:nvPr/>
        </p:nvSpPr>
        <p:spPr>
          <a:xfrm>
            <a:off x="749808" y="1179576"/>
            <a:ext cx="1005840" cy="91440"/>
          </a:xfrm>
          <a:prstGeom prst="rect">
            <a:avLst/>
          </a:prstGeom>
          <a:solidFill>
            <a:srgbClr val="E43D30"/>
          </a:solidFill>
          <a:ln w="12700">
            <a:solidFill>
              <a:srgbClr val="E43D30">
                <a:alpha val="0"/>
              </a:srgbClr>
            </a:solidFill>
            <a:prstDash val="solid"/>
          </a:ln>
        </p:spPr>
      </p:sp>
      <p:pic>
        <p:nvPicPr>
          <p:cNvPr id="6" name="Image 0" descr="/Users/chenzicong/Documents/Codex/2026-07-20/wo/outputs/volcano-unified-scheduling-editable/assets/volcano-logo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78440" y="549668"/>
            <a:ext cx="1188720" cy="199112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822960" y="1572768"/>
            <a:ext cx="10533888" cy="822960"/>
          </a:xfrm>
          <a:prstGeom prst="rect">
            <a:avLst/>
          </a:prstGeom>
          <a:solidFill>
            <a:schemeClr val="bg1"/>
          </a:solidFill>
          <a:ln w="12700">
            <a:solidFill>
              <a:srgbClr val="0B5CAD"/>
            </a:solidFill>
            <a:prstDash val="solid"/>
          </a:ln>
          <a:effectLst>
            <a:outerShdw blurRad="12700" dist="50800" dir="2700000" algn="bl" rotWithShape="0">
              <a:srgbClr val="7A8796">
                <a:alpha val="14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822960" y="1572768"/>
            <a:ext cx="109728" cy="822960"/>
          </a:xfrm>
          <a:prstGeom prst="rect">
            <a:avLst/>
          </a:prstGeom>
          <a:solidFill>
            <a:srgbClr val="0B5CAD"/>
          </a:solidFill>
          <a:ln w="12700">
            <a:solidFill>
              <a:srgbClr val="0B5CAD">
                <a:alpha val="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170432" y="1719072"/>
            <a:ext cx="658368" cy="38404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B5CAD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01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2084832" y="1691640"/>
            <a:ext cx="2743200" cy="34747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900" b="1" dirty="0">
                <a:solidFill>
                  <a:srgbClr val="172033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从分池到共池</a:t>
            </a:r>
            <a:endParaRPr lang="en-US" sz="1900" dirty="0"/>
          </a:p>
        </p:txBody>
      </p:sp>
      <p:sp>
        <p:nvSpPr>
          <p:cNvPr id="11" name="Text 8"/>
          <p:cNvSpPr/>
          <p:nvPr/>
        </p:nvSpPr>
        <p:spPr>
          <a:xfrm>
            <a:off x="4892040" y="1728216"/>
            <a:ext cx="5989320" cy="34747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20" dirty="0">
                <a:solidFill>
                  <a:srgbClr val="5D6B7A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统一资源视图，并为不同类型工作负载保留差异化调度路径</a:t>
            </a:r>
            <a:endParaRPr lang="en-US" sz="1320" dirty="0"/>
          </a:p>
        </p:txBody>
      </p:sp>
      <p:sp>
        <p:nvSpPr>
          <p:cNvPr id="12" name="Shape 9"/>
          <p:cNvSpPr/>
          <p:nvPr/>
        </p:nvSpPr>
        <p:spPr>
          <a:xfrm>
            <a:off x="10899648" y="1975104"/>
            <a:ext cx="164592" cy="0"/>
          </a:xfrm>
          <a:prstGeom prst="line">
            <a:avLst/>
          </a:prstGeom>
          <a:noFill/>
          <a:ln w="16510">
            <a:solidFill>
              <a:srgbClr val="0B5CAD"/>
            </a:solidFill>
            <a:prstDash val="solid"/>
            <a:headEnd type="none"/>
            <a:tailEnd type="triangle"/>
          </a:ln>
        </p:spPr>
      </p:sp>
      <p:sp>
        <p:nvSpPr>
          <p:cNvPr id="13" name="Shape 10"/>
          <p:cNvSpPr/>
          <p:nvPr/>
        </p:nvSpPr>
        <p:spPr>
          <a:xfrm>
            <a:off x="822960" y="2651760"/>
            <a:ext cx="10533888" cy="822960"/>
          </a:xfrm>
          <a:prstGeom prst="rect">
            <a:avLst/>
          </a:prstGeom>
          <a:solidFill>
            <a:srgbClr val="FFFFFF"/>
          </a:solidFill>
          <a:ln w="12700">
            <a:solidFill>
              <a:schemeClr val="accent1"/>
            </a:solidFill>
            <a:prstDash val="solid"/>
          </a:ln>
          <a:effectLst>
            <a:outerShdw blurRad="12700" dist="50800" dir="2700000" algn="bl" rotWithShape="0">
              <a:srgbClr val="7A8796">
                <a:alpha val="14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822960" y="2651760"/>
            <a:ext cx="109728" cy="822960"/>
          </a:xfrm>
          <a:prstGeom prst="rect">
            <a:avLst/>
          </a:prstGeom>
          <a:solidFill>
            <a:srgbClr val="0B5CAD"/>
          </a:solidFill>
          <a:ln w="12700">
            <a:solidFill>
              <a:schemeClr val="accent1">
                <a:alpha val="0"/>
              </a:scheme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170432" y="2798064"/>
            <a:ext cx="658368" cy="38404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accent1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02</a:t>
            </a:r>
            <a:endParaRPr lang="en-US" sz="2200" b="1" dirty="0">
              <a:solidFill>
                <a:schemeClr val="accent1"/>
              </a:solidFill>
              <a:latin typeface="PingFang SC" panose="020B0400000000000000" pitchFamily="34" charset="-122"/>
              <a:ea typeface="PingFang SC" panose="020B0400000000000000" pitchFamily="34" charset="-122"/>
              <a:cs typeface="PingFang SC" panose="020B0400000000000000" pitchFamily="34" charset="-120"/>
            </a:endParaRPr>
          </a:p>
        </p:txBody>
      </p:sp>
      <p:sp>
        <p:nvSpPr>
          <p:cNvPr id="16" name="Text 13"/>
          <p:cNvSpPr/>
          <p:nvPr/>
        </p:nvSpPr>
        <p:spPr>
          <a:xfrm>
            <a:off x="2084832" y="2770632"/>
            <a:ext cx="2743200" cy="34747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900" b="1" dirty="0">
                <a:solidFill>
                  <a:srgbClr val="172033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共池中的资源治理</a:t>
            </a:r>
            <a:endParaRPr lang="en-US" sz="1900" dirty="0"/>
          </a:p>
        </p:txBody>
      </p:sp>
      <p:sp>
        <p:nvSpPr>
          <p:cNvPr id="17" name="Text 14"/>
          <p:cNvSpPr/>
          <p:nvPr/>
        </p:nvSpPr>
        <p:spPr>
          <a:xfrm>
            <a:off x="4892040" y="2807208"/>
            <a:ext cx="5989320" cy="34747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20" dirty="0">
                <a:solidFill>
                  <a:srgbClr val="5D6B7A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以层级队列、资源借还和公平份额管理训推资源关系</a:t>
            </a:r>
            <a:endParaRPr lang="en-US" sz="1320" dirty="0"/>
          </a:p>
        </p:txBody>
      </p:sp>
      <p:sp>
        <p:nvSpPr>
          <p:cNvPr id="18" name="Shape 15"/>
          <p:cNvSpPr/>
          <p:nvPr/>
        </p:nvSpPr>
        <p:spPr>
          <a:xfrm>
            <a:off x="10899648" y="3054096"/>
            <a:ext cx="164592" cy="0"/>
          </a:xfrm>
          <a:prstGeom prst="line">
            <a:avLst/>
          </a:prstGeom>
          <a:noFill/>
          <a:ln w="16510">
            <a:solidFill>
              <a:srgbClr val="6F8193"/>
            </a:solidFill>
            <a:prstDash val="solid"/>
            <a:headEnd type="none"/>
            <a:tailEnd type="triangle"/>
          </a:ln>
        </p:spPr>
      </p:sp>
      <p:sp>
        <p:nvSpPr>
          <p:cNvPr id="19" name="Shape 16"/>
          <p:cNvSpPr/>
          <p:nvPr/>
        </p:nvSpPr>
        <p:spPr>
          <a:xfrm>
            <a:off x="822960" y="3730752"/>
            <a:ext cx="10533888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003F8F"/>
            </a:solidFill>
            <a:prstDash val="solid"/>
          </a:ln>
          <a:effectLst>
            <a:outerShdw blurRad="12700" dist="50800" dir="2700000" algn="bl" rotWithShape="0">
              <a:srgbClr val="7A8796">
                <a:alpha val="14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822960" y="3733292"/>
            <a:ext cx="109728" cy="822960"/>
          </a:xfrm>
          <a:prstGeom prst="rect">
            <a:avLst/>
          </a:prstGeom>
          <a:solidFill>
            <a:schemeClr val="accent1"/>
          </a:solidFill>
          <a:ln w="12700">
            <a:solidFill>
              <a:srgbClr val="003F8F">
                <a:alpha val="0"/>
              </a:srgbClr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1170432" y="3877056"/>
            <a:ext cx="658368" cy="38404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3F8F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03</a:t>
            </a:r>
            <a:endParaRPr lang="en-US" sz="2200" dirty="0"/>
          </a:p>
        </p:txBody>
      </p:sp>
      <p:sp>
        <p:nvSpPr>
          <p:cNvPr id="22" name="Text 19"/>
          <p:cNvSpPr/>
          <p:nvPr/>
        </p:nvSpPr>
        <p:spPr>
          <a:xfrm>
            <a:off x="2084832" y="3849624"/>
            <a:ext cx="2743200" cy="34747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900" b="1" dirty="0">
                <a:solidFill>
                  <a:srgbClr val="172033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AI 作业的结构化调度</a:t>
            </a:r>
            <a:endParaRPr lang="en-US" sz="1900" dirty="0"/>
          </a:p>
        </p:txBody>
      </p:sp>
      <p:sp>
        <p:nvSpPr>
          <p:cNvPr id="23" name="Text 20"/>
          <p:cNvSpPr/>
          <p:nvPr/>
        </p:nvSpPr>
        <p:spPr>
          <a:xfrm>
            <a:off x="4892040" y="3886200"/>
            <a:ext cx="5989320" cy="34747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20" dirty="0">
                <a:solidFill>
                  <a:srgbClr val="5D6B7A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从 PodGroup 扩展到角色分组与网络拓扑感知放置</a:t>
            </a:r>
            <a:endParaRPr lang="en-US" sz="1320" dirty="0"/>
          </a:p>
        </p:txBody>
      </p:sp>
      <p:sp>
        <p:nvSpPr>
          <p:cNvPr id="24" name="Shape 21"/>
          <p:cNvSpPr/>
          <p:nvPr/>
        </p:nvSpPr>
        <p:spPr>
          <a:xfrm>
            <a:off x="10899648" y="4133088"/>
            <a:ext cx="164592" cy="0"/>
          </a:xfrm>
          <a:prstGeom prst="line">
            <a:avLst/>
          </a:prstGeom>
          <a:noFill/>
          <a:ln w="16510">
            <a:solidFill>
              <a:srgbClr val="003F8F"/>
            </a:solidFill>
            <a:prstDash val="solid"/>
            <a:headEnd type="none"/>
            <a:tailEnd type="triangle"/>
          </a:ln>
        </p:spPr>
      </p:sp>
      <p:sp>
        <p:nvSpPr>
          <p:cNvPr id="25" name="Shape 22"/>
          <p:cNvSpPr/>
          <p:nvPr/>
        </p:nvSpPr>
        <p:spPr>
          <a:xfrm>
            <a:off x="822960" y="4809744"/>
            <a:ext cx="10533888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0B5CAD"/>
            </a:solidFill>
            <a:prstDash val="solid"/>
          </a:ln>
          <a:effectLst>
            <a:outerShdw blurRad="12700" dist="50800" dir="2700000" algn="bl" rotWithShape="0">
              <a:srgbClr val="7A8796">
                <a:alpha val="14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822960" y="4809744"/>
            <a:ext cx="109728" cy="822960"/>
          </a:xfrm>
          <a:prstGeom prst="rect">
            <a:avLst/>
          </a:prstGeom>
          <a:solidFill>
            <a:srgbClr val="0B5CAD"/>
          </a:solidFill>
          <a:ln w="12700">
            <a:solidFill>
              <a:srgbClr val="0B5CAD">
                <a:alpha val="0"/>
              </a:srgbClr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1170432" y="4956048"/>
            <a:ext cx="658368" cy="38404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B5CAD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04</a:t>
            </a:r>
            <a:endParaRPr lang="en-US" sz="2200" dirty="0"/>
          </a:p>
        </p:txBody>
      </p:sp>
      <p:sp>
        <p:nvSpPr>
          <p:cNvPr id="28" name="Text 25"/>
          <p:cNvSpPr/>
          <p:nvPr/>
        </p:nvSpPr>
        <p:spPr>
          <a:xfrm>
            <a:off x="2084832" y="4928616"/>
            <a:ext cx="2743200" cy="34747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900" b="1" dirty="0">
                <a:solidFill>
                  <a:srgbClr val="172033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模型服务与共池协同</a:t>
            </a:r>
            <a:endParaRPr lang="en-US" sz="1900" dirty="0"/>
          </a:p>
        </p:txBody>
      </p:sp>
      <p:sp>
        <p:nvSpPr>
          <p:cNvPr id="29" name="Text 26"/>
          <p:cNvSpPr/>
          <p:nvPr/>
        </p:nvSpPr>
        <p:spPr>
          <a:xfrm>
            <a:off x="4892040" y="4965192"/>
            <a:ext cx="5989320" cy="34747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20" dirty="0">
                <a:solidFill>
                  <a:srgbClr val="5D6B7A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让 Kthena 的服务编排接入 Volcano 的资源与调度能力</a:t>
            </a:r>
            <a:endParaRPr lang="en-US" sz="1320" dirty="0"/>
          </a:p>
        </p:txBody>
      </p:sp>
      <p:sp>
        <p:nvSpPr>
          <p:cNvPr id="30" name="Shape 27"/>
          <p:cNvSpPr/>
          <p:nvPr/>
        </p:nvSpPr>
        <p:spPr>
          <a:xfrm>
            <a:off x="10899648" y="5212080"/>
            <a:ext cx="164592" cy="0"/>
          </a:xfrm>
          <a:prstGeom prst="line">
            <a:avLst/>
          </a:prstGeom>
          <a:noFill/>
          <a:ln w="16510">
            <a:solidFill>
              <a:srgbClr val="0B5CAD"/>
            </a:solidFill>
            <a:prstDash val="solid"/>
            <a:headEnd type="none"/>
            <a:tailEnd type="triangle"/>
          </a:ln>
        </p:spPr>
      </p:sp>
      <p:sp>
        <p:nvSpPr>
          <p:cNvPr id="32" name="Text 29"/>
          <p:cNvSpPr/>
          <p:nvPr/>
        </p:nvSpPr>
        <p:spPr>
          <a:xfrm>
            <a:off x="11475720" y="6492240"/>
            <a:ext cx="347472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768597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02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chenzicong/Documents/Codex/2026-07-20/wo/work/chapter1-v4-assets/academic-cluster-cover-bg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3977640" cy="6858000"/>
          </a:xfrm>
          <a:prstGeom prst="rect">
            <a:avLst/>
          </a:prstGeom>
          <a:solidFill>
            <a:srgbClr val="003F8F">
              <a:alpha val="98000"/>
            </a:srgbClr>
          </a:solidFill>
          <a:ln w="12700">
            <a:solidFill>
              <a:srgbClr val="003F8F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3977640" y="0"/>
            <a:ext cx="109728" cy="6858000"/>
          </a:xfrm>
          <a:prstGeom prst="rect">
            <a:avLst/>
          </a:prstGeom>
          <a:solidFill>
            <a:srgbClr val="E43D30"/>
          </a:solidFill>
          <a:ln w="12700">
            <a:solidFill>
              <a:srgbClr val="E43D30">
                <a:alpha val="0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76656" y="658368"/>
            <a:ext cx="2103120" cy="10058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80000"/>
          </a:bodyPr>
          <a:lstStyle/>
          <a:p>
            <a:pPr marL="0" indent="0">
              <a:buNone/>
            </a:pPr>
            <a:r>
              <a:rPr lang="en-US" sz="7400" b="1" dirty="0">
                <a:solidFill>
                  <a:srgbClr val="74A8D8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01</a:t>
            </a:r>
            <a:endParaRPr lang="en-US" sz="7400" dirty="0"/>
          </a:p>
        </p:txBody>
      </p:sp>
      <p:sp>
        <p:nvSpPr>
          <p:cNvPr id="6" name="Text 3"/>
          <p:cNvSpPr/>
          <p:nvPr/>
        </p:nvSpPr>
        <p:spPr>
          <a:xfrm>
            <a:off x="749808" y="1600200"/>
            <a:ext cx="182880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kern="0" spc="220" dirty="0">
                <a:solidFill>
                  <a:srgbClr val="BFD6EE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CHAPTER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4224528" y="658368"/>
            <a:ext cx="7205472" cy="5440680"/>
          </a:xfrm>
          <a:prstGeom prst="roundRect">
            <a:avLst>
              <a:gd name="adj" fmla="val 1345"/>
            </a:avLst>
          </a:prstGeom>
          <a:solidFill>
            <a:srgbClr val="FFFFFF">
              <a:alpha val="97000"/>
            </a:srgbClr>
          </a:solidFill>
          <a:ln w="13970">
            <a:solidFill>
              <a:srgbClr val="C8D5E2"/>
            </a:solidFill>
            <a:prstDash val="solid"/>
          </a:ln>
          <a:effectLst>
            <a:outerShdw blurRad="25400" dist="50800" dir="2700000" algn="bl" rotWithShape="0">
              <a:srgbClr val="718096">
                <a:alpha val="15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4590288" y="969264"/>
            <a:ext cx="841248" cy="310896"/>
          </a:xfrm>
          <a:prstGeom prst="roundRect">
            <a:avLst>
              <a:gd name="adj" fmla="val 23529"/>
            </a:avLst>
          </a:prstGeom>
          <a:solidFill>
            <a:srgbClr val="0B5CAD"/>
          </a:solidFill>
          <a:ln w="12700">
            <a:solidFill>
              <a:srgbClr val="6F8193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663440" y="986663"/>
            <a:ext cx="694944" cy="28346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第一章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4572000" y="1417320"/>
            <a:ext cx="5303520" cy="6217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600" b="1" dirty="0">
                <a:solidFill>
                  <a:srgbClr val="003F8F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从分池到共池</a:t>
            </a:r>
            <a:endParaRPr lang="en-US" sz="3600" dirty="0"/>
          </a:p>
        </p:txBody>
      </p:sp>
      <p:sp>
        <p:nvSpPr>
          <p:cNvPr id="11" name="Text 8"/>
          <p:cNvSpPr/>
          <p:nvPr/>
        </p:nvSpPr>
        <p:spPr>
          <a:xfrm>
            <a:off x="4599432" y="2139696"/>
            <a:ext cx="5577840" cy="38404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950" b="1" dirty="0">
                <a:solidFill>
                  <a:srgbClr val="172033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统一资源视图与差异化调度路径</a:t>
            </a:r>
            <a:endParaRPr lang="en-US" sz="1950" dirty="0"/>
          </a:p>
        </p:txBody>
      </p:sp>
      <p:sp>
        <p:nvSpPr>
          <p:cNvPr id="12" name="Shape 9"/>
          <p:cNvSpPr/>
          <p:nvPr/>
        </p:nvSpPr>
        <p:spPr>
          <a:xfrm>
            <a:off x="4599432" y="2706624"/>
            <a:ext cx="6080760" cy="0"/>
          </a:xfrm>
          <a:prstGeom prst="line">
            <a:avLst/>
          </a:prstGeom>
          <a:noFill/>
          <a:ln w="15240">
            <a:solidFill>
              <a:srgbClr val="2F77C4"/>
            </a:solidFill>
            <a:prstDash val="solid"/>
            <a:headEnd type="none"/>
          </a:ln>
        </p:spPr>
      </p:sp>
      <p:sp>
        <p:nvSpPr>
          <p:cNvPr id="13" name="Shape 10"/>
          <p:cNvSpPr/>
          <p:nvPr/>
        </p:nvSpPr>
        <p:spPr>
          <a:xfrm>
            <a:off x="4608576" y="3072384"/>
            <a:ext cx="502920" cy="310896"/>
          </a:xfrm>
          <a:prstGeom prst="roundRect">
            <a:avLst>
              <a:gd name="adj" fmla="val 23529"/>
            </a:avLst>
          </a:prstGeom>
          <a:solidFill>
            <a:srgbClr val="0B5CAD"/>
          </a:solidFill>
          <a:ln w="12700">
            <a:solidFill>
              <a:srgbClr val="6F8193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681728" y="3081528"/>
            <a:ext cx="356616" cy="28346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01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5376672" y="3054096"/>
            <a:ext cx="4983480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20" b="1" dirty="0">
                <a:solidFill>
                  <a:srgbClr val="172033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Volcano：从批处理到统一调度平台</a:t>
            </a:r>
            <a:endParaRPr lang="en-US" sz="1620" dirty="0"/>
          </a:p>
        </p:txBody>
      </p:sp>
      <p:sp>
        <p:nvSpPr>
          <p:cNvPr id="16" name="Shape 13"/>
          <p:cNvSpPr/>
          <p:nvPr/>
        </p:nvSpPr>
        <p:spPr>
          <a:xfrm>
            <a:off x="4608576" y="3694176"/>
            <a:ext cx="502920" cy="310896"/>
          </a:xfrm>
          <a:prstGeom prst="roundRect">
            <a:avLst>
              <a:gd name="adj" fmla="val 23529"/>
            </a:avLst>
          </a:prstGeom>
          <a:solidFill>
            <a:srgbClr val="0B5CAD"/>
          </a:solidFill>
          <a:ln w="12700">
            <a:solidFill>
              <a:srgbClr val="0B5CAD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681728" y="3703320"/>
            <a:ext cx="356616" cy="28346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02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5376672" y="3675888"/>
            <a:ext cx="4983480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20" b="1" dirty="0">
                <a:solidFill>
                  <a:srgbClr val="172033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工作负载形态演进</a:t>
            </a:r>
            <a:endParaRPr lang="en-US" sz="1620" dirty="0"/>
          </a:p>
        </p:txBody>
      </p:sp>
      <p:sp>
        <p:nvSpPr>
          <p:cNvPr id="19" name="Shape 16"/>
          <p:cNvSpPr/>
          <p:nvPr/>
        </p:nvSpPr>
        <p:spPr>
          <a:xfrm>
            <a:off x="4608576" y="4315968"/>
            <a:ext cx="502920" cy="310896"/>
          </a:xfrm>
          <a:prstGeom prst="roundRect">
            <a:avLst>
              <a:gd name="adj" fmla="val 23529"/>
            </a:avLst>
          </a:prstGeom>
          <a:solidFill>
            <a:srgbClr val="0B5CAD"/>
          </a:solidFill>
          <a:ln w="12700">
            <a:solidFill>
              <a:srgbClr val="003F8F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681728" y="4325112"/>
            <a:ext cx="356616" cy="28346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03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5376672" y="4297680"/>
            <a:ext cx="4983480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20" b="1" dirty="0">
                <a:solidFill>
                  <a:srgbClr val="172033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分裂资源体系与统一管理面</a:t>
            </a:r>
            <a:endParaRPr lang="en-US" sz="1620" dirty="0"/>
          </a:p>
        </p:txBody>
      </p:sp>
      <p:sp>
        <p:nvSpPr>
          <p:cNvPr id="22" name="Shape 19"/>
          <p:cNvSpPr/>
          <p:nvPr/>
        </p:nvSpPr>
        <p:spPr>
          <a:xfrm>
            <a:off x="4608576" y="4937760"/>
            <a:ext cx="502920" cy="310896"/>
          </a:xfrm>
          <a:prstGeom prst="roundRect">
            <a:avLst>
              <a:gd name="adj" fmla="val 23529"/>
            </a:avLst>
          </a:prstGeom>
          <a:solidFill>
            <a:srgbClr val="0B5CAD"/>
          </a:solidFill>
          <a:ln w="12700">
            <a:solidFill>
              <a:srgbClr val="0B5CAD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681728" y="4946904"/>
            <a:ext cx="356616" cy="28346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04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5376672" y="4919472"/>
            <a:ext cx="4983480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20" b="1" dirty="0">
                <a:solidFill>
                  <a:srgbClr val="172033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双路径架构与策略化调度入口</a:t>
            </a:r>
            <a:endParaRPr lang="en-US" sz="1620" dirty="0"/>
          </a:p>
        </p:txBody>
      </p:sp>
      <p:pic>
        <p:nvPicPr>
          <p:cNvPr id="26" name="Image 1" descr="/Users/chenzicong/Documents/Codex/2026-07-20/wo/outputs/volcano-unified-scheduling-editable/assets/volcano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47504" y="6009264"/>
            <a:ext cx="1508760" cy="252719"/>
          </a:xfrm>
          <a:prstGeom prst="rect">
            <a:avLst/>
          </a:prstGeom>
        </p:spPr>
      </p:pic>
      <p:sp>
        <p:nvSpPr>
          <p:cNvPr id="27" name="Text 23"/>
          <p:cNvSpPr/>
          <p:nvPr/>
        </p:nvSpPr>
        <p:spPr>
          <a:xfrm>
            <a:off x="11475720" y="6492240"/>
            <a:ext cx="347472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768597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03</a:t>
            </a:r>
            <a:endParaRPr lang="en-US" sz="950" dirty="0"/>
          </a:p>
        </p:txBody>
      </p:sp>
      <p:pic>
        <p:nvPicPr>
          <p:cNvPr id="28" name="Image 0" descr="/Users/chenzicong/Documents/Codex/2026-07-20/wo/outputs/volcano-unified-scheduling-editable/assets/volcano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062" y="6032867"/>
            <a:ext cx="1554480" cy="26037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F8F"/>
          </a:solidFill>
          <a:ln w="12700">
            <a:solidFill>
              <a:srgbClr val="003F8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" y="228600"/>
            <a:ext cx="1417320" cy="393192"/>
          </a:xfrm>
          <a:prstGeom prst="chevron">
            <a:avLst/>
          </a:prstGeom>
          <a:solidFill>
            <a:srgbClr val="003F8F"/>
          </a:solidFill>
          <a:ln w="12700">
            <a:solidFill>
              <a:srgbClr val="003F8F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274320"/>
            <a:ext cx="1078992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第一章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2212848" y="182880"/>
            <a:ext cx="7635240" cy="51206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003F8F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Volcano：从批处理系统到统一调度平台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58368" y="832104"/>
            <a:ext cx="10744200" cy="34747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30" dirty="0">
                <a:solidFill>
                  <a:srgbClr val="5D6B7A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在 Kubernetes 之上，连接通用服务、批处理、训练、推理与异构算力</a:t>
            </a:r>
            <a:endParaRPr lang="en-US" sz="1530" dirty="0"/>
          </a:p>
        </p:txBody>
      </p:sp>
      <p:sp>
        <p:nvSpPr>
          <p:cNvPr id="7" name="Shape 5"/>
          <p:cNvSpPr/>
          <p:nvPr/>
        </p:nvSpPr>
        <p:spPr>
          <a:xfrm>
            <a:off x="566928" y="1225296"/>
            <a:ext cx="11018520" cy="0"/>
          </a:xfrm>
          <a:prstGeom prst="line">
            <a:avLst/>
          </a:prstGeom>
          <a:noFill/>
          <a:ln w="11430">
            <a:solidFill>
              <a:srgbClr val="B9C8D8"/>
            </a:solidFill>
            <a:prstDash val="solid"/>
            <a:headEnd type="none"/>
          </a:ln>
        </p:spPr>
      </p:sp>
      <p:sp>
        <p:nvSpPr>
          <p:cNvPr id="8" name="Shape 6"/>
          <p:cNvSpPr/>
          <p:nvPr/>
        </p:nvSpPr>
        <p:spPr>
          <a:xfrm>
            <a:off x="566928" y="1179576"/>
            <a:ext cx="1225296" cy="91440"/>
          </a:xfrm>
          <a:prstGeom prst="rect">
            <a:avLst/>
          </a:prstGeom>
          <a:solidFill>
            <a:srgbClr val="E43D30"/>
          </a:solidFill>
          <a:ln w="12700">
            <a:solidFill>
              <a:srgbClr val="E43D30">
                <a:alpha val="0"/>
              </a:srgbClr>
            </a:solidFill>
            <a:prstDash val="solid"/>
          </a:ln>
        </p:spPr>
      </p:sp>
      <p:pic>
        <p:nvPicPr>
          <p:cNvPr id="9" name="Image 0" descr="/Users/chenzicong/Documents/Codex/2026-07-20/wo/outputs/volcano-unified-scheduling-editable/assets/volcano-logo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97312" y="321114"/>
            <a:ext cx="1078992" cy="180733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1475720" y="6492240"/>
            <a:ext cx="347472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768597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04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658368" y="1389888"/>
            <a:ext cx="6053328" cy="4553712"/>
          </a:xfrm>
          <a:prstGeom prst="rect">
            <a:avLst/>
          </a:prstGeom>
          <a:solidFill>
            <a:srgbClr val="FFFFFF"/>
          </a:solidFill>
          <a:ln w="12700">
            <a:solidFill>
              <a:srgbClr val="B8C8DA"/>
            </a:solidFill>
            <a:prstDash val="solid"/>
          </a:ln>
          <a:effectLst>
            <a:outerShdw blurRad="12700" dist="50800" dir="2700000" algn="bl" rotWithShape="0">
              <a:srgbClr val="7A8796">
                <a:alpha val="14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841375" y="1435735"/>
            <a:ext cx="1361440" cy="347345"/>
          </a:xfrm>
          <a:prstGeom prst="chevron">
            <a:avLst/>
          </a:prstGeom>
          <a:solidFill>
            <a:srgbClr val="003F8F"/>
          </a:solidFill>
          <a:ln w="12700">
            <a:solidFill>
              <a:srgbClr val="003F8F">
                <a:alpha val="0"/>
              </a:srgbClr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015365" y="1485392"/>
            <a:ext cx="969264" cy="24688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20" b="1" dirty="0">
                <a:solidFill>
                  <a:srgbClr val="FFFFFF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Volcano</a:t>
            </a:r>
            <a:r>
              <a:rPr lang="zh-CN" altLang="en-US" sz="1220" b="1" dirty="0">
                <a:solidFill>
                  <a:srgbClr val="FFFFFF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概览</a:t>
            </a:r>
            <a:endParaRPr lang="zh-CN" altLang="en-US" sz="1220" b="1" dirty="0">
              <a:solidFill>
                <a:srgbClr val="FFFFFF"/>
              </a:solidFill>
              <a:latin typeface="PingFang SC" panose="020B0400000000000000" pitchFamily="34" charset="-122"/>
              <a:ea typeface="PingFang SC" panose="020B0400000000000000" pitchFamily="34" charset="-122"/>
              <a:cs typeface="PingFang SC" panose="020B0400000000000000" pitchFamily="34" charset="-120"/>
            </a:endParaRPr>
          </a:p>
        </p:txBody>
      </p:sp>
      <p:sp>
        <p:nvSpPr>
          <p:cNvPr id="16" name="Shape 12"/>
          <p:cNvSpPr/>
          <p:nvPr/>
        </p:nvSpPr>
        <p:spPr>
          <a:xfrm>
            <a:off x="6976872" y="1893062"/>
            <a:ext cx="2084832" cy="1179576"/>
          </a:xfrm>
          <a:prstGeom prst="rect">
            <a:avLst/>
          </a:prstGeom>
          <a:solidFill>
            <a:srgbClr val="FFFFFF"/>
          </a:solidFill>
          <a:ln w="12700">
            <a:solidFill>
              <a:srgbClr val="0B5CAD"/>
            </a:solidFill>
            <a:prstDash val="solid"/>
          </a:ln>
          <a:effectLst>
            <a:outerShdw blurRad="12700" dist="50800" dir="2700000" algn="bl" rotWithShape="0">
              <a:srgbClr val="7A8796">
                <a:alpha val="14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976872" y="1893062"/>
            <a:ext cx="73152" cy="1179576"/>
          </a:xfrm>
          <a:prstGeom prst="rect">
            <a:avLst/>
          </a:prstGeom>
          <a:solidFill>
            <a:srgbClr val="0B5CAD"/>
          </a:solidFill>
          <a:ln w="12700">
            <a:solidFill>
              <a:srgbClr val="0B5CAD">
                <a:alpha val="0"/>
              </a:srgbClr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7178040" y="2021078"/>
            <a:ext cx="411480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b="1" dirty="0">
                <a:solidFill>
                  <a:srgbClr val="0B5CAD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01</a:t>
            </a:r>
            <a:endParaRPr lang="en-US" sz="1150" dirty="0"/>
          </a:p>
        </p:txBody>
      </p:sp>
      <p:sp>
        <p:nvSpPr>
          <p:cNvPr id="19" name="Text 15"/>
          <p:cNvSpPr/>
          <p:nvPr/>
        </p:nvSpPr>
        <p:spPr>
          <a:xfrm>
            <a:off x="7616952" y="2002790"/>
            <a:ext cx="1225296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b="1" dirty="0">
                <a:solidFill>
                  <a:srgbClr val="172033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统一作业调度</a:t>
            </a:r>
            <a:endParaRPr lang="en-US" sz="1320" dirty="0"/>
          </a:p>
        </p:txBody>
      </p:sp>
      <p:sp>
        <p:nvSpPr>
          <p:cNvPr id="20" name="Shape 16"/>
          <p:cNvSpPr/>
          <p:nvPr/>
        </p:nvSpPr>
        <p:spPr>
          <a:xfrm>
            <a:off x="7178040" y="2277364"/>
            <a:ext cx="1664208" cy="0"/>
          </a:xfrm>
          <a:prstGeom prst="line">
            <a:avLst/>
          </a:prstGeom>
          <a:noFill/>
          <a:ln w="8890">
            <a:solidFill>
              <a:srgbClr val="D8E0E9"/>
            </a:solidFill>
            <a:prstDash val="solid"/>
            <a:headEnd type="none"/>
          </a:ln>
        </p:spPr>
      </p:sp>
      <p:sp>
        <p:nvSpPr>
          <p:cNvPr id="21" name="Text 17"/>
          <p:cNvSpPr/>
          <p:nvPr/>
        </p:nvSpPr>
        <p:spPr>
          <a:xfrm>
            <a:off x="7178040" y="2478405"/>
            <a:ext cx="1753870" cy="39306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zh-CN" altLang="en-US" sz="1000" dirty="0">
                <a:solidFill>
                  <a:srgbClr val="5D6B7A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支持</a:t>
            </a:r>
            <a:r>
              <a:rPr lang="en-US" altLang="en-US" sz="1000" dirty="0">
                <a:solidFill>
                  <a:srgbClr val="5D6B7A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 Kubernetes </a:t>
            </a:r>
            <a:r>
              <a:rPr lang="zh-CN" altLang="en-US" sz="1000" dirty="0">
                <a:solidFill>
                  <a:srgbClr val="5D6B7A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原生负载及主流计算框架（如</a:t>
            </a:r>
            <a:r>
              <a:rPr lang="en-US" altLang="en-US" sz="1000" dirty="0">
                <a:solidFill>
                  <a:srgbClr val="5D6B7A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 Spark</a:t>
            </a:r>
            <a:r>
              <a:rPr lang="zh-CN" altLang="en-US" sz="1000" dirty="0">
                <a:solidFill>
                  <a:srgbClr val="5D6B7A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、</a:t>
            </a:r>
            <a:r>
              <a:rPr lang="en-US" altLang="en-US" sz="1000" dirty="0">
                <a:solidFill>
                  <a:srgbClr val="5D6B7A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PyTorch</a:t>
            </a:r>
            <a:r>
              <a:rPr lang="zh-CN" altLang="en-US" sz="1000" dirty="0">
                <a:solidFill>
                  <a:srgbClr val="5D6B7A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、</a:t>
            </a:r>
            <a:r>
              <a:rPr lang="en-US" altLang="en-US" sz="1000" dirty="0">
                <a:solidFill>
                  <a:srgbClr val="5D6B7A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Ray</a:t>
            </a:r>
            <a:r>
              <a:rPr lang="zh-CN" altLang="en-US" sz="1000" dirty="0">
                <a:solidFill>
                  <a:srgbClr val="5D6B7A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、</a:t>
            </a:r>
            <a:r>
              <a:rPr lang="en-US" altLang="en-US" sz="1000" dirty="0">
                <a:solidFill>
                  <a:srgbClr val="5D6B7A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Flink</a:t>
            </a:r>
            <a:r>
              <a:rPr lang="zh-CN" altLang="en-US" sz="1000" dirty="0">
                <a:solidFill>
                  <a:srgbClr val="5D6B7A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等）的一体化作业调度。</a:t>
            </a:r>
            <a:endParaRPr lang="zh-CN" altLang="en-US" sz="1000" dirty="0">
              <a:solidFill>
                <a:srgbClr val="5D6B7A"/>
              </a:solidFill>
              <a:latin typeface="PingFang SC" panose="020B0400000000000000" pitchFamily="34" charset="-122"/>
              <a:ea typeface="PingFang SC" panose="020B0400000000000000" pitchFamily="34" charset="-122"/>
              <a:cs typeface="PingFang SC" panose="020B0400000000000000" pitchFamily="34" charset="-120"/>
            </a:endParaRPr>
          </a:p>
        </p:txBody>
      </p:sp>
      <p:sp>
        <p:nvSpPr>
          <p:cNvPr id="22" name="Shape 18"/>
          <p:cNvSpPr/>
          <p:nvPr/>
        </p:nvSpPr>
        <p:spPr>
          <a:xfrm>
            <a:off x="9262872" y="1893062"/>
            <a:ext cx="2084832" cy="1179576"/>
          </a:xfrm>
          <a:prstGeom prst="rect">
            <a:avLst/>
          </a:prstGeom>
          <a:solidFill>
            <a:srgbClr val="FFFFFF"/>
          </a:solidFill>
          <a:ln w="12700">
            <a:solidFill>
              <a:srgbClr val="003F8F"/>
            </a:solidFill>
            <a:prstDash val="solid"/>
          </a:ln>
          <a:effectLst>
            <a:outerShdw blurRad="12700" dist="50800" dir="2700000" algn="bl" rotWithShape="0">
              <a:srgbClr val="7A8796">
                <a:alpha val="14000"/>
              </a:srgbClr>
            </a:outerShdw>
          </a:effectLst>
        </p:spPr>
      </p:sp>
      <p:sp>
        <p:nvSpPr>
          <p:cNvPr id="23" name="Shape 19"/>
          <p:cNvSpPr/>
          <p:nvPr/>
        </p:nvSpPr>
        <p:spPr>
          <a:xfrm>
            <a:off x="9262872" y="1893062"/>
            <a:ext cx="73152" cy="1179576"/>
          </a:xfrm>
          <a:prstGeom prst="rect">
            <a:avLst/>
          </a:prstGeom>
          <a:solidFill>
            <a:srgbClr val="0B5CAD"/>
          </a:solidFill>
          <a:ln w="12700">
            <a:solidFill>
              <a:srgbClr val="003F8F">
                <a:alpha val="0"/>
              </a:srgbClr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9464040" y="2021078"/>
            <a:ext cx="411480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b="1" dirty="0">
                <a:solidFill>
                  <a:srgbClr val="003F8F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02</a:t>
            </a:r>
            <a:endParaRPr lang="en-US" sz="1150" dirty="0"/>
          </a:p>
        </p:txBody>
      </p:sp>
      <p:sp>
        <p:nvSpPr>
          <p:cNvPr id="25" name="Text 21"/>
          <p:cNvSpPr/>
          <p:nvPr/>
        </p:nvSpPr>
        <p:spPr>
          <a:xfrm>
            <a:off x="9902952" y="2002790"/>
            <a:ext cx="1225296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b="1" dirty="0">
                <a:solidFill>
                  <a:srgbClr val="172033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队列与配额</a:t>
            </a:r>
            <a:endParaRPr lang="en-US" sz="1320" dirty="0"/>
          </a:p>
        </p:txBody>
      </p:sp>
      <p:sp>
        <p:nvSpPr>
          <p:cNvPr id="26" name="Shape 22"/>
          <p:cNvSpPr/>
          <p:nvPr/>
        </p:nvSpPr>
        <p:spPr>
          <a:xfrm>
            <a:off x="9464040" y="2277364"/>
            <a:ext cx="1664208" cy="0"/>
          </a:xfrm>
          <a:prstGeom prst="line">
            <a:avLst/>
          </a:prstGeom>
          <a:noFill/>
          <a:ln w="8890">
            <a:solidFill>
              <a:srgbClr val="D8E0E9"/>
            </a:solidFill>
            <a:prstDash val="solid"/>
            <a:headEnd type="none"/>
          </a:ln>
        </p:spPr>
      </p:sp>
      <p:sp>
        <p:nvSpPr>
          <p:cNvPr id="27" name="Text 23"/>
          <p:cNvSpPr/>
          <p:nvPr/>
        </p:nvSpPr>
        <p:spPr>
          <a:xfrm>
            <a:off x="9464040" y="2523363"/>
            <a:ext cx="1664208" cy="393192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indent="0" algn="l" fontAlgn="auto">
              <a:lnSpc>
                <a:spcPts val="1380"/>
              </a:lnSpc>
              <a:buNone/>
            </a:pPr>
            <a:r>
              <a:rPr lang="zh-CN" altLang="en-US" sz="1000" dirty="0">
                <a:solidFill>
                  <a:srgbClr val="5D6B7A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提供多层级队列管理能力，实现精细化资源配额控制和任务优先级调度</a:t>
            </a:r>
            <a:endParaRPr lang="en-US" sz="1000" dirty="0">
              <a:solidFill>
                <a:srgbClr val="5D6B7A"/>
              </a:solidFill>
              <a:latin typeface="PingFang SC" panose="020B0400000000000000" pitchFamily="34" charset="-122"/>
              <a:ea typeface="PingFang SC" panose="020B0400000000000000" pitchFamily="34" charset="-122"/>
              <a:cs typeface="PingFang SC" panose="020B0400000000000000" pitchFamily="34" charset="-120"/>
            </a:endParaRPr>
          </a:p>
          <a:p>
            <a:pPr indent="0" algn="l" fontAlgn="auto">
              <a:lnSpc>
                <a:spcPts val="1380"/>
              </a:lnSpc>
              <a:buNone/>
            </a:pPr>
            <a:endParaRPr lang="en-US" sz="1000" dirty="0">
              <a:solidFill>
                <a:srgbClr val="5D6B7A"/>
              </a:solidFill>
              <a:latin typeface="PingFang SC" panose="020B0400000000000000" pitchFamily="34" charset="-122"/>
              <a:ea typeface="PingFang SC" panose="020B0400000000000000" pitchFamily="34" charset="-122"/>
              <a:cs typeface="PingFang SC" panose="020B0400000000000000" pitchFamily="34" charset="-120"/>
            </a:endParaRPr>
          </a:p>
        </p:txBody>
      </p:sp>
      <p:sp>
        <p:nvSpPr>
          <p:cNvPr id="28" name="Shape 24"/>
          <p:cNvSpPr/>
          <p:nvPr/>
        </p:nvSpPr>
        <p:spPr>
          <a:xfrm>
            <a:off x="6976872" y="3292094"/>
            <a:ext cx="2084832" cy="1179576"/>
          </a:xfrm>
          <a:prstGeom prst="rect">
            <a:avLst/>
          </a:prstGeom>
          <a:solidFill>
            <a:srgbClr val="FFFFFF"/>
          </a:solidFill>
          <a:ln w="12700">
            <a:solidFill>
              <a:srgbClr val="0B5CAD"/>
            </a:solidFill>
            <a:prstDash val="solid"/>
          </a:ln>
          <a:effectLst>
            <a:outerShdw blurRad="12700" dist="50800" dir="2700000" algn="bl" rotWithShape="0">
              <a:srgbClr val="7A8796">
                <a:alpha val="14000"/>
              </a:srgbClr>
            </a:outerShdw>
          </a:effectLst>
        </p:spPr>
      </p:sp>
      <p:sp>
        <p:nvSpPr>
          <p:cNvPr id="29" name="Shape 25"/>
          <p:cNvSpPr/>
          <p:nvPr/>
        </p:nvSpPr>
        <p:spPr>
          <a:xfrm>
            <a:off x="6976872" y="3292094"/>
            <a:ext cx="73152" cy="1179576"/>
          </a:xfrm>
          <a:prstGeom prst="rect">
            <a:avLst/>
          </a:prstGeom>
          <a:solidFill>
            <a:srgbClr val="0B5CAD"/>
          </a:solidFill>
          <a:ln w="12700">
            <a:solidFill>
              <a:srgbClr val="0B5CAD">
                <a:alpha val="0"/>
              </a:srgbClr>
            </a:solidFill>
            <a:prstDash val="solid"/>
          </a:ln>
        </p:spPr>
      </p:sp>
      <p:sp>
        <p:nvSpPr>
          <p:cNvPr id="30" name="Text 26"/>
          <p:cNvSpPr/>
          <p:nvPr/>
        </p:nvSpPr>
        <p:spPr>
          <a:xfrm>
            <a:off x="7178040" y="3420110"/>
            <a:ext cx="411480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b="1" dirty="0">
                <a:solidFill>
                  <a:srgbClr val="0B5CAD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03</a:t>
            </a:r>
            <a:endParaRPr lang="en-US" sz="1150" dirty="0"/>
          </a:p>
        </p:txBody>
      </p:sp>
      <p:sp>
        <p:nvSpPr>
          <p:cNvPr id="31" name="Text 27"/>
          <p:cNvSpPr/>
          <p:nvPr/>
        </p:nvSpPr>
        <p:spPr>
          <a:xfrm>
            <a:off x="7616952" y="3401822"/>
            <a:ext cx="1225296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b="1" dirty="0">
                <a:solidFill>
                  <a:srgbClr val="172033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共池与协同</a:t>
            </a:r>
            <a:endParaRPr lang="en-US" sz="1320" dirty="0"/>
          </a:p>
        </p:txBody>
      </p:sp>
      <p:sp>
        <p:nvSpPr>
          <p:cNvPr id="32" name="Shape 28"/>
          <p:cNvSpPr/>
          <p:nvPr/>
        </p:nvSpPr>
        <p:spPr>
          <a:xfrm>
            <a:off x="7178040" y="3776726"/>
            <a:ext cx="1664208" cy="0"/>
          </a:xfrm>
          <a:prstGeom prst="line">
            <a:avLst/>
          </a:prstGeom>
          <a:noFill/>
          <a:ln w="8890">
            <a:solidFill>
              <a:srgbClr val="D8E0E9"/>
            </a:solidFill>
            <a:prstDash val="solid"/>
            <a:headEnd type="none"/>
          </a:ln>
        </p:spPr>
      </p:sp>
      <p:sp>
        <p:nvSpPr>
          <p:cNvPr id="33" name="Text 29"/>
          <p:cNvSpPr/>
          <p:nvPr/>
        </p:nvSpPr>
        <p:spPr>
          <a:xfrm>
            <a:off x="7178040" y="3877310"/>
            <a:ext cx="1664208" cy="3931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80" dirty="0">
                <a:solidFill>
                  <a:srgbClr val="5D6B7A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在线、离线与 AI 工作负载资源协同</a:t>
            </a:r>
            <a:endParaRPr lang="en-US" sz="980" dirty="0"/>
          </a:p>
        </p:txBody>
      </p:sp>
      <p:sp>
        <p:nvSpPr>
          <p:cNvPr id="34" name="Shape 30"/>
          <p:cNvSpPr/>
          <p:nvPr/>
        </p:nvSpPr>
        <p:spPr>
          <a:xfrm>
            <a:off x="9262872" y="3292094"/>
            <a:ext cx="2084832" cy="1179576"/>
          </a:xfrm>
          <a:prstGeom prst="rect">
            <a:avLst/>
          </a:prstGeom>
          <a:solidFill>
            <a:srgbClr val="FFFFFF"/>
          </a:solidFill>
          <a:ln w="12700">
            <a:solidFill>
              <a:srgbClr val="003F8F"/>
            </a:solidFill>
            <a:prstDash val="solid"/>
          </a:ln>
          <a:effectLst>
            <a:outerShdw blurRad="12700" dist="50800" dir="2700000" algn="bl" rotWithShape="0">
              <a:srgbClr val="7A8796">
                <a:alpha val="14000"/>
              </a:srgbClr>
            </a:outerShdw>
          </a:effectLst>
        </p:spPr>
      </p:sp>
      <p:sp>
        <p:nvSpPr>
          <p:cNvPr id="35" name="Shape 31"/>
          <p:cNvSpPr/>
          <p:nvPr/>
        </p:nvSpPr>
        <p:spPr>
          <a:xfrm>
            <a:off x="9262872" y="3292094"/>
            <a:ext cx="73152" cy="1179576"/>
          </a:xfrm>
          <a:prstGeom prst="rect">
            <a:avLst/>
          </a:prstGeom>
          <a:solidFill>
            <a:srgbClr val="0B5CAD"/>
          </a:solidFill>
          <a:ln w="12700">
            <a:solidFill>
              <a:srgbClr val="003F8F">
                <a:alpha val="0"/>
              </a:srgbClr>
            </a:solidFill>
            <a:prstDash val="solid"/>
          </a:ln>
        </p:spPr>
      </p:sp>
      <p:sp>
        <p:nvSpPr>
          <p:cNvPr id="36" name="Text 32"/>
          <p:cNvSpPr/>
          <p:nvPr/>
        </p:nvSpPr>
        <p:spPr>
          <a:xfrm>
            <a:off x="9464040" y="3420110"/>
            <a:ext cx="411480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b="1" dirty="0">
                <a:solidFill>
                  <a:srgbClr val="003F8F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04</a:t>
            </a:r>
            <a:endParaRPr lang="en-US" sz="1150" dirty="0"/>
          </a:p>
        </p:txBody>
      </p:sp>
      <p:sp>
        <p:nvSpPr>
          <p:cNvPr id="37" name="Text 33"/>
          <p:cNvSpPr/>
          <p:nvPr/>
        </p:nvSpPr>
        <p:spPr>
          <a:xfrm>
            <a:off x="9902952" y="3401822"/>
            <a:ext cx="1225296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b="1" dirty="0">
                <a:solidFill>
                  <a:srgbClr val="172033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异构设备</a:t>
            </a:r>
            <a:endParaRPr lang="en-US" sz="1320" dirty="0"/>
          </a:p>
        </p:txBody>
      </p:sp>
      <p:sp>
        <p:nvSpPr>
          <p:cNvPr id="38" name="Shape 34"/>
          <p:cNvSpPr/>
          <p:nvPr/>
        </p:nvSpPr>
        <p:spPr>
          <a:xfrm>
            <a:off x="9464040" y="3776726"/>
            <a:ext cx="1664208" cy="0"/>
          </a:xfrm>
          <a:prstGeom prst="line">
            <a:avLst/>
          </a:prstGeom>
          <a:noFill/>
          <a:ln w="8890">
            <a:solidFill>
              <a:srgbClr val="D8E0E9"/>
            </a:solidFill>
            <a:prstDash val="solid"/>
            <a:headEnd type="none"/>
          </a:ln>
        </p:spPr>
      </p:sp>
      <p:sp>
        <p:nvSpPr>
          <p:cNvPr id="39" name="Text 35"/>
          <p:cNvSpPr/>
          <p:nvPr/>
        </p:nvSpPr>
        <p:spPr>
          <a:xfrm>
            <a:off x="9464040" y="3877310"/>
            <a:ext cx="1664208" cy="3931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80" dirty="0">
                <a:solidFill>
                  <a:srgbClr val="5D6B7A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GPU / NPU 的共享、隔离与设备接入</a:t>
            </a:r>
            <a:endParaRPr lang="en-US" sz="980" dirty="0"/>
          </a:p>
        </p:txBody>
      </p:sp>
      <p:sp>
        <p:nvSpPr>
          <p:cNvPr id="40" name="Shape 36"/>
          <p:cNvSpPr/>
          <p:nvPr/>
        </p:nvSpPr>
        <p:spPr>
          <a:xfrm>
            <a:off x="6976872" y="4691126"/>
            <a:ext cx="2084832" cy="1179576"/>
          </a:xfrm>
          <a:prstGeom prst="rect">
            <a:avLst/>
          </a:prstGeom>
          <a:solidFill>
            <a:srgbClr val="FFFFFF"/>
          </a:solidFill>
          <a:ln w="12700">
            <a:solidFill>
              <a:srgbClr val="6F8193"/>
            </a:solidFill>
            <a:prstDash val="solid"/>
          </a:ln>
          <a:effectLst>
            <a:outerShdw blurRad="12700" dist="50800" dir="2700000" algn="bl" rotWithShape="0">
              <a:srgbClr val="7A8796">
                <a:alpha val="14000"/>
              </a:srgbClr>
            </a:outerShdw>
          </a:effectLst>
        </p:spPr>
      </p:sp>
      <p:sp>
        <p:nvSpPr>
          <p:cNvPr id="41" name="Shape 37"/>
          <p:cNvSpPr/>
          <p:nvPr/>
        </p:nvSpPr>
        <p:spPr>
          <a:xfrm>
            <a:off x="6976872" y="4691126"/>
            <a:ext cx="73152" cy="1179576"/>
          </a:xfrm>
          <a:prstGeom prst="rect">
            <a:avLst/>
          </a:prstGeom>
          <a:solidFill>
            <a:srgbClr val="0B5CAD"/>
          </a:solidFill>
          <a:ln w="12700">
            <a:solidFill>
              <a:srgbClr val="6F8193">
                <a:alpha val="0"/>
              </a:srgbClr>
            </a:solidFill>
            <a:prstDash val="solid"/>
          </a:ln>
        </p:spPr>
      </p:sp>
      <p:sp>
        <p:nvSpPr>
          <p:cNvPr id="42" name="Text 38"/>
          <p:cNvSpPr/>
          <p:nvPr/>
        </p:nvSpPr>
        <p:spPr>
          <a:xfrm>
            <a:off x="7178040" y="4819142"/>
            <a:ext cx="411480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b="1" dirty="0">
                <a:solidFill>
                  <a:srgbClr val="0B5CAD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05</a:t>
            </a:r>
            <a:endParaRPr lang="en-US" sz="1150" b="1" dirty="0">
              <a:solidFill>
                <a:srgbClr val="0B5CAD"/>
              </a:solidFill>
              <a:latin typeface="PingFang SC" panose="020B0400000000000000" pitchFamily="34" charset="-122"/>
              <a:ea typeface="PingFang SC" panose="020B0400000000000000" pitchFamily="34" charset="-122"/>
              <a:cs typeface="PingFang SC" panose="020B0400000000000000" pitchFamily="34" charset="-120"/>
            </a:endParaRPr>
          </a:p>
        </p:txBody>
      </p:sp>
      <p:sp>
        <p:nvSpPr>
          <p:cNvPr id="43" name="Text 39"/>
          <p:cNvSpPr/>
          <p:nvPr/>
        </p:nvSpPr>
        <p:spPr>
          <a:xfrm>
            <a:off x="7616952" y="4800854"/>
            <a:ext cx="1225296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b="1" dirty="0">
                <a:solidFill>
                  <a:srgbClr val="172033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多种调度策略</a:t>
            </a:r>
            <a:endParaRPr lang="en-US" sz="1320" dirty="0"/>
          </a:p>
        </p:txBody>
      </p:sp>
      <p:sp>
        <p:nvSpPr>
          <p:cNvPr id="44" name="Shape 40"/>
          <p:cNvSpPr/>
          <p:nvPr/>
        </p:nvSpPr>
        <p:spPr>
          <a:xfrm>
            <a:off x="7178040" y="5175758"/>
            <a:ext cx="1664208" cy="0"/>
          </a:xfrm>
          <a:prstGeom prst="line">
            <a:avLst/>
          </a:prstGeom>
          <a:noFill/>
          <a:ln w="8890">
            <a:solidFill>
              <a:srgbClr val="D8E0E9"/>
            </a:solidFill>
            <a:prstDash val="solid"/>
            <a:headEnd type="none"/>
          </a:ln>
        </p:spPr>
      </p:sp>
      <p:sp>
        <p:nvSpPr>
          <p:cNvPr id="45" name="Text 41"/>
          <p:cNvSpPr/>
          <p:nvPr/>
        </p:nvSpPr>
        <p:spPr>
          <a:xfrm>
            <a:off x="7178040" y="5276342"/>
            <a:ext cx="1664208" cy="393192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indent="0" algn="l" fontAlgn="auto">
              <a:lnSpc>
                <a:spcPts val="1380"/>
              </a:lnSpc>
              <a:buNone/>
            </a:pPr>
            <a:r>
              <a:rPr lang="en-US" sz="1000" dirty="0">
                <a:solidFill>
                  <a:srgbClr val="5D6B7A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Gang、NUMA Aware、DRF</a:t>
            </a:r>
            <a:r>
              <a:rPr lang="zh-CN" altLang="en-US" sz="1000" dirty="0">
                <a:solidFill>
                  <a:srgbClr val="5D6B7A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、</a:t>
            </a:r>
            <a:r>
              <a:rPr lang="en-US" sz="1000" dirty="0">
                <a:solidFill>
                  <a:srgbClr val="5D6B7A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Binpack 与</a:t>
            </a:r>
            <a:r>
              <a:rPr lang="zh-CN" altLang="en-US" sz="1000" dirty="0">
                <a:solidFill>
                  <a:srgbClr val="5D6B7A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网络拓扑感知调度等多种调度策略</a:t>
            </a:r>
            <a:endParaRPr lang="zh-CN" altLang="en-US" sz="1000" dirty="0">
              <a:solidFill>
                <a:srgbClr val="5D6B7A"/>
              </a:solidFill>
              <a:latin typeface="PingFang SC" panose="020B0400000000000000" pitchFamily="34" charset="-122"/>
              <a:ea typeface="PingFang SC" panose="020B0400000000000000" pitchFamily="34" charset="-122"/>
              <a:cs typeface="PingFang SC" panose="020B0400000000000000" pitchFamily="34" charset="-120"/>
            </a:endParaRPr>
          </a:p>
        </p:txBody>
      </p:sp>
      <p:sp>
        <p:nvSpPr>
          <p:cNvPr id="46" name="Shape 42"/>
          <p:cNvSpPr/>
          <p:nvPr/>
        </p:nvSpPr>
        <p:spPr>
          <a:xfrm>
            <a:off x="9262872" y="4691126"/>
            <a:ext cx="2084832" cy="1179576"/>
          </a:xfrm>
          <a:prstGeom prst="rect">
            <a:avLst/>
          </a:prstGeom>
          <a:solidFill>
            <a:srgbClr val="FFFFFF"/>
          </a:solidFill>
          <a:ln w="12700">
            <a:solidFill>
              <a:srgbClr val="003F8F"/>
            </a:solidFill>
            <a:prstDash val="solid"/>
          </a:ln>
          <a:effectLst>
            <a:outerShdw blurRad="12700" dist="50800" dir="2700000" algn="bl" rotWithShape="0">
              <a:srgbClr val="7A8796">
                <a:alpha val="14000"/>
              </a:srgbClr>
            </a:outerShdw>
          </a:effectLst>
        </p:spPr>
      </p:sp>
      <p:sp>
        <p:nvSpPr>
          <p:cNvPr id="47" name="Shape 43"/>
          <p:cNvSpPr/>
          <p:nvPr/>
        </p:nvSpPr>
        <p:spPr>
          <a:xfrm>
            <a:off x="9262872" y="4691126"/>
            <a:ext cx="73152" cy="1179576"/>
          </a:xfrm>
          <a:prstGeom prst="rect">
            <a:avLst/>
          </a:prstGeom>
          <a:solidFill>
            <a:srgbClr val="0B5CAD"/>
          </a:solidFill>
          <a:ln w="12700">
            <a:solidFill>
              <a:srgbClr val="003F8F">
                <a:alpha val="0"/>
              </a:srgbClr>
            </a:solidFill>
            <a:prstDash val="solid"/>
          </a:ln>
        </p:spPr>
      </p:sp>
      <p:sp>
        <p:nvSpPr>
          <p:cNvPr id="48" name="Text 44"/>
          <p:cNvSpPr/>
          <p:nvPr/>
        </p:nvSpPr>
        <p:spPr>
          <a:xfrm>
            <a:off x="9464040" y="4819142"/>
            <a:ext cx="411480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b="1" dirty="0">
                <a:solidFill>
                  <a:srgbClr val="003F8F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06</a:t>
            </a:r>
            <a:endParaRPr lang="en-US" sz="1150" dirty="0"/>
          </a:p>
        </p:txBody>
      </p:sp>
      <p:sp>
        <p:nvSpPr>
          <p:cNvPr id="49" name="Text 45"/>
          <p:cNvSpPr/>
          <p:nvPr/>
        </p:nvSpPr>
        <p:spPr>
          <a:xfrm>
            <a:off x="9902952" y="4800854"/>
            <a:ext cx="1225296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b="1" dirty="0">
                <a:solidFill>
                  <a:srgbClr val="172033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多集群调度</a:t>
            </a:r>
            <a:endParaRPr lang="en-US" sz="1320" dirty="0"/>
          </a:p>
        </p:txBody>
      </p:sp>
      <p:sp>
        <p:nvSpPr>
          <p:cNvPr id="50" name="Shape 46"/>
          <p:cNvSpPr/>
          <p:nvPr/>
        </p:nvSpPr>
        <p:spPr>
          <a:xfrm>
            <a:off x="9464040" y="5175758"/>
            <a:ext cx="1664208" cy="0"/>
          </a:xfrm>
          <a:prstGeom prst="line">
            <a:avLst/>
          </a:prstGeom>
          <a:noFill/>
          <a:ln w="8890">
            <a:solidFill>
              <a:srgbClr val="D8E0E9"/>
            </a:solidFill>
            <a:prstDash val="solid"/>
            <a:headEnd type="none"/>
          </a:ln>
        </p:spPr>
      </p:sp>
      <p:sp>
        <p:nvSpPr>
          <p:cNvPr id="51" name="Text 47"/>
          <p:cNvSpPr/>
          <p:nvPr/>
        </p:nvSpPr>
        <p:spPr>
          <a:xfrm>
            <a:off x="9464040" y="5276342"/>
            <a:ext cx="1664208" cy="3931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80" dirty="0">
                <a:solidFill>
                  <a:srgbClr val="5D6B7A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跨集群资源池与大规模负载分布</a:t>
            </a:r>
            <a:endParaRPr lang="en-US" sz="980" dirty="0"/>
          </a:p>
        </p:txBody>
      </p:sp>
      <p:sp>
        <p:nvSpPr>
          <p:cNvPr id="52" name="Shape 48"/>
          <p:cNvSpPr/>
          <p:nvPr/>
        </p:nvSpPr>
        <p:spPr>
          <a:xfrm>
            <a:off x="640080" y="6236208"/>
            <a:ext cx="10908792" cy="402336"/>
          </a:xfrm>
          <a:prstGeom prst="rect">
            <a:avLst/>
          </a:prstGeom>
          <a:solidFill>
            <a:srgbClr val="003F8F"/>
          </a:solidFill>
          <a:ln w="12700">
            <a:solidFill>
              <a:srgbClr val="003F8F">
                <a:alpha val="0"/>
              </a:srgbClr>
            </a:solidFill>
            <a:prstDash val="solid"/>
          </a:ln>
        </p:spPr>
      </p:sp>
      <p:sp>
        <p:nvSpPr>
          <p:cNvPr id="53" name="Shape 49"/>
          <p:cNvSpPr/>
          <p:nvPr/>
        </p:nvSpPr>
        <p:spPr>
          <a:xfrm>
            <a:off x="640080" y="6236208"/>
            <a:ext cx="109728" cy="402336"/>
          </a:xfrm>
          <a:prstGeom prst="rect">
            <a:avLst/>
          </a:prstGeom>
          <a:solidFill>
            <a:srgbClr val="E43D30"/>
          </a:solidFill>
          <a:ln w="12700">
            <a:solidFill>
              <a:srgbClr val="E43D30">
                <a:alpha val="0"/>
              </a:srgbClr>
            </a:solidFill>
            <a:prstDash val="solid"/>
          </a:ln>
        </p:spPr>
      </p:sp>
      <p:sp>
        <p:nvSpPr>
          <p:cNvPr id="54" name="Text 50"/>
          <p:cNvSpPr/>
          <p:nvPr/>
        </p:nvSpPr>
        <p:spPr>
          <a:xfrm>
            <a:off x="914400" y="6272784"/>
            <a:ext cx="10378440" cy="30175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Volcano 的演进主线：从批处理调度能力，扩展为承载多类工作负载的统一调度平台</a:t>
            </a:r>
            <a:endParaRPr lang="en-US" sz="1500" dirty="0"/>
          </a:p>
        </p:txBody>
      </p:sp>
      <p:pic>
        <p:nvPicPr>
          <p:cNvPr id="636" name="图片 63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0775" y="1783080"/>
            <a:ext cx="5129530" cy="4163695"/>
          </a:xfrm>
          <a:prstGeom prst="rect">
            <a:avLst/>
          </a:prstGeom>
        </p:spPr>
      </p:pic>
      <p:sp>
        <p:nvSpPr>
          <p:cNvPr id="55" name="Shape 9"/>
          <p:cNvSpPr/>
          <p:nvPr/>
        </p:nvSpPr>
        <p:spPr>
          <a:xfrm>
            <a:off x="6875780" y="1423035"/>
            <a:ext cx="1361440" cy="347345"/>
          </a:xfrm>
          <a:prstGeom prst="chevron">
            <a:avLst/>
          </a:prstGeom>
          <a:solidFill>
            <a:srgbClr val="003F8F"/>
          </a:solidFill>
          <a:ln w="12700">
            <a:solidFill>
              <a:srgbClr val="003F8F">
                <a:alpha val="0"/>
              </a:srgbClr>
            </a:solidFill>
            <a:prstDash val="solid"/>
          </a:ln>
        </p:spPr>
      </p:sp>
      <p:sp>
        <p:nvSpPr>
          <p:cNvPr id="56" name="Text 10"/>
          <p:cNvSpPr/>
          <p:nvPr/>
        </p:nvSpPr>
        <p:spPr>
          <a:xfrm>
            <a:off x="7049770" y="1472692"/>
            <a:ext cx="969264" cy="24688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p>
            <a:pPr marL="0" indent="0" algn="ctr">
              <a:buNone/>
            </a:pPr>
            <a:r>
              <a:rPr lang="en-US" sz="1220" b="1" dirty="0">
                <a:solidFill>
                  <a:srgbClr val="FFFFFF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Volcano</a:t>
            </a:r>
            <a:r>
              <a:rPr lang="zh-CN" altLang="en-US" sz="1220" b="1" dirty="0">
                <a:solidFill>
                  <a:srgbClr val="FFFFFF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能力</a:t>
            </a:r>
            <a:endParaRPr lang="zh-CN" altLang="en-US" sz="1220" b="1" dirty="0">
              <a:solidFill>
                <a:srgbClr val="FFFFFF"/>
              </a:solidFill>
              <a:latin typeface="PingFang SC" panose="020B0400000000000000" pitchFamily="34" charset="-122"/>
              <a:ea typeface="PingFang SC" panose="020B0400000000000000" pitchFamily="34" charset="-122"/>
              <a:cs typeface="PingFang SC" panose="020B0400000000000000" pitchFamily="34" charset="-12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F8F"/>
          </a:solidFill>
          <a:ln w="12700">
            <a:solidFill>
              <a:srgbClr val="003F8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" y="228600"/>
            <a:ext cx="1417320" cy="393192"/>
          </a:xfrm>
          <a:prstGeom prst="chevron">
            <a:avLst/>
          </a:prstGeom>
          <a:solidFill>
            <a:srgbClr val="003F8F"/>
          </a:solidFill>
          <a:ln w="12700">
            <a:solidFill>
              <a:srgbClr val="003F8F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274320"/>
            <a:ext cx="1078992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第一章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2212848" y="182880"/>
            <a:ext cx="7635240" cy="51206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003F8F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工作负载正在改变调度系统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58368" y="832104"/>
            <a:ext cx="10744200" cy="34747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30" dirty="0">
                <a:solidFill>
                  <a:srgbClr val="5D6B7A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执行模式从吞吐导向，扩展到拓扑敏感、角色化运行与低时延调度</a:t>
            </a:r>
            <a:endParaRPr lang="en-US" sz="1530" dirty="0"/>
          </a:p>
        </p:txBody>
      </p:sp>
      <p:sp>
        <p:nvSpPr>
          <p:cNvPr id="7" name="Shape 5"/>
          <p:cNvSpPr/>
          <p:nvPr/>
        </p:nvSpPr>
        <p:spPr>
          <a:xfrm>
            <a:off x="566928" y="1225296"/>
            <a:ext cx="11018520" cy="0"/>
          </a:xfrm>
          <a:prstGeom prst="line">
            <a:avLst/>
          </a:prstGeom>
          <a:noFill/>
          <a:ln w="11430">
            <a:solidFill>
              <a:srgbClr val="B9C8D8"/>
            </a:solidFill>
            <a:prstDash val="solid"/>
            <a:headEnd type="none"/>
          </a:ln>
        </p:spPr>
      </p:sp>
      <p:sp>
        <p:nvSpPr>
          <p:cNvPr id="8" name="Shape 6"/>
          <p:cNvSpPr/>
          <p:nvPr/>
        </p:nvSpPr>
        <p:spPr>
          <a:xfrm>
            <a:off x="566928" y="1179576"/>
            <a:ext cx="1225296" cy="91440"/>
          </a:xfrm>
          <a:prstGeom prst="rect">
            <a:avLst/>
          </a:prstGeom>
          <a:solidFill>
            <a:srgbClr val="E43D30"/>
          </a:solidFill>
          <a:ln w="12700">
            <a:solidFill>
              <a:srgbClr val="E43D30">
                <a:alpha val="0"/>
              </a:srgbClr>
            </a:solidFill>
            <a:prstDash val="solid"/>
          </a:ln>
        </p:spPr>
      </p:sp>
      <p:pic>
        <p:nvPicPr>
          <p:cNvPr id="9" name="Image 0" descr="/Users/chenzicong/Documents/Codex/2026-07-20/wo/outputs/volcano-unified-scheduling-editable/assets/volcano-logo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97312" y="321114"/>
            <a:ext cx="1078992" cy="180733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1475720" y="6492240"/>
            <a:ext cx="347472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768597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05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768096" y="1417320"/>
            <a:ext cx="4846320" cy="3931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172033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AI workload 的执行模式持续分化</a:t>
            </a:r>
            <a:endParaRPr lang="en-US" sz="2300" dirty="0"/>
          </a:p>
        </p:txBody>
      </p:sp>
      <p:sp>
        <p:nvSpPr>
          <p:cNvPr id="13" name="Shape 10"/>
          <p:cNvSpPr/>
          <p:nvPr/>
        </p:nvSpPr>
        <p:spPr>
          <a:xfrm>
            <a:off x="1170432" y="4251960"/>
            <a:ext cx="9738360" cy="0"/>
          </a:xfrm>
          <a:prstGeom prst="line">
            <a:avLst/>
          </a:prstGeom>
          <a:noFill/>
          <a:ln w="38100">
            <a:solidFill>
              <a:srgbClr val="6F8193"/>
            </a:solidFill>
            <a:prstDash val="solid"/>
            <a:headEnd type="none"/>
          </a:ln>
        </p:spPr>
      </p:sp>
      <p:sp>
        <p:nvSpPr>
          <p:cNvPr id="14" name="Shape 11"/>
          <p:cNvSpPr/>
          <p:nvPr/>
        </p:nvSpPr>
        <p:spPr>
          <a:xfrm>
            <a:off x="10744200" y="4251960"/>
            <a:ext cx="329184" cy="0"/>
          </a:xfrm>
          <a:prstGeom prst="line">
            <a:avLst/>
          </a:prstGeom>
          <a:noFill/>
          <a:ln w="38100">
            <a:solidFill>
              <a:srgbClr val="6F8193"/>
            </a:solidFill>
            <a:prstDash val="solid"/>
            <a:headEnd type="none"/>
            <a:tailEnd type="triangle"/>
          </a:ln>
        </p:spPr>
      </p:sp>
      <p:sp>
        <p:nvSpPr>
          <p:cNvPr id="15" name="Shape 12"/>
          <p:cNvSpPr/>
          <p:nvPr/>
        </p:nvSpPr>
        <p:spPr>
          <a:xfrm>
            <a:off x="822960" y="1993392"/>
            <a:ext cx="2404872" cy="1947672"/>
          </a:xfrm>
          <a:prstGeom prst="rect">
            <a:avLst/>
          </a:prstGeom>
          <a:solidFill>
            <a:srgbClr val="FFFFFF"/>
          </a:solidFill>
          <a:ln w="12700">
            <a:solidFill>
              <a:srgbClr val="003F8F"/>
            </a:solidFill>
            <a:prstDash val="solid"/>
          </a:ln>
          <a:effectLst>
            <a:outerShdw blurRad="12700" dist="50800" dir="2700000" algn="bl" rotWithShape="0">
              <a:srgbClr val="7A8796">
                <a:alpha val="14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1024128" y="2212848"/>
            <a:ext cx="475488" cy="475488"/>
          </a:xfrm>
          <a:prstGeom prst="ellipse">
            <a:avLst/>
          </a:prstGeom>
          <a:solidFill>
            <a:srgbClr val="003F8F"/>
          </a:solidFill>
          <a:ln w="12700">
            <a:solidFill>
              <a:srgbClr val="003F8F">
                <a:alpha val="0"/>
              </a:srgbClr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051560" y="2267712"/>
            <a:ext cx="420624" cy="36576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B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1645920" y="2121408"/>
            <a:ext cx="1307592" cy="29260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3F8F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批训练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1645920" y="2487168"/>
            <a:ext cx="1307592" cy="21945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72033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吞吐优先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1024128" y="2871216"/>
            <a:ext cx="1993392" cy="0"/>
          </a:xfrm>
          <a:prstGeom prst="line">
            <a:avLst/>
          </a:prstGeom>
          <a:noFill/>
          <a:ln w="8890">
            <a:solidFill>
              <a:srgbClr val="D7DFE8"/>
            </a:solidFill>
            <a:prstDash val="solid"/>
            <a:headEnd type="none"/>
          </a:ln>
        </p:spPr>
      </p:sp>
      <p:sp>
        <p:nvSpPr>
          <p:cNvPr id="21" name="Text 18"/>
          <p:cNvSpPr/>
          <p:nvPr/>
        </p:nvSpPr>
        <p:spPr>
          <a:xfrm>
            <a:off x="1078992" y="3026664"/>
            <a:ext cx="1883664" cy="59436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40" dirty="0">
                <a:solidFill>
                  <a:srgbClr val="5D6B7A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大批量任务与成组资源成为调度核心</a:t>
            </a:r>
            <a:endParaRPr lang="en-US" sz="1040" dirty="0"/>
          </a:p>
        </p:txBody>
      </p:sp>
      <p:sp>
        <p:nvSpPr>
          <p:cNvPr id="22" name="Shape 19"/>
          <p:cNvSpPr/>
          <p:nvPr/>
        </p:nvSpPr>
        <p:spPr>
          <a:xfrm>
            <a:off x="1874520" y="4105656"/>
            <a:ext cx="292608" cy="292608"/>
          </a:xfrm>
          <a:prstGeom prst="ellipse">
            <a:avLst/>
          </a:prstGeom>
          <a:solidFill>
            <a:srgbClr val="003F8F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1380744" y="4535424"/>
            <a:ext cx="128016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6F8193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~ 2018</a:t>
            </a:r>
            <a:endParaRPr lang="en-US" sz="1300" dirty="0"/>
          </a:p>
        </p:txBody>
      </p:sp>
      <p:sp>
        <p:nvSpPr>
          <p:cNvPr id="24" name="Shape 21"/>
          <p:cNvSpPr/>
          <p:nvPr/>
        </p:nvSpPr>
        <p:spPr>
          <a:xfrm>
            <a:off x="3621024" y="1993392"/>
            <a:ext cx="2404872" cy="1947672"/>
          </a:xfrm>
          <a:prstGeom prst="rect">
            <a:avLst/>
          </a:prstGeom>
          <a:solidFill>
            <a:srgbClr val="FFFFFF"/>
          </a:solidFill>
          <a:ln w="12700">
            <a:solidFill>
              <a:srgbClr val="0B5CAD"/>
            </a:solidFill>
            <a:prstDash val="solid"/>
          </a:ln>
          <a:effectLst>
            <a:outerShdw blurRad="12700" dist="50800" dir="2700000" algn="bl" rotWithShape="0">
              <a:srgbClr val="7A8796">
                <a:alpha val="14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3822192" y="2212848"/>
            <a:ext cx="475488" cy="475488"/>
          </a:xfrm>
          <a:prstGeom prst="ellipse">
            <a:avLst/>
          </a:prstGeom>
          <a:solidFill>
            <a:srgbClr val="0B5CAD"/>
          </a:solidFill>
          <a:ln w="12700">
            <a:solidFill>
              <a:srgbClr val="0B5CAD">
                <a:alpha val="0"/>
              </a:srgbClr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3849624" y="2267712"/>
            <a:ext cx="420624" cy="36576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T</a:t>
            </a:r>
            <a:endParaRPr lang="en-US" sz="950" dirty="0"/>
          </a:p>
        </p:txBody>
      </p:sp>
      <p:sp>
        <p:nvSpPr>
          <p:cNvPr id="27" name="Text 24"/>
          <p:cNvSpPr/>
          <p:nvPr/>
        </p:nvSpPr>
        <p:spPr>
          <a:xfrm>
            <a:off x="4443984" y="2121408"/>
            <a:ext cx="1307592" cy="29260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5CAD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大模型训练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4443984" y="2487168"/>
            <a:ext cx="1307592" cy="21945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72033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通信拓扑敏感</a:t>
            </a:r>
            <a:endParaRPr lang="en-US" sz="1050" dirty="0"/>
          </a:p>
        </p:txBody>
      </p:sp>
      <p:sp>
        <p:nvSpPr>
          <p:cNvPr id="29" name="Shape 26"/>
          <p:cNvSpPr/>
          <p:nvPr/>
        </p:nvSpPr>
        <p:spPr>
          <a:xfrm>
            <a:off x="3822192" y="2871216"/>
            <a:ext cx="1993392" cy="0"/>
          </a:xfrm>
          <a:prstGeom prst="line">
            <a:avLst/>
          </a:prstGeom>
          <a:noFill/>
          <a:ln w="8890">
            <a:solidFill>
              <a:srgbClr val="D7DFE8"/>
            </a:solidFill>
            <a:prstDash val="solid"/>
            <a:headEnd type="none"/>
          </a:ln>
        </p:spPr>
      </p:sp>
      <p:sp>
        <p:nvSpPr>
          <p:cNvPr id="30" name="Text 27"/>
          <p:cNvSpPr/>
          <p:nvPr/>
        </p:nvSpPr>
        <p:spPr>
          <a:xfrm>
            <a:off x="3877056" y="3026664"/>
            <a:ext cx="1883664" cy="59436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40" dirty="0">
                <a:solidFill>
                  <a:srgbClr val="5D6B7A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大规模分布式训练要求更优的节点组合</a:t>
            </a:r>
            <a:endParaRPr lang="en-US" sz="1040" dirty="0"/>
          </a:p>
        </p:txBody>
      </p:sp>
      <p:sp>
        <p:nvSpPr>
          <p:cNvPr id="31" name="Shape 28"/>
          <p:cNvSpPr/>
          <p:nvPr/>
        </p:nvSpPr>
        <p:spPr>
          <a:xfrm>
            <a:off x="4672584" y="4105656"/>
            <a:ext cx="292608" cy="292608"/>
          </a:xfrm>
          <a:prstGeom prst="ellipse">
            <a:avLst/>
          </a:prstGeom>
          <a:solidFill>
            <a:srgbClr val="0B5CAD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4178808" y="4535424"/>
            <a:ext cx="128016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6F8193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~ 2023</a:t>
            </a:r>
            <a:endParaRPr lang="en-US" sz="1300" dirty="0"/>
          </a:p>
        </p:txBody>
      </p:sp>
      <p:sp>
        <p:nvSpPr>
          <p:cNvPr id="33" name="Shape 30"/>
          <p:cNvSpPr/>
          <p:nvPr/>
        </p:nvSpPr>
        <p:spPr>
          <a:xfrm>
            <a:off x="6419088" y="1993392"/>
            <a:ext cx="2404872" cy="1947672"/>
          </a:xfrm>
          <a:prstGeom prst="rect">
            <a:avLst/>
          </a:prstGeom>
          <a:solidFill>
            <a:srgbClr val="FFFFFF"/>
          </a:solidFill>
          <a:ln w="12700">
            <a:solidFill>
              <a:srgbClr val="003F8F"/>
            </a:solidFill>
            <a:prstDash val="solid"/>
          </a:ln>
          <a:effectLst>
            <a:outerShdw blurRad="12700" dist="50800" dir="2700000" algn="bl" rotWithShape="0">
              <a:srgbClr val="7A8796">
                <a:alpha val="14000"/>
              </a:srgbClr>
            </a:outerShdw>
          </a:effectLst>
        </p:spPr>
      </p:sp>
      <p:sp>
        <p:nvSpPr>
          <p:cNvPr id="34" name="Shape 31"/>
          <p:cNvSpPr/>
          <p:nvPr/>
        </p:nvSpPr>
        <p:spPr>
          <a:xfrm>
            <a:off x="6620256" y="2212848"/>
            <a:ext cx="475488" cy="475488"/>
          </a:xfrm>
          <a:prstGeom prst="ellipse">
            <a:avLst/>
          </a:prstGeom>
          <a:solidFill>
            <a:srgbClr val="003F8F"/>
          </a:solidFill>
          <a:ln w="12700">
            <a:solidFill>
              <a:srgbClr val="003F8F">
                <a:alpha val="0"/>
              </a:srgbClr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6647688" y="2267712"/>
            <a:ext cx="420624" cy="36576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S</a:t>
            </a:r>
            <a:endParaRPr lang="en-US" sz="950" dirty="0"/>
          </a:p>
        </p:txBody>
      </p:sp>
      <p:sp>
        <p:nvSpPr>
          <p:cNvPr id="36" name="Text 33"/>
          <p:cNvSpPr/>
          <p:nvPr/>
        </p:nvSpPr>
        <p:spPr>
          <a:xfrm>
            <a:off x="7242048" y="2121408"/>
            <a:ext cx="1307592" cy="29260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3F8F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LLM Serving</a:t>
            </a:r>
            <a:endParaRPr lang="en-US" sz="1600" dirty="0"/>
          </a:p>
        </p:txBody>
      </p:sp>
      <p:sp>
        <p:nvSpPr>
          <p:cNvPr id="37" name="Text 34"/>
          <p:cNvSpPr/>
          <p:nvPr/>
        </p:nvSpPr>
        <p:spPr>
          <a:xfrm>
            <a:off x="7242048" y="2487168"/>
            <a:ext cx="1307592" cy="21945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72033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角色化运行</a:t>
            </a:r>
            <a:endParaRPr lang="en-US" sz="1050" dirty="0"/>
          </a:p>
        </p:txBody>
      </p:sp>
      <p:sp>
        <p:nvSpPr>
          <p:cNvPr id="38" name="Shape 35"/>
          <p:cNvSpPr/>
          <p:nvPr/>
        </p:nvSpPr>
        <p:spPr>
          <a:xfrm>
            <a:off x="6620256" y="2871216"/>
            <a:ext cx="1993392" cy="0"/>
          </a:xfrm>
          <a:prstGeom prst="line">
            <a:avLst/>
          </a:prstGeom>
          <a:noFill/>
          <a:ln w="8890">
            <a:solidFill>
              <a:srgbClr val="D7DFE8"/>
            </a:solidFill>
            <a:prstDash val="solid"/>
            <a:headEnd type="none"/>
          </a:ln>
        </p:spPr>
      </p:sp>
      <p:sp>
        <p:nvSpPr>
          <p:cNvPr id="39" name="Text 36"/>
          <p:cNvSpPr/>
          <p:nvPr/>
        </p:nvSpPr>
        <p:spPr>
          <a:xfrm>
            <a:off x="6675120" y="3026664"/>
            <a:ext cx="1883664" cy="59436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40" dirty="0">
                <a:solidFill>
                  <a:srgbClr val="5D6B7A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Prefill / Decode 等分离架构引入不同放置关系</a:t>
            </a:r>
            <a:endParaRPr lang="en-US" sz="1040" dirty="0"/>
          </a:p>
        </p:txBody>
      </p:sp>
      <p:sp>
        <p:nvSpPr>
          <p:cNvPr id="40" name="Shape 37"/>
          <p:cNvSpPr/>
          <p:nvPr/>
        </p:nvSpPr>
        <p:spPr>
          <a:xfrm>
            <a:off x="7470648" y="4105656"/>
            <a:ext cx="292608" cy="292608"/>
          </a:xfrm>
          <a:prstGeom prst="ellipse">
            <a:avLst/>
          </a:prstGeom>
          <a:solidFill>
            <a:srgbClr val="003F8F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6976872" y="4535424"/>
            <a:ext cx="128016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6F8193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~ 2025</a:t>
            </a:r>
            <a:endParaRPr lang="en-US" sz="1300" dirty="0"/>
          </a:p>
        </p:txBody>
      </p:sp>
      <p:sp>
        <p:nvSpPr>
          <p:cNvPr id="42" name="Shape 39"/>
          <p:cNvSpPr/>
          <p:nvPr/>
        </p:nvSpPr>
        <p:spPr>
          <a:xfrm>
            <a:off x="9217152" y="1993392"/>
            <a:ext cx="2404872" cy="1947672"/>
          </a:xfrm>
          <a:prstGeom prst="rect">
            <a:avLst/>
          </a:prstGeom>
          <a:solidFill>
            <a:srgbClr val="F2F5F8"/>
          </a:solidFill>
          <a:ln w="12700">
            <a:solidFill>
              <a:srgbClr val="6F8193"/>
            </a:solidFill>
            <a:prstDash val="solid"/>
          </a:ln>
          <a:effectLst>
            <a:outerShdw blurRad="12700" dist="50800" dir="2700000" algn="bl" rotWithShape="0">
              <a:srgbClr val="7A8796">
                <a:alpha val="14000"/>
              </a:srgbClr>
            </a:outerShdw>
          </a:effectLst>
        </p:spPr>
      </p:sp>
      <p:sp>
        <p:nvSpPr>
          <p:cNvPr id="43" name="Shape 40"/>
          <p:cNvSpPr/>
          <p:nvPr/>
        </p:nvSpPr>
        <p:spPr>
          <a:xfrm>
            <a:off x="9418320" y="2212848"/>
            <a:ext cx="475488" cy="475488"/>
          </a:xfrm>
          <a:prstGeom prst="ellipse">
            <a:avLst/>
          </a:prstGeom>
          <a:solidFill>
            <a:srgbClr val="0B5CAD"/>
          </a:solidFill>
          <a:ln w="12700">
            <a:solidFill>
              <a:srgbClr val="6F8193">
                <a:alpha val="0"/>
              </a:srgbClr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9445752" y="2267712"/>
            <a:ext cx="420624" cy="36576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A</a:t>
            </a:r>
            <a:endParaRPr lang="en-US" sz="950" dirty="0"/>
          </a:p>
        </p:txBody>
      </p:sp>
      <p:sp>
        <p:nvSpPr>
          <p:cNvPr id="45" name="Text 42"/>
          <p:cNvSpPr/>
          <p:nvPr/>
        </p:nvSpPr>
        <p:spPr>
          <a:xfrm>
            <a:off x="10040112" y="2121408"/>
            <a:ext cx="1307592" cy="29260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5CAD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Agent </a:t>
            </a:r>
            <a:endParaRPr lang="en-US" sz="1600" b="1" dirty="0">
              <a:solidFill>
                <a:srgbClr val="0B5CAD"/>
              </a:solidFill>
              <a:latin typeface="PingFang SC" panose="020B0400000000000000" pitchFamily="34" charset="-122"/>
              <a:ea typeface="PingFang SC" panose="020B0400000000000000" pitchFamily="34" charset="-122"/>
              <a:cs typeface="PingFang SC" panose="020B0400000000000000" pitchFamily="34" charset="-120"/>
            </a:endParaRPr>
          </a:p>
        </p:txBody>
      </p:sp>
      <p:sp>
        <p:nvSpPr>
          <p:cNvPr id="46" name="Text 43"/>
          <p:cNvSpPr/>
          <p:nvPr/>
        </p:nvSpPr>
        <p:spPr>
          <a:xfrm>
            <a:off x="10040112" y="2487168"/>
            <a:ext cx="1307592" cy="21945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72033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低时延与突发性</a:t>
            </a:r>
            <a:endParaRPr lang="en-US" sz="1050" dirty="0"/>
          </a:p>
        </p:txBody>
      </p:sp>
      <p:sp>
        <p:nvSpPr>
          <p:cNvPr id="47" name="Shape 44"/>
          <p:cNvSpPr/>
          <p:nvPr/>
        </p:nvSpPr>
        <p:spPr>
          <a:xfrm>
            <a:off x="9418320" y="2871216"/>
            <a:ext cx="1993392" cy="0"/>
          </a:xfrm>
          <a:prstGeom prst="line">
            <a:avLst/>
          </a:prstGeom>
          <a:noFill/>
          <a:ln w="8890">
            <a:solidFill>
              <a:srgbClr val="D7DFE8"/>
            </a:solidFill>
            <a:prstDash val="solid"/>
            <a:headEnd type="none"/>
          </a:ln>
        </p:spPr>
      </p:sp>
      <p:sp>
        <p:nvSpPr>
          <p:cNvPr id="48" name="Text 45"/>
          <p:cNvSpPr/>
          <p:nvPr/>
        </p:nvSpPr>
        <p:spPr>
          <a:xfrm>
            <a:off x="9473184" y="3026664"/>
            <a:ext cx="1883664" cy="59436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40" dirty="0">
                <a:solidFill>
                  <a:srgbClr val="5D6B7A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短任务、单 Pod 与快速重试要求独立 Fast Path</a:t>
            </a:r>
            <a:endParaRPr lang="en-US" sz="1040" dirty="0"/>
          </a:p>
        </p:txBody>
      </p:sp>
      <p:sp>
        <p:nvSpPr>
          <p:cNvPr id="49" name="Shape 46"/>
          <p:cNvSpPr/>
          <p:nvPr/>
        </p:nvSpPr>
        <p:spPr>
          <a:xfrm>
            <a:off x="10268712" y="4105656"/>
            <a:ext cx="292608" cy="292608"/>
          </a:xfrm>
          <a:prstGeom prst="ellipse">
            <a:avLst/>
          </a:prstGeom>
          <a:solidFill>
            <a:srgbClr val="0B5CAD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50" name="Text 47"/>
          <p:cNvSpPr/>
          <p:nvPr/>
        </p:nvSpPr>
        <p:spPr>
          <a:xfrm>
            <a:off x="9774936" y="4535424"/>
            <a:ext cx="128016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6F8193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~ 2025</a:t>
            </a:r>
            <a:endParaRPr lang="en-US" sz="1300" dirty="0"/>
          </a:p>
        </p:txBody>
      </p:sp>
      <p:sp>
        <p:nvSpPr>
          <p:cNvPr id="51" name="Shape 48"/>
          <p:cNvSpPr/>
          <p:nvPr/>
        </p:nvSpPr>
        <p:spPr>
          <a:xfrm>
            <a:off x="1344168" y="5074920"/>
            <a:ext cx="4434840" cy="768096"/>
          </a:xfrm>
          <a:prstGeom prst="rect">
            <a:avLst/>
          </a:prstGeom>
          <a:solidFill>
            <a:srgbClr val="EAF2FF"/>
          </a:solidFill>
          <a:ln w="12700">
            <a:solidFill>
              <a:srgbClr val="003F8F"/>
            </a:solidFill>
            <a:prstDash val="solid"/>
          </a:ln>
        </p:spPr>
      </p:sp>
      <p:sp>
        <p:nvSpPr>
          <p:cNvPr id="52" name="Text 49"/>
          <p:cNvSpPr/>
          <p:nvPr/>
        </p:nvSpPr>
        <p:spPr>
          <a:xfrm>
            <a:off x="1664208" y="5230368"/>
            <a:ext cx="3794760" cy="26517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3F8F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统一资源与运行状态</a:t>
            </a:r>
            <a:endParaRPr lang="en-US" sz="1600" dirty="0"/>
          </a:p>
        </p:txBody>
      </p:sp>
      <p:sp>
        <p:nvSpPr>
          <p:cNvPr id="53" name="Shape 50"/>
          <p:cNvSpPr/>
          <p:nvPr/>
        </p:nvSpPr>
        <p:spPr>
          <a:xfrm>
            <a:off x="6400800" y="5074920"/>
            <a:ext cx="4434840" cy="768096"/>
          </a:xfrm>
          <a:prstGeom prst="rect">
            <a:avLst/>
          </a:prstGeom>
          <a:solidFill>
            <a:srgbClr val="F2F5F8"/>
          </a:solidFill>
          <a:ln w="12700">
            <a:solidFill>
              <a:srgbClr val="6F8193"/>
            </a:solidFill>
            <a:prstDash val="solid"/>
          </a:ln>
        </p:spPr>
      </p:sp>
      <p:sp>
        <p:nvSpPr>
          <p:cNvPr id="54" name="Text 51"/>
          <p:cNvSpPr/>
          <p:nvPr/>
        </p:nvSpPr>
        <p:spPr>
          <a:xfrm>
            <a:off x="6720840" y="5230368"/>
            <a:ext cx="3794760" cy="26517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3F8F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保留多种执行与调度模式</a:t>
            </a:r>
            <a:endParaRPr lang="en-US" sz="1600" dirty="0"/>
          </a:p>
        </p:txBody>
      </p:sp>
      <p:sp>
        <p:nvSpPr>
          <p:cNvPr id="55" name="Shape 52"/>
          <p:cNvSpPr/>
          <p:nvPr/>
        </p:nvSpPr>
        <p:spPr>
          <a:xfrm>
            <a:off x="640080" y="6236208"/>
            <a:ext cx="10908792" cy="402336"/>
          </a:xfrm>
          <a:prstGeom prst="rect">
            <a:avLst/>
          </a:prstGeom>
          <a:solidFill>
            <a:srgbClr val="003F8F"/>
          </a:solidFill>
          <a:ln w="12700">
            <a:solidFill>
              <a:srgbClr val="003F8F">
                <a:alpha val="0"/>
              </a:srgbClr>
            </a:solidFill>
            <a:prstDash val="solid"/>
          </a:ln>
        </p:spPr>
      </p:sp>
      <p:sp>
        <p:nvSpPr>
          <p:cNvPr id="56" name="Shape 53"/>
          <p:cNvSpPr/>
          <p:nvPr/>
        </p:nvSpPr>
        <p:spPr>
          <a:xfrm>
            <a:off x="640080" y="6236208"/>
            <a:ext cx="109728" cy="402336"/>
          </a:xfrm>
          <a:prstGeom prst="rect">
            <a:avLst/>
          </a:prstGeom>
          <a:solidFill>
            <a:srgbClr val="E43D30"/>
          </a:solidFill>
          <a:ln w="12700">
            <a:solidFill>
              <a:srgbClr val="E43D30">
                <a:alpha val="0"/>
              </a:srgbClr>
            </a:solidFill>
            <a:prstDash val="solid"/>
          </a:ln>
        </p:spPr>
      </p:sp>
      <p:sp>
        <p:nvSpPr>
          <p:cNvPr id="57" name="Text 54"/>
          <p:cNvSpPr/>
          <p:nvPr/>
        </p:nvSpPr>
        <p:spPr>
          <a:xfrm>
            <a:off x="914400" y="6272784"/>
            <a:ext cx="10378440" cy="30175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新的要求：一个控制面，管理吞吐、拓扑、角色与时延不同的执行模式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" name="Picture 2" descr="Volcano-Slide6-分裂的资源管理体系-RLHF样张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75" y="0"/>
            <a:ext cx="1218501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F8F"/>
          </a:solidFill>
          <a:ln w="12700">
            <a:solidFill>
              <a:srgbClr val="003F8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" y="228600"/>
            <a:ext cx="1417320" cy="393192"/>
          </a:xfrm>
          <a:prstGeom prst="chevron">
            <a:avLst/>
          </a:prstGeom>
          <a:solidFill>
            <a:srgbClr val="003F8F"/>
          </a:solidFill>
          <a:ln w="12700">
            <a:solidFill>
              <a:srgbClr val="003F8F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274320"/>
            <a:ext cx="1078992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第一章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2212848" y="182880"/>
            <a:ext cx="7635240" cy="512064"/>
          </a:xfrm>
          <a:prstGeom prst="rect">
            <a:avLst/>
          </a:prstGeom>
          <a:noFill/>
        </p:spPr>
        <p:txBody>
          <a:bodyPr wrap="square" lIns="18288" tIns="9144" rIns="18288" bIns="9144" rtlCol="0" anchor="ctr">
            <a:normAutofit/>
          </a:bodyPr>
          <a:lstStyle/>
          <a:p>
            <a:pPr marL="0" indent="0" algn="l">
              <a:buNone/>
              <a:defRPr sz="2750" b="1">
                <a:solidFill>
                  <a:srgbClr val="003F8F"/>
                </a:solidFill>
                <a:latin typeface="PingFang SC" panose="020B0400000000000000" pitchFamily="34" charset="-122"/>
              </a:defRPr>
            </a:pPr>
            <a:r>
              <a:t>统一调度管理面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58368" y="832104"/>
            <a:ext cx="10744200" cy="347472"/>
          </a:xfrm>
          <a:prstGeom prst="rect">
            <a:avLst/>
          </a:prstGeom>
          <a:noFill/>
        </p:spPr>
        <p:txBody>
          <a:bodyPr wrap="square" lIns="18288" tIns="9144" rIns="18288" bIns="9144" rtlCol="0" anchor="ctr">
            <a:normAutofit/>
          </a:bodyPr>
          <a:lstStyle/>
          <a:p>
            <a:pPr marL="0" indent="0" algn="l">
              <a:buNone/>
              <a:defRPr sz="1400" b="0">
                <a:solidFill>
                  <a:srgbClr val="66788A"/>
                </a:solidFill>
                <a:latin typeface="PingFang SC" panose="020B0400000000000000" pitchFamily="34" charset="-122"/>
              </a:defRPr>
            </a:pPr>
            <a:r>
              <a:t>共享集群状态与插件配置；HyperNode 以可嵌套层级表达网络拓扑</a:t>
            </a:r>
            <a:endParaRPr lang="en-US" sz="1530" dirty="0"/>
          </a:p>
        </p:txBody>
      </p:sp>
      <p:sp>
        <p:nvSpPr>
          <p:cNvPr id="7" name="Shape 5"/>
          <p:cNvSpPr/>
          <p:nvPr/>
        </p:nvSpPr>
        <p:spPr>
          <a:xfrm>
            <a:off x="566928" y="1225296"/>
            <a:ext cx="11018520" cy="0"/>
          </a:xfrm>
          <a:prstGeom prst="line">
            <a:avLst/>
          </a:prstGeom>
          <a:noFill/>
          <a:ln w="11430">
            <a:solidFill>
              <a:srgbClr val="B9C8D8"/>
            </a:solidFill>
            <a:prstDash val="solid"/>
            <a:headEnd type="none"/>
          </a:ln>
        </p:spPr>
      </p:sp>
      <p:sp>
        <p:nvSpPr>
          <p:cNvPr id="8" name="Shape 6"/>
          <p:cNvSpPr/>
          <p:nvPr/>
        </p:nvSpPr>
        <p:spPr>
          <a:xfrm>
            <a:off x="566928" y="1179576"/>
            <a:ext cx="1225296" cy="91440"/>
          </a:xfrm>
          <a:prstGeom prst="rect">
            <a:avLst/>
          </a:prstGeom>
          <a:solidFill>
            <a:srgbClr val="E43D30"/>
          </a:solidFill>
          <a:ln w="12700">
            <a:solidFill>
              <a:srgbClr val="E43D30">
                <a:alpha val="0"/>
              </a:srgbClr>
            </a:solidFill>
            <a:prstDash val="solid"/>
          </a:ln>
        </p:spPr>
      </p:sp>
      <p:pic>
        <p:nvPicPr>
          <p:cNvPr id="9" name="Image 0" descr="/Users/chenzicong/Documents/Codex/2026-07-20/wo/outputs/volcano-unified-scheduling-editable/assets/volcano-logo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97312" y="321114"/>
            <a:ext cx="1078992" cy="180733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1475720" y="6492240"/>
            <a:ext cx="347472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768597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08</a:t>
            </a:r>
            <a:endParaRPr lang="en-US" sz="950" dirty="0"/>
          </a:p>
        </p:txBody>
      </p:sp>
      <p:sp>
        <p:nvSpPr>
          <p:cNvPr id="37" name="Shape 33"/>
          <p:cNvSpPr/>
          <p:nvPr/>
        </p:nvSpPr>
        <p:spPr>
          <a:xfrm>
            <a:off x="640080" y="6236208"/>
            <a:ext cx="10908792" cy="402336"/>
          </a:xfrm>
          <a:prstGeom prst="rect">
            <a:avLst/>
          </a:prstGeom>
          <a:solidFill>
            <a:srgbClr val="003F8F"/>
          </a:solidFill>
          <a:ln w="12700">
            <a:solidFill>
              <a:srgbClr val="003F8F">
                <a:alpha val="0"/>
              </a:srgbClr>
            </a:solidFill>
            <a:prstDash val="solid"/>
          </a:ln>
        </p:spPr>
      </p:sp>
      <p:sp>
        <p:nvSpPr>
          <p:cNvPr id="38" name="Shape 34"/>
          <p:cNvSpPr/>
          <p:nvPr/>
        </p:nvSpPr>
        <p:spPr>
          <a:xfrm>
            <a:off x="640080" y="6236208"/>
            <a:ext cx="109728" cy="402336"/>
          </a:xfrm>
          <a:prstGeom prst="rect">
            <a:avLst/>
          </a:prstGeom>
          <a:solidFill>
            <a:srgbClr val="E43D30"/>
          </a:solidFill>
          <a:ln w="12700">
            <a:solidFill>
              <a:srgbClr val="E43D30">
                <a:alpha val="0"/>
              </a:srgbClr>
            </a:solidFill>
            <a:prstDash val="solid"/>
          </a:ln>
        </p:spPr>
      </p:sp>
      <p:sp>
        <p:nvSpPr>
          <p:cNvPr id="39" name="Text 35"/>
          <p:cNvSpPr/>
          <p:nvPr/>
        </p:nvSpPr>
        <p:spPr>
          <a:xfrm>
            <a:off x="914400" y="6272784"/>
            <a:ext cx="10378440" cy="301752"/>
          </a:xfrm>
          <a:prstGeom prst="rect">
            <a:avLst/>
          </a:prstGeom>
          <a:noFill/>
        </p:spPr>
        <p:txBody>
          <a:bodyPr wrap="square" lIns="18288" tIns="9144" rIns="18288" bIns="9144" rtlCol="0" anchor="ctr">
            <a:normAutofit/>
          </a:bodyPr>
          <a:lstStyle/>
          <a:p>
            <a:pPr marL="0" indent="0" algn="ctr">
              <a:buNone/>
              <a:defRPr sz="1320" b="1">
                <a:solidFill>
                  <a:srgbClr val="FFFFFF"/>
                </a:solidFill>
                <a:latin typeface="PingFang SC" panose="020B0400000000000000" pitchFamily="34" charset="-122"/>
              </a:defRPr>
            </a:pPr>
            <a:r>
              <a:t>统一管理面连接调度实例、可组合插件与可嵌套的网络拓扑抽象</a:t>
            </a:r>
            <a:endParaRPr lang="en-US" sz="1500" dirty="0"/>
          </a:p>
        </p:txBody>
      </p:sp>
      <p:sp>
        <p:nvSpPr>
          <p:cNvPr id="40" name="Rounded Rectangle 39"/>
          <p:cNvSpPr/>
          <p:nvPr/>
        </p:nvSpPr>
        <p:spPr>
          <a:xfrm>
            <a:off x="667512" y="1426464"/>
            <a:ext cx="2532888" cy="5303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1430">
            <a:solidFill>
              <a:srgbClr val="0B5C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777240" y="1545336"/>
            <a:ext cx="310896" cy="292608"/>
          </a:xfrm>
          <a:prstGeom prst="roundRect">
            <a:avLst>
              <a:gd name="adj" fmla="val 8000"/>
            </a:avLst>
          </a:prstGeom>
          <a:solidFill>
            <a:srgbClr val="0B5CAD"/>
          </a:solidFill>
          <a:ln w="8890">
            <a:solidFill>
              <a:srgbClr val="0B5C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77240" y="1600200"/>
            <a:ext cx="310896" cy="128016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>
              <a:defRPr sz="720" b="1">
                <a:solidFill>
                  <a:srgbClr val="FFFFFF"/>
                </a:solidFill>
                <a:latin typeface="PingFang SC" panose="020B0400000000000000" pitchFamily="34" charset="-122"/>
              </a:defRPr>
            </a:pPr>
            <a:r>
              <a:t>SVC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88719" y="1490472"/>
            <a:ext cx="1856231" cy="182880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>
              <a:defRPr sz="1070" b="1">
                <a:solidFill>
                  <a:srgbClr val="003F8F"/>
                </a:solidFill>
                <a:latin typeface="PingFang SC" panose="020B0400000000000000" pitchFamily="34" charset="-122"/>
              </a:defRPr>
            </a:pPr>
            <a:r>
              <a:t>通用服务 / Agent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88719" y="1700784"/>
            <a:ext cx="1856231" cy="128016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>
              <a:defRPr sz="730" b="0">
                <a:solidFill>
                  <a:srgbClr val="66788A"/>
                </a:solidFill>
                <a:latin typeface="PingFang SC" panose="020B0400000000000000" pitchFamily="34" charset="-122"/>
              </a:defRPr>
            </a:pPr>
            <a:r>
              <a:t>单 Pod · 时延敏感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3328416" y="1426464"/>
            <a:ext cx="2532888" cy="5303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1430">
            <a:solidFill>
              <a:srgbClr val="0B5C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3438144" y="1545336"/>
            <a:ext cx="310896" cy="292608"/>
          </a:xfrm>
          <a:prstGeom prst="roundRect">
            <a:avLst>
              <a:gd name="adj" fmla="val 8000"/>
            </a:avLst>
          </a:prstGeom>
          <a:solidFill>
            <a:srgbClr val="0B5CAD"/>
          </a:solidFill>
          <a:ln w="8890">
            <a:solidFill>
              <a:srgbClr val="0B5C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438144" y="1600200"/>
            <a:ext cx="310896" cy="128016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>
              <a:defRPr sz="720" b="1">
                <a:solidFill>
                  <a:srgbClr val="FFFFFF"/>
                </a:solidFill>
                <a:latin typeface="PingFang SC" panose="020B0400000000000000" pitchFamily="34" charset="-122"/>
              </a:defRPr>
            </a:pPr>
            <a:r>
              <a:t>B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849624" y="1490472"/>
            <a:ext cx="1856231" cy="182880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>
              <a:defRPr sz="1070" b="1">
                <a:solidFill>
                  <a:srgbClr val="003F8F"/>
                </a:solidFill>
                <a:latin typeface="PingFang SC" panose="020B0400000000000000" pitchFamily="34" charset="-122"/>
              </a:defRPr>
            </a:pPr>
            <a:r>
              <a:t>批处理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849624" y="1700784"/>
            <a:ext cx="1856231" cy="128016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>
              <a:defRPr sz="730" b="0">
                <a:solidFill>
                  <a:srgbClr val="66788A"/>
                </a:solidFill>
                <a:latin typeface="PingFang SC" panose="020B0400000000000000" pitchFamily="34" charset="-122"/>
              </a:defRPr>
            </a:pPr>
            <a:r>
              <a:t>吞吐优先 · 弹性运行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5989320" y="1426464"/>
            <a:ext cx="2532888" cy="5303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1430">
            <a:solidFill>
              <a:srgbClr val="0B5C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6099048" y="1545336"/>
            <a:ext cx="310896" cy="292608"/>
          </a:xfrm>
          <a:prstGeom prst="roundRect">
            <a:avLst>
              <a:gd name="adj" fmla="val 8000"/>
            </a:avLst>
          </a:prstGeom>
          <a:solidFill>
            <a:srgbClr val="0B5CAD"/>
          </a:solidFill>
          <a:ln w="8890">
            <a:solidFill>
              <a:srgbClr val="0B5C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099048" y="1600200"/>
            <a:ext cx="310896" cy="128016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>
              <a:defRPr sz="720" b="1">
                <a:solidFill>
                  <a:srgbClr val="FFFFFF"/>
                </a:solidFill>
                <a:latin typeface="PingFang SC" panose="020B0400000000000000" pitchFamily="34" charset="-122"/>
              </a:defRPr>
            </a:pPr>
            <a:r>
              <a:t>TR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510528" y="1490472"/>
            <a:ext cx="1856231" cy="182880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>
              <a:defRPr sz="1070" b="1">
                <a:solidFill>
                  <a:srgbClr val="003F8F"/>
                </a:solidFill>
                <a:latin typeface="PingFang SC" panose="020B0400000000000000" pitchFamily="34" charset="-122"/>
              </a:defRPr>
            </a:pPr>
            <a:r>
              <a:t>分布式训练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510528" y="1700784"/>
            <a:ext cx="1856231" cy="128016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>
              <a:defRPr sz="730" b="0">
                <a:solidFill>
                  <a:srgbClr val="66788A"/>
                </a:solidFill>
                <a:latin typeface="PingFang SC" panose="020B0400000000000000" pitchFamily="34" charset="-122"/>
              </a:defRPr>
            </a:pPr>
            <a:r>
              <a:t>Gang · 通信拓扑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8650224" y="1426464"/>
            <a:ext cx="2532888" cy="5303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1430">
            <a:solidFill>
              <a:srgbClr val="0B5C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ounded Rectangle 55"/>
          <p:cNvSpPr/>
          <p:nvPr/>
        </p:nvSpPr>
        <p:spPr>
          <a:xfrm>
            <a:off x="8759952" y="1545336"/>
            <a:ext cx="310896" cy="292608"/>
          </a:xfrm>
          <a:prstGeom prst="roundRect">
            <a:avLst>
              <a:gd name="adj" fmla="val 8000"/>
            </a:avLst>
          </a:prstGeom>
          <a:solidFill>
            <a:srgbClr val="0B5CAD"/>
          </a:solidFill>
          <a:ln w="8890">
            <a:solidFill>
              <a:srgbClr val="0B5C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8759952" y="1600200"/>
            <a:ext cx="310896" cy="128016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>
              <a:defRPr sz="720" b="1">
                <a:solidFill>
                  <a:srgbClr val="FFFFFF"/>
                </a:solidFill>
                <a:latin typeface="PingFang SC" panose="020B0400000000000000" pitchFamily="34" charset="-122"/>
              </a:defRPr>
            </a:pPr>
            <a:r>
              <a:t>RT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171432" y="1490472"/>
            <a:ext cx="1856231" cy="182880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>
              <a:defRPr sz="1070" b="1">
                <a:solidFill>
                  <a:srgbClr val="003F8F"/>
                </a:solidFill>
                <a:latin typeface="PingFang SC" panose="020B0400000000000000" pitchFamily="34" charset="-122"/>
              </a:defRPr>
            </a:pPr>
            <a:r>
              <a:t>在线推理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171432" y="1700784"/>
            <a:ext cx="1856231" cy="128016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>
              <a:defRPr sz="730" b="0">
                <a:solidFill>
                  <a:srgbClr val="66788A"/>
                </a:solidFill>
                <a:latin typeface="PingFang SC" panose="020B0400000000000000" pitchFamily="34" charset="-122"/>
              </a:defRPr>
            </a:pPr>
            <a:r>
              <a:t>角色分组 · 高可用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658368" y="2112264"/>
            <a:ext cx="10890504" cy="23225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3970">
            <a:solidFill>
              <a:srgbClr val="003F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Chevron 60"/>
          <p:cNvSpPr/>
          <p:nvPr/>
        </p:nvSpPr>
        <p:spPr>
          <a:xfrm>
            <a:off x="804672" y="2258568"/>
            <a:ext cx="1298448" cy="320040"/>
          </a:xfrm>
          <a:prstGeom prst="chevron">
            <a:avLst/>
          </a:prstGeom>
          <a:solidFill>
            <a:srgbClr val="003F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859536" y="2308860"/>
            <a:ext cx="1133856" cy="173736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>
              <a:defRPr sz="950" b="1">
                <a:solidFill>
                  <a:srgbClr val="FFFFFF"/>
                </a:solidFill>
                <a:latin typeface="PingFang SC" panose="020B0400000000000000" pitchFamily="34" charset="-122"/>
              </a:defRPr>
            </a:pPr>
            <a:r>
              <a:t>统一管理面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2249424" y="2258568"/>
            <a:ext cx="2240280" cy="219456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defRPr sz="1200" b="1">
                <a:solidFill>
                  <a:srgbClr val="003F8F"/>
                </a:solidFill>
                <a:latin typeface="PingFang SC" panose="020B0400000000000000" pitchFamily="34" charset="-122"/>
              </a:defRPr>
            </a:pPr>
            <a:r>
              <a:t>共享状态与调度实例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896112" y="2642616"/>
            <a:ext cx="1481328" cy="502920"/>
          </a:xfrm>
          <a:prstGeom prst="roundRect">
            <a:avLst>
              <a:gd name="adj" fmla="val 8000"/>
            </a:avLst>
          </a:prstGeom>
          <a:solidFill>
            <a:srgbClr val="EAF2FF"/>
          </a:solidFill>
          <a:ln w="11430">
            <a:solidFill>
              <a:srgbClr val="0B5C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1005840" y="2752344"/>
            <a:ext cx="1261872" cy="155448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>
              <a:defRPr sz="900" b="1">
                <a:solidFill>
                  <a:srgbClr val="003F8F"/>
                </a:solidFill>
                <a:latin typeface="PingFang SC" panose="020B0400000000000000" pitchFamily="34" charset="-122"/>
              </a:defRPr>
            </a:pPr>
            <a:r>
              <a:t>Volcano Scheduler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896112" y="3447288"/>
            <a:ext cx="1481328" cy="50292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11430">
            <a:solidFill>
              <a:srgbClr val="7180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1005840" y="3557016"/>
            <a:ext cx="1261872" cy="155448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>
              <a:defRPr sz="900" b="1">
                <a:solidFill>
                  <a:srgbClr val="003F8F"/>
                </a:solidFill>
                <a:latin typeface="PingFang SC" panose="020B0400000000000000" pitchFamily="34" charset="-122"/>
              </a:defRPr>
            </a:pPr>
            <a:r>
              <a:t>Agent Scheduler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4133087" y="3044952"/>
            <a:ext cx="1325880" cy="50292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11430">
            <a:solidFill>
              <a:srgbClr val="7180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4261104" y="3099816"/>
            <a:ext cx="1069848" cy="292608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>
              <a:defRPr sz="820" b="1">
                <a:solidFill>
                  <a:srgbClr val="003F8F"/>
                </a:solidFill>
                <a:latin typeface="PingFang SC" panose="020B0400000000000000" pitchFamily="34" charset="-122"/>
              </a:defRPr>
            </a:pPr>
            <a:r>
              <a:t>Sharding</a:t>
            </a:r>
            <a:br/>
            <a:r>
              <a:t>Controller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2679192" y="2660904"/>
            <a:ext cx="1170432" cy="35661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B8C5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2779776" y="2743200"/>
            <a:ext cx="969264" cy="146304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>
              <a:defRPr sz="770" b="1">
                <a:solidFill>
                  <a:srgbClr val="003F8F"/>
                </a:solidFill>
                <a:latin typeface="PingFang SC" panose="020B0400000000000000" pitchFamily="34" charset="-122"/>
              </a:defRPr>
            </a:pPr>
            <a:r>
              <a:t>Queue / Policy</a:t>
            </a:r>
          </a:p>
        </p:txBody>
      </p:sp>
      <p:sp>
        <p:nvSpPr>
          <p:cNvPr id="72" name="Down Arrow 71"/>
          <p:cNvSpPr/>
          <p:nvPr/>
        </p:nvSpPr>
        <p:spPr>
          <a:xfrm>
            <a:off x="3154680" y="3026664"/>
            <a:ext cx="210312" cy="228600"/>
          </a:xfrm>
          <a:prstGeom prst="downArrow">
            <a:avLst/>
          </a:prstGeom>
          <a:solidFill>
            <a:srgbClr val="356F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ounded Rectangle 72"/>
          <p:cNvSpPr/>
          <p:nvPr/>
        </p:nvSpPr>
        <p:spPr>
          <a:xfrm>
            <a:off x="2587752" y="3246120"/>
            <a:ext cx="1353312" cy="749808"/>
          </a:xfrm>
          <a:prstGeom prst="roundRect">
            <a:avLst>
              <a:gd name="adj" fmla="val 8000"/>
            </a:avLst>
          </a:prstGeom>
          <a:solidFill>
            <a:srgbClr val="EAF2FF"/>
          </a:solidFill>
          <a:ln w="12700">
            <a:solidFill>
              <a:srgbClr val="0B5C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2715768" y="3346704"/>
            <a:ext cx="1097280" cy="173736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>
              <a:defRPr sz="970" b="1">
                <a:solidFill>
                  <a:srgbClr val="003F8F"/>
                </a:solidFill>
                <a:latin typeface="PingFang SC" panose="020B0400000000000000" pitchFamily="34" charset="-122"/>
              </a:defRPr>
            </a:pPr>
            <a:r>
              <a:t>Cluster State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2715768" y="3575304"/>
            <a:ext cx="1097280" cy="283464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>
              <a:defRPr sz="720" b="0">
                <a:solidFill>
                  <a:srgbClr val="66788A"/>
                </a:solidFill>
                <a:latin typeface="PingFang SC" panose="020B0400000000000000" pitchFamily="34" charset="-122"/>
              </a:defRPr>
            </a:pPr>
            <a:r>
              <a:t>Node · Queue</a:t>
            </a:r>
            <a:br/>
            <a:r>
              <a:t>PodGroup · HyperNode</a:t>
            </a:r>
          </a:p>
        </p:txBody>
      </p:sp>
      <p:sp>
        <p:nvSpPr>
          <p:cNvPr id="76" name="Right Arrow 75"/>
          <p:cNvSpPr/>
          <p:nvPr/>
        </p:nvSpPr>
        <p:spPr>
          <a:xfrm>
            <a:off x="2386584" y="2779776"/>
            <a:ext cx="246888" cy="201168"/>
          </a:xfrm>
          <a:prstGeom prst="rightArrow">
            <a:avLst/>
          </a:prstGeom>
          <a:solidFill>
            <a:srgbClr val="356F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ight Arrow 76"/>
          <p:cNvSpPr/>
          <p:nvPr/>
        </p:nvSpPr>
        <p:spPr>
          <a:xfrm>
            <a:off x="2386584" y="3584448"/>
            <a:ext cx="246888" cy="201168"/>
          </a:xfrm>
          <a:prstGeom prst="rightArrow">
            <a:avLst/>
          </a:prstGeom>
          <a:solidFill>
            <a:srgbClr val="356F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ight Arrow 77"/>
          <p:cNvSpPr/>
          <p:nvPr/>
        </p:nvSpPr>
        <p:spPr>
          <a:xfrm>
            <a:off x="3950208" y="3419856"/>
            <a:ext cx="164592" cy="201168"/>
          </a:xfrm>
          <a:prstGeom prst="rightArrow">
            <a:avLst/>
          </a:prstGeom>
          <a:solidFill>
            <a:srgbClr val="718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1188720" y="4123944"/>
            <a:ext cx="1143000" cy="137160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>
              <a:defRPr sz="750" b="1">
                <a:solidFill>
                  <a:srgbClr val="66788A"/>
                </a:solidFill>
                <a:latin typeface="PingFang SC" panose="020B0400000000000000" pitchFamily="34" charset="-122"/>
              </a:defRPr>
            </a:pPr>
            <a:r>
              <a:t>共享状态缓存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2715768" y="4123944"/>
            <a:ext cx="1097280" cy="137160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>
              <a:defRPr sz="750" b="1">
                <a:solidFill>
                  <a:srgbClr val="66788A"/>
                </a:solidFill>
                <a:latin typeface="PingFang SC" panose="020B0400000000000000" pitchFamily="34" charset="-122"/>
              </a:defRPr>
            </a:pPr>
            <a:r>
              <a:t>NodeShard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4187952" y="4123944"/>
            <a:ext cx="1115568" cy="137160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>
              <a:defRPr sz="750" b="1">
                <a:solidFill>
                  <a:srgbClr val="66788A"/>
                </a:solidFill>
                <a:latin typeface="PingFang SC" panose="020B0400000000000000" pitchFamily="34" charset="-122"/>
              </a:defRPr>
            </a:pPr>
            <a:r>
              <a:t>运行反馈</a:t>
            </a:r>
          </a:p>
        </p:txBody>
      </p:sp>
      <p:cxnSp>
        <p:nvCxnSpPr>
          <p:cNvPr id="82" name="Connector 81"/>
          <p:cNvCxnSpPr/>
          <p:nvPr/>
        </p:nvCxnSpPr>
        <p:spPr>
          <a:xfrm>
            <a:off x="5650992" y="2450592"/>
            <a:ext cx="0" cy="1801368"/>
          </a:xfrm>
          <a:prstGeom prst="line">
            <a:avLst/>
          </a:prstGeom>
          <a:ln w="11430">
            <a:solidFill>
              <a:srgbClr val="D8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3" name="TextBox 82"/>
          <p:cNvSpPr txBox="1"/>
          <p:nvPr/>
        </p:nvSpPr>
        <p:spPr>
          <a:xfrm>
            <a:off x="5907024" y="2258568"/>
            <a:ext cx="5193792" cy="219456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defRPr sz="1200" b="1">
                <a:solidFill>
                  <a:srgbClr val="003F8F"/>
                </a:solidFill>
                <a:latin typeface="PingFang SC" panose="020B0400000000000000" pitchFamily="34" charset="-122"/>
              </a:defRPr>
            </a:pPr>
            <a:r>
              <a:t>Volcano Scheduler：调度动作与可组合插件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5934456" y="2615184"/>
            <a:ext cx="731520" cy="164592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defRPr sz="800" b="1">
                <a:solidFill>
                  <a:srgbClr val="66788A"/>
                </a:solidFill>
                <a:latin typeface="PingFang SC" panose="020B0400000000000000" pitchFamily="34" charset="-122"/>
              </a:defRPr>
            </a:pPr>
            <a:r>
              <a:t>调度动作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6675120" y="2560320"/>
            <a:ext cx="768096" cy="310896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8890">
            <a:solidFill>
              <a:srgbClr val="B8C5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6702552" y="2601468"/>
            <a:ext cx="713232" cy="219456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>
              <a:defRPr sz="780" b="1">
                <a:solidFill>
                  <a:srgbClr val="003F8F"/>
                </a:solidFill>
                <a:latin typeface="PingFang SC" panose="020B0400000000000000" pitchFamily="34" charset="-122"/>
              </a:defRPr>
            </a:pPr>
            <a:r>
              <a:t>enqueue</a:t>
            </a:r>
          </a:p>
        </p:txBody>
      </p:sp>
      <p:sp>
        <p:nvSpPr>
          <p:cNvPr id="87" name="Rounded Rectangle 86"/>
          <p:cNvSpPr/>
          <p:nvPr/>
        </p:nvSpPr>
        <p:spPr>
          <a:xfrm>
            <a:off x="7534656" y="2560320"/>
            <a:ext cx="768096" cy="310896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8890">
            <a:solidFill>
              <a:srgbClr val="B8C5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7562088" y="2601468"/>
            <a:ext cx="713232" cy="219456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>
              <a:defRPr sz="780" b="1">
                <a:solidFill>
                  <a:srgbClr val="003F8F"/>
                </a:solidFill>
                <a:latin typeface="PingFang SC" panose="020B0400000000000000" pitchFamily="34" charset="-122"/>
              </a:defRPr>
            </a:pPr>
            <a:r>
              <a:t>allocate</a:t>
            </a:r>
          </a:p>
        </p:txBody>
      </p:sp>
      <p:sp>
        <p:nvSpPr>
          <p:cNvPr id="89" name="Rounded Rectangle 88"/>
          <p:cNvSpPr/>
          <p:nvPr/>
        </p:nvSpPr>
        <p:spPr>
          <a:xfrm>
            <a:off x="8394192" y="2560320"/>
            <a:ext cx="768096" cy="310896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8890">
            <a:solidFill>
              <a:srgbClr val="B8C5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8421624" y="2601468"/>
            <a:ext cx="713232" cy="219456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>
              <a:defRPr sz="780" b="1">
                <a:solidFill>
                  <a:srgbClr val="003F8F"/>
                </a:solidFill>
                <a:latin typeface="PingFang SC" panose="020B0400000000000000" pitchFamily="34" charset="-122"/>
              </a:defRPr>
            </a:pPr>
            <a:r>
              <a:t>reclaim</a:t>
            </a:r>
          </a:p>
        </p:txBody>
      </p:sp>
      <p:sp>
        <p:nvSpPr>
          <p:cNvPr id="91" name="Rounded Rectangle 90"/>
          <p:cNvSpPr/>
          <p:nvPr/>
        </p:nvSpPr>
        <p:spPr>
          <a:xfrm>
            <a:off x="9253728" y="2560320"/>
            <a:ext cx="768096" cy="310896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8890">
            <a:solidFill>
              <a:srgbClr val="B8C5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9281159" y="2601468"/>
            <a:ext cx="713232" cy="219456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>
              <a:defRPr sz="780" b="1">
                <a:solidFill>
                  <a:srgbClr val="003F8F"/>
                </a:solidFill>
                <a:latin typeface="PingFang SC" panose="020B0400000000000000" pitchFamily="34" charset="-122"/>
              </a:defRPr>
            </a:pPr>
            <a:r>
              <a:t>preempt</a:t>
            </a:r>
          </a:p>
        </p:txBody>
      </p:sp>
      <p:sp>
        <p:nvSpPr>
          <p:cNvPr id="93" name="Rounded Rectangle 92"/>
          <p:cNvSpPr/>
          <p:nvPr/>
        </p:nvSpPr>
        <p:spPr>
          <a:xfrm>
            <a:off x="10113263" y="2560320"/>
            <a:ext cx="768096" cy="310896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8890">
            <a:solidFill>
              <a:srgbClr val="B8C5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10140695" y="2601468"/>
            <a:ext cx="713232" cy="219456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>
              <a:defRPr sz="780" b="1">
                <a:solidFill>
                  <a:srgbClr val="003F8F"/>
                </a:solidFill>
                <a:latin typeface="PingFang SC" panose="020B0400000000000000" pitchFamily="34" charset="-122"/>
              </a:defRPr>
            </a:pPr>
            <a:r>
              <a:t>backfill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5934456" y="2980944"/>
            <a:ext cx="2267712" cy="164592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defRPr sz="800" b="1">
                <a:solidFill>
                  <a:srgbClr val="66788A"/>
                </a:solidFill>
                <a:latin typeface="PingFang SC" panose="020B0400000000000000" pitchFamily="34" charset="-122"/>
              </a:defRPr>
            </a:pPr>
            <a:r>
              <a:t>同级插件，按调度配置组合启用</a:t>
            </a:r>
          </a:p>
        </p:txBody>
      </p:sp>
      <p:sp>
        <p:nvSpPr>
          <p:cNvPr id="96" name="Rounded Rectangle 95"/>
          <p:cNvSpPr/>
          <p:nvPr/>
        </p:nvSpPr>
        <p:spPr>
          <a:xfrm>
            <a:off x="5934456" y="3218688"/>
            <a:ext cx="1188720" cy="310896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8890">
            <a:solidFill>
              <a:srgbClr val="B8C5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5961888" y="3259836"/>
            <a:ext cx="1133856" cy="219456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>
              <a:defRPr sz="860" b="1">
                <a:solidFill>
                  <a:srgbClr val="003F8F"/>
                </a:solidFill>
                <a:latin typeface="PingFang SC" panose="020B0400000000000000" pitchFamily="34" charset="-122"/>
              </a:defRPr>
            </a:pPr>
            <a:r>
              <a:t>gang</a:t>
            </a:r>
          </a:p>
        </p:txBody>
      </p:sp>
      <p:sp>
        <p:nvSpPr>
          <p:cNvPr id="98" name="Rounded Rectangle 97"/>
          <p:cNvSpPr/>
          <p:nvPr/>
        </p:nvSpPr>
        <p:spPr>
          <a:xfrm>
            <a:off x="7223760" y="3218688"/>
            <a:ext cx="1188720" cy="310896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8890">
            <a:solidFill>
              <a:srgbClr val="B8C5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7251192" y="3259836"/>
            <a:ext cx="1133856" cy="219456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>
              <a:defRPr sz="820" b="1">
                <a:solidFill>
                  <a:srgbClr val="003F8F"/>
                </a:solidFill>
                <a:latin typeface="PingFang SC" panose="020B0400000000000000" pitchFamily="34" charset="-122"/>
              </a:defRPr>
            </a:pPr>
            <a:r>
              <a:t>capacity</a:t>
            </a:r>
          </a:p>
        </p:txBody>
      </p:sp>
      <p:sp>
        <p:nvSpPr>
          <p:cNvPr id="100" name="Rounded Rectangle 99"/>
          <p:cNvSpPr/>
          <p:nvPr/>
        </p:nvSpPr>
        <p:spPr>
          <a:xfrm>
            <a:off x="8513064" y="3218688"/>
            <a:ext cx="1188720" cy="310896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8890">
            <a:solidFill>
              <a:srgbClr val="B8C5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8540496" y="3259836"/>
            <a:ext cx="1133856" cy="219456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>
              <a:defRPr sz="780" b="1">
                <a:solidFill>
                  <a:srgbClr val="003F8F"/>
                </a:solidFill>
                <a:latin typeface="PingFang SC" panose="020B0400000000000000" pitchFamily="34" charset="-122"/>
              </a:defRPr>
            </a:pPr>
            <a:r>
              <a:t>proportion</a:t>
            </a:r>
          </a:p>
        </p:txBody>
      </p:sp>
      <p:sp>
        <p:nvSpPr>
          <p:cNvPr id="102" name="Rounded Rectangle 101"/>
          <p:cNvSpPr/>
          <p:nvPr/>
        </p:nvSpPr>
        <p:spPr>
          <a:xfrm>
            <a:off x="9802368" y="3218688"/>
            <a:ext cx="1188720" cy="310896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8890">
            <a:solidFill>
              <a:srgbClr val="B8C5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9829800" y="3259836"/>
            <a:ext cx="1133856" cy="219456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>
              <a:defRPr sz="860" b="1">
                <a:solidFill>
                  <a:srgbClr val="003F8F"/>
                </a:solidFill>
                <a:latin typeface="PingFang SC" panose="020B0400000000000000" pitchFamily="34" charset="-122"/>
              </a:defRPr>
            </a:pPr>
            <a:r>
              <a:t>drf</a:t>
            </a:r>
          </a:p>
        </p:txBody>
      </p:sp>
      <p:sp>
        <p:nvSpPr>
          <p:cNvPr id="104" name="Rounded Rectangle 103"/>
          <p:cNvSpPr/>
          <p:nvPr/>
        </p:nvSpPr>
        <p:spPr>
          <a:xfrm>
            <a:off x="5934456" y="3584448"/>
            <a:ext cx="1188720" cy="310896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8890">
            <a:solidFill>
              <a:srgbClr val="B8C5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5961888" y="3625596"/>
            <a:ext cx="1133856" cy="219456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>
              <a:defRPr sz="820" b="1">
                <a:solidFill>
                  <a:srgbClr val="003F8F"/>
                </a:solidFill>
                <a:latin typeface="PingFang SC" panose="020B0400000000000000" pitchFamily="34" charset="-122"/>
              </a:defRPr>
            </a:pPr>
            <a:r>
              <a:t>priority</a:t>
            </a:r>
          </a:p>
        </p:txBody>
      </p:sp>
      <p:sp>
        <p:nvSpPr>
          <p:cNvPr id="106" name="Rounded Rectangle 105"/>
          <p:cNvSpPr/>
          <p:nvPr/>
        </p:nvSpPr>
        <p:spPr>
          <a:xfrm>
            <a:off x="7223760" y="3584448"/>
            <a:ext cx="1188720" cy="310896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8890">
            <a:solidFill>
              <a:srgbClr val="B8C5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7251192" y="3625596"/>
            <a:ext cx="1133856" cy="219456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>
              <a:defRPr sz="780" b="1">
                <a:solidFill>
                  <a:srgbClr val="003F8F"/>
                </a:solidFill>
                <a:latin typeface="PingFang SC" panose="020B0400000000000000" pitchFamily="34" charset="-122"/>
              </a:defRPr>
            </a:pPr>
            <a:r>
              <a:t>predicates</a:t>
            </a:r>
          </a:p>
        </p:txBody>
      </p:sp>
      <p:sp>
        <p:nvSpPr>
          <p:cNvPr id="108" name="Rounded Rectangle 107"/>
          <p:cNvSpPr/>
          <p:nvPr/>
        </p:nvSpPr>
        <p:spPr>
          <a:xfrm>
            <a:off x="8513064" y="3584448"/>
            <a:ext cx="1188720" cy="310896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8890">
            <a:solidFill>
              <a:srgbClr val="B8C5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8540496" y="3625596"/>
            <a:ext cx="1133856" cy="219456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>
              <a:defRPr sz="780" b="1">
                <a:solidFill>
                  <a:srgbClr val="003F8F"/>
                </a:solidFill>
                <a:latin typeface="PingFang SC" panose="020B0400000000000000" pitchFamily="34" charset="-122"/>
              </a:defRPr>
            </a:pPr>
            <a:r>
              <a:t>nodeorder</a:t>
            </a:r>
          </a:p>
        </p:txBody>
      </p:sp>
      <p:sp>
        <p:nvSpPr>
          <p:cNvPr id="110" name="Rounded Rectangle 109"/>
          <p:cNvSpPr/>
          <p:nvPr/>
        </p:nvSpPr>
        <p:spPr>
          <a:xfrm>
            <a:off x="9802368" y="3584448"/>
            <a:ext cx="1188720" cy="310896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8890">
            <a:solidFill>
              <a:srgbClr val="B8C5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9829800" y="3625596"/>
            <a:ext cx="1133856" cy="219456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>
              <a:defRPr sz="820" b="1">
                <a:solidFill>
                  <a:srgbClr val="003F8F"/>
                </a:solidFill>
                <a:latin typeface="PingFang SC" panose="020B0400000000000000" pitchFamily="34" charset="-122"/>
              </a:defRPr>
            </a:pPr>
            <a:r>
              <a:t>binpack</a:t>
            </a:r>
          </a:p>
        </p:txBody>
      </p:sp>
      <p:sp>
        <p:nvSpPr>
          <p:cNvPr id="112" name="Rounded Rectangle 111"/>
          <p:cNvSpPr/>
          <p:nvPr/>
        </p:nvSpPr>
        <p:spPr>
          <a:xfrm>
            <a:off x="5934456" y="3950208"/>
            <a:ext cx="1188720" cy="310896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8890">
            <a:solidFill>
              <a:srgbClr val="B8C5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5961888" y="3991356"/>
            <a:ext cx="1133856" cy="219456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>
              <a:defRPr sz="770" b="1">
                <a:solidFill>
                  <a:srgbClr val="003F8F"/>
                </a:solidFill>
                <a:latin typeface="PingFang SC" panose="020B0400000000000000" pitchFamily="34" charset="-122"/>
              </a:defRPr>
            </a:pPr>
            <a:r>
              <a:t>task-topology</a:t>
            </a:r>
          </a:p>
        </p:txBody>
      </p:sp>
      <p:sp>
        <p:nvSpPr>
          <p:cNvPr id="114" name="Rounded Rectangle 113"/>
          <p:cNvSpPr/>
          <p:nvPr/>
        </p:nvSpPr>
        <p:spPr>
          <a:xfrm>
            <a:off x="7223760" y="3950208"/>
            <a:ext cx="1188720" cy="310896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8890">
            <a:solidFill>
              <a:srgbClr val="B8C5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7251192" y="3991356"/>
            <a:ext cx="1133856" cy="219456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>
              <a:defRPr sz="720" b="1">
                <a:solidFill>
                  <a:srgbClr val="003F8F"/>
                </a:solidFill>
                <a:latin typeface="PingFang SC" panose="020B0400000000000000" pitchFamily="34" charset="-122"/>
              </a:defRPr>
            </a:pPr>
            <a:r>
              <a:t>network-topology-</a:t>
            </a:r>
            <a:br/>
            <a:r>
              <a:t>aware</a:t>
            </a:r>
          </a:p>
        </p:txBody>
      </p:sp>
      <p:sp>
        <p:nvSpPr>
          <p:cNvPr id="116" name="Rounded Rectangle 115"/>
          <p:cNvSpPr/>
          <p:nvPr/>
        </p:nvSpPr>
        <p:spPr>
          <a:xfrm>
            <a:off x="8513064" y="3950208"/>
            <a:ext cx="1188720" cy="310896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8890">
            <a:solidFill>
              <a:srgbClr val="B8C5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8540496" y="3991356"/>
            <a:ext cx="1133856" cy="219456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>
              <a:defRPr sz="770" b="1">
                <a:solidFill>
                  <a:srgbClr val="003F8F"/>
                </a:solidFill>
                <a:latin typeface="PingFang SC" panose="020B0400000000000000" pitchFamily="34" charset="-122"/>
              </a:defRPr>
            </a:pPr>
            <a:r>
              <a:t>deviceshare</a:t>
            </a:r>
          </a:p>
        </p:txBody>
      </p:sp>
      <p:sp>
        <p:nvSpPr>
          <p:cNvPr id="118" name="Rounded Rectangle 117"/>
          <p:cNvSpPr/>
          <p:nvPr/>
        </p:nvSpPr>
        <p:spPr>
          <a:xfrm>
            <a:off x="9802368" y="3950208"/>
            <a:ext cx="1188720" cy="310896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8890">
            <a:solidFill>
              <a:srgbClr val="B8C5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9829800" y="3991356"/>
            <a:ext cx="1133856" cy="219456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>
              <a:defRPr sz="780" b="1">
                <a:solidFill>
                  <a:srgbClr val="003F8F"/>
                </a:solidFill>
                <a:latin typeface="PingFang SC" panose="020B0400000000000000" pitchFamily="34" charset="-122"/>
              </a:defRPr>
            </a:pPr>
            <a:r>
              <a:t>numaaware</a:t>
            </a:r>
          </a:p>
        </p:txBody>
      </p:sp>
      <p:sp>
        <p:nvSpPr>
          <p:cNvPr id="120" name="Rounded Rectangle 119"/>
          <p:cNvSpPr/>
          <p:nvPr/>
        </p:nvSpPr>
        <p:spPr>
          <a:xfrm>
            <a:off x="658368" y="4581144"/>
            <a:ext cx="10890504" cy="13990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1430">
            <a:solidFill>
              <a:srgbClr val="B8C5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Chevron 120"/>
          <p:cNvSpPr/>
          <p:nvPr/>
        </p:nvSpPr>
        <p:spPr>
          <a:xfrm>
            <a:off x="804672" y="4709160"/>
            <a:ext cx="1426464" cy="320040"/>
          </a:xfrm>
          <a:prstGeom prst="chevron">
            <a:avLst/>
          </a:prstGeom>
          <a:solidFill>
            <a:srgbClr val="003F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859536" y="4759452"/>
            <a:ext cx="1261872" cy="173736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>
              <a:defRPr sz="950" b="1">
                <a:solidFill>
                  <a:srgbClr val="FFFFFF"/>
                </a:solidFill>
                <a:latin typeface="PingFang SC" panose="020B0400000000000000" pitchFamily="34" charset="-122"/>
              </a:defRPr>
            </a:pPr>
            <a:r>
              <a:t>共享基础设施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2404872" y="4709160"/>
            <a:ext cx="1755648" cy="201168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defRPr sz="1150" b="1">
                <a:solidFill>
                  <a:srgbClr val="003F8F"/>
                </a:solidFill>
                <a:latin typeface="PingFang SC" panose="020B0400000000000000" pitchFamily="34" charset="-122"/>
              </a:defRPr>
            </a:pPr>
            <a:r>
              <a:t>HyperNode 网络拓扑</a:t>
            </a:r>
          </a:p>
        </p:txBody>
      </p:sp>
      <p:sp>
        <p:nvSpPr>
          <p:cNvPr id="124" name="Rounded Rectangle 123"/>
          <p:cNvSpPr/>
          <p:nvPr/>
        </p:nvSpPr>
        <p:spPr>
          <a:xfrm>
            <a:off x="2359152" y="5020056"/>
            <a:ext cx="1965960" cy="310896"/>
          </a:xfrm>
          <a:prstGeom prst="roundRect">
            <a:avLst>
              <a:gd name="adj" fmla="val 8000"/>
            </a:avLst>
          </a:prstGeom>
          <a:solidFill>
            <a:srgbClr val="EAF2FF"/>
          </a:solidFill>
          <a:ln w="10160">
            <a:solidFill>
              <a:srgbClr val="0B5C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TextBox 124"/>
          <p:cNvSpPr txBox="1"/>
          <p:nvPr/>
        </p:nvSpPr>
        <p:spPr>
          <a:xfrm>
            <a:off x="2468880" y="5093208"/>
            <a:ext cx="1746504" cy="137160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>
              <a:defRPr sz="820" b="1">
                <a:solidFill>
                  <a:srgbClr val="003F8F"/>
                </a:solidFill>
                <a:latin typeface="PingFang SC" panose="020B0400000000000000" pitchFamily="34" charset="-122"/>
              </a:defRPr>
            </a:pPr>
            <a:r>
              <a:t>Spine HyperNode · Tier 2</a:t>
            </a:r>
          </a:p>
        </p:txBody>
      </p:sp>
      <p:cxnSp>
        <p:nvCxnSpPr>
          <p:cNvPr id="126" name="Connector 125"/>
          <p:cNvCxnSpPr/>
          <p:nvPr/>
        </p:nvCxnSpPr>
        <p:spPr>
          <a:xfrm>
            <a:off x="3346704" y="5330952"/>
            <a:ext cx="0" cy="100584"/>
          </a:xfrm>
          <a:prstGeom prst="line">
            <a:avLst/>
          </a:prstGeom>
          <a:ln w="12700">
            <a:solidFill>
              <a:srgbClr val="356F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7" name="Connector 126"/>
          <p:cNvCxnSpPr/>
          <p:nvPr/>
        </p:nvCxnSpPr>
        <p:spPr>
          <a:xfrm>
            <a:off x="2487168" y="5431536"/>
            <a:ext cx="1719072" cy="0"/>
          </a:xfrm>
          <a:prstGeom prst="line">
            <a:avLst/>
          </a:prstGeom>
          <a:ln w="12700">
            <a:solidFill>
              <a:srgbClr val="356F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" name="Connector 127"/>
          <p:cNvCxnSpPr/>
          <p:nvPr/>
        </p:nvCxnSpPr>
        <p:spPr>
          <a:xfrm>
            <a:off x="2487168" y="5431536"/>
            <a:ext cx="0" cy="91440"/>
          </a:xfrm>
          <a:prstGeom prst="line">
            <a:avLst/>
          </a:prstGeom>
          <a:ln w="12700">
            <a:solidFill>
              <a:srgbClr val="356F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" name="Connector 128"/>
          <p:cNvCxnSpPr/>
          <p:nvPr/>
        </p:nvCxnSpPr>
        <p:spPr>
          <a:xfrm>
            <a:off x="4206240" y="5431536"/>
            <a:ext cx="0" cy="91440"/>
          </a:xfrm>
          <a:prstGeom prst="line">
            <a:avLst/>
          </a:prstGeom>
          <a:ln w="12700">
            <a:solidFill>
              <a:srgbClr val="356F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0" name="Rounded Rectangle 129"/>
          <p:cNvSpPr/>
          <p:nvPr/>
        </p:nvSpPr>
        <p:spPr>
          <a:xfrm>
            <a:off x="1627632" y="5504688"/>
            <a:ext cx="1664208" cy="3840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356F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Rounded Rectangle 130"/>
          <p:cNvSpPr/>
          <p:nvPr/>
        </p:nvSpPr>
        <p:spPr>
          <a:xfrm>
            <a:off x="3401568" y="5504688"/>
            <a:ext cx="1664208" cy="3840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356F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TextBox 131"/>
          <p:cNvSpPr txBox="1"/>
          <p:nvPr/>
        </p:nvSpPr>
        <p:spPr>
          <a:xfrm>
            <a:off x="1709928" y="5541264"/>
            <a:ext cx="1499616" cy="128016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>
              <a:defRPr sz="740" b="1">
                <a:solidFill>
                  <a:srgbClr val="003F8F"/>
                </a:solidFill>
                <a:latin typeface="PingFang SC" panose="020B0400000000000000" pitchFamily="34" charset="-122"/>
              </a:defRPr>
            </a:pPr>
            <a:r>
              <a:t>Leaf HyperNode · Tier 1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3483864" y="5541264"/>
            <a:ext cx="1499616" cy="128016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>
              <a:defRPr sz="740" b="1">
                <a:solidFill>
                  <a:srgbClr val="003F8F"/>
                </a:solidFill>
                <a:latin typeface="PingFang SC" panose="020B0400000000000000" pitchFamily="34" charset="-122"/>
              </a:defRPr>
            </a:pPr>
            <a:r>
              <a:t>Leaf HyperNode · Tier 1</a:t>
            </a:r>
          </a:p>
        </p:txBody>
      </p:sp>
      <p:sp>
        <p:nvSpPr>
          <p:cNvPr id="134" name="Rounded Rectangle 133"/>
          <p:cNvSpPr/>
          <p:nvPr/>
        </p:nvSpPr>
        <p:spPr>
          <a:xfrm>
            <a:off x="1947672" y="5705856"/>
            <a:ext cx="384048" cy="128016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7620">
            <a:solidFill>
              <a:srgbClr val="B8C5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TextBox 134"/>
          <p:cNvSpPr txBox="1"/>
          <p:nvPr/>
        </p:nvSpPr>
        <p:spPr>
          <a:xfrm>
            <a:off x="1947672" y="5719572"/>
            <a:ext cx="384048" cy="82296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>
              <a:defRPr sz="580" b="1">
                <a:solidFill>
                  <a:srgbClr val="356F9E"/>
                </a:solidFill>
                <a:latin typeface="PingFang SC" panose="020B0400000000000000" pitchFamily="34" charset="-122"/>
              </a:defRPr>
            </a:pPr>
            <a:r>
              <a:t>Node</a:t>
            </a:r>
          </a:p>
        </p:txBody>
      </p:sp>
      <p:sp>
        <p:nvSpPr>
          <p:cNvPr id="136" name="Rounded Rectangle 135"/>
          <p:cNvSpPr/>
          <p:nvPr/>
        </p:nvSpPr>
        <p:spPr>
          <a:xfrm>
            <a:off x="2596896" y="5705856"/>
            <a:ext cx="384048" cy="128016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7620">
            <a:solidFill>
              <a:srgbClr val="B8C5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TextBox 136"/>
          <p:cNvSpPr txBox="1"/>
          <p:nvPr/>
        </p:nvSpPr>
        <p:spPr>
          <a:xfrm>
            <a:off x="2596896" y="5719572"/>
            <a:ext cx="384048" cy="82296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>
              <a:defRPr sz="580" b="1">
                <a:solidFill>
                  <a:srgbClr val="356F9E"/>
                </a:solidFill>
                <a:latin typeface="PingFang SC" panose="020B0400000000000000" pitchFamily="34" charset="-122"/>
              </a:defRPr>
            </a:pPr>
            <a:r>
              <a:t>Node</a:t>
            </a:r>
          </a:p>
        </p:txBody>
      </p:sp>
      <p:sp>
        <p:nvSpPr>
          <p:cNvPr id="138" name="Rounded Rectangle 137"/>
          <p:cNvSpPr/>
          <p:nvPr/>
        </p:nvSpPr>
        <p:spPr>
          <a:xfrm>
            <a:off x="3721608" y="5705856"/>
            <a:ext cx="384048" cy="128016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7620">
            <a:solidFill>
              <a:srgbClr val="B8C5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TextBox 138"/>
          <p:cNvSpPr txBox="1"/>
          <p:nvPr/>
        </p:nvSpPr>
        <p:spPr>
          <a:xfrm>
            <a:off x="3721608" y="5719572"/>
            <a:ext cx="384048" cy="82296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>
              <a:defRPr sz="580" b="1">
                <a:solidFill>
                  <a:srgbClr val="356F9E"/>
                </a:solidFill>
                <a:latin typeface="PingFang SC" panose="020B0400000000000000" pitchFamily="34" charset="-122"/>
              </a:defRPr>
            </a:pPr>
            <a:r>
              <a:t>Node</a:t>
            </a:r>
          </a:p>
        </p:txBody>
      </p:sp>
      <p:sp>
        <p:nvSpPr>
          <p:cNvPr id="140" name="Rounded Rectangle 139"/>
          <p:cNvSpPr/>
          <p:nvPr/>
        </p:nvSpPr>
        <p:spPr>
          <a:xfrm>
            <a:off x="4370832" y="5705856"/>
            <a:ext cx="384048" cy="128016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7620">
            <a:solidFill>
              <a:srgbClr val="B8C5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TextBox 140"/>
          <p:cNvSpPr txBox="1"/>
          <p:nvPr/>
        </p:nvSpPr>
        <p:spPr>
          <a:xfrm>
            <a:off x="4370832" y="5719572"/>
            <a:ext cx="384048" cy="82296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>
              <a:defRPr sz="580" b="1">
                <a:solidFill>
                  <a:srgbClr val="356F9E"/>
                </a:solidFill>
                <a:latin typeface="PingFang SC" panose="020B0400000000000000" pitchFamily="34" charset="-122"/>
              </a:defRPr>
            </a:pPr>
            <a:r>
              <a:t>Node</a:t>
            </a:r>
          </a:p>
        </p:txBody>
      </p:sp>
      <p:cxnSp>
        <p:nvCxnSpPr>
          <p:cNvPr id="142" name="Connector 141"/>
          <p:cNvCxnSpPr/>
          <p:nvPr/>
        </p:nvCxnSpPr>
        <p:spPr>
          <a:xfrm>
            <a:off x="5650992" y="4754880"/>
            <a:ext cx="0" cy="1069848"/>
          </a:xfrm>
          <a:prstGeom prst="line">
            <a:avLst/>
          </a:prstGeom>
          <a:ln w="11430">
            <a:solidFill>
              <a:srgbClr val="D8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3" name="TextBox 142"/>
          <p:cNvSpPr txBox="1"/>
          <p:nvPr/>
        </p:nvSpPr>
        <p:spPr>
          <a:xfrm>
            <a:off x="5907024" y="4709160"/>
            <a:ext cx="1554480" cy="201168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defRPr sz="1150" b="1">
                <a:solidFill>
                  <a:srgbClr val="003F8F"/>
                </a:solidFill>
                <a:latin typeface="PingFang SC" panose="020B0400000000000000" pitchFamily="34" charset="-122"/>
              </a:defRPr>
            </a:pPr>
            <a:r>
              <a:t>异构设备与互联</a:t>
            </a:r>
          </a:p>
        </p:txBody>
      </p:sp>
      <p:sp>
        <p:nvSpPr>
          <p:cNvPr id="144" name="Rounded Rectangle 143"/>
          <p:cNvSpPr/>
          <p:nvPr/>
        </p:nvSpPr>
        <p:spPr>
          <a:xfrm>
            <a:off x="5907024" y="5047488"/>
            <a:ext cx="969264" cy="347472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10160">
            <a:solidFill>
              <a:srgbClr val="B8C5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TextBox 144"/>
          <p:cNvSpPr txBox="1"/>
          <p:nvPr/>
        </p:nvSpPr>
        <p:spPr>
          <a:xfrm>
            <a:off x="5943600" y="5129784"/>
            <a:ext cx="896112" cy="146304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>
              <a:defRPr sz="700" b="1">
                <a:solidFill>
                  <a:srgbClr val="003F8F"/>
                </a:solidFill>
                <a:latin typeface="PingFang SC" panose="020B0400000000000000" pitchFamily="34" charset="-122"/>
              </a:defRPr>
            </a:pPr>
            <a:r>
              <a:t>NVIDIA GPU</a:t>
            </a:r>
          </a:p>
        </p:txBody>
      </p:sp>
      <p:sp>
        <p:nvSpPr>
          <p:cNvPr id="146" name="Rounded Rectangle 145"/>
          <p:cNvSpPr/>
          <p:nvPr/>
        </p:nvSpPr>
        <p:spPr>
          <a:xfrm>
            <a:off x="6986016" y="5047488"/>
            <a:ext cx="969264" cy="347472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10160">
            <a:solidFill>
              <a:srgbClr val="B8C5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TextBox 146"/>
          <p:cNvSpPr txBox="1"/>
          <p:nvPr/>
        </p:nvSpPr>
        <p:spPr>
          <a:xfrm>
            <a:off x="7022592" y="5129784"/>
            <a:ext cx="896112" cy="146304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>
              <a:defRPr sz="700" b="1">
                <a:solidFill>
                  <a:srgbClr val="003F8F"/>
                </a:solidFill>
                <a:latin typeface="PingFang SC" panose="020B0400000000000000" pitchFamily="34" charset="-122"/>
              </a:defRPr>
            </a:pPr>
            <a:r>
              <a:t>Ascend NPU</a:t>
            </a:r>
          </a:p>
        </p:txBody>
      </p:sp>
      <p:sp>
        <p:nvSpPr>
          <p:cNvPr id="148" name="Rounded Rectangle 147"/>
          <p:cNvSpPr/>
          <p:nvPr/>
        </p:nvSpPr>
        <p:spPr>
          <a:xfrm>
            <a:off x="8065008" y="5047488"/>
            <a:ext cx="969264" cy="347472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10160">
            <a:solidFill>
              <a:srgbClr val="B8C5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TextBox 148"/>
          <p:cNvSpPr txBox="1"/>
          <p:nvPr/>
        </p:nvSpPr>
        <p:spPr>
          <a:xfrm>
            <a:off x="8101583" y="5129784"/>
            <a:ext cx="896112" cy="146304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>
              <a:defRPr sz="700" b="1">
                <a:solidFill>
                  <a:srgbClr val="003F8F"/>
                </a:solidFill>
                <a:latin typeface="PingFang SC" panose="020B0400000000000000" pitchFamily="34" charset="-122"/>
              </a:defRPr>
            </a:pPr>
            <a:r>
              <a:t>Cambricon MLU</a:t>
            </a:r>
          </a:p>
        </p:txBody>
      </p:sp>
      <p:sp>
        <p:nvSpPr>
          <p:cNvPr id="150" name="Rounded Rectangle 149"/>
          <p:cNvSpPr/>
          <p:nvPr/>
        </p:nvSpPr>
        <p:spPr>
          <a:xfrm>
            <a:off x="9144000" y="5047488"/>
            <a:ext cx="969264" cy="347472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10160">
            <a:solidFill>
              <a:srgbClr val="B8C5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TextBox 150"/>
          <p:cNvSpPr txBox="1"/>
          <p:nvPr/>
        </p:nvSpPr>
        <p:spPr>
          <a:xfrm>
            <a:off x="9180576" y="5129784"/>
            <a:ext cx="896112" cy="146304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>
              <a:defRPr sz="700" b="1">
                <a:solidFill>
                  <a:srgbClr val="003F8F"/>
                </a:solidFill>
                <a:latin typeface="PingFang SC" panose="020B0400000000000000" pitchFamily="34" charset="-122"/>
              </a:defRPr>
            </a:pPr>
            <a:r>
              <a:t>Hygon DCU</a:t>
            </a:r>
          </a:p>
        </p:txBody>
      </p:sp>
      <p:sp>
        <p:nvSpPr>
          <p:cNvPr id="152" name="Rounded Rectangle 151"/>
          <p:cNvSpPr/>
          <p:nvPr/>
        </p:nvSpPr>
        <p:spPr>
          <a:xfrm>
            <a:off x="10222992" y="5047488"/>
            <a:ext cx="969264" cy="347472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10160">
            <a:solidFill>
              <a:srgbClr val="B8C5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TextBox 152"/>
          <p:cNvSpPr txBox="1"/>
          <p:nvPr/>
        </p:nvSpPr>
        <p:spPr>
          <a:xfrm>
            <a:off x="10259567" y="5129784"/>
            <a:ext cx="896112" cy="146304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>
              <a:defRPr sz="700" b="1">
                <a:solidFill>
                  <a:srgbClr val="003F8F"/>
                </a:solidFill>
                <a:latin typeface="PingFang SC" panose="020B0400000000000000" pitchFamily="34" charset="-122"/>
              </a:defRPr>
            </a:pPr>
            <a:r>
              <a:t>Kunlun XPU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5907024" y="5596128"/>
            <a:ext cx="658368" cy="146304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defRPr sz="760" b="1">
                <a:solidFill>
                  <a:srgbClr val="66788A"/>
                </a:solidFill>
                <a:latin typeface="PingFang SC" panose="020B0400000000000000" pitchFamily="34" charset="-122"/>
              </a:defRPr>
            </a:pPr>
            <a:r>
              <a:t>设备接入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6592824" y="5577840"/>
            <a:ext cx="1993392" cy="164592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defRPr sz="800" b="1">
                <a:solidFill>
                  <a:srgbClr val="003F8F"/>
                </a:solidFill>
                <a:latin typeface="PingFang SC" panose="020B0400000000000000" pitchFamily="34" charset="-122"/>
              </a:defRPr>
            </a:pPr>
            <a:r>
              <a:t>DRA  /  Device Plugin  /  CDI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8659368" y="5596128"/>
            <a:ext cx="658368" cy="146304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defRPr sz="760" b="1">
                <a:solidFill>
                  <a:srgbClr val="66788A"/>
                </a:solidFill>
                <a:latin typeface="PingFang SC" panose="020B0400000000000000" pitchFamily="34" charset="-122"/>
              </a:defRPr>
            </a:pPr>
            <a:r>
              <a:t>网络互联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9354312" y="5577840"/>
            <a:ext cx="1865376" cy="164592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defRPr sz="800" b="1">
                <a:solidFill>
                  <a:srgbClr val="003F8F"/>
                </a:solidFill>
                <a:latin typeface="PingFang SC" panose="020B0400000000000000" pitchFamily="34" charset="-122"/>
              </a:defRPr>
            </a:pPr>
            <a:r>
              <a:t>RoCE  /  InfiniBand  /  PCIe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F8F"/>
          </a:solidFill>
          <a:ln w="12700">
            <a:solidFill>
              <a:srgbClr val="003F8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" y="228600"/>
            <a:ext cx="1417320" cy="393192"/>
          </a:xfrm>
          <a:prstGeom prst="chevron">
            <a:avLst/>
          </a:prstGeom>
          <a:solidFill>
            <a:srgbClr val="003F8F"/>
          </a:solidFill>
          <a:ln w="12700">
            <a:solidFill>
              <a:srgbClr val="003F8F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274320"/>
            <a:ext cx="1078992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第一章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2212848" y="182880"/>
            <a:ext cx="7635240" cy="51206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003F8F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双路径调度架构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58368" y="832104"/>
            <a:ext cx="10744200" cy="34747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30" dirty="0">
                <a:solidFill>
                  <a:srgbClr val="5D6B7A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共享一个 Kubernetes 资源池，由策略与 NodeShard 为不同调度循环划定候选范围</a:t>
            </a:r>
            <a:endParaRPr lang="en-US" sz="1530" dirty="0"/>
          </a:p>
        </p:txBody>
      </p:sp>
      <p:sp>
        <p:nvSpPr>
          <p:cNvPr id="7" name="Shape 5"/>
          <p:cNvSpPr/>
          <p:nvPr/>
        </p:nvSpPr>
        <p:spPr>
          <a:xfrm>
            <a:off x="566928" y="1225296"/>
            <a:ext cx="11018520" cy="0"/>
          </a:xfrm>
          <a:prstGeom prst="line">
            <a:avLst/>
          </a:prstGeom>
          <a:noFill/>
          <a:ln w="11430">
            <a:solidFill>
              <a:srgbClr val="B9C8D8"/>
            </a:solidFill>
            <a:prstDash val="solid"/>
            <a:headEnd type="none"/>
          </a:ln>
        </p:spPr>
      </p:sp>
      <p:sp>
        <p:nvSpPr>
          <p:cNvPr id="8" name="Shape 6"/>
          <p:cNvSpPr/>
          <p:nvPr/>
        </p:nvSpPr>
        <p:spPr>
          <a:xfrm>
            <a:off x="566928" y="1179576"/>
            <a:ext cx="1225296" cy="91440"/>
          </a:xfrm>
          <a:prstGeom prst="rect">
            <a:avLst/>
          </a:prstGeom>
          <a:solidFill>
            <a:srgbClr val="E43D30"/>
          </a:solidFill>
          <a:ln w="12700">
            <a:solidFill>
              <a:srgbClr val="E43D30">
                <a:alpha val="0"/>
              </a:srgbClr>
            </a:solidFill>
            <a:prstDash val="solid"/>
          </a:ln>
        </p:spPr>
      </p:sp>
      <p:pic>
        <p:nvPicPr>
          <p:cNvPr id="9" name="Image 0" descr="/Users/chenzicong/Documents/Codex/2026-07-20/wo/outputs/volcano-unified-scheduling-editable/assets/volcano-logo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97312" y="321114"/>
            <a:ext cx="1078992" cy="180733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1475720" y="6492240"/>
            <a:ext cx="347472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768597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08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658368" y="1426464"/>
            <a:ext cx="1261872" cy="347472"/>
          </a:xfrm>
          <a:prstGeom prst="chevron">
            <a:avLst/>
          </a:prstGeom>
          <a:solidFill>
            <a:srgbClr val="6F8193"/>
          </a:solidFill>
          <a:ln w="12700">
            <a:solidFill>
              <a:schemeClr val="accent1">
                <a:alpha val="0"/>
              </a:scheme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31520" y="1463040"/>
            <a:ext cx="1060704" cy="24688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20" b="1" dirty="0">
                <a:solidFill>
                  <a:srgbClr val="FFFFFF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策略输入</a:t>
            </a:r>
            <a:endParaRPr lang="en-US" sz="1220" dirty="0"/>
          </a:p>
        </p:txBody>
      </p:sp>
      <p:sp>
        <p:nvSpPr>
          <p:cNvPr id="13" name="Shape 10"/>
          <p:cNvSpPr/>
          <p:nvPr/>
        </p:nvSpPr>
        <p:spPr>
          <a:xfrm>
            <a:off x="2194560" y="1344168"/>
            <a:ext cx="1993392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0B5CAD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2340864" y="1426464"/>
            <a:ext cx="1700784" cy="23774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80" b="1" dirty="0">
                <a:solidFill>
                  <a:srgbClr val="003F8F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工作负载意图</a:t>
            </a:r>
            <a:endParaRPr lang="en-US" sz="1180" dirty="0"/>
          </a:p>
        </p:txBody>
      </p:sp>
      <p:sp>
        <p:nvSpPr>
          <p:cNvPr id="15" name="Text 12"/>
          <p:cNvSpPr/>
          <p:nvPr/>
        </p:nvSpPr>
        <p:spPr>
          <a:xfrm>
            <a:off x="2340864" y="1719072"/>
            <a:ext cx="1700784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80" dirty="0">
                <a:solidFill>
                  <a:srgbClr val="5D6B7A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对象类型 / schedulerName</a:t>
            </a:r>
            <a:endParaRPr lang="en-US" sz="880" dirty="0"/>
          </a:p>
        </p:txBody>
      </p:sp>
      <p:sp>
        <p:nvSpPr>
          <p:cNvPr id="16" name="Shape 13"/>
          <p:cNvSpPr/>
          <p:nvPr/>
        </p:nvSpPr>
        <p:spPr>
          <a:xfrm>
            <a:off x="3191256" y="2002536"/>
            <a:ext cx="0" cy="182880"/>
          </a:xfrm>
          <a:prstGeom prst="line">
            <a:avLst/>
          </a:prstGeom>
          <a:noFill/>
          <a:ln w="12700">
            <a:solidFill>
              <a:srgbClr val="0B5CAD"/>
            </a:solidFill>
            <a:prstDash val="solid"/>
            <a:headEnd type="none"/>
            <a:tailEnd type="triangle"/>
          </a:ln>
        </p:spPr>
      </p:sp>
      <p:sp>
        <p:nvSpPr>
          <p:cNvPr id="17" name="Shape 14"/>
          <p:cNvSpPr/>
          <p:nvPr/>
        </p:nvSpPr>
        <p:spPr>
          <a:xfrm>
            <a:off x="4453128" y="1344168"/>
            <a:ext cx="1993392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0B5CAD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599432" y="1426464"/>
            <a:ext cx="1700784" cy="23774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80" b="1" dirty="0">
                <a:solidFill>
                  <a:srgbClr val="003F8F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SLA 与优先级</a:t>
            </a:r>
            <a:endParaRPr lang="en-US" sz="1180" dirty="0"/>
          </a:p>
        </p:txBody>
      </p:sp>
      <p:sp>
        <p:nvSpPr>
          <p:cNvPr id="19" name="Text 16"/>
          <p:cNvSpPr/>
          <p:nvPr/>
        </p:nvSpPr>
        <p:spPr>
          <a:xfrm>
            <a:off x="4599432" y="1719072"/>
            <a:ext cx="1700784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80" dirty="0">
                <a:solidFill>
                  <a:srgbClr val="5D6B7A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时延 / 吞吐 / 关键任务</a:t>
            </a:r>
            <a:endParaRPr lang="en-US" sz="880" dirty="0"/>
          </a:p>
        </p:txBody>
      </p:sp>
      <p:sp>
        <p:nvSpPr>
          <p:cNvPr id="20" name="Shape 17"/>
          <p:cNvSpPr/>
          <p:nvPr/>
        </p:nvSpPr>
        <p:spPr>
          <a:xfrm>
            <a:off x="5449824" y="2002536"/>
            <a:ext cx="0" cy="182880"/>
          </a:xfrm>
          <a:prstGeom prst="line">
            <a:avLst/>
          </a:prstGeom>
          <a:noFill/>
          <a:ln w="12700">
            <a:solidFill>
              <a:srgbClr val="0B5CAD"/>
            </a:solidFill>
            <a:prstDash val="solid"/>
            <a:headEnd type="none"/>
            <a:tailEnd type="triangle"/>
          </a:ln>
        </p:spPr>
      </p:sp>
      <p:sp>
        <p:nvSpPr>
          <p:cNvPr id="21" name="Shape 18"/>
          <p:cNvSpPr/>
          <p:nvPr/>
        </p:nvSpPr>
        <p:spPr>
          <a:xfrm>
            <a:off x="6711696" y="1344168"/>
            <a:ext cx="1993392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6F8193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858000" y="1426464"/>
            <a:ext cx="1700784" cy="23774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80" b="1" dirty="0">
                <a:solidFill>
                  <a:srgbClr val="003F8F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作业与拓扑</a:t>
            </a:r>
            <a:endParaRPr lang="en-US" sz="1180" dirty="0"/>
          </a:p>
        </p:txBody>
      </p:sp>
      <p:sp>
        <p:nvSpPr>
          <p:cNvPr id="23" name="Text 20"/>
          <p:cNvSpPr/>
          <p:nvPr/>
        </p:nvSpPr>
        <p:spPr>
          <a:xfrm>
            <a:off x="6858000" y="1719072"/>
            <a:ext cx="1700784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80" dirty="0">
                <a:solidFill>
                  <a:srgbClr val="5D6B7A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Gang / 角色组 / 网络边界</a:t>
            </a:r>
            <a:endParaRPr lang="en-US" sz="880" dirty="0"/>
          </a:p>
        </p:txBody>
      </p:sp>
      <p:sp>
        <p:nvSpPr>
          <p:cNvPr id="24" name="Shape 21"/>
          <p:cNvSpPr/>
          <p:nvPr/>
        </p:nvSpPr>
        <p:spPr>
          <a:xfrm>
            <a:off x="7708392" y="2002536"/>
            <a:ext cx="0" cy="182880"/>
          </a:xfrm>
          <a:prstGeom prst="line">
            <a:avLst/>
          </a:prstGeom>
          <a:noFill/>
          <a:ln w="12700">
            <a:solidFill>
              <a:srgbClr val="6F8193"/>
            </a:solidFill>
            <a:prstDash val="solid"/>
            <a:headEnd type="none"/>
            <a:tailEnd type="triangle"/>
          </a:ln>
        </p:spPr>
      </p:sp>
      <p:sp>
        <p:nvSpPr>
          <p:cNvPr id="25" name="Shape 22"/>
          <p:cNvSpPr/>
          <p:nvPr/>
        </p:nvSpPr>
        <p:spPr>
          <a:xfrm>
            <a:off x="8970264" y="1344168"/>
            <a:ext cx="1993392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0B5CAD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9116568" y="1426464"/>
            <a:ext cx="1700784" cy="23774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80" b="1" dirty="0">
                <a:solidFill>
                  <a:srgbClr val="003F8F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节点运行状态</a:t>
            </a:r>
            <a:endParaRPr lang="en-US" sz="1180" dirty="0"/>
          </a:p>
        </p:txBody>
      </p:sp>
      <p:sp>
        <p:nvSpPr>
          <p:cNvPr id="27" name="Text 24"/>
          <p:cNvSpPr/>
          <p:nvPr/>
        </p:nvSpPr>
        <p:spPr>
          <a:xfrm>
            <a:off x="9116568" y="1719072"/>
            <a:ext cx="1700784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80" dirty="0">
                <a:solidFill>
                  <a:srgbClr val="5D6B7A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容量 / 利用率 / 可用性</a:t>
            </a:r>
            <a:endParaRPr lang="en-US" sz="880" dirty="0"/>
          </a:p>
        </p:txBody>
      </p:sp>
      <p:sp>
        <p:nvSpPr>
          <p:cNvPr id="28" name="Shape 25"/>
          <p:cNvSpPr/>
          <p:nvPr/>
        </p:nvSpPr>
        <p:spPr>
          <a:xfrm>
            <a:off x="9966960" y="2002536"/>
            <a:ext cx="0" cy="182880"/>
          </a:xfrm>
          <a:prstGeom prst="line">
            <a:avLst/>
          </a:prstGeom>
          <a:noFill/>
          <a:ln w="12700">
            <a:solidFill>
              <a:srgbClr val="0B5CAD"/>
            </a:solidFill>
            <a:prstDash val="solid"/>
            <a:headEnd type="none"/>
            <a:tailEnd type="triangle"/>
          </a:ln>
        </p:spPr>
      </p:sp>
      <p:sp>
        <p:nvSpPr>
          <p:cNvPr id="29" name="Shape 26"/>
          <p:cNvSpPr/>
          <p:nvPr/>
        </p:nvSpPr>
        <p:spPr>
          <a:xfrm>
            <a:off x="658368" y="2176272"/>
            <a:ext cx="10899648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B7C7D9"/>
            </a:solidFill>
            <a:prstDash val="solid"/>
          </a:ln>
          <a:effectLst>
            <a:outerShdw blurRad="12700" dist="50800" dir="2700000" algn="bl" rotWithShape="0">
              <a:srgbClr val="7A8796">
                <a:alpha val="14000"/>
              </a:srgbClr>
            </a:outerShdw>
          </a:effectLst>
        </p:spPr>
      </p:sp>
      <p:pic>
        <p:nvPicPr>
          <p:cNvPr id="30" name="Image 1" descr="/Users/chenzicong/Documents/Codex/2026-07-20/wo/outputs/volcano-unified-scheduling-editable/assets/multi-schedul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02221" y="2340864"/>
            <a:ext cx="4411942" cy="3054096"/>
          </a:xfrm>
          <a:prstGeom prst="rect">
            <a:avLst/>
          </a:prstGeom>
        </p:spPr>
      </p:pic>
      <p:sp>
        <p:nvSpPr>
          <p:cNvPr id="31" name="Shape 27"/>
          <p:cNvSpPr/>
          <p:nvPr/>
        </p:nvSpPr>
        <p:spPr>
          <a:xfrm>
            <a:off x="987552" y="5650992"/>
            <a:ext cx="3337560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0B5CAD"/>
            </a:solidFill>
            <a:prstDash val="solid"/>
          </a:ln>
        </p:spPr>
      </p:sp>
      <p:sp>
        <p:nvSpPr>
          <p:cNvPr id="32" name="Text 28"/>
          <p:cNvSpPr/>
          <p:nvPr/>
        </p:nvSpPr>
        <p:spPr>
          <a:xfrm>
            <a:off x="1170432" y="5724144"/>
            <a:ext cx="2971800" cy="21945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60" b="1" dirty="0">
                <a:solidFill>
                  <a:srgbClr val="0B5CAD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统一控制面</a:t>
            </a:r>
            <a:endParaRPr lang="en-US" sz="1160" dirty="0"/>
          </a:p>
        </p:txBody>
      </p:sp>
      <p:sp>
        <p:nvSpPr>
          <p:cNvPr id="33" name="Shape 29"/>
          <p:cNvSpPr/>
          <p:nvPr/>
        </p:nvSpPr>
        <p:spPr>
          <a:xfrm>
            <a:off x="4690872" y="5650992"/>
            <a:ext cx="3337560" cy="393192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4" name="Text 30"/>
          <p:cNvSpPr/>
          <p:nvPr/>
        </p:nvSpPr>
        <p:spPr>
          <a:xfrm>
            <a:off x="4873752" y="5724144"/>
            <a:ext cx="2971800" cy="21945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60" b="1" dirty="0">
                <a:solidFill>
                  <a:schemeClr val="accent1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差异化调度路径</a:t>
            </a:r>
            <a:endParaRPr lang="en-US" sz="1160" b="1" dirty="0">
              <a:solidFill>
                <a:schemeClr val="accent1"/>
              </a:solidFill>
              <a:latin typeface="PingFang SC" panose="020B0400000000000000" pitchFamily="34" charset="-122"/>
              <a:ea typeface="PingFang SC" panose="020B0400000000000000" pitchFamily="34" charset="-122"/>
              <a:cs typeface="PingFang SC" panose="020B0400000000000000" pitchFamily="34" charset="-120"/>
            </a:endParaRPr>
          </a:p>
        </p:txBody>
      </p:sp>
      <p:sp>
        <p:nvSpPr>
          <p:cNvPr id="35" name="Shape 31"/>
          <p:cNvSpPr/>
          <p:nvPr/>
        </p:nvSpPr>
        <p:spPr>
          <a:xfrm>
            <a:off x="8394192" y="5650992"/>
            <a:ext cx="3337560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003F8F"/>
            </a:solidFill>
            <a:prstDash val="solid"/>
          </a:ln>
        </p:spPr>
      </p:sp>
      <p:sp>
        <p:nvSpPr>
          <p:cNvPr id="36" name="Text 32"/>
          <p:cNvSpPr/>
          <p:nvPr/>
        </p:nvSpPr>
        <p:spPr>
          <a:xfrm>
            <a:off x="8577072" y="5724144"/>
            <a:ext cx="2971800" cy="21945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60" b="1" dirty="0">
                <a:solidFill>
                  <a:srgbClr val="003F8F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动态 NodeShard 边界</a:t>
            </a:r>
            <a:endParaRPr lang="en-US" sz="1160" dirty="0"/>
          </a:p>
        </p:txBody>
      </p:sp>
      <p:sp>
        <p:nvSpPr>
          <p:cNvPr id="37" name="Shape 33"/>
          <p:cNvSpPr/>
          <p:nvPr/>
        </p:nvSpPr>
        <p:spPr>
          <a:xfrm>
            <a:off x="640080" y="6236208"/>
            <a:ext cx="10908792" cy="402336"/>
          </a:xfrm>
          <a:prstGeom prst="rect">
            <a:avLst/>
          </a:prstGeom>
          <a:solidFill>
            <a:srgbClr val="003F8F"/>
          </a:solidFill>
          <a:ln w="12700">
            <a:solidFill>
              <a:srgbClr val="003F8F">
                <a:alpha val="0"/>
              </a:srgbClr>
            </a:solidFill>
            <a:prstDash val="solid"/>
          </a:ln>
        </p:spPr>
      </p:sp>
      <p:sp>
        <p:nvSpPr>
          <p:cNvPr id="38" name="Shape 34"/>
          <p:cNvSpPr/>
          <p:nvPr/>
        </p:nvSpPr>
        <p:spPr>
          <a:xfrm>
            <a:off x="640080" y="6236208"/>
            <a:ext cx="109728" cy="402336"/>
          </a:xfrm>
          <a:prstGeom prst="rect">
            <a:avLst/>
          </a:prstGeom>
          <a:solidFill>
            <a:srgbClr val="E43D30"/>
          </a:solidFill>
          <a:ln w="12700">
            <a:solidFill>
              <a:srgbClr val="E43D30">
                <a:alpha val="0"/>
              </a:srgbClr>
            </a:solidFill>
            <a:prstDash val="solid"/>
          </a:ln>
        </p:spPr>
      </p:sp>
      <p:sp>
        <p:nvSpPr>
          <p:cNvPr id="39" name="Text 35"/>
          <p:cNvSpPr/>
          <p:nvPr/>
        </p:nvSpPr>
        <p:spPr>
          <a:xfrm>
            <a:off x="914400" y="6272784"/>
            <a:ext cx="10378440" cy="30175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共享一个 Kubernetes 资源池，但保留面向不同工作负载的调度路径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F8F"/>
          </a:solidFill>
          <a:ln w="12700">
            <a:solidFill>
              <a:srgbClr val="003F8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" y="228600"/>
            <a:ext cx="1417320" cy="393192"/>
          </a:xfrm>
          <a:prstGeom prst="chevron">
            <a:avLst/>
          </a:prstGeom>
          <a:solidFill>
            <a:srgbClr val="003F8F"/>
          </a:solidFill>
          <a:ln w="12700">
            <a:solidFill>
              <a:srgbClr val="003F8F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274320"/>
            <a:ext cx="1078992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第一章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2212848" y="182880"/>
            <a:ext cx="7635240" cy="51206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003F8F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面向单 Pod 的快速调度路径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58368" y="832104"/>
            <a:ext cx="10744200" cy="34747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30" dirty="0">
                <a:solidFill>
                  <a:srgbClr val="5D6B7A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Agent Scheduler 为通用服务与 Agent Workload 提供独立、</a:t>
            </a:r>
            <a:r>
              <a:rPr lang="zh-CN" altLang="en-US" sz="1530" dirty="0">
                <a:solidFill>
                  <a:srgbClr val="5D6B7A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快速</a:t>
            </a:r>
            <a:r>
              <a:rPr lang="en-US" sz="1530" dirty="0">
                <a:solidFill>
                  <a:srgbClr val="5D6B7A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的调度循环</a:t>
            </a:r>
            <a:endParaRPr lang="en-US" sz="1530" dirty="0"/>
          </a:p>
        </p:txBody>
      </p:sp>
      <p:sp>
        <p:nvSpPr>
          <p:cNvPr id="7" name="Shape 5"/>
          <p:cNvSpPr/>
          <p:nvPr/>
        </p:nvSpPr>
        <p:spPr>
          <a:xfrm>
            <a:off x="566928" y="1225296"/>
            <a:ext cx="11018520" cy="0"/>
          </a:xfrm>
          <a:prstGeom prst="line">
            <a:avLst/>
          </a:prstGeom>
          <a:noFill/>
          <a:ln w="11430">
            <a:solidFill>
              <a:srgbClr val="B9C8D8"/>
            </a:solidFill>
            <a:prstDash val="solid"/>
            <a:headEnd type="none"/>
          </a:ln>
        </p:spPr>
      </p:sp>
      <p:sp>
        <p:nvSpPr>
          <p:cNvPr id="8" name="Shape 6"/>
          <p:cNvSpPr/>
          <p:nvPr/>
        </p:nvSpPr>
        <p:spPr>
          <a:xfrm>
            <a:off x="566928" y="1179576"/>
            <a:ext cx="1225296" cy="91440"/>
          </a:xfrm>
          <a:prstGeom prst="rect">
            <a:avLst/>
          </a:prstGeom>
          <a:solidFill>
            <a:srgbClr val="E43D30"/>
          </a:solidFill>
          <a:ln w="12700">
            <a:solidFill>
              <a:srgbClr val="E43D30">
                <a:alpha val="0"/>
              </a:srgbClr>
            </a:solidFill>
            <a:prstDash val="solid"/>
          </a:ln>
        </p:spPr>
      </p:sp>
      <p:pic>
        <p:nvPicPr>
          <p:cNvPr id="9" name="Image 0" descr="/Users/chenzicong/Documents/Codex/2026-07-20/wo/outputs/volcano-unified-scheduling-editable/assets/volcano-logo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97312" y="321114"/>
            <a:ext cx="1078992" cy="180733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1475720" y="6492240"/>
            <a:ext cx="347472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768597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09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585343" y="1600200"/>
            <a:ext cx="1261872" cy="347472"/>
          </a:xfrm>
          <a:prstGeom prst="chevron">
            <a:avLst/>
          </a:prstGeom>
          <a:solidFill>
            <a:srgbClr val="0B5CAD"/>
          </a:solidFill>
          <a:ln w="12700">
            <a:solidFill>
              <a:srgbClr val="0B5CAD">
                <a:alpha val="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58495" y="1653921"/>
            <a:ext cx="1060704" cy="24688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20" b="1" dirty="0">
                <a:solidFill>
                  <a:srgbClr val="FFFFFF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设计目标</a:t>
            </a:r>
            <a:endParaRPr lang="en-US" sz="1220" dirty="0"/>
          </a:p>
        </p:txBody>
      </p:sp>
      <p:sp>
        <p:nvSpPr>
          <p:cNvPr id="13" name="Shape 10"/>
          <p:cNvSpPr/>
          <p:nvPr/>
        </p:nvSpPr>
        <p:spPr>
          <a:xfrm>
            <a:off x="731647" y="2204085"/>
            <a:ext cx="502920" cy="310896"/>
          </a:xfrm>
          <a:prstGeom prst="roundRect">
            <a:avLst>
              <a:gd name="adj" fmla="val 23529"/>
            </a:avLst>
          </a:prstGeom>
          <a:solidFill>
            <a:srgbClr val="0B5CAD"/>
          </a:solidFill>
          <a:ln w="12700">
            <a:solidFill>
              <a:srgbClr val="6F8193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04799" y="2213229"/>
            <a:ext cx="356616" cy="28346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01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1417447" y="2085213"/>
            <a:ext cx="2139696" cy="28346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80" b="1" dirty="0">
                <a:solidFill>
                  <a:srgbClr val="003F8F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独立快速路径</a:t>
            </a:r>
            <a:endParaRPr lang="en-US" sz="1480" dirty="0"/>
          </a:p>
        </p:txBody>
      </p:sp>
      <p:sp>
        <p:nvSpPr>
          <p:cNvPr id="16" name="Text 13"/>
          <p:cNvSpPr/>
          <p:nvPr/>
        </p:nvSpPr>
        <p:spPr>
          <a:xfrm>
            <a:off x="1417447" y="2432685"/>
            <a:ext cx="2395728" cy="3931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40" dirty="0">
                <a:solidFill>
                  <a:srgbClr val="172033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单 Pod 不进入批调度器的完整 Session 与 Action 流程</a:t>
            </a:r>
            <a:endParaRPr lang="en-US" sz="1040" dirty="0"/>
          </a:p>
        </p:txBody>
      </p:sp>
      <p:sp>
        <p:nvSpPr>
          <p:cNvPr id="17" name="Shape 14"/>
          <p:cNvSpPr/>
          <p:nvPr/>
        </p:nvSpPr>
        <p:spPr>
          <a:xfrm>
            <a:off x="731647" y="2908173"/>
            <a:ext cx="3154680" cy="0"/>
          </a:xfrm>
          <a:prstGeom prst="line">
            <a:avLst/>
          </a:prstGeom>
          <a:noFill/>
          <a:ln w="10160">
            <a:solidFill>
              <a:srgbClr val="D7DEE7"/>
            </a:solidFill>
            <a:prstDash val="solid"/>
            <a:headEnd type="none"/>
          </a:ln>
        </p:spPr>
      </p:sp>
      <p:sp>
        <p:nvSpPr>
          <p:cNvPr id="18" name="Shape 15"/>
          <p:cNvSpPr/>
          <p:nvPr/>
        </p:nvSpPr>
        <p:spPr>
          <a:xfrm>
            <a:off x="731647" y="3136773"/>
            <a:ext cx="502920" cy="310896"/>
          </a:xfrm>
          <a:prstGeom prst="roundRect">
            <a:avLst>
              <a:gd name="adj" fmla="val 23529"/>
            </a:avLst>
          </a:prstGeom>
          <a:solidFill>
            <a:srgbClr val="0B5CAD"/>
          </a:solidFill>
          <a:ln w="12700">
            <a:solidFill>
              <a:srgbClr val="0B5CAD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04799" y="3145917"/>
            <a:ext cx="356616" cy="28346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02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1417447" y="3017901"/>
            <a:ext cx="2139696" cy="28346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80" b="1" dirty="0">
                <a:solidFill>
                  <a:srgbClr val="003F8F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多 Worker </a:t>
            </a:r>
            <a:r>
              <a:rPr lang="zh-CN" altLang="en-US" sz="1480" b="1" dirty="0">
                <a:solidFill>
                  <a:srgbClr val="003F8F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乐观</a:t>
            </a:r>
            <a:r>
              <a:rPr lang="en-US" sz="1480" b="1" dirty="0">
                <a:solidFill>
                  <a:srgbClr val="003F8F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并行</a:t>
            </a:r>
            <a:endParaRPr lang="en-US" sz="1480" dirty="0"/>
          </a:p>
        </p:txBody>
      </p:sp>
      <p:sp>
        <p:nvSpPr>
          <p:cNvPr id="21" name="Text 18"/>
          <p:cNvSpPr/>
          <p:nvPr/>
        </p:nvSpPr>
        <p:spPr>
          <a:xfrm>
            <a:off x="1417447" y="3365373"/>
            <a:ext cx="2395728" cy="3931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40" dirty="0">
                <a:solidFill>
                  <a:srgbClr val="172033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每个 Worker 基于快照独立计算，缩短调度关键路径</a:t>
            </a:r>
            <a:endParaRPr lang="en-US" sz="1040" dirty="0"/>
          </a:p>
        </p:txBody>
      </p:sp>
      <p:sp>
        <p:nvSpPr>
          <p:cNvPr id="22" name="Shape 19"/>
          <p:cNvSpPr/>
          <p:nvPr/>
        </p:nvSpPr>
        <p:spPr>
          <a:xfrm>
            <a:off x="731647" y="3840861"/>
            <a:ext cx="3154680" cy="0"/>
          </a:xfrm>
          <a:prstGeom prst="line">
            <a:avLst/>
          </a:prstGeom>
          <a:noFill/>
          <a:ln w="10160">
            <a:solidFill>
              <a:srgbClr val="D7DEE7"/>
            </a:solidFill>
            <a:prstDash val="solid"/>
            <a:headEnd type="none"/>
          </a:ln>
        </p:spPr>
      </p:sp>
      <p:sp>
        <p:nvSpPr>
          <p:cNvPr id="23" name="Shape 20"/>
          <p:cNvSpPr/>
          <p:nvPr/>
        </p:nvSpPr>
        <p:spPr>
          <a:xfrm>
            <a:off x="731647" y="4069461"/>
            <a:ext cx="502920" cy="310896"/>
          </a:xfrm>
          <a:prstGeom prst="roundRect">
            <a:avLst>
              <a:gd name="adj" fmla="val 23529"/>
            </a:avLst>
          </a:prstGeom>
          <a:solidFill>
            <a:srgbClr val="0B5CAD"/>
          </a:solidFill>
          <a:ln w="12700">
            <a:solidFill>
              <a:srgbClr val="0B5CAD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804799" y="4078605"/>
            <a:ext cx="356616" cy="28346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03</a:t>
            </a:r>
            <a:endParaRPr lang="en-US" sz="1050" dirty="0"/>
          </a:p>
        </p:txBody>
      </p:sp>
      <p:sp>
        <p:nvSpPr>
          <p:cNvPr id="25" name="Text 22"/>
          <p:cNvSpPr/>
          <p:nvPr/>
        </p:nvSpPr>
        <p:spPr>
          <a:xfrm>
            <a:off x="1417447" y="3950589"/>
            <a:ext cx="2139696" cy="28346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80" b="1" dirty="0">
                <a:solidFill>
                  <a:srgbClr val="003F8F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冲突感知绑定</a:t>
            </a:r>
            <a:endParaRPr lang="en-US" sz="1480" dirty="0"/>
          </a:p>
        </p:txBody>
      </p:sp>
      <p:sp>
        <p:nvSpPr>
          <p:cNvPr id="26" name="Text 23"/>
          <p:cNvSpPr/>
          <p:nvPr/>
        </p:nvSpPr>
        <p:spPr>
          <a:xfrm>
            <a:off x="1417447" y="4298061"/>
            <a:ext cx="2395728" cy="3931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40" dirty="0">
                <a:solidFill>
                  <a:srgbClr val="172033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并发调度后统一校验资源冲突，再完成绑定提交</a:t>
            </a:r>
            <a:endParaRPr lang="en-US" sz="1040" dirty="0"/>
          </a:p>
        </p:txBody>
      </p:sp>
      <p:sp>
        <p:nvSpPr>
          <p:cNvPr id="27" name="Shape 24"/>
          <p:cNvSpPr/>
          <p:nvPr/>
        </p:nvSpPr>
        <p:spPr>
          <a:xfrm>
            <a:off x="731647" y="4773549"/>
            <a:ext cx="3154680" cy="0"/>
          </a:xfrm>
          <a:prstGeom prst="line">
            <a:avLst/>
          </a:prstGeom>
          <a:noFill/>
          <a:ln w="10160">
            <a:solidFill>
              <a:srgbClr val="D7DEE7"/>
            </a:solidFill>
            <a:prstDash val="solid"/>
            <a:headEnd type="none"/>
          </a:ln>
        </p:spPr>
      </p:sp>
      <p:sp>
        <p:nvSpPr>
          <p:cNvPr id="28" name="Shape 25"/>
          <p:cNvSpPr/>
          <p:nvPr/>
        </p:nvSpPr>
        <p:spPr>
          <a:xfrm>
            <a:off x="731647" y="5002149"/>
            <a:ext cx="502920" cy="310896"/>
          </a:xfrm>
          <a:prstGeom prst="roundRect">
            <a:avLst>
              <a:gd name="adj" fmla="val 23529"/>
            </a:avLst>
          </a:prstGeom>
          <a:solidFill>
            <a:srgbClr val="0B5CAD"/>
          </a:solidFill>
          <a:ln w="12700">
            <a:solidFill>
              <a:srgbClr val="0B5CAD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804799" y="5011293"/>
            <a:ext cx="356616" cy="28346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04</a:t>
            </a:r>
            <a:endParaRPr lang="en-US" sz="1050" dirty="0"/>
          </a:p>
        </p:txBody>
      </p:sp>
      <p:sp>
        <p:nvSpPr>
          <p:cNvPr id="30" name="Text 27"/>
          <p:cNvSpPr/>
          <p:nvPr/>
        </p:nvSpPr>
        <p:spPr>
          <a:xfrm>
            <a:off x="1417447" y="4883277"/>
            <a:ext cx="2139696" cy="28346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80" b="1" dirty="0">
                <a:solidFill>
                  <a:srgbClr val="003F8F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共享分片控制</a:t>
            </a:r>
            <a:endParaRPr lang="en-US" sz="1480" dirty="0"/>
          </a:p>
        </p:txBody>
      </p:sp>
      <p:sp>
        <p:nvSpPr>
          <p:cNvPr id="31" name="Text 28"/>
          <p:cNvSpPr/>
          <p:nvPr/>
        </p:nvSpPr>
        <p:spPr>
          <a:xfrm>
            <a:off x="1417447" y="5230749"/>
            <a:ext cx="2395728" cy="3931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40" dirty="0">
                <a:solidFill>
                  <a:srgbClr val="172033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与 Volcano </a:t>
            </a:r>
            <a:r>
              <a:rPr lang="en-US" sz="1040" dirty="0">
                <a:solidFill>
                  <a:srgbClr val="172033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Batch Scheduler 共享 Sharding Controller 和集群状态</a:t>
            </a:r>
            <a:endParaRPr lang="en-US" sz="1040" dirty="0"/>
          </a:p>
        </p:txBody>
      </p:sp>
      <p:sp>
        <p:nvSpPr>
          <p:cNvPr id="32" name="Shape 29"/>
          <p:cNvSpPr/>
          <p:nvPr/>
        </p:nvSpPr>
        <p:spPr>
          <a:xfrm>
            <a:off x="731647" y="5706237"/>
            <a:ext cx="3154680" cy="0"/>
          </a:xfrm>
          <a:prstGeom prst="line">
            <a:avLst/>
          </a:prstGeom>
          <a:noFill/>
          <a:ln w="10160">
            <a:solidFill>
              <a:srgbClr val="D7DEE7"/>
            </a:solidFill>
            <a:prstDash val="solid"/>
            <a:headEnd type="none"/>
          </a:ln>
        </p:spPr>
      </p:sp>
      <p:sp>
        <p:nvSpPr>
          <p:cNvPr id="33" name="Shape 30"/>
          <p:cNvSpPr/>
          <p:nvPr/>
        </p:nvSpPr>
        <p:spPr>
          <a:xfrm>
            <a:off x="4224655" y="1390015"/>
            <a:ext cx="7360920" cy="5049520"/>
          </a:xfrm>
          <a:prstGeom prst="rect">
            <a:avLst/>
          </a:prstGeom>
          <a:solidFill>
            <a:srgbClr val="FFFFFF"/>
          </a:solidFill>
          <a:ln w="12700">
            <a:solidFill>
              <a:srgbClr val="0B5CAD"/>
            </a:solidFill>
            <a:prstDash val="solid"/>
          </a:ln>
          <a:effectLst>
            <a:outerShdw blurRad="12700" dist="50800" dir="2700000" algn="bl" rotWithShape="0">
              <a:srgbClr val="7A8796">
                <a:alpha val="14000"/>
              </a:srgbClr>
            </a:outerShdw>
          </a:effectLst>
        </p:spPr>
      </p:sp>
      <p:pic>
        <p:nvPicPr>
          <p:cNvPr id="456" name="Google Shape;456;p8" title="agent-scheduler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6006465" y="1481455"/>
            <a:ext cx="4444365" cy="471297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F8F"/>
          </a:solidFill>
          <a:ln w="12700">
            <a:solidFill>
              <a:srgbClr val="003F8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" y="228600"/>
            <a:ext cx="1417320" cy="393192"/>
          </a:xfrm>
          <a:prstGeom prst="chevron">
            <a:avLst/>
          </a:prstGeom>
          <a:solidFill>
            <a:srgbClr val="003F8F"/>
          </a:solidFill>
          <a:ln w="12700">
            <a:solidFill>
              <a:srgbClr val="003F8F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274320"/>
            <a:ext cx="1078992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第一章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2212848" y="182880"/>
            <a:ext cx="7635240" cy="512064"/>
          </a:xfrm>
          <a:prstGeom prst="rect">
            <a:avLst/>
          </a:prstGeom>
          <a:noFill/>
        </p:spPr>
        <p:txBody>
          <a:bodyPr wrap="square" lIns="18288" tIns="9144" rIns="18288" bIns="9144" rtlCol="0" anchor="ctr">
            <a:normAutofit/>
          </a:bodyPr>
          <a:lstStyle/>
          <a:p>
            <a:pPr marL="0" indent="0" algn="l">
              <a:buNone/>
              <a:defRPr sz="2750" b="1">
                <a:solidFill>
                  <a:srgbClr val="003F8F"/>
                </a:solidFill>
                <a:latin typeface="PingFang SC" panose="020B0400000000000000" pitchFamily="34" charset="-122"/>
              </a:defRPr>
            </a:pPr>
            <a:r>
              <a:t>调度入口的策略化演进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58368" y="832104"/>
            <a:ext cx="10744200" cy="347472"/>
          </a:xfrm>
          <a:prstGeom prst="rect">
            <a:avLst/>
          </a:prstGeom>
          <a:noFill/>
        </p:spPr>
        <p:txBody>
          <a:bodyPr wrap="square" lIns="18288" tIns="9144" rIns="18288" bIns="9144" rtlCol="0" anchor="ctr">
            <a:normAutofit/>
          </a:bodyPr>
          <a:lstStyle/>
          <a:p>
            <a:pPr marL="0" indent="0" algn="l">
              <a:buNone/>
              <a:defRPr sz="1400" b="0">
                <a:solidFill>
                  <a:srgbClr val="66788A"/>
                </a:solidFill>
                <a:latin typeface="PingFang SC" panose="020B0400000000000000" pitchFamily="34" charset="-122"/>
              </a:defRPr>
            </a:pPr>
            <a:r>
              <a:t>从工作负载信号选择调度路径，并为该路径生成所需配置</a:t>
            </a:r>
            <a:endParaRPr lang="en-US" sz="1530" dirty="0"/>
          </a:p>
        </p:txBody>
      </p:sp>
      <p:sp>
        <p:nvSpPr>
          <p:cNvPr id="7" name="Shape 5"/>
          <p:cNvSpPr/>
          <p:nvPr/>
        </p:nvSpPr>
        <p:spPr>
          <a:xfrm>
            <a:off x="566928" y="1225296"/>
            <a:ext cx="11018520" cy="0"/>
          </a:xfrm>
          <a:prstGeom prst="line">
            <a:avLst/>
          </a:prstGeom>
          <a:noFill/>
          <a:ln w="11430">
            <a:solidFill>
              <a:srgbClr val="B9C8D8"/>
            </a:solidFill>
            <a:prstDash val="solid"/>
            <a:headEnd type="none"/>
          </a:ln>
        </p:spPr>
      </p:sp>
      <p:sp>
        <p:nvSpPr>
          <p:cNvPr id="8" name="Shape 6"/>
          <p:cNvSpPr/>
          <p:nvPr/>
        </p:nvSpPr>
        <p:spPr>
          <a:xfrm>
            <a:off x="566928" y="1179576"/>
            <a:ext cx="1225296" cy="91440"/>
          </a:xfrm>
          <a:prstGeom prst="rect">
            <a:avLst/>
          </a:prstGeom>
          <a:solidFill>
            <a:srgbClr val="E43D30"/>
          </a:solidFill>
          <a:ln w="12700">
            <a:solidFill>
              <a:srgbClr val="E43D30">
                <a:alpha val="0"/>
              </a:srgbClr>
            </a:solidFill>
            <a:prstDash val="solid"/>
          </a:ln>
        </p:spPr>
      </p:sp>
      <p:pic>
        <p:nvPicPr>
          <p:cNvPr id="9" name="Image 0" descr="/Users/chenzicong/Documents/Codex/2026-07-20/wo/outputs/volcano-unified-scheduling-editable/assets/volcano-logo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97312" y="321114"/>
            <a:ext cx="1078992" cy="180733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1475720" y="6492240"/>
            <a:ext cx="347472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768597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10</a:t>
            </a:r>
            <a:endParaRPr lang="en-US" sz="950" dirty="0"/>
          </a:p>
        </p:txBody>
      </p:sp>
      <p:sp>
        <p:nvSpPr>
          <p:cNvPr id="141" name="Shape 138"/>
          <p:cNvSpPr/>
          <p:nvPr/>
        </p:nvSpPr>
        <p:spPr>
          <a:xfrm>
            <a:off x="640080" y="6236208"/>
            <a:ext cx="10908792" cy="402336"/>
          </a:xfrm>
          <a:prstGeom prst="rect">
            <a:avLst/>
          </a:prstGeom>
          <a:solidFill>
            <a:srgbClr val="003F8F"/>
          </a:solidFill>
          <a:ln w="12700">
            <a:solidFill>
              <a:srgbClr val="003F8F">
                <a:alpha val="0"/>
              </a:srgbClr>
            </a:solidFill>
            <a:prstDash val="solid"/>
          </a:ln>
        </p:spPr>
      </p:sp>
      <p:sp>
        <p:nvSpPr>
          <p:cNvPr id="142" name="Shape 139"/>
          <p:cNvSpPr/>
          <p:nvPr/>
        </p:nvSpPr>
        <p:spPr>
          <a:xfrm>
            <a:off x="640080" y="6236208"/>
            <a:ext cx="109728" cy="402336"/>
          </a:xfrm>
          <a:prstGeom prst="rect">
            <a:avLst/>
          </a:prstGeom>
          <a:solidFill>
            <a:srgbClr val="E43D30"/>
          </a:solidFill>
          <a:ln w="12700">
            <a:solidFill>
              <a:srgbClr val="E43D30">
                <a:alpha val="0"/>
              </a:srgbClr>
            </a:solidFill>
            <a:prstDash val="solid"/>
          </a:ln>
        </p:spPr>
      </p:sp>
      <p:sp>
        <p:nvSpPr>
          <p:cNvPr id="143" name="Text 140"/>
          <p:cNvSpPr/>
          <p:nvPr/>
        </p:nvSpPr>
        <p:spPr>
          <a:xfrm>
            <a:off x="914400" y="6272784"/>
            <a:ext cx="10378440" cy="301752"/>
          </a:xfrm>
          <a:prstGeom prst="rect">
            <a:avLst/>
          </a:prstGeom>
          <a:noFill/>
        </p:spPr>
        <p:txBody>
          <a:bodyPr wrap="square" lIns="18288" tIns="9144" rIns="18288" bIns="9144" rtlCol="0" anchor="ctr">
            <a:normAutofit/>
          </a:bodyPr>
          <a:lstStyle/>
          <a:p>
            <a:pPr marL="0" indent="0" algn="ctr">
              <a:buNone/>
              <a:defRPr sz="1320" b="1">
                <a:solidFill>
                  <a:srgbClr val="FFFFFF"/>
                </a:solidFill>
                <a:latin typeface="PingFang SC" panose="020B0400000000000000" pitchFamily="34" charset="-122"/>
              </a:defRPr>
            </a:pPr>
            <a:r>
              <a:t>入口层决定调度路径与配置组合；具体调度仍由 Agent Scheduler 或 Volcano Scheduler 完成</a:t>
            </a:r>
            <a:endParaRPr lang="en-US" sz="1500" dirty="0"/>
          </a:p>
        </p:txBody>
      </p:sp>
      <p:sp>
        <p:nvSpPr>
          <p:cNvPr id="144" name="Rounded Rectangle 143"/>
          <p:cNvSpPr/>
          <p:nvPr/>
        </p:nvSpPr>
        <p:spPr>
          <a:xfrm>
            <a:off x="658368" y="1417320"/>
            <a:ext cx="2852928" cy="44531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0B5C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Chevron 144"/>
          <p:cNvSpPr/>
          <p:nvPr/>
        </p:nvSpPr>
        <p:spPr>
          <a:xfrm>
            <a:off x="841248" y="1600200"/>
            <a:ext cx="1188720" cy="320040"/>
          </a:xfrm>
          <a:prstGeom prst="chevron">
            <a:avLst/>
          </a:prstGeom>
          <a:solidFill>
            <a:srgbClr val="003F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TextBox 145"/>
          <p:cNvSpPr txBox="1"/>
          <p:nvPr/>
        </p:nvSpPr>
        <p:spPr>
          <a:xfrm>
            <a:off x="896112" y="1650492"/>
            <a:ext cx="1024128" cy="173736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>
              <a:defRPr sz="950" b="1">
                <a:solidFill>
                  <a:srgbClr val="FFFFFF"/>
                </a:solidFill>
                <a:latin typeface="PingFang SC" panose="020B0400000000000000" pitchFamily="34" charset="-122"/>
              </a:defRPr>
            </a:pPr>
            <a:r>
              <a:t>策略输入</a:t>
            </a:r>
          </a:p>
        </p:txBody>
      </p:sp>
      <p:sp>
        <p:nvSpPr>
          <p:cNvPr id="147" name="Rounded Rectangle 146"/>
          <p:cNvSpPr/>
          <p:nvPr/>
        </p:nvSpPr>
        <p:spPr>
          <a:xfrm>
            <a:off x="832104" y="2048256"/>
            <a:ext cx="2514600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1430">
            <a:solidFill>
              <a:srgbClr val="B8C5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Rounded Rectangle 147"/>
          <p:cNvSpPr/>
          <p:nvPr/>
        </p:nvSpPr>
        <p:spPr>
          <a:xfrm>
            <a:off x="941832" y="2212848"/>
            <a:ext cx="384048" cy="329184"/>
          </a:xfrm>
          <a:prstGeom prst="roundRect">
            <a:avLst>
              <a:gd name="adj" fmla="val 8000"/>
            </a:avLst>
          </a:prstGeom>
          <a:solidFill>
            <a:srgbClr val="EEF2F6"/>
          </a:solidFill>
          <a:ln w="8890">
            <a:solidFill>
              <a:srgbClr val="7180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TextBox 148"/>
          <p:cNvSpPr txBox="1"/>
          <p:nvPr/>
        </p:nvSpPr>
        <p:spPr>
          <a:xfrm>
            <a:off x="941832" y="2295144"/>
            <a:ext cx="384048" cy="128016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>
              <a:defRPr sz="730" b="1">
                <a:solidFill>
                  <a:srgbClr val="718096"/>
                </a:solidFill>
                <a:latin typeface="PingFang SC" panose="020B0400000000000000" pitchFamily="34" charset="-122"/>
              </a:defRPr>
            </a:pPr>
            <a:r>
              <a:t>01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1453896" y="2157984"/>
            <a:ext cx="1664208" cy="182880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defRPr sz="1020" b="1">
                <a:solidFill>
                  <a:srgbClr val="003F8F"/>
                </a:solidFill>
                <a:latin typeface="PingFang SC" panose="020B0400000000000000" pitchFamily="34" charset="-122"/>
              </a:defRPr>
            </a:pPr>
            <a:r>
              <a:t>显式声明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1453896" y="2414016"/>
            <a:ext cx="1700784" cy="146304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defRPr sz="760" b="0">
                <a:solidFill>
                  <a:srgbClr val="66788A"/>
                </a:solidFill>
                <a:latin typeface="PingFang SC" panose="020B0400000000000000" pitchFamily="34" charset="-122"/>
              </a:defRPr>
            </a:pPr>
            <a:r>
              <a:t>schedulerName / profile</a:t>
            </a:r>
          </a:p>
        </p:txBody>
      </p:sp>
      <p:sp>
        <p:nvSpPr>
          <p:cNvPr id="152" name="Rounded Rectangle 151"/>
          <p:cNvSpPr/>
          <p:nvPr/>
        </p:nvSpPr>
        <p:spPr>
          <a:xfrm>
            <a:off x="832104" y="2834640"/>
            <a:ext cx="2514600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1430">
            <a:solidFill>
              <a:srgbClr val="B8C5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Rounded Rectangle 152"/>
          <p:cNvSpPr/>
          <p:nvPr/>
        </p:nvSpPr>
        <p:spPr>
          <a:xfrm>
            <a:off x="941832" y="2999232"/>
            <a:ext cx="384048" cy="329184"/>
          </a:xfrm>
          <a:prstGeom prst="roundRect">
            <a:avLst>
              <a:gd name="adj" fmla="val 8000"/>
            </a:avLst>
          </a:prstGeom>
          <a:solidFill>
            <a:srgbClr val="EEF2F6"/>
          </a:solidFill>
          <a:ln w="8890">
            <a:solidFill>
              <a:srgbClr val="7180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TextBox 153"/>
          <p:cNvSpPr txBox="1"/>
          <p:nvPr/>
        </p:nvSpPr>
        <p:spPr>
          <a:xfrm>
            <a:off x="941832" y="3081528"/>
            <a:ext cx="384048" cy="128016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>
              <a:defRPr sz="730" b="1">
                <a:solidFill>
                  <a:srgbClr val="718096"/>
                </a:solidFill>
                <a:latin typeface="PingFang SC" panose="020B0400000000000000" pitchFamily="34" charset="-122"/>
              </a:defRPr>
            </a:pPr>
            <a:r>
              <a:t>02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1453896" y="2944368"/>
            <a:ext cx="1664208" cy="182880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defRPr sz="1020" b="1">
                <a:solidFill>
                  <a:srgbClr val="003F8F"/>
                </a:solidFill>
                <a:latin typeface="PingFang SC" panose="020B0400000000000000" pitchFamily="34" charset="-122"/>
              </a:defRPr>
            </a:pPr>
            <a:r>
              <a:t>工作负载结构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1453896" y="3200400"/>
            <a:ext cx="1700784" cy="146304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defRPr sz="760" b="0">
                <a:solidFill>
                  <a:srgbClr val="66788A"/>
                </a:solidFill>
                <a:latin typeface="PingFang SC" panose="020B0400000000000000" pitchFamily="34" charset="-122"/>
              </a:defRPr>
            </a:pPr>
            <a:r>
              <a:t>Pod / PodGroup / Role</a:t>
            </a:r>
          </a:p>
        </p:txBody>
      </p:sp>
      <p:sp>
        <p:nvSpPr>
          <p:cNvPr id="157" name="Rounded Rectangle 156"/>
          <p:cNvSpPr/>
          <p:nvPr/>
        </p:nvSpPr>
        <p:spPr>
          <a:xfrm>
            <a:off x="832104" y="3621024"/>
            <a:ext cx="2514600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1430">
            <a:solidFill>
              <a:srgbClr val="B8C5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Rounded Rectangle 157"/>
          <p:cNvSpPr/>
          <p:nvPr/>
        </p:nvSpPr>
        <p:spPr>
          <a:xfrm>
            <a:off x="941832" y="3785615"/>
            <a:ext cx="384048" cy="329184"/>
          </a:xfrm>
          <a:prstGeom prst="roundRect">
            <a:avLst>
              <a:gd name="adj" fmla="val 8000"/>
            </a:avLst>
          </a:prstGeom>
          <a:solidFill>
            <a:srgbClr val="EEF2F6"/>
          </a:solidFill>
          <a:ln w="8890">
            <a:solidFill>
              <a:srgbClr val="7180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TextBox 158"/>
          <p:cNvSpPr txBox="1"/>
          <p:nvPr/>
        </p:nvSpPr>
        <p:spPr>
          <a:xfrm>
            <a:off x="941832" y="3867912"/>
            <a:ext cx="384048" cy="128016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>
              <a:defRPr sz="730" b="1">
                <a:solidFill>
                  <a:srgbClr val="718096"/>
                </a:solidFill>
                <a:latin typeface="PingFang SC" panose="020B0400000000000000" pitchFamily="34" charset="-122"/>
              </a:defRPr>
            </a:pPr>
            <a:r>
              <a:t>03</a:t>
            </a:r>
          </a:p>
        </p:txBody>
      </p:sp>
      <p:sp>
        <p:nvSpPr>
          <p:cNvPr id="160" name="TextBox 159"/>
          <p:cNvSpPr txBox="1"/>
          <p:nvPr/>
        </p:nvSpPr>
        <p:spPr>
          <a:xfrm>
            <a:off x="1453896" y="3730752"/>
            <a:ext cx="1664208" cy="182880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defRPr sz="1020" b="1">
                <a:solidFill>
                  <a:srgbClr val="003F8F"/>
                </a:solidFill>
                <a:latin typeface="PingFang SC" panose="020B0400000000000000" pitchFamily="34" charset="-122"/>
              </a:defRPr>
            </a:pPr>
            <a:r>
              <a:t>运行目标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1453896" y="3986784"/>
            <a:ext cx="1700784" cy="146304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defRPr sz="760" b="0">
                <a:solidFill>
                  <a:srgbClr val="66788A"/>
                </a:solidFill>
                <a:latin typeface="PingFang SC" panose="020B0400000000000000" pitchFamily="34" charset="-122"/>
              </a:defRPr>
            </a:pPr>
            <a:r>
              <a:t>时延 / 吞吐 / 可用性</a:t>
            </a:r>
          </a:p>
        </p:txBody>
      </p:sp>
      <p:sp>
        <p:nvSpPr>
          <p:cNvPr id="162" name="Rounded Rectangle 161"/>
          <p:cNvSpPr/>
          <p:nvPr/>
        </p:nvSpPr>
        <p:spPr>
          <a:xfrm>
            <a:off x="832104" y="4407408"/>
            <a:ext cx="2514600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1430">
            <a:solidFill>
              <a:srgbClr val="B8C5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Rounded Rectangle 162"/>
          <p:cNvSpPr/>
          <p:nvPr/>
        </p:nvSpPr>
        <p:spPr>
          <a:xfrm>
            <a:off x="941832" y="4572000"/>
            <a:ext cx="384048" cy="329184"/>
          </a:xfrm>
          <a:prstGeom prst="roundRect">
            <a:avLst>
              <a:gd name="adj" fmla="val 8000"/>
            </a:avLst>
          </a:prstGeom>
          <a:solidFill>
            <a:srgbClr val="EEF2F6"/>
          </a:solidFill>
          <a:ln w="8890">
            <a:solidFill>
              <a:srgbClr val="7180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TextBox 163"/>
          <p:cNvSpPr txBox="1"/>
          <p:nvPr/>
        </p:nvSpPr>
        <p:spPr>
          <a:xfrm>
            <a:off x="941832" y="4654296"/>
            <a:ext cx="384048" cy="128016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>
              <a:defRPr sz="730" b="1">
                <a:solidFill>
                  <a:srgbClr val="718096"/>
                </a:solidFill>
                <a:latin typeface="PingFang SC" panose="020B0400000000000000" pitchFamily="34" charset="-122"/>
              </a:defRPr>
            </a:pPr>
            <a:r>
              <a:t>04</a:t>
            </a:r>
          </a:p>
        </p:txBody>
      </p:sp>
      <p:sp>
        <p:nvSpPr>
          <p:cNvPr id="165" name="TextBox 164"/>
          <p:cNvSpPr txBox="1"/>
          <p:nvPr/>
        </p:nvSpPr>
        <p:spPr>
          <a:xfrm>
            <a:off x="1453896" y="4517136"/>
            <a:ext cx="1664208" cy="182880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defRPr sz="1020" b="1">
                <a:solidFill>
                  <a:srgbClr val="003F8F"/>
                </a:solidFill>
                <a:latin typeface="PingFang SC" panose="020B0400000000000000" pitchFamily="34" charset="-122"/>
              </a:defRPr>
            </a:pPr>
            <a:r>
              <a:t>集群状态</a:t>
            </a:r>
          </a:p>
        </p:txBody>
      </p:sp>
      <p:sp>
        <p:nvSpPr>
          <p:cNvPr id="166" name="TextBox 165"/>
          <p:cNvSpPr txBox="1"/>
          <p:nvPr/>
        </p:nvSpPr>
        <p:spPr>
          <a:xfrm>
            <a:off x="1453896" y="4773168"/>
            <a:ext cx="1700784" cy="146304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defRPr sz="760" b="0">
                <a:solidFill>
                  <a:srgbClr val="66788A"/>
                </a:solidFill>
                <a:latin typeface="PingFang SC" panose="020B0400000000000000" pitchFamily="34" charset="-122"/>
              </a:defRPr>
            </a:pPr>
            <a:r>
              <a:t>Queue / NodeShard / HyperNode</a:t>
            </a:r>
          </a:p>
        </p:txBody>
      </p:sp>
      <p:sp>
        <p:nvSpPr>
          <p:cNvPr id="167" name="Rounded Rectangle 166"/>
          <p:cNvSpPr/>
          <p:nvPr/>
        </p:nvSpPr>
        <p:spPr>
          <a:xfrm>
            <a:off x="832104" y="5330952"/>
            <a:ext cx="2514600" cy="338328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10160">
            <a:solidFill>
              <a:srgbClr val="B8C5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TextBox 167"/>
          <p:cNvSpPr txBox="1"/>
          <p:nvPr/>
        </p:nvSpPr>
        <p:spPr>
          <a:xfrm>
            <a:off x="950976" y="5422392"/>
            <a:ext cx="2276856" cy="128016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>
              <a:defRPr sz="770" b="1">
                <a:solidFill>
                  <a:srgbClr val="003F8F"/>
                </a:solidFill>
                <a:latin typeface="PingFang SC" panose="020B0400000000000000" pitchFamily="34" charset="-122"/>
              </a:defRPr>
            </a:pPr>
            <a:r>
              <a:t>显式配置优先；缺省时再进行策略推断</a:t>
            </a:r>
          </a:p>
        </p:txBody>
      </p:sp>
      <p:sp>
        <p:nvSpPr>
          <p:cNvPr id="169" name="Right Arrow 168"/>
          <p:cNvSpPr/>
          <p:nvPr/>
        </p:nvSpPr>
        <p:spPr>
          <a:xfrm>
            <a:off x="3566160" y="3438144"/>
            <a:ext cx="384048" cy="329184"/>
          </a:xfrm>
          <a:prstGeom prst="rightArrow">
            <a:avLst/>
          </a:prstGeom>
          <a:solidFill>
            <a:srgbClr val="0B5C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Rounded Rectangle 169"/>
          <p:cNvSpPr/>
          <p:nvPr/>
        </p:nvSpPr>
        <p:spPr>
          <a:xfrm>
            <a:off x="3986784" y="1417320"/>
            <a:ext cx="3858768" cy="4453128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12700">
            <a:solidFill>
              <a:srgbClr val="003F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Chevron 170"/>
          <p:cNvSpPr/>
          <p:nvPr/>
        </p:nvSpPr>
        <p:spPr>
          <a:xfrm>
            <a:off x="4178808" y="1600200"/>
            <a:ext cx="1225296" cy="320040"/>
          </a:xfrm>
          <a:prstGeom prst="chevron">
            <a:avLst/>
          </a:prstGeom>
          <a:solidFill>
            <a:srgbClr val="718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TextBox 171"/>
          <p:cNvSpPr txBox="1"/>
          <p:nvPr/>
        </p:nvSpPr>
        <p:spPr>
          <a:xfrm>
            <a:off x="4233672" y="1650492"/>
            <a:ext cx="1060704" cy="173736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>
              <a:defRPr sz="950" b="1">
                <a:solidFill>
                  <a:srgbClr val="FFFFFF"/>
                </a:solidFill>
                <a:latin typeface="PingFang SC" panose="020B0400000000000000" pitchFamily="34" charset="-122"/>
              </a:defRPr>
            </a:pPr>
            <a:r>
              <a:t>策略引擎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5532120" y="1636776"/>
            <a:ext cx="1938528" cy="201168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>
              <a:defRPr sz="1130" b="1">
                <a:solidFill>
                  <a:srgbClr val="003F8F"/>
                </a:solidFill>
                <a:latin typeface="PingFang SC" panose="020B0400000000000000" pitchFamily="34" charset="-122"/>
              </a:defRPr>
            </a:pPr>
            <a:r>
              <a:t>Workload Strategy Engine</a:t>
            </a:r>
          </a:p>
        </p:txBody>
      </p:sp>
      <p:sp>
        <p:nvSpPr>
          <p:cNvPr id="174" name="Rounded Rectangle 173"/>
          <p:cNvSpPr/>
          <p:nvPr/>
        </p:nvSpPr>
        <p:spPr>
          <a:xfrm>
            <a:off x="4334256" y="2139696"/>
            <a:ext cx="3163824" cy="70408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065">
            <a:solidFill>
              <a:srgbClr val="0B5C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Rounded Rectangle 174"/>
          <p:cNvSpPr/>
          <p:nvPr/>
        </p:nvSpPr>
        <p:spPr>
          <a:xfrm>
            <a:off x="4471416" y="2322576"/>
            <a:ext cx="420624" cy="329184"/>
          </a:xfrm>
          <a:prstGeom prst="roundRect">
            <a:avLst>
              <a:gd name="adj" fmla="val 8000"/>
            </a:avLst>
          </a:prstGeom>
          <a:solidFill>
            <a:srgbClr val="0B5CAD"/>
          </a:solidFill>
          <a:ln w="8890">
            <a:solidFill>
              <a:srgbClr val="0B5C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TextBox 175"/>
          <p:cNvSpPr txBox="1"/>
          <p:nvPr/>
        </p:nvSpPr>
        <p:spPr>
          <a:xfrm>
            <a:off x="4471416" y="2404872"/>
            <a:ext cx="420624" cy="128016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>
              <a:defRPr sz="750" b="1">
                <a:solidFill>
                  <a:srgbClr val="FFFFFF"/>
                </a:solidFill>
                <a:latin typeface="PingFang SC" panose="020B0400000000000000" pitchFamily="34" charset="-122"/>
              </a:defRPr>
            </a:pPr>
            <a:r>
              <a:t>01</a:t>
            </a:r>
          </a:p>
        </p:txBody>
      </p:sp>
      <p:sp>
        <p:nvSpPr>
          <p:cNvPr id="177" name="TextBox 176"/>
          <p:cNvSpPr txBox="1"/>
          <p:nvPr/>
        </p:nvSpPr>
        <p:spPr>
          <a:xfrm>
            <a:off x="5047488" y="2240279"/>
            <a:ext cx="2194560" cy="201168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defRPr sz="1100" b="1">
                <a:solidFill>
                  <a:srgbClr val="003F8F"/>
                </a:solidFill>
                <a:latin typeface="PingFang SC" panose="020B0400000000000000" pitchFamily="34" charset="-122"/>
              </a:defRPr>
            </a:pPr>
            <a:r>
              <a:t>识别工作负载</a:t>
            </a:r>
          </a:p>
        </p:txBody>
      </p:sp>
      <p:sp>
        <p:nvSpPr>
          <p:cNvPr id="178" name="TextBox 177"/>
          <p:cNvSpPr txBox="1"/>
          <p:nvPr/>
        </p:nvSpPr>
        <p:spPr>
          <a:xfrm>
            <a:off x="5047488" y="2523744"/>
            <a:ext cx="2194560" cy="155448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defRPr sz="770" b="0">
                <a:solidFill>
                  <a:srgbClr val="66788A"/>
                </a:solidFill>
                <a:latin typeface="PingFang SC" panose="020B0400000000000000" pitchFamily="34" charset="-122"/>
              </a:defRPr>
            </a:pPr>
            <a:r>
              <a:t>结合显式声明与对象结构</a:t>
            </a:r>
          </a:p>
        </p:txBody>
      </p:sp>
      <p:sp>
        <p:nvSpPr>
          <p:cNvPr id="179" name="Down Arrow 178"/>
          <p:cNvSpPr/>
          <p:nvPr/>
        </p:nvSpPr>
        <p:spPr>
          <a:xfrm>
            <a:off x="5742432" y="2871216"/>
            <a:ext cx="310896" cy="256032"/>
          </a:xfrm>
          <a:prstGeom prst="downArrow">
            <a:avLst/>
          </a:prstGeom>
          <a:solidFill>
            <a:srgbClr val="356F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Rounded Rectangle 179"/>
          <p:cNvSpPr/>
          <p:nvPr/>
        </p:nvSpPr>
        <p:spPr>
          <a:xfrm>
            <a:off x="4334256" y="3172968"/>
            <a:ext cx="3163824" cy="70408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065">
            <a:solidFill>
              <a:srgbClr val="0B5C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Rounded Rectangle 180"/>
          <p:cNvSpPr/>
          <p:nvPr/>
        </p:nvSpPr>
        <p:spPr>
          <a:xfrm>
            <a:off x="4471416" y="3355848"/>
            <a:ext cx="420624" cy="329184"/>
          </a:xfrm>
          <a:prstGeom prst="roundRect">
            <a:avLst>
              <a:gd name="adj" fmla="val 8000"/>
            </a:avLst>
          </a:prstGeom>
          <a:solidFill>
            <a:srgbClr val="0B5CAD"/>
          </a:solidFill>
          <a:ln w="8890">
            <a:solidFill>
              <a:srgbClr val="0B5C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TextBox 181"/>
          <p:cNvSpPr txBox="1"/>
          <p:nvPr/>
        </p:nvSpPr>
        <p:spPr>
          <a:xfrm>
            <a:off x="4471416" y="3438144"/>
            <a:ext cx="420624" cy="128016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>
              <a:defRPr sz="750" b="1">
                <a:solidFill>
                  <a:srgbClr val="FFFFFF"/>
                </a:solidFill>
                <a:latin typeface="PingFang SC" panose="020B0400000000000000" pitchFamily="34" charset="-122"/>
              </a:defRPr>
            </a:pPr>
            <a:r>
              <a:t>02</a:t>
            </a:r>
          </a:p>
        </p:txBody>
      </p:sp>
      <p:sp>
        <p:nvSpPr>
          <p:cNvPr id="183" name="TextBox 182"/>
          <p:cNvSpPr txBox="1"/>
          <p:nvPr/>
        </p:nvSpPr>
        <p:spPr>
          <a:xfrm>
            <a:off x="5047488" y="3273552"/>
            <a:ext cx="2194560" cy="201168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defRPr sz="1100" b="1">
                <a:solidFill>
                  <a:srgbClr val="003F8F"/>
                </a:solidFill>
                <a:latin typeface="PingFang SC" panose="020B0400000000000000" pitchFamily="34" charset="-122"/>
              </a:defRPr>
            </a:pPr>
            <a:r>
              <a:t>选择调度路径</a:t>
            </a:r>
          </a:p>
        </p:txBody>
      </p:sp>
      <p:sp>
        <p:nvSpPr>
          <p:cNvPr id="184" name="TextBox 183"/>
          <p:cNvSpPr txBox="1"/>
          <p:nvPr/>
        </p:nvSpPr>
        <p:spPr>
          <a:xfrm>
            <a:off x="5047488" y="3557016"/>
            <a:ext cx="2194560" cy="155448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defRPr sz="770" b="0">
                <a:solidFill>
                  <a:srgbClr val="66788A"/>
                </a:solidFill>
                <a:latin typeface="PingFang SC" panose="020B0400000000000000" pitchFamily="34" charset="-122"/>
              </a:defRPr>
            </a:pPr>
            <a:r>
              <a:t>Fast Path 或 Batch / AI Path</a:t>
            </a:r>
          </a:p>
        </p:txBody>
      </p:sp>
      <p:sp>
        <p:nvSpPr>
          <p:cNvPr id="185" name="Down Arrow 184"/>
          <p:cNvSpPr/>
          <p:nvPr/>
        </p:nvSpPr>
        <p:spPr>
          <a:xfrm>
            <a:off x="5742432" y="3904487"/>
            <a:ext cx="310896" cy="256032"/>
          </a:xfrm>
          <a:prstGeom prst="downArrow">
            <a:avLst/>
          </a:prstGeom>
          <a:solidFill>
            <a:srgbClr val="356F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Rounded Rectangle 185"/>
          <p:cNvSpPr/>
          <p:nvPr/>
        </p:nvSpPr>
        <p:spPr>
          <a:xfrm>
            <a:off x="4334256" y="4206240"/>
            <a:ext cx="3163824" cy="70408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065">
            <a:solidFill>
              <a:srgbClr val="0B5C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Rounded Rectangle 186"/>
          <p:cNvSpPr/>
          <p:nvPr/>
        </p:nvSpPr>
        <p:spPr>
          <a:xfrm>
            <a:off x="4471416" y="4389120"/>
            <a:ext cx="420624" cy="329184"/>
          </a:xfrm>
          <a:prstGeom prst="roundRect">
            <a:avLst>
              <a:gd name="adj" fmla="val 8000"/>
            </a:avLst>
          </a:prstGeom>
          <a:solidFill>
            <a:srgbClr val="0B5CAD"/>
          </a:solidFill>
          <a:ln w="8890">
            <a:solidFill>
              <a:srgbClr val="0B5C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TextBox 187"/>
          <p:cNvSpPr txBox="1"/>
          <p:nvPr/>
        </p:nvSpPr>
        <p:spPr>
          <a:xfrm>
            <a:off x="4471416" y="4471416"/>
            <a:ext cx="420624" cy="128016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>
              <a:defRPr sz="750" b="1">
                <a:solidFill>
                  <a:srgbClr val="FFFFFF"/>
                </a:solidFill>
                <a:latin typeface="PingFang SC" panose="020B0400000000000000" pitchFamily="34" charset="-122"/>
              </a:defRPr>
            </a:pPr>
            <a:r>
              <a:t>03</a:t>
            </a:r>
          </a:p>
        </p:txBody>
      </p:sp>
      <p:sp>
        <p:nvSpPr>
          <p:cNvPr id="189" name="TextBox 188"/>
          <p:cNvSpPr txBox="1"/>
          <p:nvPr/>
        </p:nvSpPr>
        <p:spPr>
          <a:xfrm>
            <a:off x="5047488" y="4306824"/>
            <a:ext cx="2194560" cy="201168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defRPr sz="1100" b="1">
                <a:solidFill>
                  <a:srgbClr val="003F8F"/>
                </a:solidFill>
                <a:latin typeface="PingFang SC" panose="020B0400000000000000" pitchFamily="34" charset="-122"/>
              </a:defRPr>
            </a:pPr>
            <a:r>
              <a:t>生成路径配置</a:t>
            </a:r>
          </a:p>
        </p:txBody>
      </p:sp>
      <p:sp>
        <p:nvSpPr>
          <p:cNvPr id="190" name="TextBox 189"/>
          <p:cNvSpPr txBox="1"/>
          <p:nvPr/>
        </p:nvSpPr>
        <p:spPr>
          <a:xfrm>
            <a:off x="5047488" y="4590288"/>
            <a:ext cx="2194560" cy="155448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defRPr sz="770" b="0">
                <a:solidFill>
                  <a:srgbClr val="66788A"/>
                </a:solidFill>
                <a:latin typeface="PingFang SC" panose="020B0400000000000000" pitchFamily="34" charset="-122"/>
              </a:defRPr>
            </a:pPr>
            <a:r>
              <a:t>Scheduler · Queue · Priority · Topology</a:t>
            </a:r>
          </a:p>
        </p:txBody>
      </p:sp>
      <p:sp>
        <p:nvSpPr>
          <p:cNvPr id="191" name="Rounded Rectangle 190"/>
          <p:cNvSpPr/>
          <p:nvPr/>
        </p:nvSpPr>
        <p:spPr>
          <a:xfrm>
            <a:off x="4334256" y="5202936"/>
            <a:ext cx="3163824" cy="384048"/>
          </a:xfrm>
          <a:prstGeom prst="roundRect">
            <a:avLst>
              <a:gd name="adj" fmla="val 8000"/>
            </a:avLst>
          </a:prstGeom>
          <a:solidFill>
            <a:srgbClr val="EAF2FF"/>
          </a:solidFill>
          <a:ln w="11430">
            <a:solidFill>
              <a:srgbClr val="0B5C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TextBox 191"/>
          <p:cNvSpPr txBox="1"/>
          <p:nvPr/>
        </p:nvSpPr>
        <p:spPr>
          <a:xfrm>
            <a:off x="4526280" y="5303520"/>
            <a:ext cx="2779776" cy="155448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>
              <a:defRPr sz="920" b="1">
                <a:solidFill>
                  <a:srgbClr val="003F8F"/>
                </a:solidFill>
                <a:latin typeface="PingFang SC" panose="020B0400000000000000" pitchFamily="34" charset="-122"/>
              </a:defRPr>
            </a:pPr>
            <a:r>
              <a:t>输出：Route + SchedulerProfile</a:t>
            </a:r>
          </a:p>
        </p:txBody>
      </p:sp>
      <p:sp>
        <p:nvSpPr>
          <p:cNvPr id="193" name="Right Arrow 192"/>
          <p:cNvSpPr/>
          <p:nvPr/>
        </p:nvSpPr>
        <p:spPr>
          <a:xfrm>
            <a:off x="7882127" y="3438144"/>
            <a:ext cx="384048" cy="329184"/>
          </a:xfrm>
          <a:prstGeom prst="rightArrow">
            <a:avLst/>
          </a:prstGeom>
          <a:solidFill>
            <a:srgbClr val="0B5C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Rounded Rectangle 193"/>
          <p:cNvSpPr/>
          <p:nvPr/>
        </p:nvSpPr>
        <p:spPr>
          <a:xfrm>
            <a:off x="8302752" y="1417320"/>
            <a:ext cx="3246120" cy="44531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0B5C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Chevron 194"/>
          <p:cNvSpPr/>
          <p:nvPr/>
        </p:nvSpPr>
        <p:spPr>
          <a:xfrm>
            <a:off x="8485632" y="1600200"/>
            <a:ext cx="1353312" cy="320040"/>
          </a:xfrm>
          <a:prstGeom prst="chevron">
            <a:avLst/>
          </a:prstGeom>
          <a:solidFill>
            <a:srgbClr val="003F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TextBox 195"/>
          <p:cNvSpPr txBox="1"/>
          <p:nvPr/>
        </p:nvSpPr>
        <p:spPr>
          <a:xfrm>
            <a:off x="8540496" y="1650492"/>
            <a:ext cx="1188720" cy="173736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>
              <a:defRPr sz="950" b="1">
                <a:solidFill>
                  <a:srgbClr val="FFFFFF"/>
                </a:solidFill>
                <a:latin typeface="PingFang SC" panose="020B0400000000000000" pitchFamily="34" charset="-122"/>
              </a:defRPr>
            </a:pPr>
            <a:r>
              <a:t>执行与反馈</a:t>
            </a:r>
          </a:p>
        </p:txBody>
      </p:sp>
      <p:sp>
        <p:nvSpPr>
          <p:cNvPr id="197" name="Rounded Rectangle 196"/>
          <p:cNvSpPr/>
          <p:nvPr/>
        </p:nvSpPr>
        <p:spPr>
          <a:xfrm>
            <a:off x="8513064" y="2148840"/>
            <a:ext cx="2816352" cy="9784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0B5C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TextBox 197"/>
          <p:cNvSpPr txBox="1"/>
          <p:nvPr/>
        </p:nvSpPr>
        <p:spPr>
          <a:xfrm>
            <a:off x="8695944" y="2276856"/>
            <a:ext cx="2450592" cy="219456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>
              <a:defRPr sz="1220" b="1">
                <a:solidFill>
                  <a:srgbClr val="003F8F"/>
                </a:solidFill>
                <a:latin typeface="PingFang SC" panose="020B0400000000000000" pitchFamily="34" charset="-122"/>
              </a:defRPr>
            </a:pPr>
            <a:r>
              <a:t>Agent Scheduler</a:t>
            </a:r>
          </a:p>
        </p:txBody>
      </p:sp>
      <p:sp>
        <p:nvSpPr>
          <p:cNvPr id="199" name="TextBox 198"/>
          <p:cNvSpPr txBox="1"/>
          <p:nvPr/>
        </p:nvSpPr>
        <p:spPr>
          <a:xfrm>
            <a:off x="8695944" y="2532888"/>
            <a:ext cx="2450592" cy="146304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>
              <a:defRPr sz="760" b="0">
                <a:solidFill>
                  <a:srgbClr val="66788A"/>
                </a:solidFill>
                <a:latin typeface="PingFang SC" panose="020B0400000000000000" pitchFamily="34" charset="-122"/>
              </a:defRPr>
            </a:pPr>
            <a:r>
              <a:t>Fast Path · 单 Pod</a:t>
            </a:r>
          </a:p>
        </p:txBody>
      </p:sp>
      <p:sp>
        <p:nvSpPr>
          <p:cNvPr id="200" name="Rounded Rectangle 199"/>
          <p:cNvSpPr/>
          <p:nvPr/>
        </p:nvSpPr>
        <p:spPr>
          <a:xfrm>
            <a:off x="8686800" y="2779776"/>
            <a:ext cx="725424" cy="219456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8890">
            <a:solidFill>
              <a:srgbClr val="B8C5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TextBox 200"/>
          <p:cNvSpPr txBox="1"/>
          <p:nvPr/>
        </p:nvSpPr>
        <p:spPr>
          <a:xfrm>
            <a:off x="8705088" y="2834640"/>
            <a:ext cx="688848" cy="100584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>
              <a:defRPr sz="700" b="1">
                <a:solidFill>
                  <a:srgbClr val="003F8F"/>
                </a:solidFill>
                <a:latin typeface="PingFang SC" panose="020B0400000000000000" pitchFamily="34" charset="-122"/>
              </a:defRPr>
            </a:pPr>
            <a:r>
              <a:t>PodQueue</a:t>
            </a:r>
          </a:p>
        </p:txBody>
      </p:sp>
      <p:sp>
        <p:nvSpPr>
          <p:cNvPr id="202" name="Rounded Rectangle 201"/>
          <p:cNvSpPr/>
          <p:nvPr/>
        </p:nvSpPr>
        <p:spPr>
          <a:xfrm>
            <a:off x="9558528" y="2779776"/>
            <a:ext cx="725424" cy="219456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8890">
            <a:solidFill>
              <a:srgbClr val="B8C5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TextBox 202"/>
          <p:cNvSpPr txBox="1"/>
          <p:nvPr/>
        </p:nvSpPr>
        <p:spPr>
          <a:xfrm>
            <a:off x="9576816" y="2834640"/>
            <a:ext cx="688848" cy="100584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>
              <a:defRPr sz="700" b="1">
                <a:solidFill>
                  <a:srgbClr val="003F8F"/>
                </a:solidFill>
                <a:latin typeface="PingFang SC" panose="020B0400000000000000" pitchFamily="34" charset="-122"/>
              </a:defRPr>
            </a:pPr>
            <a:r>
              <a:t>NodeShard</a:t>
            </a:r>
          </a:p>
        </p:txBody>
      </p:sp>
      <p:sp>
        <p:nvSpPr>
          <p:cNvPr id="204" name="Rounded Rectangle 203"/>
          <p:cNvSpPr/>
          <p:nvPr/>
        </p:nvSpPr>
        <p:spPr>
          <a:xfrm>
            <a:off x="10430256" y="2779776"/>
            <a:ext cx="725424" cy="219456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8890">
            <a:solidFill>
              <a:srgbClr val="B8C5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TextBox 204"/>
          <p:cNvSpPr txBox="1"/>
          <p:nvPr/>
        </p:nvSpPr>
        <p:spPr>
          <a:xfrm>
            <a:off x="10448544" y="2834640"/>
            <a:ext cx="688848" cy="100584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>
              <a:defRPr sz="700" b="1">
                <a:solidFill>
                  <a:srgbClr val="003F8F"/>
                </a:solidFill>
                <a:latin typeface="PingFang SC" panose="020B0400000000000000" pitchFamily="34" charset="-122"/>
              </a:defRPr>
            </a:pPr>
            <a:r>
              <a:t>Binder</a:t>
            </a:r>
          </a:p>
        </p:txBody>
      </p:sp>
      <p:sp>
        <p:nvSpPr>
          <p:cNvPr id="206" name="Rounded Rectangle 205"/>
          <p:cNvSpPr/>
          <p:nvPr/>
        </p:nvSpPr>
        <p:spPr>
          <a:xfrm>
            <a:off x="8513064" y="3392424"/>
            <a:ext cx="2816352" cy="9784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003F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TextBox 206"/>
          <p:cNvSpPr txBox="1"/>
          <p:nvPr/>
        </p:nvSpPr>
        <p:spPr>
          <a:xfrm>
            <a:off x="8695944" y="3520440"/>
            <a:ext cx="2450592" cy="219456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>
              <a:defRPr sz="1220" b="1">
                <a:solidFill>
                  <a:srgbClr val="003F8F"/>
                </a:solidFill>
                <a:latin typeface="PingFang SC" panose="020B0400000000000000" pitchFamily="34" charset="-122"/>
              </a:defRPr>
            </a:pPr>
            <a:r>
              <a:t>Volcano Scheduler</a:t>
            </a:r>
          </a:p>
        </p:txBody>
      </p:sp>
      <p:sp>
        <p:nvSpPr>
          <p:cNvPr id="208" name="TextBox 207"/>
          <p:cNvSpPr txBox="1"/>
          <p:nvPr/>
        </p:nvSpPr>
        <p:spPr>
          <a:xfrm>
            <a:off x="8695944" y="3776472"/>
            <a:ext cx="2450592" cy="146304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>
              <a:defRPr sz="760" b="0">
                <a:solidFill>
                  <a:srgbClr val="66788A"/>
                </a:solidFill>
                <a:latin typeface="PingFang SC" panose="020B0400000000000000" pitchFamily="34" charset="-122"/>
              </a:defRPr>
            </a:pPr>
            <a:r>
              <a:t>Batch / AI · 组调度</a:t>
            </a:r>
          </a:p>
        </p:txBody>
      </p:sp>
      <p:sp>
        <p:nvSpPr>
          <p:cNvPr id="209" name="Rounded Rectangle 208"/>
          <p:cNvSpPr/>
          <p:nvPr/>
        </p:nvSpPr>
        <p:spPr>
          <a:xfrm>
            <a:off x="8686800" y="4023360"/>
            <a:ext cx="725424" cy="219456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8890">
            <a:solidFill>
              <a:srgbClr val="B8C5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TextBox 209"/>
          <p:cNvSpPr txBox="1"/>
          <p:nvPr/>
        </p:nvSpPr>
        <p:spPr>
          <a:xfrm>
            <a:off x="8705088" y="4078224"/>
            <a:ext cx="688848" cy="100584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>
              <a:defRPr sz="700" b="1">
                <a:solidFill>
                  <a:srgbClr val="003F8F"/>
                </a:solidFill>
                <a:latin typeface="PingFang SC" panose="020B0400000000000000" pitchFamily="34" charset="-122"/>
              </a:defRPr>
            </a:pPr>
            <a:r>
              <a:t>Queue</a:t>
            </a:r>
          </a:p>
        </p:txBody>
      </p:sp>
      <p:sp>
        <p:nvSpPr>
          <p:cNvPr id="211" name="Rounded Rectangle 210"/>
          <p:cNvSpPr/>
          <p:nvPr/>
        </p:nvSpPr>
        <p:spPr>
          <a:xfrm>
            <a:off x="9558528" y="4023360"/>
            <a:ext cx="725424" cy="219456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8890">
            <a:solidFill>
              <a:srgbClr val="B8C5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TextBox 211"/>
          <p:cNvSpPr txBox="1"/>
          <p:nvPr/>
        </p:nvSpPr>
        <p:spPr>
          <a:xfrm>
            <a:off x="9576816" y="4078224"/>
            <a:ext cx="688848" cy="100584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>
              <a:defRPr sz="700" b="1">
                <a:solidFill>
                  <a:srgbClr val="003F8F"/>
                </a:solidFill>
                <a:latin typeface="PingFang SC" panose="020B0400000000000000" pitchFamily="34" charset="-122"/>
              </a:defRPr>
            </a:pPr>
            <a:r>
              <a:t>Gang</a:t>
            </a:r>
          </a:p>
        </p:txBody>
      </p:sp>
      <p:sp>
        <p:nvSpPr>
          <p:cNvPr id="213" name="Rounded Rectangle 212"/>
          <p:cNvSpPr/>
          <p:nvPr/>
        </p:nvSpPr>
        <p:spPr>
          <a:xfrm>
            <a:off x="10430256" y="4023360"/>
            <a:ext cx="725424" cy="219456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8890">
            <a:solidFill>
              <a:srgbClr val="B8C5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TextBox 213"/>
          <p:cNvSpPr txBox="1"/>
          <p:nvPr/>
        </p:nvSpPr>
        <p:spPr>
          <a:xfrm>
            <a:off x="10448544" y="4078224"/>
            <a:ext cx="688848" cy="100584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>
              <a:defRPr sz="700" b="1">
                <a:solidFill>
                  <a:srgbClr val="003F8F"/>
                </a:solidFill>
                <a:latin typeface="PingFang SC" panose="020B0400000000000000" pitchFamily="34" charset="-122"/>
              </a:defRPr>
            </a:pPr>
            <a:r>
              <a:t>Topology</a:t>
            </a:r>
          </a:p>
        </p:txBody>
      </p:sp>
      <p:sp>
        <p:nvSpPr>
          <p:cNvPr id="215" name="Rounded Rectangle 214"/>
          <p:cNvSpPr/>
          <p:nvPr/>
        </p:nvSpPr>
        <p:spPr>
          <a:xfrm>
            <a:off x="8513064" y="4727448"/>
            <a:ext cx="2816352" cy="804672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11430">
            <a:solidFill>
              <a:srgbClr val="B8C5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TextBox 215"/>
          <p:cNvSpPr txBox="1"/>
          <p:nvPr/>
        </p:nvSpPr>
        <p:spPr>
          <a:xfrm>
            <a:off x="8695944" y="4846320"/>
            <a:ext cx="822960" cy="182880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defRPr sz="980" b="1">
                <a:solidFill>
                  <a:srgbClr val="003F8F"/>
                </a:solidFill>
                <a:latin typeface="PingFang SC" panose="020B0400000000000000" pitchFamily="34" charset="-122"/>
              </a:defRPr>
            </a:pPr>
            <a:r>
              <a:t>运行反馈</a:t>
            </a:r>
          </a:p>
        </p:txBody>
      </p:sp>
      <p:sp>
        <p:nvSpPr>
          <p:cNvPr id="217" name="TextBox 216"/>
          <p:cNvSpPr txBox="1"/>
          <p:nvPr/>
        </p:nvSpPr>
        <p:spPr>
          <a:xfrm>
            <a:off x="9546336" y="4818888"/>
            <a:ext cx="1554480" cy="365760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defRPr sz="750" b="0">
                <a:solidFill>
                  <a:srgbClr val="66788A"/>
                </a:solidFill>
                <a:latin typeface="PingFang SC" panose="020B0400000000000000" pitchFamily="34" charset="-122"/>
              </a:defRPr>
            </a:pPr>
            <a:r>
              <a:t>调度时延 · Pending 深度</a:t>
            </a:r>
            <a:br/>
            <a:r>
              <a:t>资源利用率 · 拓扑健康</a:t>
            </a:r>
          </a:p>
        </p:txBody>
      </p:sp>
      <p:cxnSp>
        <p:nvCxnSpPr>
          <p:cNvPr id="218" name="Connector 217"/>
          <p:cNvCxnSpPr/>
          <p:nvPr/>
        </p:nvCxnSpPr>
        <p:spPr>
          <a:xfrm>
            <a:off x="9921240" y="5532120"/>
            <a:ext cx="0" cy="173736"/>
          </a:xfrm>
          <a:prstGeom prst="line">
            <a:avLst/>
          </a:prstGeom>
          <a:ln w="13970">
            <a:solidFill>
              <a:srgbClr val="356F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9" name="Connector 218"/>
          <p:cNvCxnSpPr/>
          <p:nvPr/>
        </p:nvCxnSpPr>
        <p:spPr>
          <a:xfrm flipH="1">
            <a:off x="6089904" y="5705856"/>
            <a:ext cx="3831336" cy="0"/>
          </a:xfrm>
          <a:prstGeom prst="line">
            <a:avLst/>
          </a:prstGeom>
          <a:ln w="13970">
            <a:solidFill>
              <a:srgbClr val="356F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0" name="Up Arrow 219"/>
          <p:cNvSpPr/>
          <p:nvPr/>
        </p:nvSpPr>
        <p:spPr>
          <a:xfrm>
            <a:off x="5925312" y="5477256"/>
            <a:ext cx="329184" cy="237744"/>
          </a:xfrm>
          <a:prstGeom prst="upArrow">
            <a:avLst/>
          </a:prstGeom>
          <a:solidFill>
            <a:srgbClr val="356F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TextBox 220"/>
          <p:cNvSpPr txBox="1"/>
          <p:nvPr/>
        </p:nvSpPr>
        <p:spPr>
          <a:xfrm>
            <a:off x="7379335" y="5550408"/>
            <a:ext cx="1325880" cy="128016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>
              <a:defRPr sz="730" b="1">
                <a:solidFill>
                  <a:srgbClr val="356F9E"/>
                </a:solidFill>
                <a:latin typeface="PingFang SC" panose="020B0400000000000000" pitchFamily="34" charset="-122"/>
              </a:defRPr>
            </a:pPr>
            <a:r>
              <a:t>下一轮校正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858768" cy="6858000"/>
          </a:xfrm>
          <a:prstGeom prst="rect">
            <a:avLst/>
          </a:prstGeom>
          <a:solidFill>
            <a:srgbClr val="003F8F"/>
          </a:solidFill>
          <a:ln w="12700">
            <a:solidFill>
              <a:srgbClr val="003F8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3858768" y="0"/>
            <a:ext cx="109728" cy="6858000"/>
          </a:xfrm>
          <a:prstGeom prst="rect">
            <a:avLst/>
          </a:prstGeom>
          <a:solidFill>
            <a:srgbClr val="E43D30"/>
          </a:solidFill>
          <a:ln w="12700">
            <a:solidFill>
              <a:srgbClr val="E43D30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658368" y="621792"/>
            <a:ext cx="1920240" cy="105156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6200" b="1" dirty="0">
                <a:solidFill>
                  <a:srgbClr val="79A5D6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02</a:t>
            </a:r>
            <a:endParaRPr lang="en-US" sz="6200" dirty="0"/>
          </a:p>
        </p:txBody>
      </p:sp>
      <p:sp>
        <p:nvSpPr>
          <p:cNvPr id="5" name="Text 3"/>
          <p:cNvSpPr/>
          <p:nvPr/>
        </p:nvSpPr>
        <p:spPr>
          <a:xfrm>
            <a:off x="713232" y="1645920"/>
            <a:ext cx="1645920" cy="24688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  <a:defRPr/>
            </a:pPr>
            <a:r>
              <a:rPr lang="en-US" sz="1100" b="1" kern="0" spc="200" dirty="0">
                <a:solidFill>
                  <a:srgbClr val="C7D8EA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CHAPTER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85800" y="2359152"/>
            <a:ext cx="2697480" cy="1353312"/>
          </a:xfrm>
          <a:prstGeom prst="rect">
            <a:avLst/>
          </a:prstGeom>
          <a:noFill/>
        </p:spPr>
        <p:txBody>
          <a:bodyPr wrap="square" lIns="18288" tIns="9144" rIns="18288" bIns="9144" rtlCol="0" anchor="ctr">
            <a:normAutofit/>
          </a:bodyPr>
          <a:lstStyle/>
          <a:p>
            <a:pPr marL="0" indent="0" algn="l">
              <a:buNone/>
              <a:defRPr sz="3100" b="1">
                <a:solidFill>
                  <a:srgbClr val="FFFFFF"/>
                </a:solidFill>
                <a:latin typeface="PingFang SC" panose="020B0400000000000000" pitchFamily="34" charset="-122"/>
              </a:defRPr>
            </a:pPr>
            <a:r>
              <a:t>共池中的</a:t>
            </a:r>
            <a:br/>
            <a:r>
              <a:t>资源治理</a:t>
            </a:r>
            <a:endParaRPr lang="en-US" sz="3600" dirty="0"/>
          </a:p>
        </p:txBody>
      </p:sp>
      <p:sp>
        <p:nvSpPr>
          <p:cNvPr id="8" name="Shape 6"/>
          <p:cNvSpPr/>
          <p:nvPr/>
        </p:nvSpPr>
        <p:spPr>
          <a:xfrm>
            <a:off x="713232" y="5157216"/>
            <a:ext cx="2468880" cy="0"/>
          </a:xfrm>
          <a:prstGeom prst="line">
            <a:avLst/>
          </a:prstGeom>
          <a:noFill/>
          <a:ln w="38100">
            <a:solidFill>
              <a:srgbClr val="E43D30"/>
            </a:solidFill>
            <a:prstDash val="solid"/>
            <a:headEnd type="none"/>
          </a:ln>
        </p:spPr>
        <p:txBody>
          <a:bodyPr/>
          <a:p>
            <a:pPr>
              <a:defRPr/>
            </a:pPr>
          </a:p>
        </p:txBody>
      </p:sp>
      <p:pic>
        <p:nvPicPr>
          <p:cNvPr id="9" name="Image 0" descr="/Users/chenzicong/Documents/Codex/2026-07-20/wo/outputs/volcano-unified-scheduling-editable/assets/volcano-logo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6032867"/>
            <a:ext cx="1554480" cy="260378"/>
          </a:xfrm>
          <a:prstGeom prst="rect">
            <a:avLst/>
          </a:prstGeom>
        </p:spPr>
      </p:pic>
      <p:sp>
        <p:nvSpPr>
          <p:cNvPr id="34" name="Text 31"/>
          <p:cNvSpPr/>
          <p:nvPr/>
        </p:nvSpPr>
        <p:spPr>
          <a:xfrm>
            <a:off x="11475720" y="6492240"/>
            <a:ext cx="347472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768597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11</a:t>
            </a:r>
            <a:endParaRPr lang="en-US" sz="950" dirty="0"/>
          </a:p>
        </p:txBody>
      </p:sp>
      <p:sp>
        <p:nvSpPr>
          <p:cNvPr id="36" name="Rectangle 35"/>
          <p:cNvSpPr/>
          <p:nvPr/>
        </p:nvSpPr>
        <p:spPr>
          <a:xfrm>
            <a:off x="4645152" y="1600200"/>
            <a:ext cx="6583680" cy="713232"/>
          </a:xfrm>
          <a:prstGeom prst="rect">
            <a:avLst/>
          </a:prstGeom>
          <a:solidFill>
            <a:srgbClr val="FFFFFF"/>
          </a:solidFill>
          <a:ln w="11430">
            <a:solidFill>
              <a:srgbClr val="0B5C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7" name="Rounded Rectangle 36"/>
          <p:cNvSpPr/>
          <p:nvPr/>
        </p:nvSpPr>
        <p:spPr>
          <a:xfrm>
            <a:off x="4864608" y="1773936"/>
            <a:ext cx="530352" cy="320040"/>
          </a:xfrm>
          <a:prstGeom prst="roundRect">
            <a:avLst>
              <a:gd name="adj" fmla="val 8000"/>
            </a:avLst>
          </a:prstGeom>
          <a:solidFill>
            <a:srgbClr val="0B5CAD"/>
          </a:solidFill>
          <a:ln w="10160">
            <a:solidFill>
              <a:srgbClr val="0B5C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8" name="TextBox 37"/>
          <p:cNvSpPr txBox="1"/>
          <p:nvPr/>
        </p:nvSpPr>
        <p:spPr>
          <a:xfrm>
            <a:off x="4864608" y="1837943"/>
            <a:ext cx="530352" cy="118872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PingFang SC" panose="020B0400000000000000" pitchFamily="34" charset="-122"/>
              </a:defRPr>
            </a:pPr>
            <a:r>
              <a:t>01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651627" y="1795590"/>
            <a:ext cx="1426464" cy="217805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defRPr sz="1300" b="1">
                <a:solidFill>
                  <a:srgbClr val="003F8F"/>
                </a:solidFill>
                <a:latin typeface="PingFang SC" panose="020B0400000000000000" pitchFamily="34" charset="-122"/>
              </a:defRPr>
            </a:pPr>
            <a:r>
              <a:rPr lang="en-US"/>
              <a:t>Volcano </a:t>
            </a:r>
            <a:r>
              <a:rPr lang="zh-CN" altLang="en-US"/>
              <a:t>队列</a:t>
            </a:r>
            <a:endParaRPr lang="zh-CN" altLang="en-US"/>
          </a:p>
        </p:txBody>
      </p:sp>
      <p:sp>
        <p:nvSpPr>
          <p:cNvPr id="40" name="TextBox 39"/>
          <p:cNvSpPr txBox="1"/>
          <p:nvPr/>
        </p:nvSpPr>
        <p:spPr>
          <a:xfrm>
            <a:off x="7150608" y="1800098"/>
            <a:ext cx="3730752" cy="219456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defRPr sz="1150" b="0">
                <a:solidFill>
                  <a:srgbClr val="172033"/>
                </a:solidFill>
                <a:latin typeface="PingFang SC" panose="020B0400000000000000" pitchFamily="34" charset="-122"/>
              </a:defRPr>
            </a:pPr>
            <a:r>
              <a:t>最低保障、当前应得与使用上限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645152" y="2542032"/>
            <a:ext cx="6583680" cy="713232"/>
          </a:xfrm>
          <a:prstGeom prst="rect">
            <a:avLst/>
          </a:prstGeom>
          <a:solidFill>
            <a:srgbClr val="FFFFFF"/>
          </a:solidFill>
          <a:ln w="11430">
            <a:solidFill>
              <a:srgbClr val="0B5C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2" name="Rounded Rectangle 41"/>
          <p:cNvSpPr/>
          <p:nvPr/>
        </p:nvSpPr>
        <p:spPr>
          <a:xfrm>
            <a:off x="4864608" y="2715768"/>
            <a:ext cx="530352" cy="320040"/>
          </a:xfrm>
          <a:prstGeom prst="roundRect">
            <a:avLst>
              <a:gd name="adj" fmla="val 8000"/>
            </a:avLst>
          </a:prstGeom>
          <a:solidFill>
            <a:srgbClr val="0B5CAD"/>
          </a:solidFill>
          <a:ln w="10160">
            <a:solidFill>
              <a:srgbClr val="0B5C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3" name="TextBox 42"/>
          <p:cNvSpPr txBox="1"/>
          <p:nvPr/>
        </p:nvSpPr>
        <p:spPr>
          <a:xfrm>
            <a:off x="4864608" y="2779776"/>
            <a:ext cx="530352" cy="118872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PingFang SC" panose="020B0400000000000000" pitchFamily="34" charset="-122"/>
              </a:defRPr>
            </a:pPr>
            <a:r>
              <a:t>02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652262" y="2757678"/>
            <a:ext cx="1426464" cy="210312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defRPr sz="1300" b="1">
                <a:solidFill>
                  <a:srgbClr val="003F8F"/>
                </a:solidFill>
                <a:latin typeface="PingFang SC" panose="020B0400000000000000" pitchFamily="34" charset="-122"/>
              </a:defRPr>
            </a:pPr>
            <a:r>
              <a:t>资源借还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150608" y="2741930"/>
            <a:ext cx="3730752" cy="219456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defRPr sz="1150" b="0">
                <a:solidFill>
                  <a:srgbClr val="172033"/>
                </a:solidFill>
                <a:latin typeface="PingFang SC" panose="020B0400000000000000" pitchFamily="34" charset="-122"/>
              </a:defRPr>
            </a:pPr>
            <a:r>
              <a:t>低峰共享空闲份额，需求恢复后归还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645152" y="3483864"/>
            <a:ext cx="6583680" cy="713232"/>
          </a:xfrm>
          <a:prstGeom prst="rect">
            <a:avLst/>
          </a:prstGeom>
          <a:solidFill>
            <a:srgbClr val="FFFFFF"/>
          </a:solidFill>
          <a:ln w="11430">
            <a:solidFill>
              <a:srgbClr val="0B5C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7" name="Rounded Rectangle 46"/>
          <p:cNvSpPr/>
          <p:nvPr/>
        </p:nvSpPr>
        <p:spPr>
          <a:xfrm>
            <a:off x="4864608" y="3657600"/>
            <a:ext cx="530352" cy="320040"/>
          </a:xfrm>
          <a:prstGeom prst="roundRect">
            <a:avLst>
              <a:gd name="adj" fmla="val 8000"/>
            </a:avLst>
          </a:prstGeom>
          <a:solidFill>
            <a:srgbClr val="0B5CAD"/>
          </a:solidFill>
          <a:ln w="10160">
            <a:solidFill>
              <a:srgbClr val="0B5C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8" name="TextBox 47"/>
          <p:cNvSpPr txBox="1"/>
          <p:nvPr/>
        </p:nvSpPr>
        <p:spPr>
          <a:xfrm>
            <a:off x="4864608" y="3721608"/>
            <a:ext cx="530352" cy="118872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PingFang SC" panose="020B0400000000000000" pitchFamily="34" charset="-122"/>
              </a:defRPr>
            </a:pPr>
            <a:r>
              <a:t>03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650992" y="3681095"/>
            <a:ext cx="1426464" cy="210312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defRPr sz="1300" b="1">
                <a:solidFill>
                  <a:srgbClr val="003F8F"/>
                </a:solidFill>
                <a:latin typeface="PingFang SC" panose="020B0400000000000000" pitchFamily="34" charset="-122"/>
              </a:defRPr>
            </a:pPr>
            <a:r>
              <a:t>Gang 回收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150608" y="3683762"/>
            <a:ext cx="3730752" cy="219456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defRPr sz="1150" b="0">
                <a:solidFill>
                  <a:srgbClr val="172033"/>
                </a:solidFill>
                <a:latin typeface="PingFang SC" panose="020B0400000000000000" pitchFamily="34" charset="-122"/>
              </a:defRPr>
            </a:pPr>
            <a:r>
              <a:t>以新的工作负载完整可运行为完成条件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645152" y="4425696"/>
            <a:ext cx="6583680" cy="713232"/>
          </a:xfrm>
          <a:prstGeom prst="rect">
            <a:avLst/>
          </a:prstGeom>
          <a:solidFill>
            <a:srgbClr val="FFFFFF"/>
          </a:solidFill>
          <a:ln w="11430">
            <a:solidFill>
              <a:srgbClr val="667A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2" name="Rounded Rectangle 51"/>
          <p:cNvSpPr/>
          <p:nvPr/>
        </p:nvSpPr>
        <p:spPr>
          <a:xfrm>
            <a:off x="4864608" y="4599432"/>
            <a:ext cx="530352" cy="320040"/>
          </a:xfrm>
          <a:prstGeom prst="roundRect">
            <a:avLst>
              <a:gd name="adj" fmla="val 8000"/>
            </a:avLst>
          </a:prstGeom>
          <a:solidFill>
            <a:schemeClr val="accent1"/>
          </a:solidFill>
          <a:ln w="10160">
            <a:solidFill>
              <a:srgbClr val="667A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3" name="TextBox 52"/>
          <p:cNvSpPr txBox="1"/>
          <p:nvPr/>
        </p:nvSpPr>
        <p:spPr>
          <a:xfrm>
            <a:off x="4864608" y="4663440"/>
            <a:ext cx="530352" cy="118872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PingFang SC" panose="020B0400000000000000" pitchFamily="34" charset="-122"/>
              </a:defRPr>
            </a:pPr>
            <a:r>
              <a:t>04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650992" y="4645152"/>
            <a:ext cx="1426464" cy="210312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defRPr sz="1300" b="1">
                <a:solidFill>
                  <a:srgbClr val="003F8F"/>
                </a:solidFill>
                <a:latin typeface="PingFang SC" panose="020B0400000000000000" pitchFamily="34" charset="-122"/>
              </a:defRPr>
            </a:pPr>
            <a:r>
              <a:t>演进方向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150608" y="4625594"/>
            <a:ext cx="3730752" cy="219456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defRPr sz="1150" b="0">
                <a:solidFill>
                  <a:srgbClr val="172033"/>
                </a:solidFill>
                <a:latin typeface="PingFang SC" panose="020B0400000000000000" pitchFamily="34" charset="-122"/>
              </a:defRPr>
            </a:pPr>
            <a:r>
              <a:t>历史 Fair Share 与训练状态保护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F8F"/>
          </a:solidFill>
          <a:ln w="12700">
            <a:solidFill>
              <a:srgbClr val="003F8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566928" y="228600"/>
            <a:ext cx="1417320" cy="393192"/>
          </a:xfrm>
          <a:prstGeom prst="chevron">
            <a:avLst/>
          </a:prstGeom>
          <a:solidFill>
            <a:srgbClr val="003F8F"/>
          </a:solidFill>
          <a:ln w="12700">
            <a:solidFill>
              <a:srgbClr val="003F8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658368" y="274320"/>
            <a:ext cx="1078992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第二章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2212848" y="182880"/>
            <a:ext cx="7635240" cy="512064"/>
          </a:xfrm>
          <a:prstGeom prst="rect">
            <a:avLst/>
          </a:prstGeom>
          <a:noFill/>
        </p:spPr>
        <p:txBody>
          <a:bodyPr wrap="square" lIns="18288" tIns="9144" rIns="18288" bIns="9144" rtlCol="0" anchor="ctr">
            <a:normAutofit/>
          </a:bodyPr>
          <a:lstStyle/>
          <a:p>
            <a:pPr marL="0" indent="0" algn="l">
              <a:buNone/>
              <a:defRPr sz="2750" b="1">
                <a:solidFill>
                  <a:srgbClr val="003F8F"/>
                </a:solidFill>
                <a:latin typeface="PingFang SC" panose="020B0400000000000000" pitchFamily="34" charset="-122"/>
              </a:defRPr>
            </a:pPr>
            <a:r>
              <a:t>Queue 的份额边界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58368" y="832104"/>
            <a:ext cx="10744200" cy="347472"/>
          </a:xfrm>
          <a:prstGeom prst="rect">
            <a:avLst/>
          </a:prstGeom>
          <a:noFill/>
        </p:spPr>
        <p:txBody>
          <a:bodyPr wrap="square" lIns="18288" tIns="9144" rIns="18288" bIns="9144" rtlCol="0" anchor="ctr">
            <a:normAutofit/>
          </a:bodyPr>
          <a:lstStyle/>
          <a:p>
            <a:pPr marL="0" indent="0" algn="l">
              <a:buNone/>
              <a:defRPr sz="1420" b="0">
                <a:solidFill>
                  <a:srgbClr val="66788A"/>
                </a:solidFill>
                <a:latin typeface="PingFang SC" panose="020B0400000000000000" pitchFamily="34" charset="-122"/>
              </a:defRPr>
            </a:pPr>
            <a:endParaRPr lang="en-US" sz="1530" dirty="0"/>
          </a:p>
        </p:txBody>
      </p:sp>
      <p:sp>
        <p:nvSpPr>
          <p:cNvPr id="7" name="Shape 5"/>
          <p:cNvSpPr/>
          <p:nvPr/>
        </p:nvSpPr>
        <p:spPr>
          <a:xfrm>
            <a:off x="566928" y="1225296"/>
            <a:ext cx="11018520" cy="0"/>
          </a:xfrm>
          <a:prstGeom prst="line">
            <a:avLst/>
          </a:prstGeom>
          <a:noFill/>
          <a:ln w="11430">
            <a:solidFill>
              <a:srgbClr val="B9C8D8"/>
            </a:solidFill>
            <a:prstDash val="solid"/>
            <a:headEnd type="none"/>
          </a:ln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566928" y="1179576"/>
            <a:ext cx="1225296" cy="91440"/>
          </a:xfrm>
          <a:prstGeom prst="rect">
            <a:avLst/>
          </a:prstGeom>
          <a:solidFill>
            <a:srgbClr val="E43D30"/>
          </a:solidFill>
          <a:ln w="12700">
            <a:solidFill>
              <a:srgbClr val="E43D30">
                <a:alpha val="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9" name="Image 0" descr="/Users/chenzicong/Documents/Codex/2026-07-20/wo/outputs/volcano-unified-scheduling-editable/assets/volcano-logo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97312" y="321114"/>
            <a:ext cx="1078992" cy="180733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1475720" y="6492240"/>
            <a:ext cx="347472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768597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12</a:t>
            </a:r>
            <a:endParaRPr lang="en-US" sz="950" dirty="0"/>
          </a:p>
        </p:txBody>
      </p:sp>
      <p:sp>
        <p:nvSpPr>
          <p:cNvPr id="114" name="Shape 111"/>
          <p:cNvSpPr/>
          <p:nvPr/>
        </p:nvSpPr>
        <p:spPr>
          <a:xfrm>
            <a:off x="640080" y="6236208"/>
            <a:ext cx="10908792" cy="402336"/>
          </a:xfrm>
          <a:prstGeom prst="rect">
            <a:avLst/>
          </a:prstGeom>
          <a:solidFill>
            <a:srgbClr val="003F8F"/>
          </a:solidFill>
          <a:ln w="12700">
            <a:solidFill>
              <a:srgbClr val="003F8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15" name="Shape 112"/>
          <p:cNvSpPr/>
          <p:nvPr/>
        </p:nvSpPr>
        <p:spPr>
          <a:xfrm>
            <a:off x="640080" y="6236208"/>
            <a:ext cx="109728" cy="402336"/>
          </a:xfrm>
          <a:prstGeom prst="rect">
            <a:avLst/>
          </a:prstGeom>
          <a:solidFill>
            <a:srgbClr val="E43D30"/>
          </a:solidFill>
          <a:ln w="12700">
            <a:solidFill>
              <a:srgbClr val="E43D30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16" name="Text 113"/>
          <p:cNvSpPr/>
          <p:nvPr/>
        </p:nvSpPr>
        <p:spPr>
          <a:xfrm>
            <a:off x="914400" y="6272784"/>
            <a:ext cx="10378440" cy="301752"/>
          </a:xfrm>
          <a:prstGeom prst="rect">
            <a:avLst/>
          </a:prstGeom>
          <a:noFill/>
        </p:spPr>
        <p:txBody>
          <a:bodyPr wrap="square" lIns="18288" tIns="9144" rIns="18288" bIns="9144" rtlCol="0" anchor="ctr">
            <a:normAutofit/>
          </a:bodyPr>
          <a:lstStyle/>
          <a:p>
            <a:pPr marL="0" indent="0" algn="ctr">
              <a:buNone/>
              <a:defRPr sz="1380" b="1">
                <a:solidFill>
                  <a:srgbClr val="FFFFFF"/>
                </a:solidFill>
                <a:latin typeface="PingFang SC" panose="020B0400000000000000" pitchFamily="34" charset="-122"/>
              </a:defRPr>
            </a:pPr>
            <a:r>
              <a:t>超过 Deserved 的使用量来自共享池；出现竞争时，这一部分可以被要求归还</a:t>
            </a:r>
            <a:endParaRPr lang="en-US" sz="1500" dirty="0"/>
          </a:p>
        </p:txBody>
      </p:sp>
      <p:sp>
        <p:nvSpPr>
          <p:cNvPr id="117" name="Rectangle 116"/>
          <p:cNvSpPr/>
          <p:nvPr/>
        </p:nvSpPr>
        <p:spPr>
          <a:xfrm>
            <a:off x="658368" y="1371600"/>
            <a:ext cx="10890504" cy="402336"/>
          </a:xfrm>
          <a:prstGeom prst="rect">
            <a:avLst/>
          </a:prstGeom>
          <a:solidFill>
            <a:srgbClr val="FFFFFF"/>
          </a:solidFill>
          <a:ln w="11430">
            <a:solidFill>
              <a:srgbClr val="0B5C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18" name="Rectangle 117"/>
          <p:cNvSpPr/>
          <p:nvPr/>
        </p:nvSpPr>
        <p:spPr>
          <a:xfrm>
            <a:off x="658368" y="1371600"/>
            <a:ext cx="109728" cy="402336"/>
          </a:xfrm>
          <a:prstGeom prst="rect">
            <a:avLst/>
          </a:prstGeom>
          <a:solidFill>
            <a:srgbClr val="C23A32"/>
          </a:solidFill>
          <a:ln w="10160">
            <a:solidFill>
              <a:srgbClr val="C23A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19" name="TextBox 118"/>
          <p:cNvSpPr txBox="1"/>
          <p:nvPr/>
        </p:nvSpPr>
        <p:spPr>
          <a:xfrm>
            <a:off x="914400" y="1453896"/>
            <a:ext cx="10314432" cy="201168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>
              <a:defRPr sz="1180" b="1">
                <a:solidFill>
                  <a:srgbClr val="172033"/>
                </a:solidFill>
                <a:latin typeface="PingFang SC" panose="020B0400000000000000" pitchFamily="34" charset="-122"/>
              </a:defRPr>
            </a:pPr>
            <a:r>
              <a:t>示例：Serving Queue 的 Guarantee = 2、Deserved = 6、Capability = 8 GPU</a:t>
            </a:r>
          </a:p>
        </p:txBody>
      </p:sp>
      <p:sp>
        <p:nvSpPr>
          <p:cNvPr id="120" name="Rounded Rectangle 119"/>
          <p:cNvSpPr/>
          <p:nvPr/>
        </p:nvSpPr>
        <p:spPr>
          <a:xfrm>
            <a:off x="2331720" y="2304288"/>
            <a:ext cx="1920240" cy="640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1430">
            <a:solidFill>
              <a:srgbClr val="2D6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sz="1200"/>
          </a:p>
        </p:txBody>
      </p:sp>
      <p:sp>
        <p:nvSpPr>
          <p:cNvPr id="121" name="TextBox 120"/>
          <p:cNvSpPr txBox="1"/>
          <p:nvPr/>
        </p:nvSpPr>
        <p:spPr>
          <a:xfrm>
            <a:off x="2459736" y="2354453"/>
            <a:ext cx="1664208" cy="201930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>
              <a:defRPr sz="1150" b="1">
                <a:solidFill>
                  <a:srgbClr val="2D6A5F"/>
                </a:solidFill>
                <a:latin typeface="PingFang SC" panose="020B0400000000000000" pitchFamily="34" charset="-122"/>
              </a:defRPr>
            </a:pPr>
            <a:r>
              <a:rPr sz="1200"/>
              <a:t>Guarantee</a:t>
            </a:r>
            <a:endParaRPr sz="1200"/>
          </a:p>
        </p:txBody>
      </p:sp>
      <p:sp>
        <p:nvSpPr>
          <p:cNvPr id="122" name="TextBox 121"/>
          <p:cNvSpPr txBox="1"/>
          <p:nvPr/>
        </p:nvSpPr>
        <p:spPr>
          <a:xfrm>
            <a:off x="2459736" y="2573909"/>
            <a:ext cx="1664208" cy="201930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>
              <a:defRPr sz="1050" b="1">
                <a:solidFill>
                  <a:srgbClr val="003F8F"/>
                </a:solidFill>
                <a:latin typeface="PingFang SC" panose="020B0400000000000000" pitchFamily="34" charset="-122"/>
              </a:defRPr>
            </a:pPr>
            <a:r>
              <a:rPr sz="1200"/>
              <a:t>2 GPU</a:t>
            </a:r>
            <a:endParaRPr sz="1200"/>
          </a:p>
        </p:txBody>
      </p:sp>
      <p:sp>
        <p:nvSpPr>
          <p:cNvPr id="123" name="TextBox 122"/>
          <p:cNvSpPr txBox="1"/>
          <p:nvPr/>
        </p:nvSpPr>
        <p:spPr>
          <a:xfrm>
            <a:off x="2459736" y="2743073"/>
            <a:ext cx="1664208" cy="201930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>
              <a:defRPr sz="950" b="0">
                <a:solidFill>
                  <a:srgbClr val="66788A"/>
                </a:solidFill>
                <a:latin typeface="PingFang SC" panose="020B0400000000000000" pitchFamily="34" charset="-122"/>
              </a:defRPr>
            </a:pPr>
            <a:r>
              <a:rPr sz="1200"/>
              <a:t>配置的最低保障</a:t>
            </a:r>
            <a:endParaRPr sz="1200"/>
          </a:p>
        </p:txBody>
      </p:sp>
      <p:cxnSp>
        <p:nvCxnSpPr>
          <p:cNvPr id="124" name="Connector 123"/>
          <p:cNvCxnSpPr/>
          <p:nvPr/>
        </p:nvCxnSpPr>
        <p:spPr>
          <a:xfrm>
            <a:off x="3291840" y="2953512"/>
            <a:ext cx="0" cy="448056"/>
          </a:xfrm>
          <a:prstGeom prst="line">
            <a:avLst/>
          </a:prstGeom>
          <a:ln w="15240">
            <a:solidFill>
              <a:srgbClr val="2D6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5" name="Rounded Rectangle 124"/>
          <p:cNvSpPr/>
          <p:nvPr/>
        </p:nvSpPr>
        <p:spPr>
          <a:xfrm>
            <a:off x="6867143" y="2304288"/>
            <a:ext cx="1920240" cy="640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1430">
            <a:solidFill>
              <a:srgbClr val="0B5C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sz="1200"/>
          </a:p>
        </p:txBody>
      </p:sp>
      <p:sp>
        <p:nvSpPr>
          <p:cNvPr id="126" name="TextBox 125"/>
          <p:cNvSpPr txBox="1"/>
          <p:nvPr/>
        </p:nvSpPr>
        <p:spPr>
          <a:xfrm>
            <a:off x="6995159" y="2354453"/>
            <a:ext cx="1664208" cy="201930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>
              <a:defRPr sz="1150" b="1">
                <a:solidFill>
                  <a:srgbClr val="0B5CAD"/>
                </a:solidFill>
                <a:latin typeface="PingFang SC" panose="020B0400000000000000" pitchFamily="34" charset="-122"/>
              </a:defRPr>
            </a:pPr>
            <a:r>
              <a:rPr sz="1200"/>
              <a:t>Deserved</a:t>
            </a:r>
            <a:endParaRPr sz="1200"/>
          </a:p>
        </p:txBody>
      </p:sp>
      <p:sp>
        <p:nvSpPr>
          <p:cNvPr id="127" name="TextBox 126"/>
          <p:cNvSpPr txBox="1"/>
          <p:nvPr/>
        </p:nvSpPr>
        <p:spPr>
          <a:xfrm>
            <a:off x="6995159" y="2573909"/>
            <a:ext cx="1664208" cy="201930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>
              <a:defRPr sz="1050" b="1">
                <a:solidFill>
                  <a:srgbClr val="003F8F"/>
                </a:solidFill>
                <a:latin typeface="PingFang SC" panose="020B0400000000000000" pitchFamily="34" charset="-122"/>
              </a:defRPr>
            </a:pPr>
            <a:r>
              <a:rPr sz="1200"/>
              <a:t>6 GPU</a:t>
            </a:r>
            <a:endParaRPr sz="1200"/>
          </a:p>
        </p:txBody>
      </p:sp>
      <p:sp>
        <p:nvSpPr>
          <p:cNvPr id="128" name="TextBox 127"/>
          <p:cNvSpPr txBox="1"/>
          <p:nvPr/>
        </p:nvSpPr>
        <p:spPr>
          <a:xfrm>
            <a:off x="6995159" y="2743073"/>
            <a:ext cx="1664208" cy="201930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>
              <a:defRPr sz="950" b="0">
                <a:solidFill>
                  <a:srgbClr val="66788A"/>
                </a:solidFill>
                <a:latin typeface="PingFang SC" panose="020B0400000000000000" pitchFamily="34" charset="-122"/>
              </a:defRPr>
            </a:pPr>
            <a:r>
              <a:rPr sz="1200"/>
              <a:t>当前公平份额</a:t>
            </a:r>
            <a:endParaRPr sz="1200"/>
          </a:p>
        </p:txBody>
      </p:sp>
      <p:cxnSp>
        <p:nvCxnSpPr>
          <p:cNvPr id="129" name="Connector 128"/>
          <p:cNvCxnSpPr/>
          <p:nvPr/>
        </p:nvCxnSpPr>
        <p:spPr>
          <a:xfrm>
            <a:off x="7827263" y="2953512"/>
            <a:ext cx="0" cy="448056"/>
          </a:xfrm>
          <a:prstGeom prst="line">
            <a:avLst/>
          </a:prstGeom>
          <a:ln w="15240">
            <a:solidFill>
              <a:srgbClr val="0B5C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0" name="Rounded Rectangle 129"/>
          <p:cNvSpPr/>
          <p:nvPr/>
        </p:nvSpPr>
        <p:spPr>
          <a:xfrm>
            <a:off x="9134855" y="2304288"/>
            <a:ext cx="1920240" cy="640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1430">
            <a:solidFill>
              <a:srgbClr val="667A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sz="1200"/>
          </a:p>
        </p:txBody>
      </p:sp>
      <p:sp>
        <p:nvSpPr>
          <p:cNvPr id="131" name="TextBox 130"/>
          <p:cNvSpPr txBox="1"/>
          <p:nvPr/>
        </p:nvSpPr>
        <p:spPr>
          <a:xfrm>
            <a:off x="9262872" y="2341753"/>
            <a:ext cx="1664208" cy="201930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>
              <a:defRPr sz="1150" b="1">
                <a:solidFill>
                  <a:srgbClr val="667A8D"/>
                </a:solidFill>
                <a:latin typeface="PingFang SC" panose="020B0400000000000000" pitchFamily="34" charset="-122"/>
              </a:defRPr>
            </a:pPr>
            <a:r>
              <a:rPr sz="1200"/>
              <a:t>Capability</a:t>
            </a:r>
            <a:endParaRPr sz="1200"/>
          </a:p>
        </p:txBody>
      </p:sp>
      <p:sp>
        <p:nvSpPr>
          <p:cNvPr id="132" name="TextBox 131"/>
          <p:cNvSpPr txBox="1"/>
          <p:nvPr/>
        </p:nvSpPr>
        <p:spPr>
          <a:xfrm>
            <a:off x="9262872" y="2561209"/>
            <a:ext cx="1664208" cy="201930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>
              <a:defRPr sz="1050" b="1">
                <a:solidFill>
                  <a:srgbClr val="003F8F"/>
                </a:solidFill>
                <a:latin typeface="PingFang SC" panose="020B0400000000000000" pitchFamily="34" charset="-122"/>
              </a:defRPr>
            </a:pPr>
            <a:r>
              <a:rPr sz="1200"/>
              <a:t>8 GPU</a:t>
            </a:r>
            <a:endParaRPr sz="1200"/>
          </a:p>
        </p:txBody>
      </p:sp>
      <p:sp>
        <p:nvSpPr>
          <p:cNvPr id="133" name="TextBox 132"/>
          <p:cNvSpPr txBox="1"/>
          <p:nvPr/>
        </p:nvSpPr>
        <p:spPr>
          <a:xfrm>
            <a:off x="9262872" y="2730373"/>
            <a:ext cx="1664208" cy="201930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>
              <a:defRPr sz="950" b="0">
                <a:solidFill>
                  <a:srgbClr val="66788A"/>
                </a:solidFill>
                <a:latin typeface="PingFang SC" panose="020B0400000000000000" pitchFamily="34" charset="-122"/>
              </a:defRPr>
            </a:pPr>
            <a:r>
              <a:rPr sz="1200"/>
              <a:t>硬性使用上限</a:t>
            </a:r>
            <a:endParaRPr sz="1200"/>
          </a:p>
        </p:txBody>
      </p:sp>
      <p:cxnSp>
        <p:nvCxnSpPr>
          <p:cNvPr id="134" name="Connector 133"/>
          <p:cNvCxnSpPr/>
          <p:nvPr/>
        </p:nvCxnSpPr>
        <p:spPr>
          <a:xfrm>
            <a:off x="10094976" y="2953512"/>
            <a:ext cx="0" cy="448056"/>
          </a:xfrm>
          <a:prstGeom prst="line">
            <a:avLst/>
          </a:prstGeom>
          <a:ln w="15240">
            <a:solidFill>
              <a:srgbClr val="667A8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5" name="Rectangle 134"/>
          <p:cNvSpPr/>
          <p:nvPr/>
        </p:nvSpPr>
        <p:spPr>
          <a:xfrm>
            <a:off x="1078992" y="3401568"/>
            <a:ext cx="1078992" cy="566928"/>
          </a:xfrm>
          <a:prstGeom prst="rect">
            <a:avLst/>
          </a:prstGeom>
          <a:solidFill>
            <a:srgbClr val="EAF5F2"/>
          </a:solidFill>
          <a:ln w="10160">
            <a:solidFill>
              <a:srgbClr val="2D6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36" name="TextBox 135"/>
          <p:cNvSpPr txBox="1"/>
          <p:nvPr/>
        </p:nvSpPr>
        <p:spPr>
          <a:xfrm>
            <a:off x="1078992" y="3575304"/>
            <a:ext cx="1078992" cy="118872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>
              <a:defRPr sz="1050" b="1">
                <a:solidFill>
                  <a:srgbClr val="2D6A5F"/>
                </a:solidFill>
                <a:latin typeface="PingFang SC" panose="020B0400000000000000" pitchFamily="34" charset="-122"/>
              </a:defRPr>
            </a:pPr>
            <a:r>
              <a:t>1</a:t>
            </a:r>
          </a:p>
        </p:txBody>
      </p:sp>
      <p:sp>
        <p:nvSpPr>
          <p:cNvPr id="137" name="Rectangle 136"/>
          <p:cNvSpPr/>
          <p:nvPr/>
        </p:nvSpPr>
        <p:spPr>
          <a:xfrm>
            <a:off x="2212848" y="3401568"/>
            <a:ext cx="1078992" cy="566928"/>
          </a:xfrm>
          <a:prstGeom prst="rect">
            <a:avLst/>
          </a:prstGeom>
          <a:solidFill>
            <a:srgbClr val="EAF5F2"/>
          </a:solidFill>
          <a:ln w="10160">
            <a:solidFill>
              <a:srgbClr val="2D6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38" name="TextBox 137"/>
          <p:cNvSpPr txBox="1"/>
          <p:nvPr/>
        </p:nvSpPr>
        <p:spPr>
          <a:xfrm>
            <a:off x="2212848" y="3575304"/>
            <a:ext cx="1078992" cy="118872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>
              <a:defRPr sz="1050" b="1">
                <a:solidFill>
                  <a:srgbClr val="2D6A5F"/>
                </a:solidFill>
                <a:latin typeface="PingFang SC" panose="020B0400000000000000" pitchFamily="34" charset="-122"/>
              </a:defRPr>
            </a:pPr>
            <a:r>
              <a:t>2</a:t>
            </a:r>
          </a:p>
        </p:txBody>
      </p:sp>
      <p:sp>
        <p:nvSpPr>
          <p:cNvPr id="139" name="Rectangle 138"/>
          <p:cNvSpPr/>
          <p:nvPr/>
        </p:nvSpPr>
        <p:spPr>
          <a:xfrm>
            <a:off x="3346704" y="3401568"/>
            <a:ext cx="1078992" cy="566928"/>
          </a:xfrm>
          <a:prstGeom prst="rect">
            <a:avLst/>
          </a:prstGeom>
          <a:solidFill>
            <a:srgbClr val="EAF2FF"/>
          </a:solidFill>
          <a:ln w="10160">
            <a:solidFill>
              <a:srgbClr val="0B5C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40" name="TextBox 139"/>
          <p:cNvSpPr txBox="1"/>
          <p:nvPr/>
        </p:nvSpPr>
        <p:spPr>
          <a:xfrm>
            <a:off x="3346704" y="3575304"/>
            <a:ext cx="1078992" cy="118872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>
              <a:defRPr sz="1050" b="1">
                <a:solidFill>
                  <a:srgbClr val="0B5CAD"/>
                </a:solidFill>
                <a:latin typeface="PingFang SC" panose="020B0400000000000000" pitchFamily="34" charset="-122"/>
              </a:defRPr>
            </a:pPr>
            <a:r>
              <a:t>3</a:t>
            </a:r>
          </a:p>
        </p:txBody>
      </p:sp>
      <p:sp>
        <p:nvSpPr>
          <p:cNvPr id="141" name="Rectangle 140"/>
          <p:cNvSpPr/>
          <p:nvPr/>
        </p:nvSpPr>
        <p:spPr>
          <a:xfrm>
            <a:off x="4480559" y="3401568"/>
            <a:ext cx="1078992" cy="566928"/>
          </a:xfrm>
          <a:prstGeom prst="rect">
            <a:avLst/>
          </a:prstGeom>
          <a:solidFill>
            <a:srgbClr val="EAF2FF"/>
          </a:solidFill>
          <a:ln w="10160">
            <a:solidFill>
              <a:srgbClr val="0B5C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42" name="TextBox 141"/>
          <p:cNvSpPr txBox="1"/>
          <p:nvPr/>
        </p:nvSpPr>
        <p:spPr>
          <a:xfrm>
            <a:off x="4480559" y="3575304"/>
            <a:ext cx="1078992" cy="118872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>
              <a:defRPr sz="1050" b="1">
                <a:solidFill>
                  <a:srgbClr val="0B5CAD"/>
                </a:solidFill>
                <a:latin typeface="PingFang SC" panose="020B0400000000000000" pitchFamily="34" charset="-122"/>
              </a:defRPr>
            </a:pPr>
            <a:r>
              <a:t>4</a:t>
            </a:r>
          </a:p>
        </p:txBody>
      </p:sp>
      <p:sp>
        <p:nvSpPr>
          <p:cNvPr id="143" name="Rectangle 142"/>
          <p:cNvSpPr/>
          <p:nvPr/>
        </p:nvSpPr>
        <p:spPr>
          <a:xfrm>
            <a:off x="5614416" y="3401568"/>
            <a:ext cx="1078992" cy="566928"/>
          </a:xfrm>
          <a:prstGeom prst="rect">
            <a:avLst/>
          </a:prstGeom>
          <a:solidFill>
            <a:srgbClr val="EAF2FF"/>
          </a:solidFill>
          <a:ln w="10160">
            <a:solidFill>
              <a:srgbClr val="0B5C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44" name="TextBox 143"/>
          <p:cNvSpPr txBox="1"/>
          <p:nvPr/>
        </p:nvSpPr>
        <p:spPr>
          <a:xfrm>
            <a:off x="5614416" y="3575304"/>
            <a:ext cx="1078992" cy="118872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>
              <a:defRPr sz="1050" b="1">
                <a:solidFill>
                  <a:srgbClr val="0B5CAD"/>
                </a:solidFill>
                <a:latin typeface="PingFang SC" panose="020B0400000000000000" pitchFamily="34" charset="-122"/>
              </a:defRPr>
            </a:pPr>
            <a:r>
              <a:t>5</a:t>
            </a:r>
          </a:p>
        </p:txBody>
      </p:sp>
      <p:sp>
        <p:nvSpPr>
          <p:cNvPr id="145" name="Rectangle 144"/>
          <p:cNvSpPr/>
          <p:nvPr/>
        </p:nvSpPr>
        <p:spPr>
          <a:xfrm>
            <a:off x="6748272" y="3401568"/>
            <a:ext cx="1078992" cy="566928"/>
          </a:xfrm>
          <a:prstGeom prst="rect">
            <a:avLst/>
          </a:prstGeom>
          <a:solidFill>
            <a:srgbClr val="EAF2FF"/>
          </a:solidFill>
          <a:ln w="10160">
            <a:solidFill>
              <a:srgbClr val="0B5C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46" name="TextBox 145"/>
          <p:cNvSpPr txBox="1"/>
          <p:nvPr/>
        </p:nvSpPr>
        <p:spPr>
          <a:xfrm>
            <a:off x="6748272" y="3575304"/>
            <a:ext cx="1078992" cy="118872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>
              <a:defRPr sz="1050" b="1">
                <a:solidFill>
                  <a:srgbClr val="0B5CAD"/>
                </a:solidFill>
                <a:latin typeface="PingFang SC" panose="020B0400000000000000" pitchFamily="34" charset="-122"/>
              </a:defRPr>
            </a:pPr>
            <a:r>
              <a:t>6</a:t>
            </a:r>
          </a:p>
        </p:txBody>
      </p:sp>
      <p:sp>
        <p:nvSpPr>
          <p:cNvPr id="147" name="Rectangle 146"/>
          <p:cNvSpPr/>
          <p:nvPr/>
        </p:nvSpPr>
        <p:spPr>
          <a:xfrm>
            <a:off x="7882127" y="3401568"/>
            <a:ext cx="1078992" cy="566928"/>
          </a:xfrm>
          <a:prstGeom prst="rect">
            <a:avLst/>
          </a:prstGeom>
          <a:solidFill>
            <a:srgbClr val="F5F7FA"/>
          </a:solidFill>
          <a:ln w="10160">
            <a:solidFill>
              <a:srgbClr val="667A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48" name="TextBox 147"/>
          <p:cNvSpPr txBox="1"/>
          <p:nvPr/>
        </p:nvSpPr>
        <p:spPr>
          <a:xfrm>
            <a:off x="7882127" y="3575304"/>
            <a:ext cx="1078992" cy="118872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>
              <a:defRPr sz="1050" b="1">
                <a:solidFill>
                  <a:srgbClr val="667A8D"/>
                </a:solidFill>
                <a:latin typeface="PingFang SC" panose="020B0400000000000000" pitchFamily="34" charset="-122"/>
              </a:defRPr>
            </a:pPr>
            <a:r>
              <a:t>7</a:t>
            </a:r>
          </a:p>
        </p:txBody>
      </p:sp>
      <p:sp>
        <p:nvSpPr>
          <p:cNvPr id="149" name="Rectangle 148"/>
          <p:cNvSpPr/>
          <p:nvPr/>
        </p:nvSpPr>
        <p:spPr>
          <a:xfrm>
            <a:off x="9015984" y="3401568"/>
            <a:ext cx="1078992" cy="566928"/>
          </a:xfrm>
          <a:prstGeom prst="rect">
            <a:avLst/>
          </a:prstGeom>
          <a:solidFill>
            <a:srgbClr val="F5F7FA"/>
          </a:solidFill>
          <a:ln w="10160">
            <a:solidFill>
              <a:srgbClr val="667A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50" name="TextBox 149"/>
          <p:cNvSpPr txBox="1"/>
          <p:nvPr/>
        </p:nvSpPr>
        <p:spPr>
          <a:xfrm>
            <a:off x="9015984" y="3575304"/>
            <a:ext cx="1078992" cy="118872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>
              <a:defRPr sz="1050" b="1">
                <a:solidFill>
                  <a:srgbClr val="667A8D"/>
                </a:solidFill>
                <a:latin typeface="PingFang SC" panose="020B0400000000000000" pitchFamily="34" charset="-122"/>
              </a:defRPr>
            </a:pPr>
            <a:r>
              <a:t>8</a:t>
            </a:r>
          </a:p>
        </p:txBody>
      </p:sp>
      <p:sp>
        <p:nvSpPr>
          <p:cNvPr id="151" name="Rounded Rectangle 150"/>
          <p:cNvSpPr/>
          <p:nvPr/>
        </p:nvSpPr>
        <p:spPr>
          <a:xfrm>
            <a:off x="1078992" y="4315968"/>
            <a:ext cx="2212848" cy="987552"/>
          </a:xfrm>
          <a:prstGeom prst="roundRect">
            <a:avLst>
              <a:gd name="adj" fmla="val 8000"/>
            </a:avLst>
          </a:prstGeom>
          <a:solidFill>
            <a:srgbClr val="EAF5F2"/>
          </a:solidFill>
          <a:ln w="11430">
            <a:solidFill>
              <a:srgbClr val="2D6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sz="1200"/>
          </a:p>
        </p:txBody>
      </p:sp>
      <p:sp>
        <p:nvSpPr>
          <p:cNvPr id="152" name="TextBox 151"/>
          <p:cNvSpPr txBox="1"/>
          <p:nvPr/>
        </p:nvSpPr>
        <p:spPr>
          <a:xfrm>
            <a:off x="1225295" y="4429887"/>
            <a:ext cx="1920240" cy="201930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defRPr sz="1150" b="1">
                <a:solidFill>
                  <a:srgbClr val="2D6A5F"/>
                </a:solidFill>
                <a:latin typeface="PingFang SC" panose="020B0400000000000000" pitchFamily="34" charset="-122"/>
              </a:defRPr>
            </a:pPr>
            <a:r>
              <a:rPr sz="1200"/>
              <a:t>最低保障</a:t>
            </a:r>
            <a:endParaRPr sz="1200"/>
          </a:p>
        </p:txBody>
      </p:sp>
      <p:sp>
        <p:nvSpPr>
          <p:cNvPr id="153" name="TextBox 152"/>
          <p:cNvSpPr txBox="1"/>
          <p:nvPr/>
        </p:nvSpPr>
        <p:spPr>
          <a:xfrm>
            <a:off x="1225295" y="4672203"/>
            <a:ext cx="1920240" cy="201930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defRPr sz="1050" b="1">
                <a:solidFill>
                  <a:srgbClr val="003F8F"/>
                </a:solidFill>
                <a:latin typeface="PingFang SC" panose="020B0400000000000000" pitchFamily="34" charset="-122"/>
              </a:defRPr>
            </a:pPr>
            <a:r>
              <a:rPr sz="1200"/>
              <a:t>0–2 GPU</a:t>
            </a:r>
            <a:endParaRPr sz="1200"/>
          </a:p>
        </p:txBody>
      </p:sp>
      <p:sp>
        <p:nvSpPr>
          <p:cNvPr id="154" name="TextBox 153"/>
          <p:cNvSpPr txBox="1"/>
          <p:nvPr/>
        </p:nvSpPr>
        <p:spPr>
          <a:xfrm>
            <a:off x="1225295" y="4937379"/>
            <a:ext cx="1920240" cy="201930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defRPr sz="950" b="0">
                <a:solidFill>
                  <a:srgbClr val="66788A"/>
                </a:solidFill>
                <a:latin typeface="PingFang SC" panose="020B0400000000000000" pitchFamily="34" charset="-122"/>
              </a:defRPr>
            </a:pPr>
            <a:r>
              <a:rPr sz="1200"/>
              <a:t>避免 Queue 被完全挤出</a:t>
            </a:r>
            <a:endParaRPr sz="1200"/>
          </a:p>
        </p:txBody>
      </p:sp>
      <p:sp>
        <p:nvSpPr>
          <p:cNvPr id="155" name="Rounded Rectangle 154"/>
          <p:cNvSpPr/>
          <p:nvPr/>
        </p:nvSpPr>
        <p:spPr>
          <a:xfrm>
            <a:off x="3346704" y="4315968"/>
            <a:ext cx="4480560" cy="987552"/>
          </a:xfrm>
          <a:prstGeom prst="roundRect">
            <a:avLst>
              <a:gd name="adj" fmla="val 8000"/>
            </a:avLst>
          </a:prstGeom>
          <a:solidFill>
            <a:srgbClr val="EAF2FF"/>
          </a:solidFill>
          <a:ln w="11430">
            <a:solidFill>
              <a:srgbClr val="0B5C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sz="1200"/>
          </a:p>
        </p:txBody>
      </p:sp>
      <p:sp>
        <p:nvSpPr>
          <p:cNvPr id="156" name="TextBox 155"/>
          <p:cNvSpPr txBox="1"/>
          <p:nvPr/>
        </p:nvSpPr>
        <p:spPr>
          <a:xfrm>
            <a:off x="3493008" y="4429887"/>
            <a:ext cx="4187952" cy="201930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defRPr sz="1150" b="1">
                <a:solidFill>
                  <a:srgbClr val="0B5CAD"/>
                </a:solidFill>
                <a:latin typeface="PingFang SC" panose="020B0400000000000000" pitchFamily="34" charset="-122"/>
              </a:defRPr>
            </a:pPr>
            <a:r>
              <a:rPr sz="1200"/>
              <a:t>应得扩展区</a:t>
            </a:r>
            <a:endParaRPr sz="1200"/>
          </a:p>
        </p:txBody>
      </p:sp>
      <p:sp>
        <p:nvSpPr>
          <p:cNvPr id="157" name="TextBox 156"/>
          <p:cNvSpPr txBox="1"/>
          <p:nvPr/>
        </p:nvSpPr>
        <p:spPr>
          <a:xfrm>
            <a:off x="3493008" y="4672203"/>
            <a:ext cx="4187952" cy="201930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defRPr sz="1050" b="1">
                <a:solidFill>
                  <a:srgbClr val="003F8F"/>
                </a:solidFill>
                <a:latin typeface="PingFang SC" panose="020B0400000000000000" pitchFamily="34" charset="-122"/>
              </a:defRPr>
            </a:pPr>
            <a:r>
              <a:rPr sz="1200"/>
              <a:t>2–6 GPU</a:t>
            </a:r>
            <a:endParaRPr sz="1200"/>
          </a:p>
        </p:txBody>
      </p:sp>
      <p:sp>
        <p:nvSpPr>
          <p:cNvPr id="158" name="TextBox 157"/>
          <p:cNvSpPr txBox="1"/>
          <p:nvPr/>
        </p:nvSpPr>
        <p:spPr>
          <a:xfrm>
            <a:off x="3493008" y="4937379"/>
            <a:ext cx="4187952" cy="201930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defRPr sz="950" b="0">
                <a:solidFill>
                  <a:srgbClr val="66788A"/>
                </a:solidFill>
                <a:latin typeface="PingFang SC" panose="020B0400000000000000" pitchFamily="34" charset="-122"/>
              </a:defRPr>
            </a:pPr>
            <a:r>
              <a:rPr sz="1200"/>
              <a:t>未使用时可共享，需求出现可取回</a:t>
            </a:r>
            <a:endParaRPr sz="1200"/>
          </a:p>
        </p:txBody>
      </p:sp>
      <p:sp>
        <p:nvSpPr>
          <p:cNvPr id="159" name="Rounded Rectangle 158"/>
          <p:cNvSpPr/>
          <p:nvPr/>
        </p:nvSpPr>
        <p:spPr>
          <a:xfrm>
            <a:off x="7882127" y="4315968"/>
            <a:ext cx="2212848" cy="987552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11430">
            <a:solidFill>
              <a:srgbClr val="667A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sz="1200"/>
          </a:p>
        </p:txBody>
      </p:sp>
      <p:sp>
        <p:nvSpPr>
          <p:cNvPr id="160" name="TextBox 159"/>
          <p:cNvSpPr txBox="1"/>
          <p:nvPr/>
        </p:nvSpPr>
        <p:spPr>
          <a:xfrm>
            <a:off x="8028431" y="4429887"/>
            <a:ext cx="1920240" cy="201930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defRPr sz="1150" b="1">
                <a:solidFill>
                  <a:srgbClr val="667A8D"/>
                </a:solidFill>
                <a:latin typeface="PingFang SC" panose="020B0400000000000000" pitchFamily="34" charset="-122"/>
              </a:defRPr>
            </a:pPr>
            <a:r>
              <a:rPr sz="1200"/>
              <a:t>借用空间</a:t>
            </a:r>
            <a:endParaRPr sz="1200"/>
          </a:p>
        </p:txBody>
      </p:sp>
      <p:sp>
        <p:nvSpPr>
          <p:cNvPr id="161" name="TextBox 160"/>
          <p:cNvSpPr txBox="1"/>
          <p:nvPr/>
        </p:nvSpPr>
        <p:spPr>
          <a:xfrm>
            <a:off x="8028431" y="4672203"/>
            <a:ext cx="1920240" cy="201930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defRPr sz="1050" b="1">
                <a:solidFill>
                  <a:srgbClr val="003F8F"/>
                </a:solidFill>
                <a:latin typeface="PingFang SC" panose="020B0400000000000000" pitchFamily="34" charset="-122"/>
              </a:defRPr>
            </a:pPr>
            <a:r>
              <a:rPr sz="1200"/>
              <a:t>6–8 GPU</a:t>
            </a:r>
            <a:endParaRPr sz="1200"/>
          </a:p>
        </p:txBody>
      </p:sp>
      <p:sp>
        <p:nvSpPr>
          <p:cNvPr id="162" name="TextBox 161"/>
          <p:cNvSpPr txBox="1"/>
          <p:nvPr/>
        </p:nvSpPr>
        <p:spPr>
          <a:xfrm>
            <a:off x="8028431" y="4937379"/>
            <a:ext cx="1920240" cy="201930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defRPr sz="950" b="0">
                <a:solidFill>
                  <a:srgbClr val="66788A"/>
                </a:solidFill>
                <a:latin typeface="PingFang SC" panose="020B0400000000000000" pitchFamily="34" charset="-122"/>
              </a:defRPr>
            </a:pPr>
            <a:r>
              <a:rPr sz="1200"/>
              <a:t>仅在共享池有余量时使用</a:t>
            </a:r>
            <a:endParaRPr sz="1200"/>
          </a:p>
        </p:txBody>
      </p:sp>
      <p:sp>
        <p:nvSpPr>
          <p:cNvPr id="164" name="TextBox 163"/>
          <p:cNvSpPr txBox="1"/>
          <p:nvPr/>
        </p:nvSpPr>
        <p:spPr>
          <a:xfrm>
            <a:off x="1078992" y="5625148"/>
            <a:ext cx="9034272" cy="248285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>
              <a:defRPr sz="1220" b="1">
                <a:solidFill>
                  <a:srgbClr val="003F8F"/>
                </a:solidFill>
                <a:latin typeface="PingFang SC" panose="020B0400000000000000" pitchFamily="34" charset="-122"/>
              </a:defRPr>
            </a:pPr>
            <a:r>
              <a:t>Guarantee ≤ Deserved ≤ Capability</a:t>
            </a:r>
            <a:endParaRPr sz="15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F8F"/>
          </a:solidFill>
          <a:ln w="12700">
            <a:solidFill>
              <a:srgbClr val="003F8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" y="228600"/>
            <a:ext cx="1417320" cy="393192"/>
          </a:xfrm>
          <a:prstGeom prst="chevron">
            <a:avLst/>
          </a:prstGeom>
          <a:solidFill>
            <a:srgbClr val="003F8F"/>
          </a:solidFill>
          <a:ln w="12700">
            <a:solidFill>
              <a:srgbClr val="003F8F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274320"/>
            <a:ext cx="1078992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第二章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2212848" y="182880"/>
            <a:ext cx="7635240" cy="512064"/>
          </a:xfrm>
          <a:prstGeom prst="rect">
            <a:avLst/>
          </a:prstGeom>
          <a:noFill/>
        </p:spPr>
        <p:txBody>
          <a:bodyPr wrap="square" lIns="18288" tIns="9144" rIns="18288" bIns="9144" rtlCol="0" anchor="ctr">
            <a:normAutofit/>
          </a:bodyPr>
          <a:lstStyle/>
          <a:p>
            <a:pPr marL="0" indent="0" algn="l">
              <a:buNone/>
              <a:defRPr sz="2750" b="1">
                <a:solidFill>
                  <a:srgbClr val="003F8F"/>
                </a:solidFill>
                <a:latin typeface="PingFang SC" panose="020B0400000000000000" pitchFamily="34" charset="-122"/>
              </a:defRPr>
            </a:pPr>
            <a:r>
              <a:t>训推资源如何完成借与还</a:t>
            </a:r>
            <a:endParaRPr lang="zh-CN">
              <a:latin typeface="PingFang SC Semibold" panose="020B0400000000000000" charset="-122"/>
              <a:ea typeface="PingFang SC Semibold" panose="020B0400000000000000" charset="-122"/>
            </a:endParaRPr>
          </a:p>
        </p:txBody>
      </p:sp>
      <p:sp>
        <p:nvSpPr>
          <p:cNvPr id="7" name="Shape 5"/>
          <p:cNvSpPr/>
          <p:nvPr/>
        </p:nvSpPr>
        <p:spPr>
          <a:xfrm>
            <a:off x="566928" y="1225296"/>
            <a:ext cx="11018520" cy="0"/>
          </a:xfrm>
          <a:prstGeom prst="line">
            <a:avLst/>
          </a:prstGeom>
          <a:noFill/>
          <a:ln w="11430">
            <a:solidFill>
              <a:srgbClr val="B9C8D8"/>
            </a:solidFill>
            <a:prstDash val="solid"/>
            <a:headEnd type="none"/>
          </a:ln>
        </p:spPr>
      </p:sp>
      <p:sp>
        <p:nvSpPr>
          <p:cNvPr id="8" name="Shape 6"/>
          <p:cNvSpPr/>
          <p:nvPr/>
        </p:nvSpPr>
        <p:spPr>
          <a:xfrm>
            <a:off x="566928" y="1179576"/>
            <a:ext cx="1225296" cy="91440"/>
          </a:xfrm>
          <a:prstGeom prst="rect">
            <a:avLst/>
          </a:prstGeom>
          <a:solidFill>
            <a:srgbClr val="E43D30"/>
          </a:solidFill>
          <a:ln w="12700">
            <a:solidFill>
              <a:srgbClr val="E43D30">
                <a:alpha val="0"/>
              </a:srgbClr>
            </a:solidFill>
            <a:prstDash val="solid"/>
          </a:ln>
        </p:spPr>
      </p:sp>
      <p:pic>
        <p:nvPicPr>
          <p:cNvPr id="9" name="Image 0" descr="/Users/chenzicong/Documents/Codex/2026-07-20/wo/outputs/volcano-unified-scheduling-editable/assets/volcano-logo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97312" y="321114"/>
            <a:ext cx="1078992" cy="180733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1475720" y="6492240"/>
            <a:ext cx="347472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768597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13</a:t>
            </a:r>
            <a:endParaRPr lang="en-US" sz="950" dirty="0"/>
          </a:p>
        </p:txBody>
      </p:sp>
      <p:sp>
        <p:nvSpPr>
          <p:cNvPr id="99" name="Shape 96"/>
          <p:cNvSpPr/>
          <p:nvPr/>
        </p:nvSpPr>
        <p:spPr>
          <a:xfrm>
            <a:off x="640080" y="6236208"/>
            <a:ext cx="10908792" cy="402336"/>
          </a:xfrm>
          <a:prstGeom prst="rect">
            <a:avLst/>
          </a:prstGeom>
          <a:solidFill>
            <a:srgbClr val="003F8F"/>
          </a:solidFill>
          <a:ln w="12700">
            <a:solidFill>
              <a:srgbClr val="003F8F">
                <a:alpha val="0"/>
              </a:srgbClr>
            </a:solidFill>
            <a:prstDash val="solid"/>
          </a:ln>
        </p:spPr>
      </p:sp>
      <p:sp>
        <p:nvSpPr>
          <p:cNvPr id="100" name="Shape 97"/>
          <p:cNvSpPr/>
          <p:nvPr/>
        </p:nvSpPr>
        <p:spPr>
          <a:xfrm>
            <a:off x="640080" y="6236208"/>
            <a:ext cx="109728" cy="402336"/>
          </a:xfrm>
          <a:prstGeom prst="rect">
            <a:avLst/>
          </a:prstGeom>
          <a:solidFill>
            <a:srgbClr val="E43D30"/>
          </a:solidFill>
          <a:ln w="12700">
            <a:solidFill>
              <a:srgbClr val="E43D30">
                <a:alpha val="0"/>
              </a:srgbClr>
            </a:solidFill>
            <a:prstDash val="solid"/>
          </a:ln>
        </p:spPr>
      </p:sp>
      <p:sp>
        <p:nvSpPr>
          <p:cNvPr id="101" name="Text 98"/>
          <p:cNvSpPr/>
          <p:nvPr/>
        </p:nvSpPr>
        <p:spPr>
          <a:xfrm>
            <a:off x="914400" y="6272784"/>
            <a:ext cx="10378440" cy="301752"/>
          </a:xfrm>
          <a:prstGeom prst="rect">
            <a:avLst/>
          </a:prstGeom>
          <a:noFill/>
        </p:spPr>
        <p:txBody>
          <a:bodyPr wrap="square" lIns="18288" tIns="9144" rIns="18288" bIns="9144" rtlCol="0" anchor="ctr">
            <a:normAutofit/>
          </a:bodyPr>
          <a:lstStyle/>
          <a:p>
            <a:pPr marL="0" indent="0" algn="ctr">
              <a:buNone/>
              <a:defRPr sz="1380" b="1">
                <a:solidFill>
                  <a:srgbClr val="FFFFFF"/>
                </a:solidFill>
                <a:latin typeface="PingFang SC" panose="020B0400000000000000" pitchFamily="34" charset="-122"/>
              </a:defRPr>
            </a:pPr>
            <a:r>
              <a:t>低峰时 Training 使用共享池余量；Serving 需求出现后，Training 归还超过 Deserved 的 4 GPU</a:t>
            </a:r>
            <a:endParaRPr lang="en-US" sz="1500" dirty="0"/>
          </a:p>
        </p:txBody>
      </p:sp>
      <p:sp>
        <p:nvSpPr>
          <p:cNvPr id="102" name="TextBox 101"/>
          <p:cNvSpPr txBox="1"/>
          <p:nvPr/>
        </p:nvSpPr>
        <p:spPr>
          <a:xfrm>
            <a:off x="685800" y="896112"/>
            <a:ext cx="9985248" cy="219456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defRPr sz="1420" b="0">
                <a:solidFill>
                  <a:srgbClr val="66788A"/>
                </a:solidFill>
                <a:latin typeface="PingFang SC" panose="020B0400000000000000" pitchFamily="34" charset="-122"/>
              </a:defRPr>
            </a:pPr>
            <a:r>
              <a:t>Deserved 保持不变；低峰借用空闲份额，需求恢复后归还超出部分</a:t>
            </a:r>
          </a:p>
        </p:txBody>
      </p:sp>
      <p:sp>
        <p:nvSpPr>
          <p:cNvPr id="103" name="Rounded Rectangle 102"/>
          <p:cNvSpPr/>
          <p:nvPr/>
        </p:nvSpPr>
        <p:spPr>
          <a:xfrm>
            <a:off x="603504" y="1755648"/>
            <a:ext cx="3346704" cy="4133087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065">
            <a:solidFill>
              <a:srgbClr val="0B5C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Chevron 103"/>
          <p:cNvSpPr/>
          <p:nvPr/>
        </p:nvSpPr>
        <p:spPr>
          <a:xfrm>
            <a:off x="768096" y="1956816"/>
            <a:ext cx="1298448" cy="329184"/>
          </a:xfrm>
          <a:prstGeom prst="chevron">
            <a:avLst/>
          </a:prstGeom>
          <a:solidFill>
            <a:srgbClr val="0B5C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841248" y="2007108"/>
            <a:ext cx="1097280" cy="164592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>
              <a:defRPr sz="920" b="1">
                <a:solidFill>
                  <a:srgbClr val="FFFFFF"/>
                </a:solidFill>
                <a:latin typeface="PingFang SC" panose="020B0400000000000000" pitchFamily="34" charset="-122"/>
              </a:defRPr>
            </a:pPr>
            <a:r>
              <a:t>T0｜低峰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932688" y="2660904"/>
            <a:ext cx="1298448" cy="182880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defRPr sz="1070" b="1">
                <a:solidFill>
                  <a:srgbClr val="003F8F"/>
                </a:solidFill>
                <a:latin typeface="PingFang SC" panose="020B0400000000000000" pitchFamily="34" charset="-122"/>
              </a:defRPr>
            </a:pPr>
            <a:r>
              <a:t>Serving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2834640" y="2660904"/>
            <a:ext cx="786384" cy="182880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r">
              <a:defRPr sz="1050" b="1">
                <a:solidFill>
                  <a:srgbClr val="0B5CAD"/>
                </a:solidFill>
                <a:latin typeface="PingFang SC" panose="020B0400000000000000" pitchFamily="34" charset="-122"/>
              </a:defRPr>
            </a:pPr>
            <a:r>
              <a:t>2 GPU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932688" y="2971800"/>
            <a:ext cx="2688336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B8C5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932688" y="2971800"/>
            <a:ext cx="448056" cy="411480"/>
          </a:xfrm>
          <a:prstGeom prst="rect">
            <a:avLst/>
          </a:prstGeom>
          <a:solidFill>
            <a:srgbClr val="EAF2FF"/>
          </a:solidFill>
          <a:ln w="8255">
            <a:solidFill>
              <a:srgbClr val="0B5C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0" name="Connector 109"/>
          <p:cNvCxnSpPr/>
          <p:nvPr/>
        </p:nvCxnSpPr>
        <p:spPr>
          <a:xfrm>
            <a:off x="2276856" y="2862072"/>
            <a:ext cx="0" cy="630936"/>
          </a:xfrm>
          <a:prstGeom prst="line">
            <a:avLst/>
          </a:prstGeom>
          <a:ln w="15240">
            <a:solidFill>
              <a:srgbClr val="0B5C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1" name="TextBox 110"/>
          <p:cNvSpPr txBox="1"/>
          <p:nvPr/>
        </p:nvSpPr>
        <p:spPr>
          <a:xfrm>
            <a:off x="1764792" y="3483864"/>
            <a:ext cx="1024128" cy="155448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>
              <a:defRPr sz="920" b="1">
                <a:solidFill>
                  <a:srgbClr val="0B5CAD"/>
                </a:solidFill>
                <a:latin typeface="PingFang SC" panose="020B0400000000000000" pitchFamily="34" charset="-122"/>
              </a:defRPr>
            </a:pPr>
            <a:r>
              <a:t>Deserved 6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932688" y="3767328"/>
            <a:ext cx="1298448" cy="182880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defRPr sz="1070" b="1">
                <a:solidFill>
                  <a:srgbClr val="003F8F"/>
                </a:solidFill>
                <a:latin typeface="PingFang SC" panose="020B0400000000000000" pitchFamily="34" charset="-122"/>
              </a:defRPr>
            </a:pPr>
            <a:r>
              <a:t>Training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2834640" y="3767328"/>
            <a:ext cx="786384" cy="182880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r">
              <a:defRPr sz="1050" b="1">
                <a:solidFill>
                  <a:srgbClr val="667A8D"/>
                </a:solidFill>
                <a:latin typeface="PingFang SC" panose="020B0400000000000000" pitchFamily="34" charset="-122"/>
              </a:defRPr>
            </a:pPr>
            <a:r>
              <a:t>6 GPU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932688" y="4078224"/>
            <a:ext cx="2688336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B8C5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Rectangle 114"/>
          <p:cNvSpPr/>
          <p:nvPr/>
        </p:nvSpPr>
        <p:spPr>
          <a:xfrm>
            <a:off x="932688" y="4078224"/>
            <a:ext cx="1344168" cy="411480"/>
          </a:xfrm>
          <a:prstGeom prst="rect">
            <a:avLst/>
          </a:prstGeom>
          <a:solidFill>
            <a:srgbClr val="F5F7FA"/>
          </a:solidFill>
          <a:ln w="8255">
            <a:solidFill>
              <a:srgbClr val="667A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6" name="Connector 115"/>
          <p:cNvCxnSpPr/>
          <p:nvPr/>
        </p:nvCxnSpPr>
        <p:spPr>
          <a:xfrm>
            <a:off x="2276856" y="3968496"/>
            <a:ext cx="0" cy="630936"/>
          </a:xfrm>
          <a:prstGeom prst="line">
            <a:avLst/>
          </a:prstGeom>
          <a:ln w="15240">
            <a:solidFill>
              <a:srgbClr val="0B5C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7" name="TextBox 116"/>
          <p:cNvSpPr txBox="1"/>
          <p:nvPr/>
        </p:nvSpPr>
        <p:spPr>
          <a:xfrm>
            <a:off x="1764792" y="4590288"/>
            <a:ext cx="1024128" cy="155448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>
              <a:defRPr sz="920" b="1">
                <a:solidFill>
                  <a:srgbClr val="0B5CAD"/>
                </a:solidFill>
                <a:latin typeface="PingFang SC" panose="020B0400000000000000" pitchFamily="34" charset="-122"/>
              </a:defRPr>
            </a:pPr>
            <a:r>
              <a:t>Deserved 6</a:t>
            </a:r>
          </a:p>
        </p:txBody>
      </p:sp>
      <p:sp>
        <p:nvSpPr>
          <p:cNvPr id="118" name="Rounded Rectangle 117"/>
          <p:cNvSpPr/>
          <p:nvPr/>
        </p:nvSpPr>
        <p:spPr>
          <a:xfrm>
            <a:off x="914400" y="5138928"/>
            <a:ext cx="2724912" cy="475488"/>
          </a:xfrm>
          <a:prstGeom prst="roundRect">
            <a:avLst>
              <a:gd name="adj" fmla="val 8000"/>
            </a:avLst>
          </a:prstGeom>
          <a:solidFill>
            <a:srgbClr val="EAF2FF"/>
          </a:solidFill>
          <a:ln w="9525">
            <a:solidFill>
              <a:srgbClr val="0B5C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914400" y="5285232"/>
            <a:ext cx="2724912" cy="164592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>
              <a:defRPr sz="1050" b="1">
                <a:solidFill>
                  <a:srgbClr val="0B5CAD"/>
                </a:solidFill>
                <a:latin typeface="PingFang SC" panose="020B0400000000000000" pitchFamily="34" charset="-122"/>
              </a:defRPr>
            </a:pPr>
            <a:r>
              <a:t>共享池空闲 4 GPU</a:t>
            </a:r>
          </a:p>
        </p:txBody>
      </p:sp>
      <p:sp>
        <p:nvSpPr>
          <p:cNvPr id="120" name="Chevron 119"/>
          <p:cNvSpPr/>
          <p:nvPr/>
        </p:nvSpPr>
        <p:spPr>
          <a:xfrm>
            <a:off x="4041521" y="3502152"/>
            <a:ext cx="384048" cy="310896"/>
          </a:xfrm>
          <a:prstGeom prst="chevron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Rounded Rectangle 121"/>
          <p:cNvSpPr/>
          <p:nvPr/>
        </p:nvSpPr>
        <p:spPr>
          <a:xfrm>
            <a:off x="4425696" y="1755648"/>
            <a:ext cx="3346704" cy="4133087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065">
            <a:solidFill>
              <a:srgbClr val="B779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Chevron 122"/>
          <p:cNvSpPr/>
          <p:nvPr/>
        </p:nvSpPr>
        <p:spPr>
          <a:xfrm>
            <a:off x="4590288" y="1956816"/>
            <a:ext cx="1298448" cy="329184"/>
          </a:xfrm>
          <a:prstGeom prst="chevron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4663440" y="2007108"/>
            <a:ext cx="1097280" cy="164592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>
              <a:defRPr sz="920" b="1">
                <a:solidFill>
                  <a:srgbClr val="FFFFFF"/>
                </a:solidFill>
                <a:latin typeface="PingFang SC" panose="020B0400000000000000" pitchFamily="34" charset="-122"/>
              </a:defRPr>
            </a:pPr>
            <a:r>
              <a:t>T1｜借用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4754880" y="2660904"/>
            <a:ext cx="1298448" cy="182880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defRPr sz="1070" b="1">
                <a:solidFill>
                  <a:srgbClr val="003F8F"/>
                </a:solidFill>
                <a:latin typeface="PingFang SC" panose="020B0400000000000000" pitchFamily="34" charset="-122"/>
              </a:defRPr>
            </a:pPr>
            <a:r>
              <a:t>Serving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6656832" y="2660904"/>
            <a:ext cx="786384" cy="182880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r">
              <a:defRPr sz="1050" b="1">
                <a:solidFill>
                  <a:srgbClr val="0B5CAD"/>
                </a:solidFill>
                <a:latin typeface="PingFang SC" panose="020B0400000000000000" pitchFamily="34" charset="-122"/>
              </a:defRPr>
            </a:pPr>
            <a:r>
              <a:t>2 GPU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4754880" y="2971800"/>
            <a:ext cx="2688336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B8C5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Rectangle 127"/>
          <p:cNvSpPr/>
          <p:nvPr/>
        </p:nvSpPr>
        <p:spPr>
          <a:xfrm>
            <a:off x="4754880" y="2971800"/>
            <a:ext cx="448056" cy="411480"/>
          </a:xfrm>
          <a:prstGeom prst="rect">
            <a:avLst/>
          </a:prstGeom>
          <a:solidFill>
            <a:srgbClr val="EAF2FF"/>
          </a:solidFill>
          <a:ln w="8255">
            <a:solidFill>
              <a:srgbClr val="0B5C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9" name="Connector 128"/>
          <p:cNvCxnSpPr/>
          <p:nvPr/>
        </p:nvCxnSpPr>
        <p:spPr>
          <a:xfrm>
            <a:off x="6099048" y="2862072"/>
            <a:ext cx="0" cy="630936"/>
          </a:xfrm>
          <a:prstGeom prst="line">
            <a:avLst/>
          </a:prstGeom>
          <a:ln w="15240">
            <a:solidFill>
              <a:srgbClr val="0B5C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0" name="TextBox 129"/>
          <p:cNvSpPr txBox="1"/>
          <p:nvPr/>
        </p:nvSpPr>
        <p:spPr>
          <a:xfrm>
            <a:off x="5586983" y="3483864"/>
            <a:ext cx="1024128" cy="155448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>
              <a:defRPr sz="920" b="1">
                <a:solidFill>
                  <a:srgbClr val="0B5CAD"/>
                </a:solidFill>
                <a:latin typeface="PingFang SC" panose="020B0400000000000000" pitchFamily="34" charset="-122"/>
              </a:defRPr>
            </a:pPr>
            <a:r>
              <a:t>Deserved 6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4754880" y="3767328"/>
            <a:ext cx="1298448" cy="182880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defRPr sz="1070" b="1">
                <a:solidFill>
                  <a:srgbClr val="003F8F"/>
                </a:solidFill>
                <a:latin typeface="PingFang SC" panose="020B0400000000000000" pitchFamily="34" charset="-122"/>
              </a:defRPr>
            </a:pPr>
            <a:r>
              <a:t>Training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6656832" y="3767328"/>
            <a:ext cx="786384" cy="182880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r">
              <a:defRPr sz="1050" b="1">
                <a:solidFill>
                  <a:srgbClr val="667A8D"/>
                </a:solidFill>
                <a:latin typeface="PingFang SC" panose="020B0400000000000000" pitchFamily="34" charset="-122"/>
              </a:defRPr>
            </a:pPr>
            <a:r>
              <a:t>10 GPU</a:t>
            </a:r>
          </a:p>
        </p:txBody>
      </p:sp>
      <p:sp>
        <p:nvSpPr>
          <p:cNvPr id="133" name="Rectangle 132"/>
          <p:cNvSpPr/>
          <p:nvPr/>
        </p:nvSpPr>
        <p:spPr>
          <a:xfrm>
            <a:off x="4754880" y="4078224"/>
            <a:ext cx="2688336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B8C5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Rectangle 133"/>
          <p:cNvSpPr/>
          <p:nvPr/>
        </p:nvSpPr>
        <p:spPr>
          <a:xfrm>
            <a:off x="4754880" y="4078224"/>
            <a:ext cx="1344168" cy="411480"/>
          </a:xfrm>
          <a:prstGeom prst="rect">
            <a:avLst/>
          </a:prstGeom>
          <a:solidFill>
            <a:srgbClr val="F5F7FA"/>
          </a:solidFill>
          <a:ln w="8255">
            <a:solidFill>
              <a:srgbClr val="667A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Rectangle 134"/>
          <p:cNvSpPr/>
          <p:nvPr/>
        </p:nvSpPr>
        <p:spPr>
          <a:xfrm>
            <a:off x="6099048" y="4078224"/>
            <a:ext cx="896112" cy="411480"/>
          </a:xfrm>
          <a:prstGeom prst="rect">
            <a:avLst/>
          </a:prstGeom>
          <a:solidFill>
            <a:srgbClr val="FFF8E8"/>
          </a:solidFill>
          <a:ln w="8255">
            <a:solidFill>
              <a:srgbClr val="B779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36" name="Connector 135"/>
          <p:cNvCxnSpPr/>
          <p:nvPr/>
        </p:nvCxnSpPr>
        <p:spPr>
          <a:xfrm>
            <a:off x="6099048" y="3968496"/>
            <a:ext cx="0" cy="630936"/>
          </a:xfrm>
          <a:prstGeom prst="line">
            <a:avLst/>
          </a:prstGeom>
          <a:ln w="15240">
            <a:solidFill>
              <a:srgbClr val="0B5C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7" name="TextBox 136"/>
          <p:cNvSpPr txBox="1"/>
          <p:nvPr/>
        </p:nvSpPr>
        <p:spPr>
          <a:xfrm>
            <a:off x="5586983" y="4590288"/>
            <a:ext cx="1024128" cy="155448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>
              <a:defRPr sz="920" b="1">
                <a:solidFill>
                  <a:srgbClr val="0B5CAD"/>
                </a:solidFill>
                <a:latin typeface="PingFang SC" panose="020B0400000000000000" pitchFamily="34" charset="-122"/>
              </a:defRPr>
            </a:pPr>
            <a:r>
              <a:t>Deserved 6</a:t>
            </a:r>
          </a:p>
        </p:txBody>
      </p:sp>
      <p:sp>
        <p:nvSpPr>
          <p:cNvPr id="138" name="Rounded Rectangle 137"/>
          <p:cNvSpPr/>
          <p:nvPr/>
        </p:nvSpPr>
        <p:spPr>
          <a:xfrm>
            <a:off x="4736592" y="5138928"/>
            <a:ext cx="2724912" cy="475488"/>
          </a:xfrm>
          <a:prstGeom prst="roundRect">
            <a:avLst>
              <a:gd name="adj" fmla="val 8000"/>
            </a:avLst>
          </a:prstGeom>
          <a:solidFill>
            <a:srgbClr val="FFF8E8"/>
          </a:solidFill>
          <a:ln w="9525">
            <a:solidFill>
              <a:srgbClr val="B779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TextBox 138"/>
          <p:cNvSpPr txBox="1"/>
          <p:nvPr/>
        </p:nvSpPr>
        <p:spPr>
          <a:xfrm>
            <a:off x="4736592" y="5285232"/>
            <a:ext cx="2724912" cy="164592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>
              <a:defRPr sz="1050" b="1">
                <a:solidFill>
                  <a:srgbClr val="B7791F"/>
                </a:solidFill>
                <a:latin typeface="PingFang SC" panose="020B0400000000000000" pitchFamily="34" charset="-122"/>
              </a:defRPr>
            </a:pPr>
            <a:r>
              <a:t>Training 使用 10 GPU</a:t>
            </a:r>
          </a:p>
        </p:txBody>
      </p:sp>
      <p:sp>
        <p:nvSpPr>
          <p:cNvPr id="140" name="Chevron 139"/>
          <p:cNvSpPr/>
          <p:nvPr/>
        </p:nvSpPr>
        <p:spPr>
          <a:xfrm>
            <a:off x="7863713" y="3502152"/>
            <a:ext cx="384048" cy="310896"/>
          </a:xfrm>
          <a:prstGeom prst="chevron">
            <a:avLst/>
          </a:prstGeom>
          <a:solidFill>
            <a:srgbClr val="0B5C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Rounded Rectangle 141"/>
          <p:cNvSpPr/>
          <p:nvPr/>
        </p:nvSpPr>
        <p:spPr>
          <a:xfrm>
            <a:off x="8247888" y="1755648"/>
            <a:ext cx="3346704" cy="4133087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065">
            <a:solidFill>
              <a:srgbClr val="0B5C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Chevron 142"/>
          <p:cNvSpPr/>
          <p:nvPr/>
        </p:nvSpPr>
        <p:spPr>
          <a:xfrm>
            <a:off x="8412480" y="1956816"/>
            <a:ext cx="1298448" cy="329184"/>
          </a:xfrm>
          <a:prstGeom prst="chevron">
            <a:avLst/>
          </a:prstGeom>
          <a:solidFill>
            <a:srgbClr val="0B5C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TextBox 143"/>
          <p:cNvSpPr txBox="1"/>
          <p:nvPr/>
        </p:nvSpPr>
        <p:spPr>
          <a:xfrm>
            <a:off x="8485632" y="2007108"/>
            <a:ext cx="1097280" cy="164592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>
              <a:defRPr sz="920" b="1">
                <a:solidFill>
                  <a:srgbClr val="FFFFFF"/>
                </a:solidFill>
                <a:latin typeface="PingFang SC" panose="020B0400000000000000" pitchFamily="34" charset="-122"/>
              </a:defRPr>
            </a:pPr>
            <a:r>
              <a:t>T2｜需求恢复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8577072" y="2660904"/>
            <a:ext cx="1298448" cy="182880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defRPr sz="1070" b="1">
                <a:solidFill>
                  <a:srgbClr val="003F8F"/>
                </a:solidFill>
                <a:latin typeface="PingFang SC" panose="020B0400000000000000" pitchFamily="34" charset="-122"/>
              </a:defRPr>
            </a:pPr>
            <a:r>
              <a:t>Serving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10479024" y="2660904"/>
            <a:ext cx="786384" cy="182880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r">
              <a:defRPr sz="1050" b="1">
                <a:solidFill>
                  <a:srgbClr val="0B5CAD"/>
                </a:solidFill>
                <a:latin typeface="PingFang SC" panose="020B0400000000000000" pitchFamily="34" charset="-122"/>
              </a:defRPr>
            </a:pPr>
            <a:r>
              <a:t>6 GPU</a:t>
            </a:r>
          </a:p>
        </p:txBody>
      </p:sp>
      <p:sp>
        <p:nvSpPr>
          <p:cNvPr id="147" name="Rectangle 146"/>
          <p:cNvSpPr/>
          <p:nvPr/>
        </p:nvSpPr>
        <p:spPr>
          <a:xfrm>
            <a:off x="8577072" y="2971800"/>
            <a:ext cx="2688336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B8C5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Rectangle 147"/>
          <p:cNvSpPr/>
          <p:nvPr/>
        </p:nvSpPr>
        <p:spPr>
          <a:xfrm>
            <a:off x="8577072" y="2971800"/>
            <a:ext cx="1344168" cy="411480"/>
          </a:xfrm>
          <a:prstGeom prst="rect">
            <a:avLst/>
          </a:prstGeom>
          <a:solidFill>
            <a:srgbClr val="EAF2FF"/>
          </a:solidFill>
          <a:ln w="8255">
            <a:solidFill>
              <a:srgbClr val="0B5C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49" name="Connector 148"/>
          <p:cNvCxnSpPr/>
          <p:nvPr/>
        </p:nvCxnSpPr>
        <p:spPr>
          <a:xfrm>
            <a:off x="9921240" y="2862072"/>
            <a:ext cx="0" cy="630936"/>
          </a:xfrm>
          <a:prstGeom prst="line">
            <a:avLst/>
          </a:prstGeom>
          <a:ln w="15240">
            <a:solidFill>
              <a:srgbClr val="0B5C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0" name="TextBox 149"/>
          <p:cNvSpPr txBox="1"/>
          <p:nvPr/>
        </p:nvSpPr>
        <p:spPr>
          <a:xfrm>
            <a:off x="9409176" y="3483864"/>
            <a:ext cx="1024128" cy="155448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>
              <a:defRPr sz="920" b="1">
                <a:solidFill>
                  <a:srgbClr val="0B5CAD"/>
                </a:solidFill>
                <a:latin typeface="PingFang SC" panose="020B0400000000000000" pitchFamily="34" charset="-122"/>
              </a:defRPr>
            </a:pPr>
            <a:r>
              <a:t>Deserved 6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8577072" y="3767328"/>
            <a:ext cx="1298448" cy="182880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defRPr sz="1070" b="1">
                <a:solidFill>
                  <a:srgbClr val="003F8F"/>
                </a:solidFill>
                <a:latin typeface="PingFang SC" panose="020B0400000000000000" pitchFamily="34" charset="-122"/>
              </a:defRPr>
            </a:pPr>
            <a:r>
              <a:t>Training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10479024" y="3767328"/>
            <a:ext cx="786384" cy="182880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r">
              <a:defRPr sz="1050" b="1">
                <a:solidFill>
                  <a:srgbClr val="667A8D"/>
                </a:solidFill>
                <a:latin typeface="PingFang SC" panose="020B0400000000000000" pitchFamily="34" charset="-122"/>
              </a:defRPr>
            </a:pPr>
            <a:r>
              <a:t>6 GPU</a:t>
            </a:r>
          </a:p>
        </p:txBody>
      </p:sp>
      <p:sp>
        <p:nvSpPr>
          <p:cNvPr id="153" name="Rectangle 152"/>
          <p:cNvSpPr/>
          <p:nvPr/>
        </p:nvSpPr>
        <p:spPr>
          <a:xfrm>
            <a:off x="8577072" y="4078224"/>
            <a:ext cx="2688336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B8C5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Rectangle 153"/>
          <p:cNvSpPr/>
          <p:nvPr/>
        </p:nvSpPr>
        <p:spPr>
          <a:xfrm>
            <a:off x="8577072" y="4078224"/>
            <a:ext cx="1344168" cy="411480"/>
          </a:xfrm>
          <a:prstGeom prst="rect">
            <a:avLst/>
          </a:prstGeom>
          <a:solidFill>
            <a:srgbClr val="F5F7FA"/>
          </a:solidFill>
          <a:ln w="8255">
            <a:solidFill>
              <a:srgbClr val="667A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55" name="Connector 154"/>
          <p:cNvCxnSpPr/>
          <p:nvPr/>
        </p:nvCxnSpPr>
        <p:spPr>
          <a:xfrm>
            <a:off x="9921240" y="3968496"/>
            <a:ext cx="0" cy="630936"/>
          </a:xfrm>
          <a:prstGeom prst="line">
            <a:avLst/>
          </a:prstGeom>
          <a:ln w="15240">
            <a:solidFill>
              <a:srgbClr val="0B5C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6" name="TextBox 155"/>
          <p:cNvSpPr txBox="1"/>
          <p:nvPr/>
        </p:nvSpPr>
        <p:spPr>
          <a:xfrm>
            <a:off x="9409176" y="4590288"/>
            <a:ext cx="1024128" cy="155448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>
              <a:defRPr sz="920" b="1">
                <a:solidFill>
                  <a:srgbClr val="0B5CAD"/>
                </a:solidFill>
                <a:latin typeface="PingFang SC" panose="020B0400000000000000" pitchFamily="34" charset="-122"/>
              </a:defRPr>
            </a:pPr>
            <a:r>
              <a:t>Deserved 6</a:t>
            </a:r>
          </a:p>
        </p:txBody>
      </p:sp>
      <p:sp>
        <p:nvSpPr>
          <p:cNvPr id="157" name="Rounded Rectangle 156"/>
          <p:cNvSpPr/>
          <p:nvPr/>
        </p:nvSpPr>
        <p:spPr>
          <a:xfrm>
            <a:off x="8558784" y="5138928"/>
            <a:ext cx="2724912" cy="475488"/>
          </a:xfrm>
          <a:prstGeom prst="roundRect">
            <a:avLst>
              <a:gd name="adj" fmla="val 8000"/>
            </a:avLst>
          </a:prstGeom>
          <a:solidFill>
            <a:srgbClr val="EAF2FF"/>
          </a:solidFill>
          <a:ln w="9525">
            <a:solidFill>
              <a:srgbClr val="0B5C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TextBox 157"/>
          <p:cNvSpPr txBox="1"/>
          <p:nvPr/>
        </p:nvSpPr>
        <p:spPr>
          <a:xfrm>
            <a:off x="8558784" y="5285232"/>
            <a:ext cx="2724912" cy="164592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>
              <a:defRPr sz="1050" b="1">
                <a:solidFill>
                  <a:srgbClr val="0B5CAD"/>
                </a:solidFill>
                <a:latin typeface="PingFang SC" panose="020B0400000000000000" pitchFamily="34" charset="-122"/>
              </a:defRPr>
            </a:pPr>
            <a:r>
              <a:t>Serving / Training 各 6 GPU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3749166" y="3888296"/>
            <a:ext cx="1005840" cy="189865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>
              <a:lnSpc>
                <a:spcPct val="110000"/>
              </a:lnSpc>
              <a:defRPr sz="1020" b="1">
                <a:solidFill>
                  <a:srgbClr val="B7791F"/>
                </a:solidFill>
                <a:latin typeface="PingFang SC" panose="020B0400000000000000" pitchFamily="34" charset="-122"/>
              </a:defRPr>
            </a:pPr>
            <a:r>
              <a:t>借用 4 GPU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7653527" y="3968877"/>
            <a:ext cx="1005840" cy="164592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>
              <a:defRPr sz="1020" b="1">
                <a:solidFill>
                  <a:srgbClr val="0B5CAD"/>
                </a:solidFill>
                <a:latin typeface="PingFang SC" panose="020B0400000000000000" pitchFamily="34" charset="-122"/>
              </a:defRPr>
            </a:pPr>
            <a:r>
              <a:t>归还 4 GPU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F8F"/>
          </a:solidFill>
          <a:ln w="12700">
            <a:solidFill>
              <a:srgbClr val="003F8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" y="228600"/>
            <a:ext cx="1417320" cy="393192"/>
          </a:xfrm>
          <a:prstGeom prst="chevron">
            <a:avLst/>
          </a:prstGeom>
          <a:solidFill>
            <a:srgbClr val="003F8F"/>
          </a:solidFill>
          <a:ln w="12700">
            <a:solidFill>
              <a:srgbClr val="003F8F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274320"/>
            <a:ext cx="1078992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第二章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2212848" y="182880"/>
            <a:ext cx="7635240" cy="512064"/>
          </a:xfrm>
          <a:prstGeom prst="rect">
            <a:avLst/>
          </a:prstGeom>
          <a:noFill/>
        </p:spPr>
        <p:txBody>
          <a:bodyPr wrap="square" lIns="18288" tIns="9144" rIns="18288" bIns="9144" rtlCol="0" anchor="ctr">
            <a:normAutofit/>
          </a:bodyPr>
          <a:lstStyle/>
          <a:p>
            <a:pPr marL="0" indent="0" algn="l">
              <a:buNone/>
              <a:defRPr sz="2750" b="1">
                <a:solidFill>
                  <a:srgbClr val="003F8F"/>
                </a:solidFill>
                <a:latin typeface="PingFang SC" panose="020B0400000000000000" pitchFamily="34" charset="-122"/>
              </a:defRPr>
            </a:pPr>
            <a:r>
              <a:t>为什么回收粒度不能停在单 Pod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58368" y="832104"/>
            <a:ext cx="10744200" cy="347472"/>
          </a:xfrm>
          <a:prstGeom prst="rect">
            <a:avLst/>
          </a:prstGeom>
          <a:noFill/>
        </p:spPr>
        <p:txBody>
          <a:bodyPr wrap="square" lIns="18288" tIns="9144" rIns="18288" bIns="9144" rtlCol="0" anchor="ctr">
            <a:normAutofit/>
          </a:bodyPr>
          <a:lstStyle/>
          <a:p>
            <a:pPr marL="0" indent="0" algn="l">
              <a:buNone/>
              <a:defRPr sz="1420" b="0">
                <a:solidFill>
                  <a:srgbClr val="66788A"/>
                </a:solidFill>
                <a:latin typeface="PingFang SC" panose="020B0400000000000000" pitchFamily="34" charset="-122"/>
              </a:defRPr>
            </a:pPr>
            <a:r>
              <a:t>只保证请求方凑够 Gang，可能同时破坏多个正在运行的 victim Job</a:t>
            </a:r>
            <a:endParaRPr lang="en-US" sz="1530" dirty="0"/>
          </a:p>
        </p:txBody>
      </p:sp>
      <p:sp>
        <p:nvSpPr>
          <p:cNvPr id="7" name="Shape 5"/>
          <p:cNvSpPr/>
          <p:nvPr/>
        </p:nvSpPr>
        <p:spPr>
          <a:xfrm>
            <a:off x="566928" y="1225296"/>
            <a:ext cx="11018520" cy="0"/>
          </a:xfrm>
          <a:prstGeom prst="line">
            <a:avLst/>
          </a:prstGeom>
          <a:noFill/>
          <a:ln w="11430">
            <a:solidFill>
              <a:srgbClr val="B9C8D8"/>
            </a:solidFill>
            <a:prstDash val="solid"/>
            <a:headEnd type="none"/>
          </a:ln>
        </p:spPr>
      </p:sp>
      <p:sp>
        <p:nvSpPr>
          <p:cNvPr id="8" name="Shape 6"/>
          <p:cNvSpPr/>
          <p:nvPr/>
        </p:nvSpPr>
        <p:spPr>
          <a:xfrm>
            <a:off x="566928" y="1179576"/>
            <a:ext cx="1225296" cy="91440"/>
          </a:xfrm>
          <a:prstGeom prst="rect">
            <a:avLst/>
          </a:prstGeom>
          <a:solidFill>
            <a:srgbClr val="E43D30"/>
          </a:solidFill>
          <a:ln w="12700">
            <a:solidFill>
              <a:srgbClr val="E43D30">
                <a:alpha val="0"/>
              </a:srgbClr>
            </a:solidFill>
            <a:prstDash val="solid"/>
          </a:ln>
        </p:spPr>
      </p:sp>
      <p:pic>
        <p:nvPicPr>
          <p:cNvPr id="9" name="Image 0" descr="/Users/chenzicong/Documents/Codex/2026-07-20/wo/outputs/volcano-unified-scheduling-editable/assets/volcano-logo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97312" y="321114"/>
            <a:ext cx="1078992" cy="180733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1475720" y="6492240"/>
            <a:ext cx="347472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768597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14</a:t>
            </a:r>
            <a:endParaRPr lang="en-US" sz="950" dirty="0"/>
          </a:p>
        </p:txBody>
      </p:sp>
      <p:sp>
        <p:nvSpPr>
          <p:cNvPr id="107" name="Shape 104"/>
          <p:cNvSpPr/>
          <p:nvPr/>
        </p:nvSpPr>
        <p:spPr>
          <a:xfrm>
            <a:off x="640080" y="6236208"/>
            <a:ext cx="10908792" cy="402336"/>
          </a:xfrm>
          <a:prstGeom prst="rect">
            <a:avLst/>
          </a:prstGeom>
          <a:solidFill>
            <a:srgbClr val="003F8F"/>
          </a:solidFill>
          <a:ln w="12700">
            <a:solidFill>
              <a:srgbClr val="003F8F">
                <a:alpha val="0"/>
              </a:srgbClr>
            </a:solidFill>
            <a:prstDash val="solid"/>
          </a:ln>
        </p:spPr>
      </p:sp>
      <p:sp>
        <p:nvSpPr>
          <p:cNvPr id="108" name="Shape 105"/>
          <p:cNvSpPr/>
          <p:nvPr/>
        </p:nvSpPr>
        <p:spPr>
          <a:xfrm>
            <a:off x="640080" y="6236208"/>
            <a:ext cx="109728" cy="402336"/>
          </a:xfrm>
          <a:prstGeom prst="rect">
            <a:avLst/>
          </a:prstGeom>
          <a:solidFill>
            <a:srgbClr val="E43D30"/>
          </a:solidFill>
          <a:ln w="12700">
            <a:solidFill>
              <a:srgbClr val="E43D30">
                <a:alpha val="0"/>
              </a:srgbClr>
            </a:solidFill>
            <a:prstDash val="solid"/>
          </a:ln>
        </p:spPr>
      </p:sp>
      <p:sp>
        <p:nvSpPr>
          <p:cNvPr id="109" name="Text 106"/>
          <p:cNvSpPr/>
          <p:nvPr/>
        </p:nvSpPr>
        <p:spPr>
          <a:xfrm>
            <a:off x="914400" y="6272784"/>
            <a:ext cx="10378440" cy="301752"/>
          </a:xfrm>
          <a:prstGeom prst="rect">
            <a:avLst/>
          </a:prstGeom>
          <a:noFill/>
        </p:spPr>
        <p:txBody>
          <a:bodyPr wrap="square" lIns="18288" tIns="9144" rIns="18288" bIns="9144" rtlCol="0" anchor="ctr">
            <a:normAutofit/>
          </a:bodyPr>
          <a:lstStyle/>
          <a:p>
            <a:pPr marL="0" indent="0" algn="ctr">
              <a:buNone/>
              <a:defRPr sz="1380" b="1">
                <a:solidFill>
                  <a:srgbClr val="FFFFFF"/>
                </a:solidFill>
                <a:latin typeface="PingFang SC" panose="020B0400000000000000" pitchFamily="34" charset="-122"/>
              </a:defRPr>
            </a:pPr>
            <a:r>
              <a:t>Gang-aware 回收需要同时保护 reclaimer 与 reclaimee：victim 也应按 Job / PodGroup 成组选择</a:t>
            </a:r>
            <a:endParaRPr lang="en-US" sz="1500" dirty="0"/>
          </a:p>
        </p:txBody>
      </p:sp>
      <p:sp>
        <p:nvSpPr>
          <p:cNvPr id="110" name="Rectangle 109"/>
          <p:cNvSpPr/>
          <p:nvPr/>
        </p:nvSpPr>
        <p:spPr>
          <a:xfrm>
            <a:off x="658368" y="1371600"/>
            <a:ext cx="10890504" cy="402336"/>
          </a:xfrm>
          <a:prstGeom prst="rect">
            <a:avLst/>
          </a:prstGeom>
          <a:solidFill>
            <a:srgbClr val="FFFFFF"/>
          </a:solidFill>
          <a:ln w="11430">
            <a:solidFill>
              <a:srgbClr val="0B5C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11" name="Rectangle 110"/>
          <p:cNvSpPr/>
          <p:nvPr/>
        </p:nvSpPr>
        <p:spPr>
          <a:xfrm>
            <a:off x="658368" y="1371600"/>
            <a:ext cx="109728" cy="402336"/>
          </a:xfrm>
          <a:prstGeom prst="rect">
            <a:avLst/>
          </a:prstGeom>
          <a:solidFill>
            <a:srgbClr val="C23A32"/>
          </a:solidFill>
          <a:ln w="10160">
            <a:solidFill>
              <a:srgbClr val="C23A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12" name="TextBox 111"/>
          <p:cNvSpPr txBox="1"/>
          <p:nvPr/>
        </p:nvSpPr>
        <p:spPr>
          <a:xfrm>
            <a:off x="914400" y="1453896"/>
            <a:ext cx="10314432" cy="201168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>
              <a:defRPr sz="1180" b="1">
                <a:solidFill>
                  <a:srgbClr val="172033"/>
                </a:solidFill>
                <a:latin typeface="PingFang SC" panose="020B0400000000000000" pitchFamily="34" charset="-122"/>
              </a:defRPr>
            </a:pPr>
            <a:r>
              <a:t>Serving PodGroup 需要 4 GPU；如果从四个训练 Job 各驱逐一个 Pod，会发生什么？</a:t>
            </a:r>
          </a:p>
        </p:txBody>
      </p:sp>
      <p:sp>
        <p:nvSpPr>
          <p:cNvPr id="113" name="Chevron 112"/>
          <p:cNvSpPr/>
          <p:nvPr/>
        </p:nvSpPr>
        <p:spPr>
          <a:xfrm>
            <a:off x="749808" y="1975104"/>
            <a:ext cx="1572768" cy="329184"/>
          </a:xfrm>
          <a:prstGeom prst="chevron">
            <a:avLst/>
          </a:prstGeom>
          <a:solidFill>
            <a:srgbClr val="003F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14" name="TextBox 113"/>
          <p:cNvSpPr txBox="1"/>
          <p:nvPr/>
        </p:nvSpPr>
        <p:spPr>
          <a:xfrm>
            <a:off x="822959" y="2025396"/>
            <a:ext cx="1371600" cy="164592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>
              <a:defRPr sz="1150" b="1">
                <a:solidFill>
                  <a:srgbClr val="FFFFFF"/>
                </a:solidFill>
                <a:latin typeface="PingFang SC" panose="020B0400000000000000" pitchFamily="34" charset="-122"/>
              </a:defRPr>
            </a:pPr>
            <a:r>
              <a:t>Pod 级 victim 选择</a:t>
            </a:r>
          </a:p>
        </p:txBody>
      </p:sp>
      <p:sp>
        <p:nvSpPr>
          <p:cNvPr id="115" name="Rounded Rectangle 114"/>
          <p:cNvSpPr/>
          <p:nvPr/>
        </p:nvSpPr>
        <p:spPr>
          <a:xfrm>
            <a:off x="640080" y="2487168"/>
            <a:ext cx="2523744" cy="14447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0B5C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16" name="TextBox 115"/>
          <p:cNvSpPr txBox="1"/>
          <p:nvPr/>
        </p:nvSpPr>
        <p:spPr>
          <a:xfrm>
            <a:off x="786384" y="2633472"/>
            <a:ext cx="2231136" cy="173736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defRPr sz="1150" b="1">
                <a:solidFill>
                  <a:srgbClr val="003F8F"/>
                </a:solidFill>
                <a:latin typeface="PingFang SC" panose="020B0400000000000000" pitchFamily="34" charset="-122"/>
              </a:defRPr>
            </a:pPr>
            <a:r>
              <a:t>Training Job A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822959" y="2990088"/>
            <a:ext cx="438912" cy="384048"/>
          </a:xfrm>
          <a:prstGeom prst="rect">
            <a:avLst/>
          </a:prstGeom>
          <a:solidFill>
            <a:srgbClr val="FFFFFF"/>
          </a:solidFill>
          <a:ln w="8890">
            <a:solidFill>
              <a:srgbClr val="C23A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18" name="TextBox 117"/>
          <p:cNvSpPr txBox="1"/>
          <p:nvPr/>
        </p:nvSpPr>
        <p:spPr>
          <a:xfrm>
            <a:off x="822959" y="3099816"/>
            <a:ext cx="438912" cy="109728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>
              <a:defRPr sz="950" b="1">
                <a:solidFill>
                  <a:srgbClr val="C23A32"/>
                </a:solidFill>
                <a:latin typeface="PingFang SC" panose="020B0400000000000000" pitchFamily="34" charset="-122"/>
              </a:defRPr>
            </a:pPr>
            <a:r>
              <a:t>W1</a:t>
            </a:r>
          </a:p>
        </p:txBody>
      </p:sp>
      <p:cxnSp>
        <p:nvCxnSpPr>
          <p:cNvPr id="119" name="Connector 118"/>
          <p:cNvCxnSpPr/>
          <p:nvPr/>
        </p:nvCxnSpPr>
        <p:spPr>
          <a:xfrm>
            <a:off x="905255" y="3072384"/>
            <a:ext cx="274321" cy="228600"/>
          </a:xfrm>
          <a:prstGeom prst="line">
            <a:avLst/>
          </a:prstGeom>
          <a:ln w="12700">
            <a:solidFill>
              <a:srgbClr val="C23A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" name="Connector 119"/>
          <p:cNvCxnSpPr/>
          <p:nvPr/>
        </p:nvCxnSpPr>
        <p:spPr>
          <a:xfrm flipH="1">
            <a:off x="905255" y="3072384"/>
            <a:ext cx="274321" cy="228600"/>
          </a:xfrm>
          <a:prstGeom prst="line">
            <a:avLst/>
          </a:prstGeom>
          <a:ln w="12700">
            <a:solidFill>
              <a:srgbClr val="C23A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1" name="Rectangle 120"/>
          <p:cNvSpPr/>
          <p:nvPr/>
        </p:nvSpPr>
        <p:spPr>
          <a:xfrm>
            <a:off x="1380743" y="2990088"/>
            <a:ext cx="438912" cy="384048"/>
          </a:xfrm>
          <a:prstGeom prst="rect">
            <a:avLst/>
          </a:prstGeom>
          <a:solidFill>
            <a:srgbClr val="EAF2FF"/>
          </a:solidFill>
          <a:ln w="8890">
            <a:solidFill>
              <a:srgbClr val="0B5C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22" name="TextBox 121"/>
          <p:cNvSpPr txBox="1"/>
          <p:nvPr/>
        </p:nvSpPr>
        <p:spPr>
          <a:xfrm>
            <a:off x="1380743" y="3099816"/>
            <a:ext cx="438912" cy="109728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>
              <a:defRPr sz="950" b="1">
                <a:solidFill>
                  <a:srgbClr val="0B5CAD"/>
                </a:solidFill>
                <a:latin typeface="PingFang SC" panose="020B0400000000000000" pitchFamily="34" charset="-122"/>
              </a:defRPr>
            </a:pPr>
            <a:r>
              <a:t>W2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1938528" y="2990088"/>
            <a:ext cx="438912" cy="384048"/>
          </a:xfrm>
          <a:prstGeom prst="rect">
            <a:avLst/>
          </a:prstGeom>
          <a:solidFill>
            <a:srgbClr val="EAF2FF"/>
          </a:solidFill>
          <a:ln w="8890">
            <a:solidFill>
              <a:srgbClr val="0B5C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24" name="TextBox 123"/>
          <p:cNvSpPr txBox="1"/>
          <p:nvPr/>
        </p:nvSpPr>
        <p:spPr>
          <a:xfrm>
            <a:off x="1938528" y="3099816"/>
            <a:ext cx="438912" cy="109728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>
              <a:defRPr sz="950" b="1">
                <a:solidFill>
                  <a:srgbClr val="0B5CAD"/>
                </a:solidFill>
                <a:latin typeface="PingFang SC" panose="020B0400000000000000" pitchFamily="34" charset="-122"/>
              </a:defRPr>
            </a:pPr>
            <a:r>
              <a:t>W3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2496312" y="2990088"/>
            <a:ext cx="438912" cy="384048"/>
          </a:xfrm>
          <a:prstGeom prst="rect">
            <a:avLst/>
          </a:prstGeom>
          <a:solidFill>
            <a:srgbClr val="EAF2FF"/>
          </a:solidFill>
          <a:ln w="8890">
            <a:solidFill>
              <a:srgbClr val="0B5C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26" name="TextBox 125"/>
          <p:cNvSpPr txBox="1"/>
          <p:nvPr/>
        </p:nvSpPr>
        <p:spPr>
          <a:xfrm>
            <a:off x="2496312" y="3099816"/>
            <a:ext cx="438912" cy="109728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>
              <a:defRPr sz="950" b="1">
                <a:solidFill>
                  <a:srgbClr val="0B5CAD"/>
                </a:solidFill>
                <a:latin typeface="PingFang SC" panose="020B0400000000000000" pitchFamily="34" charset="-122"/>
              </a:defRPr>
            </a:pPr>
            <a:r>
              <a:t>W4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841247" y="3584448"/>
            <a:ext cx="2121408" cy="155448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>
              <a:defRPr sz="950" b="1">
                <a:solidFill>
                  <a:srgbClr val="C23A32"/>
                </a:solidFill>
                <a:latin typeface="PingFang SC" panose="020B0400000000000000" pitchFamily="34" charset="-122"/>
              </a:defRPr>
            </a:pPr>
            <a:r>
              <a:t>3 / 4 Worker → Blocked</a:t>
            </a:r>
          </a:p>
        </p:txBody>
      </p:sp>
      <p:sp>
        <p:nvSpPr>
          <p:cNvPr id="128" name="Rounded Rectangle 127"/>
          <p:cNvSpPr/>
          <p:nvPr/>
        </p:nvSpPr>
        <p:spPr>
          <a:xfrm>
            <a:off x="3429000" y="2487168"/>
            <a:ext cx="2523744" cy="14447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0B5C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29" name="TextBox 128"/>
          <p:cNvSpPr txBox="1"/>
          <p:nvPr/>
        </p:nvSpPr>
        <p:spPr>
          <a:xfrm>
            <a:off x="3575304" y="2633472"/>
            <a:ext cx="2231136" cy="173736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defRPr sz="1150" b="1">
                <a:solidFill>
                  <a:srgbClr val="003F8F"/>
                </a:solidFill>
                <a:latin typeface="PingFang SC" panose="020B0400000000000000" pitchFamily="34" charset="-122"/>
              </a:defRPr>
            </a:pPr>
            <a:r>
              <a:t>Training Job B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3611880" y="2990088"/>
            <a:ext cx="438912" cy="384048"/>
          </a:xfrm>
          <a:prstGeom prst="rect">
            <a:avLst/>
          </a:prstGeom>
          <a:solidFill>
            <a:srgbClr val="EAF2FF"/>
          </a:solidFill>
          <a:ln w="8890">
            <a:solidFill>
              <a:srgbClr val="0B5C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31" name="TextBox 130"/>
          <p:cNvSpPr txBox="1"/>
          <p:nvPr/>
        </p:nvSpPr>
        <p:spPr>
          <a:xfrm>
            <a:off x="3611880" y="3099816"/>
            <a:ext cx="438912" cy="109728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>
              <a:defRPr sz="950" b="1">
                <a:solidFill>
                  <a:srgbClr val="0B5CAD"/>
                </a:solidFill>
                <a:latin typeface="PingFang SC" panose="020B0400000000000000" pitchFamily="34" charset="-122"/>
              </a:defRPr>
            </a:pPr>
            <a:r>
              <a:t>W1</a:t>
            </a:r>
          </a:p>
        </p:txBody>
      </p:sp>
      <p:sp>
        <p:nvSpPr>
          <p:cNvPr id="132" name="Rectangle 131"/>
          <p:cNvSpPr/>
          <p:nvPr/>
        </p:nvSpPr>
        <p:spPr>
          <a:xfrm>
            <a:off x="4169664" y="2990088"/>
            <a:ext cx="438912" cy="384048"/>
          </a:xfrm>
          <a:prstGeom prst="rect">
            <a:avLst/>
          </a:prstGeom>
          <a:solidFill>
            <a:srgbClr val="FFFFFF"/>
          </a:solidFill>
          <a:ln w="8890">
            <a:solidFill>
              <a:srgbClr val="C23A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33" name="TextBox 132"/>
          <p:cNvSpPr txBox="1"/>
          <p:nvPr/>
        </p:nvSpPr>
        <p:spPr>
          <a:xfrm>
            <a:off x="4169664" y="3099816"/>
            <a:ext cx="438912" cy="109728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>
              <a:defRPr sz="950" b="1">
                <a:solidFill>
                  <a:srgbClr val="C23A32"/>
                </a:solidFill>
                <a:latin typeface="PingFang SC" panose="020B0400000000000000" pitchFamily="34" charset="-122"/>
              </a:defRPr>
            </a:pPr>
            <a:r>
              <a:t>W2</a:t>
            </a:r>
          </a:p>
        </p:txBody>
      </p:sp>
      <p:cxnSp>
        <p:nvCxnSpPr>
          <p:cNvPr id="134" name="Connector 133"/>
          <p:cNvCxnSpPr/>
          <p:nvPr/>
        </p:nvCxnSpPr>
        <p:spPr>
          <a:xfrm>
            <a:off x="4251960" y="3072384"/>
            <a:ext cx="274320" cy="228600"/>
          </a:xfrm>
          <a:prstGeom prst="line">
            <a:avLst/>
          </a:prstGeom>
          <a:ln w="12700">
            <a:solidFill>
              <a:srgbClr val="C23A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5" name="Connector 134"/>
          <p:cNvCxnSpPr/>
          <p:nvPr/>
        </p:nvCxnSpPr>
        <p:spPr>
          <a:xfrm flipH="1">
            <a:off x="4251960" y="3072384"/>
            <a:ext cx="274320" cy="228600"/>
          </a:xfrm>
          <a:prstGeom prst="line">
            <a:avLst/>
          </a:prstGeom>
          <a:ln w="12700">
            <a:solidFill>
              <a:srgbClr val="C23A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6" name="Rectangle 135"/>
          <p:cNvSpPr/>
          <p:nvPr/>
        </p:nvSpPr>
        <p:spPr>
          <a:xfrm>
            <a:off x="4727448" y="2990088"/>
            <a:ext cx="438912" cy="384048"/>
          </a:xfrm>
          <a:prstGeom prst="rect">
            <a:avLst/>
          </a:prstGeom>
          <a:solidFill>
            <a:srgbClr val="EAF2FF"/>
          </a:solidFill>
          <a:ln w="8890">
            <a:solidFill>
              <a:srgbClr val="0B5C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37" name="TextBox 136"/>
          <p:cNvSpPr txBox="1"/>
          <p:nvPr/>
        </p:nvSpPr>
        <p:spPr>
          <a:xfrm>
            <a:off x="4727448" y="3099816"/>
            <a:ext cx="438912" cy="109728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>
              <a:defRPr sz="950" b="1">
                <a:solidFill>
                  <a:srgbClr val="0B5CAD"/>
                </a:solidFill>
                <a:latin typeface="PingFang SC" panose="020B0400000000000000" pitchFamily="34" charset="-122"/>
              </a:defRPr>
            </a:pPr>
            <a:r>
              <a:t>W3</a:t>
            </a:r>
          </a:p>
        </p:txBody>
      </p:sp>
      <p:sp>
        <p:nvSpPr>
          <p:cNvPr id="138" name="Rectangle 137"/>
          <p:cNvSpPr/>
          <p:nvPr/>
        </p:nvSpPr>
        <p:spPr>
          <a:xfrm>
            <a:off x="5285232" y="2990088"/>
            <a:ext cx="438912" cy="384048"/>
          </a:xfrm>
          <a:prstGeom prst="rect">
            <a:avLst/>
          </a:prstGeom>
          <a:solidFill>
            <a:srgbClr val="EAF2FF"/>
          </a:solidFill>
          <a:ln w="8890">
            <a:solidFill>
              <a:srgbClr val="0B5C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39" name="TextBox 138"/>
          <p:cNvSpPr txBox="1"/>
          <p:nvPr/>
        </p:nvSpPr>
        <p:spPr>
          <a:xfrm>
            <a:off x="5285232" y="3099816"/>
            <a:ext cx="438912" cy="109728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>
              <a:defRPr sz="950" b="1">
                <a:solidFill>
                  <a:srgbClr val="0B5CAD"/>
                </a:solidFill>
                <a:latin typeface="PingFang SC" panose="020B0400000000000000" pitchFamily="34" charset="-122"/>
              </a:defRPr>
            </a:pPr>
            <a:r>
              <a:t>W4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3630168" y="3584448"/>
            <a:ext cx="2121408" cy="155448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>
              <a:defRPr sz="950" b="1">
                <a:solidFill>
                  <a:srgbClr val="C23A32"/>
                </a:solidFill>
                <a:latin typeface="PingFang SC" panose="020B0400000000000000" pitchFamily="34" charset="-122"/>
              </a:defRPr>
            </a:pPr>
            <a:r>
              <a:t>3 / 4 Worker → Blocked</a:t>
            </a:r>
          </a:p>
        </p:txBody>
      </p:sp>
      <p:sp>
        <p:nvSpPr>
          <p:cNvPr id="141" name="Rounded Rectangle 140"/>
          <p:cNvSpPr/>
          <p:nvPr/>
        </p:nvSpPr>
        <p:spPr>
          <a:xfrm>
            <a:off x="6217920" y="2487168"/>
            <a:ext cx="2523744" cy="14447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0B5C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42" name="TextBox 141"/>
          <p:cNvSpPr txBox="1"/>
          <p:nvPr/>
        </p:nvSpPr>
        <p:spPr>
          <a:xfrm>
            <a:off x="6364224" y="2633472"/>
            <a:ext cx="2231136" cy="173736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defRPr sz="1150" b="1">
                <a:solidFill>
                  <a:srgbClr val="003F8F"/>
                </a:solidFill>
                <a:latin typeface="PingFang SC" panose="020B0400000000000000" pitchFamily="34" charset="-122"/>
              </a:defRPr>
            </a:pPr>
            <a:r>
              <a:t>Training Job C</a:t>
            </a:r>
          </a:p>
        </p:txBody>
      </p:sp>
      <p:sp>
        <p:nvSpPr>
          <p:cNvPr id="143" name="Rectangle 142"/>
          <p:cNvSpPr/>
          <p:nvPr/>
        </p:nvSpPr>
        <p:spPr>
          <a:xfrm>
            <a:off x="6400800" y="2990088"/>
            <a:ext cx="438912" cy="384048"/>
          </a:xfrm>
          <a:prstGeom prst="rect">
            <a:avLst/>
          </a:prstGeom>
          <a:solidFill>
            <a:srgbClr val="EAF2FF"/>
          </a:solidFill>
          <a:ln w="8890">
            <a:solidFill>
              <a:srgbClr val="0B5C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44" name="TextBox 143"/>
          <p:cNvSpPr txBox="1"/>
          <p:nvPr/>
        </p:nvSpPr>
        <p:spPr>
          <a:xfrm>
            <a:off x="6400800" y="3099816"/>
            <a:ext cx="438912" cy="109728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>
              <a:defRPr sz="950" b="1">
                <a:solidFill>
                  <a:srgbClr val="0B5CAD"/>
                </a:solidFill>
                <a:latin typeface="PingFang SC" panose="020B0400000000000000" pitchFamily="34" charset="-122"/>
              </a:defRPr>
            </a:pPr>
            <a:r>
              <a:t>W1</a:t>
            </a:r>
          </a:p>
        </p:txBody>
      </p:sp>
      <p:sp>
        <p:nvSpPr>
          <p:cNvPr id="145" name="Rectangle 144"/>
          <p:cNvSpPr/>
          <p:nvPr/>
        </p:nvSpPr>
        <p:spPr>
          <a:xfrm>
            <a:off x="6958584" y="2990088"/>
            <a:ext cx="438912" cy="384048"/>
          </a:xfrm>
          <a:prstGeom prst="rect">
            <a:avLst/>
          </a:prstGeom>
          <a:solidFill>
            <a:srgbClr val="EAF2FF"/>
          </a:solidFill>
          <a:ln w="8890">
            <a:solidFill>
              <a:srgbClr val="0B5C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46" name="TextBox 145"/>
          <p:cNvSpPr txBox="1"/>
          <p:nvPr/>
        </p:nvSpPr>
        <p:spPr>
          <a:xfrm>
            <a:off x="6958584" y="3099816"/>
            <a:ext cx="438912" cy="109728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>
              <a:defRPr sz="950" b="1">
                <a:solidFill>
                  <a:srgbClr val="0B5CAD"/>
                </a:solidFill>
                <a:latin typeface="PingFang SC" panose="020B0400000000000000" pitchFamily="34" charset="-122"/>
              </a:defRPr>
            </a:pPr>
            <a:r>
              <a:t>W2</a:t>
            </a:r>
          </a:p>
        </p:txBody>
      </p:sp>
      <p:sp>
        <p:nvSpPr>
          <p:cNvPr id="147" name="Rectangle 146"/>
          <p:cNvSpPr/>
          <p:nvPr/>
        </p:nvSpPr>
        <p:spPr>
          <a:xfrm>
            <a:off x="7516368" y="2990088"/>
            <a:ext cx="438912" cy="384048"/>
          </a:xfrm>
          <a:prstGeom prst="rect">
            <a:avLst/>
          </a:prstGeom>
          <a:solidFill>
            <a:srgbClr val="FFFFFF"/>
          </a:solidFill>
          <a:ln w="8890">
            <a:solidFill>
              <a:srgbClr val="C23A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48" name="TextBox 147"/>
          <p:cNvSpPr txBox="1"/>
          <p:nvPr/>
        </p:nvSpPr>
        <p:spPr>
          <a:xfrm>
            <a:off x="7516368" y="3099816"/>
            <a:ext cx="438912" cy="109728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>
              <a:defRPr sz="950" b="1">
                <a:solidFill>
                  <a:srgbClr val="C23A32"/>
                </a:solidFill>
                <a:latin typeface="PingFang SC" panose="020B0400000000000000" pitchFamily="34" charset="-122"/>
              </a:defRPr>
            </a:pPr>
            <a:r>
              <a:t>W3</a:t>
            </a:r>
          </a:p>
        </p:txBody>
      </p:sp>
      <p:cxnSp>
        <p:nvCxnSpPr>
          <p:cNvPr id="149" name="Connector 148"/>
          <p:cNvCxnSpPr/>
          <p:nvPr/>
        </p:nvCxnSpPr>
        <p:spPr>
          <a:xfrm>
            <a:off x="7598664" y="3072384"/>
            <a:ext cx="274320" cy="228600"/>
          </a:xfrm>
          <a:prstGeom prst="line">
            <a:avLst/>
          </a:prstGeom>
          <a:ln w="12700">
            <a:solidFill>
              <a:srgbClr val="C23A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0" name="Connector 149"/>
          <p:cNvCxnSpPr/>
          <p:nvPr/>
        </p:nvCxnSpPr>
        <p:spPr>
          <a:xfrm flipH="1">
            <a:off x="7598664" y="3072384"/>
            <a:ext cx="274320" cy="228600"/>
          </a:xfrm>
          <a:prstGeom prst="line">
            <a:avLst/>
          </a:prstGeom>
          <a:ln w="12700">
            <a:solidFill>
              <a:srgbClr val="C23A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1" name="Rectangle 150"/>
          <p:cNvSpPr/>
          <p:nvPr/>
        </p:nvSpPr>
        <p:spPr>
          <a:xfrm>
            <a:off x="8074152" y="2990088"/>
            <a:ext cx="438912" cy="384048"/>
          </a:xfrm>
          <a:prstGeom prst="rect">
            <a:avLst/>
          </a:prstGeom>
          <a:solidFill>
            <a:srgbClr val="EAF2FF"/>
          </a:solidFill>
          <a:ln w="8890">
            <a:solidFill>
              <a:srgbClr val="0B5C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52" name="TextBox 151"/>
          <p:cNvSpPr txBox="1"/>
          <p:nvPr/>
        </p:nvSpPr>
        <p:spPr>
          <a:xfrm>
            <a:off x="8074152" y="3099816"/>
            <a:ext cx="438912" cy="109728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>
              <a:defRPr sz="950" b="1">
                <a:solidFill>
                  <a:srgbClr val="0B5CAD"/>
                </a:solidFill>
                <a:latin typeface="PingFang SC" panose="020B0400000000000000" pitchFamily="34" charset="-122"/>
              </a:defRPr>
            </a:pPr>
            <a:r>
              <a:t>W4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6419088" y="3584448"/>
            <a:ext cx="2121408" cy="155448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>
              <a:defRPr sz="950" b="1">
                <a:solidFill>
                  <a:srgbClr val="C23A32"/>
                </a:solidFill>
                <a:latin typeface="PingFang SC" panose="020B0400000000000000" pitchFamily="34" charset="-122"/>
              </a:defRPr>
            </a:pPr>
            <a:r>
              <a:t>3 / 4 Worker → Blocked</a:t>
            </a:r>
          </a:p>
        </p:txBody>
      </p:sp>
      <p:sp>
        <p:nvSpPr>
          <p:cNvPr id="154" name="Rounded Rectangle 153"/>
          <p:cNvSpPr/>
          <p:nvPr/>
        </p:nvSpPr>
        <p:spPr>
          <a:xfrm>
            <a:off x="9006839" y="2487168"/>
            <a:ext cx="2523744" cy="14447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0B5C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55" name="TextBox 154"/>
          <p:cNvSpPr txBox="1"/>
          <p:nvPr/>
        </p:nvSpPr>
        <p:spPr>
          <a:xfrm>
            <a:off x="9153143" y="2633472"/>
            <a:ext cx="2231136" cy="173736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defRPr sz="1150" b="1">
                <a:solidFill>
                  <a:srgbClr val="003F8F"/>
                </a:solidFill>
                <a:latin typeface="PingFang SC" panose="020B0400000000000000" pitchFamily="34" charset="-122"/>
              </a:defRPr>
            </a:pPr>
            <a:r>
              <a:t>Training Job D</a:t>
            </a:r>
          </a:p>
        </p:txBody>
      </p:sp>
      <p:sp>
        <p:nvSpPr>
          <p:cNvPr id="156" name="Rectangle 155"/>
          <p:cNvSpPr/>
          <p:nvPr/>
        </p:nvSpPr>
        <p:spPr>
          <a:xfrm>
            <a:off x="9189719" y="2990088"/>
            <a:ext cx="438912" cy="384048"/>
          </a:xfrm>
          <a:prstGeom prst="rect">
            <a:avLst/>
          </a:prstGeom>
          <a:solidFill>
            <a:srgbClr val="EAF2FF"/>
          </a:solidFill>
          <a:ln w="8890">
            <a:solidFill>
              <a:srgbClr val="0B5C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57" name="TextBox 156"/>
          <p:cNvSpPr txBox="1"/>
          <p:nvPr/>
        </p:nvSpPr>
        <p:spPr>
          <a:xfrm>
            <a:off x="9189719" y="3099816"/>
            <a:ext cx="438912" cy="109728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>
              <a:defRPr sz="950" b="1">
                <a:solidFill>
                  <a:srgbClr val="0B5CAD"/>
                </a:solidFill>
                <a:latin typeface="PingFang SC" panose="020B0400000000000000" pitchFamily="34" charset="-122"/>
              </a:defRPr>
            </a:pPr>
            <a:r>
              <a:t>W1</a:t>
            </a:r>
          </a:p>
        </p:txBody>
      </p:sp>
      <p:sp>
        <p:nvSpPr>
          <p:cNvPr id="158" name="Rectangle 157"/>
          <p:cNvSpPr/>
          <p:nvPr/>
        </p:nvSpPr>
        <p:spPr>
          <a:xfrm>
            <a:off x="9747503" y="2990088"/>
            <a:ext cx="438912" cy="384048"/>
          </a:xfrm>
          <a:prstGeom prst="rect">
            <a:avLst/>
          </a:prstGeom>
          <a:solidFill>
            <a:srgbClr val="EAF2FF"/>
          </a:solidFill>
          <a:ln w="8890">
            <a:solidFill>
              <a:srgbClr val="0B5C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59" name="TextBox 158"/>
          <p:cNvSpPr txBox="1"/>
          <p:nvPr/>
        </p:nvSpPr>
        <p:spPr>
          <a:xfrm>
            <a:off x="9747503" y="3099816"/>
            <a:ext cx="438912" cy="109728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>
              <a:defRPr sz="950" b="1">
                <a:solidFill>
                  <a:srgbClr val="0B5CAD"/>
                </a:solidFill>
                <a:latin typeface="PingFang SC" panose="020B0400000000000000" pitchFamily="34" charset="-122"/>
              </a:defRPr>
            </a:pPr>
            <a:r>
              <a:t>W2</a:t>
            </a:r>
          </a:p>
        </p:txBody>
      </p:sp>
      <p:sp>
        <p:nvSpPr>
          <p:cNvPr id="160" name="Rectangle 159"/>
          <p:cNvSpPr/>
          <p:nvPr/>
        </p:nvSpPr>
        <p:spPr>
          <a:xfrm>
            <a:off x="10305287" y="2990088"/>
            <a:ext cx="438912" cy="384048"/>
          </a:xfrm>
          <a:prstGeom prst="rect">
            <a:avLst/>
          </a:prstGeom>
          <a:solidFill>
            <a:srgbClr val="EAF2FF"/>
          </a:solidFill>
          <a:ln w="8890">
            <a:solidFill>
              <a:srgbClr val="0B5C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61" name="TextBox 160"/>
          <p:cNvSpPr txBox="1"/>
          <p:nvPr/>
        </p:nvSpPr>
        <p:spPr>
          <a:xfrm>
            <a:off x="10305287" y="3099816"/>
            <a:ext cx="438912" cy="109728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>
              <a:defRPr sz="950" b="1">
                <a:solidFill>
                  <a:srgbClr val="0B5CAD"/>
                </a:solidFill>
                <a:latin typeface="PingFang SC" panose="020B0400000000000000" pitchFamily="34" charset="-122"/>
              </a:defRPr>
            </a:pPr>
            <a:r>
              <a:t>W3</a:t>
            </a:r>
          </a:p>
        </p:txBody>
      </p:sp>
      <p:sp>
        <p:nvSpPr>
          <p:cNvPr id="162" name="Rectangle 161"/>
          <p:cNvSpPr/>
          <p:nvPr/>
        </p:nvSpPr>
        <p:spPr>
          <a:xfrm>
            <a:off x="10863071" y="2990088"/>
            <a:ext cx="438912" cy="384048"/>
          </a:xfrm>
          <a:prstGeom prst="rect">
            <a:avLst/>
          </a:prstGeom>
          <a:solidFill>
            <a:srgbClr val="FFFFFF"/>
          </a:solidFill>
          <a:ln w="8890">
            <a:solidFill>
              <a:srgbClr val="C23A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63" name="TextBox 162"/>
          <p:cNvSpPr txBox="1"/>
          <p:nvPr/>
        </p:nvSpPr>
        <p:spPr>
          <a:xfrm>
            <a:off x="10863071" y="3099816"/>
            <a:ext cx="438912" cy="109728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>
              <a:defRPr sz="950" b="1">
                <a:solidFill>
                  <a:srgbClr val="C23A32"/>
                </a:solidFill>
                <a:latin typeface="PingFang SC" panose="020B0400000000000000" pitchFamily="34" charset="-122"/>
              </a:defRPr>
            </a:pPr>
            <a:r>
              <a:t>W4</a:t>
            </a:r>
          </a:p>
        </p:txBody>
      </p:sp>
      <p:cxnSp>
        <p:nvCxnSpPr>
          <p:cNvPr id="164" name="Connector 163"/>
          <p:cNvCxnSpPr/>
          <p:nvPr/>
        </p:nvCxnSpPr>
        <p:spPr>
          <a:xfrm>
            <a:off x="10945367" y="3072384"/>
            <a:ext cx="274320" cy="228600"/>
          </a:xfrm>
          <a:prstGeom prst="line">
            <a:avLst/>
          </a:prstGeom>
          <a:ln w="12700">
            <a:solidFill>
              <a:srgbClr val="C23A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5" name="Connector 164"/>
          <p:cNvCxnSpPr/>
          <p:nvPr/>
        </p:nvCxnSpPr>
        <p:spPr>
          <a:xfrm flipH="1">
            <a:off x="10945367" y="3072384"/>
            <a:ext cx="274320" cy="228600"/>
          </a:xfrm>
          <a:prstGeom prst="line">
            <a:avLst/>
          </a:prstGeom>
          <a:ln w="12700">
            <a:solidFill>
              <a:srgbClr val="C23A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6" name="TextBox 165"/>
          <p:cNvSpPr txBox="1"/>
          <p:nvPr/>
        </p:nvSpPr>
        <p:spPr>
          <a:xfrm>
            <a:off x="9208007" y="3584448"/>
            <a:ext cx="2121408" cy="155448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>
              <a:defRPr sz="950" b="1">
                <a:solidFill>
                  <a:srgbClr val="C23A32"/>
                </a:solidFill>
                <a:latin typeface="PingFang SC" panose="020B0400000000000000" pitchFamily="34" charset="-122"/>
              </a:defRPr>
            </a:pPr>
            <a:r>
              <a:t>3 / 4 Worker → Blocked</a:t>
            </a:r>
          </a:p>
        </p:txBody>
      </p:sp>
      <p:cxnSp>
        <p:nvCxnSpPr>
          <p:cNvPr id="167" name="Connector 166"/>
          <p:cNvCxnSpPr/>
          <p:nvPr/>
        </p:nvCxnSpPr>
        <p:spPr>
          <a:xfrm>
            <a:off x="1901952" y="3950208"/>
            <a:ext cx="4169664" cy="420624"/>
          </a:xfrm>
          <a:prstGeom prst="line">
            <a:avLst/>
          </a:prstGeom>
          <a:ln w="11430">
            <a:solidFill>
              <a:srgbClr val="C23A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8" name="Connector 167"/>
          <p:cNvCxnSpPr/>
          <p:nvPr/>
        </p:nvCxnSpPr>
        <p:spPr>
          <a:xfrm>
            <a:off x="4690872" y="3950208"/>
            <a:ext cx="1380744" cy="420624"/>
          </a:xfrm>
          <a:prstGeom prst="line">
            <a:avLst/>
          </a:prstGeom>
          <a:ln w="11430">
            <a:solidFill>
              <a:srgbClr val="C23A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9" name="Connector 168"/>
          <p:cNvCxnSpPr/>
          <p:nvPr/>
        </p:nvCxnSpPr>
        <p:spPr>
          <a:xfrm flipH="1">
            <a:off x="6071616" y="3950208"/>
            <a:ext cx="1408176" cy="420624"/>
          </a:xfrm>
          <a:prstGeom prst="line">
            <a:avLst/>
          </a:prstGeom>
          <a:ln w="11430">
            <a:solidFill>
              <a:srgbClr val="C23A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0" name="Connector 169"/>
          <p:cNvCxnSpPr/>
          <p:nvPr/>
        </p:nvCxnSpPr>
        <p:spPr>
          <a:xfrm flipH="1">
            <a:off x="6071616" y="3950208"/>
            <a:ext cx="4197096" cy="420624"/>
          </a:xfrm>
          <a:prstGeom prst="line">
            <a:avLst/>
          </a:prstGeom>
          <a:ln w="11430">
            <a:solidFill>
              <a:srgbClr val="C23A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1" name="Down Arrow 170"/>
          <p:cNvSpPr/>
          <p:nvPr/>
        </p:nvSpPr>
        <p:spPr>
          <a:xfrm>
            <a:off x="5897880" y="4279392"/>
            <a:ext cx="347472" cy="310896"/>
          </a:xfrm>
          <a:prstGeom prst="downArrow">
            <a:avLst/>
          </a:prstGeom>
          <a:solidFill>
            <a:srgbClr val="C23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72" name="Rounded Rectangle 171"/>
          <p:cNvSpPr/>
          <p:nvPr/>
        </p:nvSpPr>
        <p:spPr>
          <a:xfrm>
            <a:off x="4370832" y="4608576"/>
            <a:ext cx="3401568" cy="512064"/>
          </a:xfrm>
          <a:prstGeom prst="roundRect">
            <a:avLst>
              <a:gd name="adj" fmla="val 8000"/>
            </a:avLst>
          </a:prstGeom>
          <a:solidFill>
            <a:srgbClr val="FFF8E8"/>
          </a:solidFill>
          <a:ln w="10160">
            <a:solidFill>
              <a:srgbClr val="C23A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73" name="TextBox 172"/>
          <p:cNvSpPr txBox="1"/>
          <p:nvPr/>
        </p:nvSpPr>
        <p:spPr>
          <a:xfrm>
            <a:off x="4370832" y="4754880"/>
            <a:ext cx="3401568" cy="164592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>
              <a:defRPr sz="1150" b="1">
                <a:solidFill>
                  <a:srgbClr val="C23A32"/>
                </a:solidFill>
                <a:latin typeface="PingFang SC" panose="020B0400000000000000" pitchFamily="34" charset="-122"/>
              </a:defRPr>
            </a:pPr>
            <a:r>
              <a:t>从 4 个 Job 各取 1 GPU，共释放 4 GPU</a:t>
            </a:r>
          </a:p>
        </p:txBody>
      </p:sp>
      <p:sp>
        <p:nvSpPr>
          <p:cNvPr id="174" name="Rounded Rectangle 173"/>
          <p:cNvSpPr/>
          <p:nvPr/>
        </p:nvSpPr>
        <p:spPr>
          <a:xfrm>
            <a:off x="749808" y="5394960"/>
            <a:ext cx="4882896" cy="530352"/>
          </a:xfrm>
          <a:prstGeom prst="roundRect">
            <a:avLst>
              <a:gd name="adj" fmla="val 8000"/>
            </a:avLst>
          </a:prstGeom>
          <a:solidFill>
            <a:srgbClr val="EAF5F2"/>
          </a:solidFill>
          <a:ln w="10160">
            <a:solidFill>
              <a:srgbClr val="2D6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75" name="TextBox 174"/>
          <p:cNvSpPr txBox="1"/>
          <p:nvPr/>
        </p:nvSpPr>
        <p:spPr>
          <a:xfrm>
            <a:off x="987552" y="5550408"/>
            <a:ext cx="4407408" cy="164592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>
              <a:defRPr sz="1050" b="1">
                <a:solidFill>
                  <a:srgbClr val="2D6A5F"/>
                </a:solidFill>
                <a:latin typeface="PingFang SC" panose="020B0400000000000000" pitchFamily="34" charset="-122"/>
              </a:defRPr>
            </a:pPr>
            <a:r>
              <a:t>表面结果：Serving Gang 获得 4 GPU，可以启动</a:t>
            </a:r>
          </a:p>
        </p:txBody>
      </p:sp>
      <p:sp>
        <p:nvSpPr>
          <p:cNvPr id="176" name="Rounded Rectangle 175"/>
          <p:cNvSpPr/>
          <p:nvPr/>
        </p:nvSpPr>
        <p:spPr>
          <a:xfrm>
            <a:off x="5925312" y="5394960"/>
            <a:ext cx="5449824" cy="5303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C23A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77" name="TextBox 176"/>
          <p:cNvSpPr txBox="1"/>
          <p:nvPr/>
        </p:nvSpPr>
        <p:spPr>
          <a:xfrm>
            <a:off x="6144768" y="5550408"/>
            <a:ext cx="5010912" cy="164592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>
              <a:defRPr sz="1050" b="1">
                <a:solidFill>
                  <a:srgbClr val="C23A32"/>
                </a:solidFill>
                <a:latin typeface="PingFang SC" panose="020B0400000000000000" pitchFamily="34" charset="-122"/>
              </a:defRPr>
            </a:pPr>
            <a:r>
              <a:t>实际代价：4 个 Training Job 同时受损，剩余 12 个 Worker 无法有效推进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F8F"/>
          </a:solidFill>
          <a:ln w="12700">
            <a:solidFill>
              <a:srgbClr val="003F8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" y="228600"/>
            <a:ext cx="1417320" cy="393192"/>
          </a:xfrm>
          <a:prstGeom prst="chevron">
            <a:avLst/>
          </a:prstGeom>
          <a:solidFill>
            <a:srgbClr val="003F8F"/>
          </a:solidFill>
          <a:ln w="12700">
            <a:solidFill>
              <a:srgbClr val="003F8F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274320"/>
            <a:ext cx="1078992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第二章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2212848" y="182880"/>
            <a:ext cx="7635240" cy="512064"/>
          </a:xfrm>
          <a:prstGeom prst="rect">
            <a:avLst/>
          </a:prstGeom>
          <a:noFill/>
        </p:spPr>
        <p:txBody>
          <a:bodyPr wrap="square" lIns="18288" tIns="9144" rIns="18288" bIns="9144" rtlCol="0" anchor="ctr">
            <a:normAutofit/>
          </a:bodyPr>
          <a:lstStyle/>
          <a:p>
            <a:pPr marL="0" indent="0" algn="l">
              <a:buNone/>
              <a:defRPr sz="2750" b="1">
                <a:solidFill>
                  <a:srgbClr val="003F8F"/>
                </a:solidFill>
                <a:latin typeface="PingFang SC" panose="020B0400000000000000" pitchFamily="34" charset="-122"/>
              </a:defRPr>
            </a:pPr>
            <a:r>
              <a:t>Queue 公平如何落到 Gang 工作负载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58368" y="832104"/>
            <a:ext cx="10744200" cy="347472"/>
          </a:xfrm>
          <a:prstGeom prst="rect">
            <a:avLst/>
          </a:prstGeom>
          <a:noFill/>
        </p:spPr>
        <p:txBody>
          <a:bodyPr wrap="square" lIns="18288" tIns="9144" rIns="18288" bIns="9144" rtlCol="0" anchor="ctr">
            <a:normAutofit/>
          </a:bodyPr>
          <a:lstStyle/>
          <a:p>
            <a:pPr marL="0" indent="0" algn="l">
              <a:buNone/>
              <a:defRPr sz="1420" b="0">
                <a:solidFill>
                  <a:srgbClr val="66788A"/>
                </a:solidFill>
                <a:latin typeface="PingFang SC" panose="020B0400000000000000" pitchFamily="34" charset="-122"/>
              </a:defRPr>
            </a:pPr>
            <a:r>
              <a:t>Queue 决定归还方向与数量；Gang-aware 决策保证请求方能够完整运行</a:t>
            </a:r>
            <a:endParaRPr lang="en-US" sz="1530" dirty="0"/>
          </a:p>
        </p:txBody>
      </p:sp>
      <p:sp>
        <p:nvSpPr>
          <p:cNvPr id="7" name="Shape 5"/>
          <p:cNvSpPr/>
          <p:nvPr/>
        </p:nvSpPr>
        <p:spPr>
          <a:xfrm>
            <a:off x="566928" y="1225296"/>
            <a:ext cx="11018520" cy="0"/>
          </a:xfrm>
          <a:prstGeom prst="line">
            <a:avLst/>
          </a:prstGeom>
          <a:noFill/>
          <a:ln w="11430">
            <a:solidFill>
              <a:srgbClr val="B9C8D8"/>
            </a:solidFill>
            <a:prstDash val="solid"/>
            <a:headEnd type="none"/>
          </a:ln>
        </p:spPr>
      </p:sp>
      <p:sp>
        <p:nvSpPr>
          <p:cNvPr id="8" name="Shape 6"/>
          <p:cNvSpPr/>
          <p:nvPr/>
        </p:nvSpPr>
        <p:spPr>
          <a:xfrm>
            <a:off x="566928" y="1179576"/>
            <a:ext cx="1225296" cy="91440"/>
          </a:xfrm>
          <a:prstGeom prst="rect">
            <a:avLst/>
          </a:prstGeom>
          <a:solidFill>
            <a:srgbClr val="E43D30"/>
          </a:solidFill>
          <a:ln w="12700">
            <a:solidFill>
              <a:srgbClr val="E43D30">
                <a:alpha val="0"/>
              </a:srgbClr>
            </a:solidFill>
            <a:prstDash val="solid"/>
          </a:ln>
        </p:spPr>
      </p:sp>
      <p:pic>
        <p:nvPicPr>
          <p:cNvPr id="9" name="Image 0" descr="/Users/chenzicong/Documents/Codex/2026-07-20/wo/outputs/volcano-unified-scheduling-editable/assets/volcano-logo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97312" y="321114"/>
            <a:ext cx="1078992" cy="180733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1475720" y="6492240"/>
            <a:ext cx="347472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768597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15</a:t>
            </a:r>
            <a:endParaRPr lang="en-US" sz="950" dirty="0"/>
          </a:p>
        </p:txBody>
      </p:sp>
      <p:sp>
        <p:nvSpPr>
          <p:cNvPr id="59" name="Shape 56"/>
          <p:cNvSpPr/>
          <p:nvPr/>
        </p:nvSpPr>
        <p:spPr>
          <a:xfrm>
            <a:off x="640080" y="6236208"/>
            <a:ext cx="10908792" cy="402336"/>
          </a:xfrm>
          <a:prstGeom prst="rect">
            <a:avLst/>
          </a:prstGeom>
          <a:solidFill>
            <a:srgbClr val="003F8F"/>
          </a:solidFill>
          <a:ln w="12700">
            <a:solidFill>
              <a:srgbClr val="003F8F">
                <a:alpha val="0"/>
              </a:srgbClr>
            </a:solidFill>
            <a:prstDash val="solid"/>
          </a:ln>
        </p:spPr>
      </p:sp>
      <p:sp>
        <p:nvSpPr>
          <p:cNvPr id="60" name="Shape 57"/>
          <p:cNvSpPr/>
          <p:nvPr/>
        </p:nvSpPr>
        <p:spPr>
          <a:xfrm>
            <a:off x="640080" y="6236208"/>
            <a:ext cx="109728" cy="402336"/>
          </a:xfrm>
          <a:prstGeom prst="rect">
            <a:avLst/>
          </a:prstGeom>
          <a:solidFill>
            <a:srgbClr val="E43D30"/>
          </a:solidFill>
          <a:ln w="12700">
            <a:solidFill>
              <a:srgbClr val="E43D30">
                <a:alpha val="0"/>
              </a:srgbClr>
            </a:solidFill>
            <a:prstDash val="solid"/>
          </a:ln>
        </p:spPr>
      </p:sp>
      <p:sp>
        <p:nvSpPr>
          <p:cNvPr id="61" name="Text 58"/>
          <p:cNvSpPr/>
          <p:nvPr/>
        </p:nvSpPr>
        <p:spPr>
          <a:xfrm>
            <a:off x="914400" y="6272784"/>
            <a:ext cx="10378440" cy="301752"/>
          </a:xfrm>
          <a:prstGeom prst="rect">
            <a:avLst/>
          </a:prstGeom>
          <a:noFill/>
        </p:spPr>
        <p:txBody>
          <a:bodyPr wrap="square" lIns="18288" tIns="9144" rIns="18288" bIns="9144" rtlCol="0" anchor="ctr">
            <a:normAutofit/>
          </a:bodyPr>
          <a:lstStyle/>
          <a:p>
            <a:pPr marL="0" indent="0" algn="ctr">
              <a:buNone/>
              <a:defRPr sz="1380" b="1">
                <a:solidFill>
                  <a:srgbClr val="FFFFFF"/>
                </a:solidFill>
                <a:latin typeface="PingFang SC" panose="020B0400000000000000" pitchFamily="34" charset="-122"/>
              </a:defRPr>
            </a:pPr>
            <a:r>
              <a:t>只有完整 victim Job 释放后能够放下 Serving PodGroup，回收事务才提交</a:t>
            </a:r>
            <a:endParaRPr lang="en-US" sz="1500" dirty="0"/>
          </a:p>
        </p:txBody>
      </p:sp>
      <p:sp>
        <p:nvSpPr>
          <p:cNvPr id="62" name="Rectangle 61"/>
          <p:cNvSpPr/>
          <p:nvPr/>
        </p:nvSpPr>
        <p:spPr>
          <a:xfrm>
            <a:off x="658368" y="1371600"/>
            <a:ext cx="10890504" cy="402336"/>
          </a:xfrm>
          <a:prstGeom prst="rect">
            <a:avLst/>
          </a:prstGeom>
          <a:solidFill>
            <a:srgbClr val="FFFFFF"/>
          </a:solidFill>
          <a:ln w="11430">
            <a:solidFill>
              <a:srgbClr val="0B5C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658368" y="1371600"/>
            <a:ext cx="109728" cy="402336"/>
          </a:xfrm>
          <a:prstGeom prst="rect">
            <a:avLst/>
          </a:prstGeom>
          <a:solidFill>
            <a:srgbClr val="C23A32"/>
          </a:solidFill>
          <a:ln w="10160">
            <a:solidFill>
              <a:srgbClr val="C23A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914400" y="1453896"/>
            <a:ext cx="10314432" cy="201168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>
              <a:defRPr sz="1180" b="1">
                <a:solidFill>
                  <a:srgbClr val="172033"/>
                </a:solidFill>
                <a:latin typeface="PingFang SC" panose="020B0400000000000000" pitchFamily="34" charset="-122"/>
              </a:defRPr>
            </a:pPr>
            <a:r>
              <a:t>Serving PodGroup 需要同一拓扑域内的 4 GPU；Training Queue 应归还 4 GPU</a:t>
            </a:r>
          </a:p>
        </p:txBody>
      </p:sp>
      <p:sp>
        <p:nvSpPr>
          <p:cNvPr id="65" name="Chevron 64"/>
          <p:cNvSpPr/>
          <p:nvPr/>
        </p:nvSpPr>
        <p:spPr>
          <a:xfrm>
            <a:off x="749808" y="1947672"/>
            <a:ext cx="1188720" cy="329184"/>
          </a:xfrm>
          <a:prstGeom prst="chevron">
            <a:avLst/>
          </a:prstGeom>
          <a:solidFill>
            <a:srgbClr val="003F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822959" y="1997964"/>
            <a:ext cx="987552" cy="164592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>
              <a:defRPr sz="920" b="1">
                <a:solidFill>
                  <a:srgbClr val="FFFFFF"/>
                </a:solidFill>
                <a:latin typeface="PingFang SC" panose="020B0400000000000000" pitchFamily="34" charset="-122"/>
              </a:defRPr>
            </a:pPr>
            <a:r>
              <a:t>份额决策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731520" y="2295144"/>
            <a:ext cx="2743200" cy="3429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1430">
            <a:solidFill>
              <a:srgbClr val="0B5C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ounded Rectangle 67"/>
          <p:cNvSpPr/>
          <p:nvPr/>
        </p:nvSpPr>
        <p:spPr>
          <a:xfrm>
            <a:off x="1024128" y="2578608"/>
            <a:ext cx="2157984" cy="658368"/>
          </a:xfrm>
          <a:prstGeom prst="roundRect">
            <a:avLst>
              <a:gd name="adj" fmla="val 8000"/>
            </a:avLst>
          </a:prstGeom>
          <a:solidFill>
            <a:srgbClr val="EAF2FF"/>
          </a:solidFill>
          <a:ln w="10795">
            <a:solidFill>
              <a:srgbClr val="0B5C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1170432" y="2679191"/>
            <a:ext cx="1865376" cy="173736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>
              <a:defRPr sz="1120" b="1">
                <a:solidFill>
                  <a:srgbClr val="003F8F"/>
                </a:solidFill>
                <a:latin typeface="PingFang SC" panose="020B0400000000000000" pitchFamily="34" charset="-122"/>
              </a:defRPr>
            </a:pPr>
            <a:r>
              <a:t>Serving Queue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170432" y="2944368"/>
            <a:ext cx="1865376" cy="155448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>
              <a:defRPr sz="920" b="0">
                <a:solidFill>
                  <a:srgbClr val="66788A"/>
                </a:solidFill>
                <a:latin typeface="PingFang SC" panose="020B0400000000000000" pitchFamily="34" charset="-122"/>
              </a:defRPr>
            </a:pPr>
            <a:r>
              <a:t>低于 Deserved：需要 4 GPU</a:t>
            </a:r>
          </a:p>
        </p:txBody>
      </p:sp>
      <p:sp>
        <p:nvSpPr>
          <p:cNvPr id="71" name="Down Arrow 70"/>
          <p:cNvSpPr/>
          <p:nvPr/>
        </p:nvSpPr>
        <p:spPr>
          <a:xfrm>
            <a:off x="1975104" y="3319272"/>
            <a:ext cx="292608" cy="256032"/>
          </a:xfrm>
          <a:prstGeom prst="downArrow">
            <a:avLst/>
          </a:prstGeom>
          <a:solidFill>
            <a:srgbClr val="0B5C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ounded Rectangle 71"/>
          <p:cNvSpPr/>
          <p:nvPr/>
        </p:nvSpPr>
        <p:spPr>
          <a:xfrm>
            <a:off x="1024128" y="3675887"/>
            <a:ext cx="2157984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795">
            <a:solidFill>
              <a:srgbClr val="0B5C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1170432" y="3776472"/>
            <a:ext cx="1865376" cy="173736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>
              <a:defRPr sz="1120" b="1">
                <a:solidFill>
                  <a:srgbClr val="003F8F"/>
                </a:solidFill>
                <a:latin typeface="PingFang SC" panose="020B0400000000000000" pitchFamily="34" charset="-122"/>
              </a:defRPr>
            </a:pPr>
            <a:r>
              <a:t>Serving PodGroup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170432" y="4041648"/>
            <a:ext cx="1865376" cy="155448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>
              <a:defRPr sz="920" b="0">
                <a:solidFill>
                  <a:srgbClr val="66788A"/>
                </a:solidFill>
                <a:latin typeface="PingFang SC" panose="020B0400000000000000" pitchFamily="34" charset="-122"/>
              </a:defRPr>
            </a:pPr>
            <a:r>
              <a:t>minAvailable 4｜same HyperNode</a:t>
            </a:r>
          </a:p>
        </p:txBody>
      </p:sp>
      <p:sp>
        <p:nvSpPr>
          <p:cNvPr id="75" name="Down Arrow 74"/>
          <p:cNvSpPr/>
          <p:nvPr/>
        </p:nvSpPr>
        <p:spPr>
          <a:xfrm>
            <a:off x="1975104" y="4425696"/>
            <a:ext cx="292608" cy="256032"/>
          </a:xfrm>
          <a:prstGeom prst="downArrow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ounded Rectangle 75"/>
          <p:cNvSpPr/>
          <p:nvPr/>
        </p:nvSpPr>
        <p:spPr>
          <a:xfrm>
            <a:off x="1024128" y="4773168"/>
            <a:ext cx="2157984" cy="658368"/>
          </a:xfrm>
          <a:prstGeom prst="roundRect">
            <a:avLst>
              <a:gd name="adj" fmla="val 8000"/>
            </a:avLst>
          </a:prstGeom>
          <a:solidFill>
            <a:srgbClr val="FFF8E8"/>
          </a:solidFill>
          <a:ln w="10795">
            <a:solidFill>
              <a:srgbClr val="B779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1170432" y="4873752"/>
            <a:ext cx="1865376" cy="173736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>
              <a:defRPr sz="1120" b="1">
                <a:solidFill>
                  <a:srgbClr val="003F8F"/>
                </a:solidFill>
                <a:latin typeface="PingFang SC" panose="020B0400000000000000" pitchFamily="34" charset="-122"/>
              </a:defRPr>
            </a:pPr>
            <a:r>
              <a:t>Training Queue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1170432" y="5138928"/>
            <a:ext cx="1865376" cy="155448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>
              <a:defRPr sz="920" b="0">
                <a:solidFill>
                  <a:srgbClr val="66788A"/>
                </a:solidFill>
                <a:latin typeface="PingFang SC" panose="020B0400000000000000" pitchFamily="34" charset="-122"/>
              </a:defRPr>
            </a:pPr>
            <a:r>
              <a:t>高于 Deserved：归还 4 GPU</a:t>
            </a:r>
          </a:p>
        </p:txBody>
      </p:sp>
      <p:sp>
        <p:nvSpPr>
          <p:cNvPr id="79" name="Chevron 78"/>
          <p:cNvSpPr/>
          <p:nvPr/>
        </p:nvSpPr>
        <p:spPr>
          <a:xfrm>
            <a:off x="3749039" y="1947672"/>
            <a:ext cx="1627632" cy="329184"/>
          </a:xfrm>
          <a:prstGeom prst="chevron">
            <a:avLst/>
          </a:prstGeom>
          <a:solidFill>
            <a:srgbClr val="003F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3822191" y="1997964"/>
            <a:ext cx="1426464" cy="164592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>
              <a:defRPr sz="920" b="1">
                <a:solidFill>
                  <a:srgbClr val="FFFFFF"/>
                </a:solidFill>
                <a:latin typeface="PingFang SC" panose="020B0400000000000000" pitchFamily="34" charset="-122"/>
              </a:defRPr>
            </a:pPr>
            <a:r>
              <a:t>Gang-aware 决策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3877056" y="2331720"/>
            <a:ext cx="5029200" cy="694944"/>
          </a:xfrm>
          <a:prstGeom prst="roundRect">
            <a:avLst>
              <a:gd name="adj" fmla="val 8000"/>
            </a:avLst>
          </a:prstGeom>
          <a:solidFill>
            <a:srgbClr val="EAF2FF"/>
          </a:solidFill>
          <a:ln w="10795">
            <a:solidFill>
              <a:srgbClr val="0B5C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ounded Rectangle 81"/>
          <p:cNvSpPr/>
          <p:nvPr/>
        </p:nvSpPr>
        <p:spPr>
          <a:xfrm>
            <a:off x="4041648" y="2514600"/>
            <a:ext cx="438912" cy="329184"/>
          </a:xfrm>
          <a:prstGeom prst="roundRect">
            <a:avLst>
              <a:gd name="adj" fmla="val 8000"/>
            </a:avLst>
          </a:prstGeom>
          <a:solidFill>
            <a:srgbClr val="0B5CAD"/>
          </a:solidFill>
          <a:ln w="8255">
            <a:solidFill>
              <a:srgbClr val="0B5C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4041648" y="2606039"/>
            <a:ext cx="438912" cy="118872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>
              <a:defRPr sz="920" b="1">
                <a:solidFill>
                  <a:srgbClr val="FFFFFF"/>
                </a:solidFill>
                <a:latin typeface="PingFang SC" panose="020B0400000000000000" pitchFamily="34" charset="-122"/>
              </a:defRPr>
            </a:pPr>
            <a:r>
              <a:t>01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4663440" y="2423160"/>
            <a:ext cx="4059935" cy="182880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defRPr sz="1120" b="1">
                <a:solidFill>
                  <a:srgbClr val="003F8F"/>
                </a:solidFill>
                <a:latin typeface="PingFang SC" panose="020B0400000000000000" pitchFamily="34" charset="-122"/>
              </a:defRPr>
            </a:pPr>
            <a:r>
              <a:t>按 Job / PodGroup 组织候选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4663440" y="2697479"/>
            <a:ext cx="4059935" cy="182880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defRPr sz="940" b="0">
                <a:solidFill>
                  <a:srgbClr val="66788A"/>
                </a:solidFill>
                <a:latin typeface="PingFang SC" panose="020B0400000000000000" pitchFamily="34" charset="-122"/>
              </a:defRPr>
            </a:pPr>
            <a:r>
              <a:t>不从多个训练 Job 中零散拼接 Pod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3877056" y="3172968"/>
            <a:ext cx="5029200" cy="694944"/>
          </a:xfrm>
          <a:prstGeom prst="roundRect">
            <a:avLst>
              <a:gd name="adj" fmla="val 8000"/>
            </a:avLst>
          </a:prstGeom>
          <a:solidFill>
            <a:srgbClr val="EAF2FF"/>
          </a:solidFill>
          <a:ln w="10795">
            <a:solidFill>
              <a:srgbClr val="0B5C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ounded Rectangle 86"/>
          <p:cNvSpPr/>
          <p:nvPr/>
        </p:nvSpPr>
        <p:spPr>
          <a:xfrm>
            <a:off x="4041648" y="3355848"/>
            <a:ext cx="438912" cy="329184"/>
          </a:xfrm>
          <a:prstGeom prst="roundRect">
            <a:avLst>
              <a:gd name="adj" fmla="val 8000"/>
            </a:avLst>
          </a:prstGeom>
          <a:solidFill>
            <a:srgbClr val="0B5CAD"/>
          </a:solidFill>
          <a:ln w="8255">
            <a:solidFill>
              <a:srgbClr val="0B5C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4041648" y="3447288"/>
            <a:ext cx="438912" cy="118872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>
              <a:defRPr sz="920" b="1">
                <a:solidFill>
                  <a:srgbClr val="FFFFFF"/>
                </a:solidFill>
                <a:latin typeface="PingFang SC" panose="020B0400000000000000" pitchFamily="34" charset="-122"/>
              </a:defRPr>
            </a:pPr>
            <a:r>
              <a:t>02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4663440" y="3264408"/>
            <a:ext cx="4059935" cy="182880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defRPr sz="1120" b="1">
                <a:solidFill>
                  <a:srgbClr val="003F8F"/>
                </a:solidFill>
                <a:latin typeface="PingFang SC" panose="020B0400000000000000" pitchFamily="34" charset="-122"/>
              </a:defRPr>
            </a:pPr>
            <a:r>
              <a:t>模拟完整 victim Job 退出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4663440" y="3538728"/>
            <a:ext cx="4059935" cy="182880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defRPr sz="940" b="0">
                <a:solidFill>
                  <a:srgbClr val="66788A"/>
                </a:solidFill>
                <a:latin typeface="PingFang SC" panose="020B0400000000000000" pitchFamily="34" charset="-122"/>
              </a:defRPr>
            </a:pPr>
            <a:r>
              <a:t>检查释放后的 GPU 数量与拓扑位置</a:t>
            </a:r>
          </a:p>
        </p:txBody>
      </p:sp>
      <p:sp>
        <p:nvSpPr>
          <p:cNvPr id="91" name="Rounded Rectangle 90"/>
          <p:cNvSpPr/>
          <p:nvPr/>
        </p:nvSpPr>
        <p:spPr>
          <a:xfrm>
            <a:off x="3877056" y="4014215"/>
            <a:ext cx="5029200" cy="694944"/>
          </a:xfrm>
          <a:prstGeom prst="roundRect">
            <a:avLst>
              <a:gd name="adj" fmla="val 8000"/>
            </a:avLst>
          </a:prstGeom>
          <a:solidFill>
            <a:srgbClr val="EAF2FF"/>
          </a:solidFill>
          <a:ln w="10795">
            <a:solidFill>
              <a:srgbClr val="0B5C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ounded Rectangle 91"/>
          <p:cNvSpPr/>
          <p:nvPr/>
        </p:nvSpPr>
        <p:spPr>
          <a:xfrm>
            <a:off x="4041648" y="4197096"/>
            <a:ext cx="438912" cy="329184"/>
          </a:xfrm>
          <a:prstGeom prst="roundRect">
            <a:avLst>
              <a:gd name="adj" fmla="val 8000"/>
            </a:avLst>
          </a:prstGeom>
          <a:solidFill>
            <a:srgbClr val="0B5CAD"/>
          </a:solidFill>
          <a:ln w="8255">
            <a:solidFill>
              <a:srgbClr val="0B5C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4041648" y="4288536"/>
            <a:ext cx="438912" cy="118872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>
              <a:defRPr sz="920" b="1">
                <a:solidFill>
                  <a:srgbClr val="FFFFFF"/>
                </a:solidFill>
                <a:latin typeface="PingFang SC" panose="020B0400000000000000" pitchFamily="34" charset="-122"/>
              </a:defRPr>
            </a:pPr>
            <a:r>
              <a:t>03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4663440" y="4105655"/>
            <a:ext cx="4059935" cy="182880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defRPr sz="1120" b="1">
                <a:solidFill>
                  <a:srgbClr val="003F8F"/>
                </a:solidFill>
                <a:latin typeface="PingFang SC" panose="020B0400000000000000" pitchFamily="34" charset="-122"/>
              </a:defRPr>
            </a:pPr>
            <a:r>
              <a:t>验证 Serving PodGroup 放置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4663440" y="4379976"/>
            <a:ext cx="4059935" cy="182880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defRPr sz="940" b="0">
                <a:solidFill>
                  <a:srgbClr val="66788A"/>
                </a:solidFill>
                <a:latin typeface="PingFang SC" panose="020B0400000000000000" pitchFamily="34" charset="-122"/>
              </a:defRPr>
            </a:pPr>
            <a:r>
              <a:t>同时满足 minAvailable、资源和拓扑约束</a:t>
            </a:r>
          </a:p>
        </p:txBody>
      </p:sp>
      <p:sp>
        <p:nvSpPr>
          <p:cNvPr id="96" name="Rounded Rectangle 95"/>
          <p:cNvSpPr/>
          <p:nvPr/>
        </p:nvSpPr>
        <p:spPr>
          <a:xfrm>
            <a:off x="3877056" y="4855464"/>
            <a:ext cx="5029200" cy="694944"/>
          </a:xfrm>
          <a:prstGeom prst="roundRect">
            <a:avLst>
              <a:gd name="adj" fmla="val 8000"/>
            </a:avLst>
          </a:prstGeom>
          <a:solidFill>
            <a:srgbClr val="EAF5F2"/>
          </a:solidFill>
          <a:ln w="10795">
            <a:solidFill>
              <a:srgbClr val="2D6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ounded Rectangle 96"/>
          <p:cNvSpPr/>
          <p:nvPr/>
        </p:nvSpPr>
        <p:spPr>
          <a:xfrm>
            <a:off x="4041648" y="5038344"/>
            <a:ext cx="438912" cy="329184"/>
          </a:xfrm>
          <a:prstGeom prst="roundRect">
            <a:avLst>
              <a:gd name="adj" fmla="val 8000"/>
            </a:avLst>
          </a:prstGeom>
          <a:solidFill>
            <a:srgbClr val="2D6A5F"/>
          </a:solidFill>
          <a:ln w="8255">
            <a:solidFill>
              <a:srgbClr val="2D6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4041648" y="5129783"/>
            <a:ext cx="438912" cy="118872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>
              <a:defRPr sz="920" b="1">
                <a:solidFill>
                  <a:srgbClr val="FFFFFF"/>
                </a:solidFill>
                <a:latin typeface="PingFang SC" panose="020B0400000000000000" pitchFamily="34" charset="-122"/>
              </a:defRPr>
            </a:pPr>
            <a:r>
              <a:t>04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4663440" y="4946903"/>
            <a:ext cx="4059935" cy="182880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defRPr sz="1120" b="1">
                <a:solidFill>
                  <a:srgbClr val="003F8F"/>
                </a:solidFill>
                <a:latin typeface="PingFang SC" panose="020B0400000000000000" pitchFamily="34" charset="-122"/>
              </a:defRPr>
            </a:pPr>
            <a:r>
              <a:t>可完整运行才提交回收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4663440" y="5221224"/>
            <a:ext cx="4059935" cy="182880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defRPr sz="940" b="0">
                <a:solidFill>
                  <a:srgbClr val="66788A"/>
                </a:solidFill>
                <a:latin typeface="PingFang SC" panose="020B0400000000000000" pitchFamily="34" charset="-122"/>
              </a:defRPr>
            </a:pPr>
            <a:r>
              <a:t>否则保持 Training Job 当前运行状态</a:t>
            </a:r>
          </a:p>
        </p:txBody>
      </p:sp>
      <p:sp>
        <p:nvSpPr>
          <p:cNvPr id="101" name="Chevron 100"/>
          <p:cNvSpPr/>
          <p:nvPr/>
        </p:nvSpPr>
        <p:spPr>
          <a:xfrm>
            <a:off x="9198864" y="1947672"/>
            <a:ext cx="1097280" cy="329184"/>
          </a:xfrm>
          <a:prstGeom prst="chevron">
            <a:avLst/>
          </a:prstGeom>
          <a:solidFill>
            <a:srgbClr val="003F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9272016" y="1997964"/>
            <a:ext cx="896112" cy="164592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>
              <a:defRPr sz="920" b="1">
                <a:solidFill>
                  <a:srgbClr val="FFFFFF"/>
                </a:solidFill>
                <a:latin typeface="PingFang SC" panose="020B0400000000000000" pitchFamily="34" charset="-122"/>
              </a:defRPr>
            </a:pPr>
            <a:r>
              <a:t>决策结果</a:t>
            </a:r>
          </a:p>
        </p:txBody>
      </p:sp>
      <p:sp>
        <p:nvSpPr>
          <p:cNvPr id="103" name="Rounded Rectangle 102"/>
          <p:cNvSpPr/>
          <p:nvPr/>
        </p:nvSpPr>
        <p:spPr>
          <a:xfrm>
            <a:off x="9198864" y="2331720"/>
            <a:ext cx="2249424" cy="1408176"/>
          </a:xfrm>
          <a:prstGeom prst="roundRect">
            <a:avLst>
              <a:gd name="adj" fmla="val 8000"/>
            </a:avLst>
          </a:prstGeom>
          <a:solidFill>
            <a:srgbClr val="EAF5F2"/>
          </a:solidFill>
          <a:ln w="11430">
            <a:solidFill>
              <a:srgbClr val="2D6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9198864" y="2633472"/>
            <a:ext cx="2249424" cy="201168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>
              <a:defRPr sz="1300" b="1">
                <a:solidFill>
                  <a:srgbClr val="2D6A5F"/>
                </a:solidFill>
                <a:latin typeface="PingFang SC" panose="020B0400000000000000" pitchFamily="34" charset="-122"/>
              </a:defRPr>
            </a:pPr>
            <a:r>
              <a:t>Pipelined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9345168" y="3063240"/>
            <a:ext cx="1956816" cy="164592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>
              <a:defRPr sz="1000" b="1">
                <a:solidFill>
                  <a:srgbClr val="003F8F"/>
                </a:solidFill>
                <a:latin typeface="PingFang SC" panose="020B0400000000000000" pitchFamily="34" charset="-122"/>
              </a:defRPr>
            </a:pPr>
            <a:r>
              <a:t>释放完整 victim Job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9345168" y="3355848"/>
            <a:ext cx="1956816" cy="164592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>
              <a:defRPr sz="940" b="0">
                <a:solidFill>
                  <a:srgbClr val="66788A"/>
                </a:solidFill>
                <a:latin typeface="PingFang SC" panose="020B0400000000000000" pitchFamily="34" charset="-122"/>
              </a:defRPr>
            </a:pPr>
            <a:r>
              <a:t>Serving PG 获得 4 GPU</a:t>
            </a:r>
          </a:p>
        </p:txBody>
      </p:sp>
      <p:sp>
        <p:nvSpPr>
          <p:cNvPr id="107" name="Rounded Rectangle 106"/>
          <p:cNvSpPr/>
          <p:nvPr/>
        </p:nvSpPr>
        <p:spPr>
          <a:xfrm>
            <a:off x="9198864" y="4151376"/>
            <a:ext cx="2249424" cy="14081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1430">
            <a:solidFill>
              <a:srgbClr val="667A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9198864" y="4453128"/>
            <a:ext cx="2249424" cy="201168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>
              <a:defRPr sz="1180" b="1">
                <a:solidFill>
                  <a:srgbClr val="667A8D"/>
                </a:solidFill>
                <a:latin typeface="PingFang SC" panose="020B0400000000000000" pitchFamily="34" charset="-122"/>
              </a:defRPr>
            </a:pPr>
            <a:r>
              <a:t>Not Pipelined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9345168" y="4882896"/>
            <a:ext cx="1956816" cy="164592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>
              <a:defRPr sz="1000" b="1">
                <a:solidFill>
                  <a:srgbClr val="003F8F"/>
                </a:solidFill>
                <a:latin typeface="PingFang SC" panose="020B0400000000000000" pitchFamily="34" charset="-122"/>
              </a:defRPr>
            </a:pPr>
            <a:r>
              <a:t>不提交零散驱逐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9345168" y="5175504"/>
            <a:ext cx="1956816" cy="164592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>
              <a:defRPr sz="940" b="0">
                <a:solidFill>
                  <a:srgbClr val="66788A"/>
                </a:solidFill>
                <a:latin typeface="PingFang SC" panose="020B0400000000000000" pitchFamily="34" charset="-122"/>
              </a:defRPr>
            </a:pPr>
            <a:r>
              <a:t>Training Job 保持运行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F8F"/>
          </a:solidFill>
          <a:ln w="12700">
            <a:solidFill>
              <a:srgbClr val="003F8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" y="228600"/>
            <a:ext cx="1417320" cy="393192"/>
          </a:xfrm>
          <a:prstGeom prst="chevron">
            <a:avLst/>
          </a:prstGeom>
          <a:solidFill>
            <a:srgbClr val="003F8F"/>
          </a:solidFill>
          <a:ln w="12700">
            <a:solidFill>
              <a:srgbClr val="003F8F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274320"/>
            <a:ext cx="1078992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第二章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2212848" y="182880"/>
            <a:ext cx="7635240" cy="512064"/>
          </a:xfrm>
          <a:prstGeom prst="rect">
            <a:avLst/>
          </a:prstGeom>
          <a:noFill/>
        </p:spPr>
        <p:txBody>
          <a:bodyPr wrap="square" lIns="18288" tIns="9144" rIns="18288" bIns="9144" rtlCol="0" anchor="ctr">
            <a:normAutofit/>
          </a:bodyPr>
          <a:lstStyle/>
          <a:p>
            <a:pPr marL="0" indent="0" algn="l">
              <a:buNone/>
              <a:defRPr sz="2750" b="1">
                <a:solidFill>
                  <a:srgbClr val="003F8F"/>
                </a:solidFill>
                <a:latin typeface="PingFang SC" panose="020B0400000000000000" pitchFamily="34" charset="-122"/>
              </a:defRPr>
            </a:pPr>
            <a:r>
              <a:t>不同用户模型下的 Fair Share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66928" y="1225296"/>
            <a:ext cx="11018520" cy="0"/>
          </a:xfrm>
          <a:prstGeom prst="line">
            <a:avLst/>
          </a:prstGeom>
          <a:noFill/>
          <a:ln w="11430">
            <a:solidFill>
              <a:srgbClr val="B9C8D8"/>
            </a:solidFill>
            <a:prstDash val="solid"/>
            <a:headEnd type="none"/>
          </a:ln>
        </p:spPr>
      </p:sp>
      <p:sp>
        <p:nvSpPr>
          <p:cNvPr id="8" name="Shape 6"/>
          <p:cNvSpPr/>
          <p:nvPr/>
        </p:nvSpPr>
        <p:spPr>
          <a:xfrm>
            <a:off x="566928" y="1179576"/>
            <a:ext cx="1225296" cy="91440"/>
          </a:xfrm>
          <a:prstGeom prst="rect">
            <a:avLst/>
          </a:prstGeom>
          <a:solidFill>
            <a:srgbClr val="E43D30"/>
          </a:solidFill>
          <a:ln w="12700">
            <a:solidFill>
              <a:srgbClr val="E43D30">
                <a:alpha val="0"/>
              </a:srgbClr>
            </a:solidFill>
            <a:prstDash val="solid"/>
          </a:ln>
        </p:spPr>
      </p:sp>
      <p:pic>
        <p:nvPicPr>
          <p:cNvPr id="9" name="Image 0" descr="/Users/chenzicong/Documents/Codex/2026-07-20/wo/outputs/volcano-unified-scheduling-editable/assets/volcano-logo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97312" y="321114"/>
            <a:ext cx="1078992" cy="180733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1475720" y="6492240"/>
            <a:ext cx="347472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768597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16</a:t>
            </a:r>
            <a:endParaRPr lang="en-US" sz="950" dirty="0"/>
          </a:p>
        </p:txBody>
      </p:sp>
      <p:sp>
        <p:nvSpPr>
          <p:cNvPr id="83" name="Shape 80"/>
          <p:cNvSpPr/>
          <p:nvPr/>
        </p:nvSpPr>
        <p:spPr>
          <a:xfrm>
            <a:off x="640080" y="6236208"/>
            <a:ext cx="10908792" cy="402336"/>
          </a:xfrm>
          <a:prstGeom prst="rect">
            <a:avLst/>
          </a:prstGeom>
          <a:solidFill>
            <a:srgbClr val="003F8F"/>
          </a:solidFill>
          <a:ln w="12700">
            <a:solidFill>
              <a:srgbClr val="003F8F">
                <a:alpha val="0"/>
              </a:srgbClr>
            </a:solidFill>
            <a:prstDash val="solid"/>
          </a:ln>
        </p:spPr>
      </p:sp>
      <p:sp>
        <p:nvSpPr>
          <p:cNvPr id="84" name="Shape 81"/>
          <p:cNvSpPr/>
          <p:nvPr/>
        </p:nvSpPr>
        <p:spPr>
          <a:xfrm>
            <a:off x="640080" y="6236208"/>
            <a:ext cx="109728" cy="402336"/>
          </a:xfrm>
          <a:prstGeom prst="rect">
            <a:avLst/>
          </a:prstGeom>
          <a:solidFill>
            <a:srgbClr val="E43D30"/>
          </a:solidFill>
          <a:ln w="12700">
            <a:solidFill>
              <a:srgbClr val="E43D30">
                <a:alpha val="0"/>
              </a:srgbClr>
            </a:solidFill>
            <a:prstDash val="solid"/>
          </a:ln>
        </p:spPr>
      </p:sp>
      <p:sp>
        <p:nvSpPr>
          <p:cNvPr id="85" name="Text 82"/>
          <p:cNvSpPr/>
          <p:nvPr/>
        </p:nvSpPr>
        <p:spPr>
          <a:xfrm>
            <a:off x="914400" y="6272784"/>
            <a:ext cx="10378440" cy="301752"/>
          </a:xfrm>
          <a:prstGeom prst="rect">
            <a:avLst/>
          </a:prstGeom>
          <a:noFill/>
        </p:spPr>
        <p:txBody>
          <a:bodyPr wrap="square" lIns="18288" tIns="9144" rIns="18288" bIns="9144" rtlCol="0" anchor="ctr">
            <a:normAutofit/>
          </a:bodyPr>
          <a:lstStyle/>
          <a:p>
            <a:pPr marL="0" indent="0" algn="ctr">
              <a:buNone/>
              <a:defRPr sz="1380" b="1">
                <a:solidFill>
                  <a:srgbClr val="FFFFFF"/>
                </a:solidFill>
                <a:latin typeface="PingFang SC" panose="020B0400000000000000" pitchFamily="34" charset="-122"/>
              </a:defRPr>
            </a:pPr>
            <a:r>
              <a:t>Fair Share 首先要定义用户，再决定比较当前份额还是带时间衰减的历史使用</a:t>
            </a:r>
            <a:endParaRPr lang="en-US" sz="1500" dirty="0"/>
          </a:p>
        </p:txBody>
      </p:sp>
      <p:sp>
        <p:nvSpPr>
          <p:cNvPr id="86" name="Rounded Rectangle 85"/>
          <p:cNvSpPr/>
          <p:nvPr/>
        </p:nvSpPr>
        <p:spPr>
          <a:xfrm>
            <a:off x="658368" y="1389888"/>
            <a:ext cx="3401568" cy="457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1430">
            <a:solidFill>
              <a:srgbClr val="0B5C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ounded Rectangle 86"/>
          <p:cNvSpPr/>
          <p:nvPr/>
        </p:nvSpPr>
        <p:spPr>
          <a:xfrm>
            <a:off x="4416552" y="1389888"/>
            <a:ext cx="3401568" cy="457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1430">
            <a:solidFill>
              <a:srgbClr val="B779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ounded Rectangle 87"/>
          <p:cNvSpPr/>
          <p:nvPr/>
        </p:nvSpPr>
        <p:spPr>
          <a:xfrm>
            <a:off x="8174736" y="1389888"/>
            <a:ext cx="3383280" cy="457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1430">
            <a:solidFill>
              <a:srgbClr val="667A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Chevron 88"/>
          <p:cNvSpPr/>
          <p:nvPr/>
        </p:nvSpPr>
        <p:spPr>
          <a:xfrm>
            <a:off x="841248" y="1609344"/>
            <a:ext cx="2267712" cy="329184"/>
          </a:xfrm>
          <a:prstGeom prst="chevron">
            <a:avLst/>
          </a:prstGeom>
          <a:solidFill>
            <a:srgbClr val="003F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914400" y="1659636"/>
            <a:ext cx="2066543" cy="164592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>
              <a:defRPr sz="920" b="1">
                <a:solidFill>
                  <a:srgbClr val="FFFFFF"/>
                </a:solidFill>
                <a:latin typeface="PingFang SC" panose="020B0400000000000000" pitchFamily="34" charset="-122"/>
              </a:defRPr>
            </a:pPr>
            <a:r>
              <a:t>模型 A｜Queue = 租户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987552" y="2167128"/>
            <a:ext cx="2743200" cy="201168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>
              <a:defRPr sz="1200" b="1">
                <a:solidFill>
                  <a:srgbClr val="003F8F"/>
                </a:solidFill>
                <a:latin typeface="PingFang SC" panose="020B0400000000000000" pitchFamily="34" charset="-122"/>
              </a:defRPr>
            </a:pPr>
            <a:r>
              <a:t>租户身份直接映射到 Queue</a:t>
            </a:r>
          </a:p>
        </p:txBody>
      </p:sp>
      <p:sp>
        <p:nvSpPr>
          <p:cNvPr id="92" name="Rectangle 91"/>
          <p:cNvSpPr/>
          <p:nvPr/>
        </p:nvSpPr>
        <p:spPr>
          <a:xfrm>
            <a:off x="969264" y="2660904"/>
            <a:ext cx="1005840" cy="438912"/>
          </a:xfrm>
          <a:prstGeom prst="rect">
            <a:avLst/>
          </a:prstGeom>
          <a:solidFill>
            <a:srgbClr val="FFFFFF"/>
          </a:solidFill>
          <a:ln w="9525">
            <a:solidFill>
              <a:srgbClr val="0B5C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969264" y="2788920"/>
            <a:ext cx="1005840" cy="146304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>
              <a:defRPr sz="1000" b="1">
                <a:solidFill>
                  <a:srgbClr val="003F8F"/>
                </a:solidFill>
                <a:latin typeface="PingFang SC" panose="020B0400000000000000" pitchFamily="34" charset="-122"/>
              </a:defRPr>
            </a:pPr>
            <a:r>
              <a:t>Tenant A</a:t>
            </a:r>
          </a:p>
        </p:txBody>
      </p:sp>
      <p:sp>
        <p:nvSpPr>
          <p:cNvPr id="94" name="Chevron 93"/>
          <p:cNvSpPr/>
          <p:nvPr/>
        </p:nvSpPr>
        <p:spPr>
          <a:xfrm>
            <a:off x="2112264" y="2743200"/>
            <a:ext cx="292608" cy="256032"/>
          </a:xfrm>
          <a:prstGeom prst="chevron">
            <a:avLst/>
          </a:prstGeom>
          <a:solidFill>
            <a:srgbClr val="0B5C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ounded Rectangle 94"/>
          <p:cNvSpPr/>
          <p:nvPr/>
        </p:nvSpPr>
        <p:spPr>
          <a:xfrm>
            <a:off x="2542032" y="2660904"/>
            <a:ext cx="1133856" cy="438912"/>
          </a:xfrm>
          <a:prstGeom prst="roundRect">
            <a:avLst>
              <a:gd name="adj" fmla="val 8000"/>
            </a:avLst>
          </a:prstGeom>
          <a:solidFill>
            <a:srgbClr val="EAF2FF"/>
          </a:solidFill>
          <a:ln w="9525">
            <a:solidFill>
              <a:srgbClr val="0B5C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2542032" y="2788920"/>
            <a:ext cx="1133856" cy="146304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>
              <a:defRPr sz="1000" b="1">
                <a:solidFill>
                  <a:srgbClr val="003F8F"/>
                </a:solidFill>
                <a:latin typeface="PingFang SC" panose="020B0400000000000000" pitchFamily="34" charset="-122"/>
              </a:defRPr>
            </a:pPr>
            <a:r>
              <a:t>queue-a</a:t>
            </a:r>
          </a:p>
        </p:txBody>
      </p:sp>
      <p:sp>
        <p:nvSpPr>
          <p:cNvPr id="97" name="Rectangle 96"/>
          <p:cNvSpPr/>
          <p:nvPr/>
        </p:nvSpPr>
        <p:spPr>
          <a:xfrm>
            <a:off x="969264" y="3401568"/>
            <a:ext cx="1005840" cy="438912"/>
          </a:xfrm>
          <a:prstGeom prst="rect">
            <a:avLst/>
          </a:prstGeom>
          <a:solidFill>
            <a:srgbClr val="FFFFFF"/>
          </a:solidFill>
          <a:ln w="9525">
            <a:solidFill>
              <a:srgbClr val="0B5C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969264" y="3529584"/>
            <a:ext cx="1005840" cy="146304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>
              <a:defRPr sz="1000" b="1">
                <a:solidFill>
                  <a:srgbClr val="003F8F"/>
                </a:solidFill>
                <a:latin typeface="PingFang SC" panose="020B0400000000000000" pitchFamily="34" charset="-122"/>
              </a:defRPr>
            </a:pPr>
            <a:r>
              <a:t>Tenant B</a:t>
            </a:r>
          </a:p>
        </p:txBody>
      </p:sp>
      <p:sp>
        <p:nvSpPr>
          <p:cNvPr id="99" name="Chevron 98"/>
          <p:cNvSpPr/>
          <p:nvPr/>
        </p:nvSpPr>
        <p:spPr>
          <a:xfrm>
            <a:off x="2112264" y="3483864"/>
            <a:ext cx="292608" cy="256032"/>
          </a:xfrm>
          <a:prstGeom prst="chevron">
            <a:avLst/>
          </a:prstGeom>
          <a:solidFill>
            <a:srgbClr val="0B5C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ounded Rectangle 99"/>
          <p:cNvSpPr/>
          <p:nvPr/>
        </p:nvSpPr>
        <p:spPr>
          <a:xfrm>
            <a:off x="2542032" y="3401568"/>
            <a:ext cx="1133856" cy="438912"/>
          </a:xfrm>
          <a:prstGeom prst="roundRect">
            <a:avLst>
              <a:gd name="adj" fmla="val 8000"/>
            </a:avLst>
          </a:prstGeom>
          <a:solidFill>
            <a:srgbClr val="EAF2FF"/>
          </a:solidFill>
          <a:ln w="9525">
            <a:solidFill>
              <a:srgbClr val="0B5C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2542032" y="3529584"/>
            <a:ext cx="1133856" cy="146304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>
              <a:defRPr sz="1000" b="1">
                <a:solidFill>
                  <a:srgbClr val="003F8F"/>
                </a:solidFill>
                <a:latin typeface="PingFang SC" panose="020B0400000000000000" pitchFamily="34" charset="-122"/>
              </a:defRPr>
            </a:pPr>
            <a:r>
              <a:t>queue-b</a:t>
            </a:r>
          </a:p>
        </p:txBody>
      </p:sp>
      <p:sp>
        <p:nvSpPr>
          <p:cNvPr id="102" name="Down Arrow 101"/>
          <p:cNvSpPr/>
          <p:nvPr/>
        </p:nvSpPr>
        <p:spPr>
          <a:xfrm>
            <a:off x="2212848" y="4014215"/>
            <a:ext cx="310896" cy="274320"/>
          </a:xfrm>
          <a:prstGeom prst="downArrow">
            <a:avLst/>
          </a:prstGeom>
          <a:solidFill>
            <a:srgbClr val="0B5C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ounded Rectangle 102"/>
          <p:cNvSpPr/>
          <p:nvPr/>
        </p:nvSpPr>
        <p:spPr>
          <a:xfrm>
            <a:off x="1042415" y="4407408"/>
            <a:ext cx="2670048" cy="658368"/>
          </a:xfrm>
          <a:prstGeom prst="roundRect">
            <a:avLst>
              <a:gd name="adj" fmla="val 8000"/>
            </a:avLst>
          </a:prstGeom>
          <a:solidFill>
            <a:srgbClr val="EAF2FF"/>
          </a:solidFill>
          <a:ln w="10160">
            <a:solidFill>
              <a:srgbClr val="0B5C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1042415" y="4562856"/>
            <a:ext cx="2670048" cy="182880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>
              <a:defRPr sz="1150" b="1">
                <a:solidFill>
                  <a:srgbClr val="003F8F"/>
                </a:solidFill>
                <a:latin typeface="PingFang SC" panose="020B0400000000000000" pitchFamily="34" charset="-122"/>
              </a:defRPr>
            </a:pPr>
            <a:r>
              <a:t>公平对象：Queue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1042415" y="4837176"/>
            <a:ext cx="2670048" cy="155448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>
              <a:defRPr sz="980" b="0">
                <a:solidFill>
                  <a:srgbClr val="66788A"/>
                </a:solidFill>
                <a:latin typeface="PingFang SC" panose="020B0400000000000000" pitchFamily="34" charset="-122"/>
              </a:defRPr>
            </a:pPr>
            <a:r>
              <a:t>比较当前分配与应得份额</a:t>
            </a:r>
          </a:p>
        </p:txBody>
      </p:sp>
      <p:sp>
        <p:nvSpPr>
          <p:cNvPr id="106" name="Rounded Rectangle 105"/>
          <p:cNvSpPr/>
          <p:nvPr/>
        </p:nvSpPr>
        <p:spPr>
          <a:xfrm>
            <a:off x="1042415" y="5285232"/>
            <a:ext cx="2670048" cy="3108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7620">
            <a:solidFill>
              <a:srgbClr val="0B5C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1042415" y="5367528"/>
            <a:ext cx="2670048" cy="128016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>
              <a:defRPr sz="950" b="1">
                <a:solidFill>
                  <a:srgbClr val="0B5CAD"/>
                </a:solidFill>
                <a:latin typeface="PingFang SC" panose="020B0400000000000000" pitchFamily="34" charset="-122"/>
              </a:defRPr>
            </a:pPr>
            <a:r>
              <a:t>Volcano 当前可表达</a:t>
            </a:r>
          </a:p>
        </p:txBody>
      </p:sp>
      <p:sp>
        <p:nvSpPr>
          <p:cNvPr id="108" name="Chevron 107"/>
          <p:cNvSpPr/>
          <p:nvPr/>
        </p:nvSpPr>
        <p:spPr>
          <a:xfrm>
            <a:off x="4599432" y="1609344"/>
            <a:ext cx="2414016" cy="329184"/>
          </a:xfrm>
          <a:prstGeom prst="chevron">
            <a:avLst/>
          </a:prstGeom>
          <a:solidFill>
            <a:srgbClr val="003F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4672584" y="1659636"/>
            <a:ext cx="2212848" cy="164592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>
              <a:defRPr sz="920" b="1">
                <a:solidFill>
                  <a:srgbClr val="FFFFFF"/>
                </a:solidFill>
                <a:latin typeface="PingFang SC" panose="020B0400000000000000" pitchFamily="34" charset="-122"/>
              </a:defRPr>
            </a:pPr>
            <a:r>
              <a:t>模型 B｜Namespace = 租户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4645152" y="2167128"/>
            <a:ext cx="2926080" cy="201168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>
              <a:defRPr sz="1170" b="1">
                <a:solidFill>
                  <a:srgbClr val="003F8F"/>
                </a:solidFill>
                <a:latin typeface="PingFang SC" panose="020B0400000000000000" pitchFamily="34" charset="-122"/>
              </a:defRPr>
            </a:pPr>
            <a:r>
              <a:t>多个租户共享同一个 GPU Queue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4681728" y="2688336"/>
            <a:ext cx="749808" cy="438912"/>
          </a:xfrm>
          <a:prstGeom prst="rect">
            <a:avLst/>
          </a:prstGeom>
          <a:solidFill>
            <a:srgbClr val="FFFFFF"/>
          </a:solidFill>
          <a:ln w="9525">
            <a:solidFill>
              <a:srgbClr val="0B5C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4681728" y="2816352"/>
            <a:ext cx="749808" cy="146304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>
              <a:defRPr sz="1000" b="1">
                <a:solidFill>
                  <a:srgbClr val="003F8F"/>
                </a:solidFill>
                <a:latin typeface="PingFang SC" panose="020B0400000000000000" pitchFamily="34" charset="-122"/>
              </a:defRPr>
            </a:pPr>
            <a:r>
              <a:t>ns-a</a:t>
            </a:r>
          </a:p>
        </p:txBody>
      </p:sp>
      <p:cxnSp>
        <p:nvCxnSpPr>
          <p:cNvPr id="113" name="Connector 112"/>
          <p:cNvCxnSpPr/>
          <p:nvPr/>
        </p:nvCxnSpPr>
        <p:spPr>
          <a:xfrm>
            <a:off x="5056632" y="3127248"/>
            <a:ext cx="0" cy="292608"/>
          </a:xfrm>
          <a:prstGeom prst="line">
            <a:avLst/>
          </a:prstGeom>
          <a:ln w="12700">
            <a:solidFill>
              <a:srgbClr val="0B5C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4" name="Rectangle 113"/>
          <p:cNvSpPr/>
          <p:nvPr/>
        </p:nvSpPr>
        <p:spPr>
          <a:xfrm>
            <a:off x="5596128" y="2688336"/>
            <a:ext cx="749808" cy="438912"/>
          </a:xfrm>
          <a:prstGeom prst="rect">
            <a:avLst/>
          </a:prstGeom>
          <a:solidFill>
            <a:srgbClr val="FFFFFF"/>
          </a:solidFill>
          <a:ln w="9525">
            <a:solidFill>
              <a:srgbClr val="0B5C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5596128" y="2816352"/>
            <a:ext cx="749808" cy="146304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>
              <a:defRPr sz="1000" b="1">
                <a:solidFill>
                  <a:srgbClr val="003F8F"/>
                </a:solidFill>
                <a:latin typeface="PingFang SC" panose="020B0400000000000000" pitchFamily="34" charset="-122"/>
              </a:defRPr>
            </a:pPr>
            <a:r>
              <a:t>ns-b</a:t>
            </a:r>
          </a:p>
        </p:txBody>
      </p:sp>
      <p:cxnSp>
        <p:nvCxnSpPr>
          <p:cNvPr id="116" name="Connector 115"/>
          <p:cNvCxnSpPr/>
          <p:nvPr/>
        </p:nvCxnSpPr>
        <p:spPr>
          <a:xfrm>
            <a:off x="5971032" y="3127248"/>
            <a:ext cx="0" cy="292608"/>
          </a:xfrm>
          <a:prstGeom prst="line">
            <a:avLst/>
          </a:prstGeom>
          <a:ln w="12700">
            <a:solidFill>
              <a:srgbClr val="0B5C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7" name="Rectangle 116"/>
          <p:cNvSpPr/>
          <p:nvPr/>
        </p:nvSpPr>
        <p:spPr>
          <a:xfrm>
            <a:off x="6510528" y="2688336"/>
            <a:ext cx="749808" cy="438912"/>
          </a:xfrm>
          <a:prstGeom prst="rect">
            <a:avLst/>
          </a:prstGeom>
          <a:solidFill>
            <a:srgbClr val="FFFFFF"/>
          </a:solidFill>
          <a:ln w="9525">
            <a:solidFill>
              <a:srgbClr val="0B5C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6510528" y="2816352"/>
            <a:ext cx="749808" cy="146304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>
              <a:defRPr sz="1000" b="1">
                <a:solidFill>
                  <a:srgbClr val="003F8F"/>
                </a:solidFill>
                <a:latin typeface="PingFang SC" panose="020B0400000000000000" pitchFamily="34" charset="-122"/>
              </a:defRPr>
            </a:pPr>
            <a:r>
              <a:t>ns-c</a:t>
            </a:r>
          </a:p>
        </p:txBody>
      </p:sp>
      <p:cxnSp>
        <p:nvCxnSpPr>
          <p:cNvPr id="119" name="Connector 118"/>
          <p:cNvCxnSpPr/>
          <p:nvPr/>
        </p:nvCxnSpPr>
        <p:spPr>
          <a:xfrm>
            <a:off x="6885432" y="3127248"/>
            <a:ext cx="0" cy="292608"/>
          </a:xfrm>
          <a:prstGeom prst="line">
            <a:avLst/>
          </a:prstGeom>
          <a:ln w="12700">
            <a:solidFill>
              <a:srgbClr val="0B5C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0" name="Rounded Rectangle 119"/>
          <p:cNvSpPr/>
          <p:nvPr/>
        </p:nvSpPr>
        <p:spPr>
          <a:xfrm>
            <a:off x="4764024" y="3429000"/>
            <a:ext cx="2724912" cy="566928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10160">
            <a:solidFill>
              <a:srgbClr val="667A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4764024" y="3611880"/>
            <a:ext cx="2724912" cy="164592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>
              <a:defRPr sz="1120" b="1">
                <a:solidFill>
                  <a:srgbClr val="003F8F"/>
                </a:solidFill>
                <a:latin typeface="PingFang SC" panose="020B0400000000000000" pitchFamily="34" charset="-122"/>
              </a:defRPr>
            </a:pPr>
            <a:r>
              <a:t>gpu-shared Queue</a:t>
            </a:r>
          </a:p>
        </p:txBody>
      </p:sp>
      <p:sp>
        <p:nvSpPr>
          <p:cNvPr id="122" name="Down Arrow 121"/>
          <p:cNvSpPr/>
          <p:nvPr/>
        </p:nvSpPr>
        <p:spPr>
          <a:xfrm>
            <a:off x="5952744" y="4078224"/>
            <a:ext cx="310896" cy="274320"/>
          </a:xfrm>
          <a:prstGeom prst="downArrow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Rounded Rectangle 122"/>
          <p:cNvSpPr/>
          <p:nvPr/>
        </p:nvSpPr>
        <p:spPr>
          <a:xfrm>
            <a:off x="4709160" y="4462272"/>
            <a:ext cx="2834640" cy="768096"/>
          </a:xfrm>
          <a:prstGeom prst="roundRect">
            <a:avLst>
              <a:gd name="adj" fmla="val 8000"/>
            </a:avLst>
          </a:prstGeom>
          <a:solidFill>
            <a:srgbClr val="FFF8E8"/>
          </a:solidFill>
          <a:ln w="10160">
            <a:solidFill>
              <a:srgbClr val="B779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4709160" y="4608576"/>
            <a:ext cx="2834640" cy="182880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>
              <a:defRPr sz="1100" b="1">
                <a:solidFill>
                  <a:srgbClr val="B7791F"/>
                </a:solidFill>
                <a:latin typeface="PingFang SC" panose="020B0400000000000000" pitchFamily="34" charset="-122"/>
              </a:defRPr>
            </a:pPr>
            <a:r>
              <a:t>Queue 只看到汇总使用量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4709160" y="4910328"/>
            <a:ext cx="2834640" cy="164592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>
              <a:defRPr sz="970" b="0">
                <a:solidFill>
                  <a:srgbClr val="66788A"/>
                </a:solidFill>
                <a:latin typeface="PingFang SC" panose="020B0400000000000000" pitchFamily="34" charset="-122"/>
              </a:defRPr>
            </a:pPr>
            <a:r>
              <a:t>无法区分各 Namespace 的历史</a:t>
            </a:r>
          </a:p>
        </p:txBody>
      </p:sp>
      <p:sp>
        <p:nvSpPr>
          <p:cNvPr id="126" name="Rounded Rectangle 125"/>
          <p:cNvSpPr/>
          <p:nvPr/>
        </p:nvSpPr>
        <p:spPr>
          <a:xfrm>
            <a:off x="4709160" y="5404104"/>
            <a:ext cx="2834640" cy="310896"/>
          </a:xfrm>
          <a:prstGeom prst="roundRect">
            <a:avLst>
              <a:gd name="adj" fmla="val 8000"/>
            </a:avLst>
          </a:prstGeom>
          <a:solidFill>
            <a:srgbClr val="EAF2FF"/>
          </a:solidFill>
          <a:ln w="7620">
            <a:solidFill>
              <a:srgbClr val="0B5C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4709160" y="5486400"/>
            <a:ext cx="2834640" cy="128016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>
              <a:defRPr sz="920" b="1">
                <a:solidFill>
                  <a:srgbClr val="0B5CAD"/>
                </a:solidFill>
                <a:latin typeface="PingFang SC" panose="020B0400000000000000" pitchFamily="34" charset="-122"/>
              </a:defRPr>
            </a:pPr>
            <a:r>
              <a:t>需要 Namespace-level Fair Share</a:t>
            </a:r>
          </a:p>
        </p:txBody>
      </p:sp>
      <p:sp>
        <p:nvSpPr>
          <p:cNvPr id="128" name="Chevron 127"/>
          <p:cNvSpPr/>
          <p:nvPr/>
        </p:nvSpPr>
        <p:spPr>
          <a:xfrm>
            <a:off x="8357616" y="1609344"/>
            <a:ext cx="1993392" cy="329184"/>
          </a:xfrm>
          <a:prstGeom prst="chevron">
            <a:avLst/>
          </a:prstGeom>
          <a:solidFill>
            <a:srgbClr val="003F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TextBox 128"/>
          <p:cNvSpPr txBox="1"/>
          <p:nvPr/>
        </p:nvSpPr>
        <p:spPr>
          <a:xfrm>
            <a:off x="8430768" y="1659636"/>
            <a:ext cx="1792224" cy="164592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>
              <a:defRPr sz="920" b="1">
                <a:solidFill>
                  <a:srgbClr val="FFFFFF"/>
                </a:solidFill>
                <a:latin typeface="PingFang SC" panose="020B0400000000000000" pitchFamily="34" charset="-122"/>
              </a:defRPr>
            </a:pPr>
            <a:r>
              <a:t>Slurm-inspired Decay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8412480" y="2167128"/>
            <a:ext cx="2852928" cy="201168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>
              <a:defRPr sz="1180" b="1">
                <a:solidFill>
                  <a:srgbClr val="003F8F"/>
                </a:solidFill>
                <a:latin typeface="PingFang SC" panose="020B0400000000000000" pitchFamily="34" charset="-122"/>
              </a:defRPr>
            </a:pPr>
            <a:r>
              <a:t>为 Namespace 记录历史使用</a:t>
            </a:r>
          </a:p>
        </p:txBody>
      </p:sp>
      <p:sp>
        <p:nvSpPr>
          <p:cNvPr id="131" name="Rounded Rectangle 130"/>
          <p:cNvSpPr/>
          <p:nvPr/>
        </p:nvSpPr>
        <p:spPr>
          <a:xfrm>
            <a:off x="8458200" y="2660904"/>
            <a:ext cx="1225296" cy="4937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0B5C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TextBox 131"/>
          <p:cNvSpPr txBox="1"/>
          <p:nvPr/>
        </p:nvSpPr>
        <p:spPr>
          <a:xfrm>
            <a:off x="8458200" y="2816352"/>
            <a:ext cx="1225296" cy="155448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>
              <a:defRPr sz="1000" b="1">
                <a:solidFill>
                  <a:srgbClr val="003F8F"/>
                </a:solidFill>
                <a:latin typeface="PingFang SC" panose="020B0400000000000000" pitchFamily="34" charset="-122"/>
              </a:defRPr>
            </a:pPr>
            <a:r>
              <a:t>GPU 数量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9756648" y="2798064"/>
            <a:ext cx="256032" cy="164592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>
              <a:defRPr sz="1300" b="1">
                <a:solidFill>
                  <a:srgbClr val="0B5CAD"/>
                </a:solidFill>
                <a:latin typeface="PingFang SC" panose="020B0400000000000000" pitchFamily="34" charset="-122"/>
              </a:defRPr>
            </a:pPr>
            <a:r>
              <a:t>×</a:t>
            </a:r>
          </a:p>
        </p:txBody>
      </p:sp>
      <p:sp>
        <p:nvSpPr>
          <p:cNvPr id="134" name="Rounded Rectangle 133"/>
          <p:cNvSpPr/>
          <p:nvPr/>
        </p:nvSpPr>
        <p:spPr>
          <a:xfrm>
            <a:off x="10076688" y="2660904"/>
            <a:ext cx="1097280" cy="4937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0B5C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TextBox 134"/>
          <p:cNvSpPr txBox="1"/>
          <p:nvPr/>
        </p:nvSpPr>
        <p:spPr>
          <a:xfrm>
            <a:off x="10076688" y="2816352"/>
            <a:ext cx="1097280" cy="155448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>
              <a:defRPr sz="1000" b="1">
                <a:solidFill>
                  <a:srgbClr val="003F8F"/>
                </a:solidFill>
                <a:latin typeface="PingFang SC" panose="020B0400000000000000" pitchFamily="34" charset="-122"/>
              </a:defRPr>
            </a:pPr>
            <a:r>
              <a:t>运行时间</a:t>
            </a:r>
          </a:p>
        </p:txBody>
      </p:sp>
      <p:sp>
        <p:nvSpPr>
          <p:cNvPr id="136" name="Down Arrow 135"/>
          <p:cNvSpPr/>
          <p:nvPr/>
        </p:nvSpPr>
        <p:spPr>
          <a:xfrm>
            <a:off x="9646920" y="3273552"/>
            <a:ext cx="310896" cy="274320"/>
          </a:xfrm>
          <a:prstGeom prst="downArrow">
            <a:avLst/>
          </a:prstGeom>
          <a:solidFill>
            <a:srgbClr val="0B5C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Rounded Rectangle 136"/>
          <p:cNvSpPr/>
          <p:nvPr/>
        </p:nvSpPr>
        <p:spPr>
          <a:xfrm>
            <a:off x="8458200" y="3657600"/>
            <a:ext cx="2715768" cy="548640"/>
          </a:xfrm>
          <a:prstGeom prst="roundRect">
            <a:avLst>
              <a:gd name="adj" fmla="val 8000"/>
            </a:avLst>
          </a:prstGeom>
          <a:solidFill>
            <a:srgbClr val="EAF2FF"/>
          </a:solidFill>
          <a:ln w="10160">
            <a:solidFill>
              <a:srgbClr val="0B5C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TextBox 137"/>
          <p:cNvSpPr txBox="1"/>
          <p:nvPr/>
        </p:nvSpPr>
        <p:spPr>
          <a:xfrm>
            <a:off x="8458200" y="3831336"/>
            <a:ext cx="2715768" cy="164592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>
              <a:defRPr sz="1020" b="1">
                <a:solidFill>
                  <a:srgbClr val="003F8F"/>
                </a:solidFill>
                <a:latin typeface="PingFang SC" panose="020B0400000000000000" pitchFamily="34" charset="-122"/>
              </a:defRPr>
            </a:pPr>
            <a:r>
              <a:t>resource-seconds / Namespace</a:t>
            </a:r>
          </a:p>
        </p:txBody>
      </p:sp>
      <p:sp>
        <p:nvSpPr>
          <p:cNvPr id="139" name="Down Arrow 138"/>
          <p:cNvSpPr/>
          <p:nvPr/>
        </p:nvSpPr>
        <p:spPr>
          <a:xfrm>
            <a:off x="9646920" y="4315968"/>
            <a:ext cx="310896" cy="274320"/>
          </a:xfrm>
          <a:prstGeom prst="downArrow">
            <a:avLst/>
          </a:prstGeom>
          <a:solidFill>
            <a:srgbClr val="0B5C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Rounded Rectangle 139"/>
          <p:cNvSpPr/>
          <p:nvPr/>
        </p:nvSpPr>
        <p:spPr>
          <a:xfrm>
            <a:off x="8458200" y="4681728"/>
            <a:ext cx="2715768" cy="7132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667A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TextBox 140"/>
          <p:cNvSpPr txBox="1"/>
          <p:nvPr/>
        </p:nvSpPr>
        <p:spPr>
          <a:xfrm>
            <a:off x="8458200" y="4828032"/>
            <a:ext cx="2715768" cy="182880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>
              <a:defRPr sz="1050" b="1">
                <a:solidFill>
                  <a:srgbClr val="003F8F"/>
                </a:solidFill>
                <a:latin typeface="PingFang SC" panose="020B0400000000000000" pitchFamily="34" charset="-122"/>
              </a:defRPr>
            </a:pPr>
            <a:r>
              <a:t>历史权重按半衰期衰减</a:t>
            </a:r>
          </a:p>
        </p:txBody>
      </p:sp>
      <p:cxnSp>
        <p:nvCxnSpPr>
          <p:cNvPr id="142" name="Connector 141"/>
          <p:cNvCxnSpPr/>
          <p:nvPr/>
        </p:nvCxnSpPr>
        <p:spPr>
          <a:xfrm>
            <a:off x="8823960" y="5230368"/>
            <a:ext cx="2011680" cy="0"/>
          </a:xfrm>
          <a:prstGeom prst="line">
            <a:avLst/>
          </a:prstGeom>
          <a:ln w="10160">
            <a:solidFill>
              <a:srgbClr val="B8C5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3" name="Connector 142"/>
          <p:cNvCxnSpPr/>
          <p:nvPr/>
        </p:nvCxnSpPr>
        <p:spPr>
          <a:xfrm>
            <a:off x="8887968" y="4992624"/>
            <a:ext cx="402336" cy="64008"/>
          </a:xfrm>
          <a:prstGeom prst="line">
            <a:avLst/>
          </a:prstGeom>
          <a:ln w="19050">
            <a:solidFill>
              <a:srgbClr val="667A8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4" name="Connector 143"/>
          <p:cNvCxnSpPr/>
          <p:nvPr/>
        </p:nvCxnSpPr>
        <p:spPr>
          <a:xfrm>
            <a:off x="9290304" y="5056632"/>
            <a:ext cx="411480" cy="64008"/>
          </a:xfrm>
          <a:prstGeom prst="line">
            <a:avLst/>
          </a:prstGeom>
          <a:ln w="19050">
            <a:solidFill>
              <a:srgbClr val="667A8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5" name="Connector 144"/>
          <p:cNvCxnSpPr/>
          <p:nvPr/>
        </p:nvCxnSpPr>
        <p:spPr>
          <a:xfrm>
            <a:off x="9701784" y="5120640"/>
            <a:ext cx="429768" cy="45720"/>
          </a:xfrm>
          <a:prstGeom prst="line">
            <a:avLst/>
          </a:prstGeom>
          <a:ln w="19050">
            <a:solidFill>
              <a:srgbClr val="667A8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6" name="Connector 145"/>
          <p:cNvCxnSpPr/>
          <p:nvPr/>
        </p:nvCxnSpPr>
        <p:spPr>
          <a:xfrm>
            <a:off x="10131552" y="5166360"/>
            <a:ext cx="402336" cy="36576"/>
          </a:xfrm>
          <a:prstGeom prst="line">
            <a:avLst/>
          </a:prstGeom>
          <a:ln w="19050">
            <a:solidFill>
              <a:srgbClr val="667A8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7" name="Connector 146"/>
          <p:cNvCxnSpPr/>
          <p:nvPr/>
        </p:nvCxnSpPr>
        <p:spPr>
          <a:xfrm>
            <a:off x="10533888" y="5202936"/>
            <a:ext cx="283464" cy="18288"/>
          </a:xfrm>
          <a:prstGeom prst="line">
            <a:avLst/>
          </a:prstGeom>
          <a:ln w="19050">
            <a:solidFill>
              <a:srgbClr val="667A8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8" name="Rounded Rectangle 147"/>
          <p:cNvSpPr/>
          <p:nvPr/>
        </p:nvSpPr>
        <p:spPr>
          <a:xfrm>
            <a:off x="8458200" y="5522976"/>
            <a:ext cx="2715768" cy="274320"/>
          </a:xfrm>
          <a:prstGeom prst="roundRect">
            <a:avLst>
              <a:gd name="adj" fmla="val 8000"/>
            </a:avLst>
          </a:prstGeom>
          <a:solidFill>
            <a:srgbClr val="EAF2FF"/>
          </a:solidFill>
          <a:ln w="7620">
            <a:solidFill>
              <a:srgbClr val="0B5C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TextBox 148"/>
          <p:cNvSpPr txBox="1"/>
          <p:nvPr/>
        </p:nvSpPr>
        <p:spPr>
          <a:xfrm>
            <a:off x="8458200" y="5596128"/>
            <a:ext cx="2715768" cy="118872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>
              <a:defRPr sz="900" b="1">
                <a:solidFill>
                  <a:srgbClr val="0B5CAD"/>
                </a:solidFill>
                <a:latin typeface="PingFang SC" panose="020B0400000000000000" pitchFamily="34" charset="-122"/>
              </a:defRPr>
            </a:pPr>
            <a:r>
              <a:t>历史使用越少，优先级越高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F8F"/>
          </a:solidFill>
          <a:ln w="12700">
            <a:solidFill>
              <a:srgbClr val="003F8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566928" y="228600"/>
            <a:ext cx="1417320" cy="393192"/>
          </a:xfrm>
          <a:prstGeom prst="chevron">
            <a:avLst/>
          </a:prstGeom>
          <a:solidFill>
            <a:srgbClr val="003F8F"/>
          </a:solidFill>
          <a:ln w="12700">
            <a:solidFill>
              <a:srgbClr val="003F8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658368" y="274320"/>
            <a:ext cx="1078992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第二章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2212975" y="182880"/>
            <a:ext cx="7995920" cy="511810"/>
          </a:xfrm>
          <a:prstGeom prst="rect">
            <a:avLst/>
          </a:prstGeom>
          <a:noFill/>
        </p:spPr>
        <p:txBody>
          <a:bodyPr wrap="square" lIns="18288" tIns="9144" rIns="18288" bIns="9144" rtlCol="0" anchor="ctr">
            <a:normAutofit/>
          </a:bodyPr>
          <a:lstStyle/>
          <a:p>
            <a:pPr marL="0" indent="0" algn="l">
              <a:buNone/>
              <a:defRPr sz="2750" b="1">
                <a:solidFill>
                  <a:srgbClr val="003F8F"/>
                </a:solidFill>
                <a:latin typeface="PingFang SC" panose="020B0400000000000000" pitchFamily="34" charset="-122"/>
              </a:defRPr>
            </a:pPr>
            <a:r>
              <a:t>未来探索：从 Pod Checkpoint 到可恢复资源归还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58368" y="832104"/>
            <a:ext cx="10744200" cy="347472"/>
          </a:xfrm>
          <a:prstGeom prst="rect">
            <a:avLst/>
          </a:prstGeom>
          <a:noFill/>
        </p:spPr>
        <p:txBody>
          <a:bodyPr wrap="square" lIns="18288" tIns="9144" rIns="18288" bIns="9144" rtlCol="0" anchor="ctr">
            <a:normAutofit/>
          </a:bodyPr>
          <a:lstStyle/>
          <a:p>
            <a:pPr marL="0" indent="0" algn="l">
              <a:buNone/>
              <a:defRPr sz="1420" b="0">
                <a:solidFill>
                  <a:srgbClr val="66788A"/>
                </a:solidFill>
                <a:latin typeface="PingFang SC" panose="020B0400000000000000" pitchFamily="34" charset="-122"/>
              </a:defRPr>
            </a:pPr>
            <a:r>
              <a:t>Kubernetes 正在补齐 Pod 级 Checkpoint/Restore；Volcano 仍需连接 Queue、Gang 与训练控制器</a:t>
            </a:r>
            <a:endParaRPr lang="en-US" sz="1530" dirty="0"/>
          </a:p>
        </p:txBody>
      </p:sp>
      <p:sp>
        <p:nvSpPr>
          <p:cNvPr id="7" name="Shape 5"/>
          <p:cNvSpPr/>
          <p:nvPr/>
        </p:nvSpPr>
        <p:spPr>
          <a:xfrm>
            <a:off x="566928" y="1225296"/>
            <a:ext cx="11018520" cy="0"/>
          </a:xfrm>
          <a:prstGeom prst="line">
            <a:avLst/>
          </a:prstGeom>
          <a:noFill/>
          <a:ln w="11430">
            <a:solidFill>
              <a:srgbClr val="B9C8D8"/>
            </a:solidFill>
            <a:prstDash val="solid"/>
            <a:headEnd type="none"/>
          </a:ln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566928" y="1179576"/>
            <a:ext cx="1225296" cy="91440"/>
          </a:xfrm>
          <a:prstGeom prst="rect">
            <a:avLst/>
          </a:prstGeom>
          <a:solidFill>
            <a:srgbClr val="E43D30"/>
          </a:solidFill>
          <a:ln w="12700">
            <a:solidFill>
              <a:srgbClr val="E43D30">
                <a:alpha val="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9" name="Image 0" descr="/Users/chenzicong/Documents/Codex/2026-07-20/wo/outputs/volcano-unified-scheduling-editable/assets/volcano-logo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97312" y="321114"/>
            <a:ext cx="1078992" cy="180733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1475720" y="6492240"/>
            <a:ext cx="347472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768597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17</a:t>
            </a:r>
            <a:endParaRPr lang="en-US" sz="950" dirty="0"/>
          </a:p>
        </p:txBody>
      </p:sp>
      <p:sp>
        <p:nvSpPr>
          <p:cNvPr id="91" name="Shape 88"/>
          <p:cNvSpPr/>
          <p:nvPr/>
        </p:nvSpPr>
        <p:spPr>
          <a:xfrm>
            <a:off x="640080" y="6236208"/>
            <a:ext cx="10908792" cy="402336"/>
          </a:xfrm>
          <a:prstGeom prst="rect">
            <a:avLst/>
          </a:prstGeom>
          <a:solidFill>
            <a:srgbClr val="003F8F"/>
          </a:solidFill>
          <a:ln w="12700">
            <a:solidFill>
              <a:srgbClr val="003F8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92" name="Shape 89"/>
          <p:cNvSpPr/>
          <p:nvPr/>
        </p:nvSpPr>
        <p:spPr>
          <a:xfrm>
            <a:off x="640080" y="6236208"/>
            <a:ext cx="109728" cy="402336"/>
          </a:xfrm>
          <a:prstGeom prst="rect">
            <a:avLst/>
          </a:prstGeom>
          <a:solidFill>
            <a:srgbClr val="E43D30"/>
          </a:solidFill>
          <a:ln w="12700">
            <a:solidFill>
              <a:srgbClr val="E43D30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93" name="Text 90"/>
          <p:cNvSpPr/>
          <p:nvPr/>
        </p:nvSpPr>
        <p:spPr>
          <a:xfrm>
            <a:off x="914400" y="6272784"/>
            <a:ext cx="10378440" cy="301752"/>
          </a:xfrm>
          <a:prstGeom prst="rect">
            <a:avLst/>
          </a:prstGeom>
          <a:noFill/>
        </p:spPr>
        <p:txBody>
          <a:bodyPr wrap="square" lIns="18288" tIns="9144" rIns="18288" bIns="9144" rtlCol="0" anchor="ctr">
            <a:normAutofit/>
          </a:bodyPr>
          <a:lstStyle/>
          <a:p>
            <a:pPr marL="0" indent="0" algn="ctr">
              <a:buNone/>
              <a:defRPr sz="1380" b="1">
                <a:solidFill>
                  <a:srgbClr val="FFFFFF"/>
                </a:solidFill>
                <a:latin typeface="PingFang SC" panose="020B0400000000000000" pitchFamily="34" charset="-122"/>
              </a:defRPr>
            </a:pPr>
            <a:r>
              <a:t>上游提供 Pod 级基础，Volcano 需要把它转化为 Job 级、Gang-aware 的资源归还协议</a:t>
            </a:r>
            <a:endParaRPr lang="en-US" sz="1500" dirty="0"/>
          </a:p>
        </p:txBody>
      </p:sp>
      <p:sp>
        <p:nvSpPr>
          <p:cNvPr id="94" name="Rectangle 93"/>
          <p:cNvSpPr/>
          <p:nvPr/>
        </p:nvSpPr>
        <p:spPr>
          <a:xfrm>
            <a:off x="658368" y="1371600"/>
            <a:ext cx="10890504" cy="402336"/>
          </a:xfrm>
          <a:prstGeom prst="rect">
            <a:avLst/>
          </a:prstGeom>
          <a:solidFill>
            <a:srgbClr val="FFFFFF"/>
          </a:solidFill>
          <a:ln w="11430">
            <a:solidFill>
              <a:srgbClr val="0B5C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95" name="Rectangle 94"/>
          <p:cNvSpPr/>
          <p:nvPr/>
        </p:nvSpPr>
        <p:spPr>
          <a:xfrm>
            <a:off x="658368" y="1371600"/>
            <a:ext cx="109728" cy="402336"/>
          </a:xfrm>
          <a:prstGeom prst="rect">
            <a:avLst/>
          </a:prstGeom>
          <a:solidFill>
            <a:srgbClr val="C23A32"/>
          </a:solidFill>
          <a:ln w="10160">
            <a:solidFill>
              <a:srgbClr val="C23A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96" name="TextBox 95"/>
          <p:cNvSpPr txBox="1"/>
          <p:nvPr/>
        </p:nvSpPr>
        <p:spPr>
          <a:xfrm>
            <a:off x="914400" y="1453896"/>
            <a:ext cx="10314432" cy="201168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>
              <a:defRPr sz="1180" b="1">
                <a:solidFill>
                  <a:srgbClr val="172033"/>
                </a:solidFill>
                <a:latin typeface="PingFang SC" panose="020B0400000000000000" pitchFamily="34" charset="-122"/>
              </a:defRPr>
            </a:pPr>
            <a:r>
              <a:t>Checkpoint 不是当前 Queue 的回收动作；它是未来降低 victim Job 训练损失的底层能力</a:t>
            </a:r>
          </a:p>
        </p:txBody>
      </p:sp>
      <p:sp>
        <p:nvSpPr>
          <p:cNvPr id="97" name="Rounded Rectangle 96"/>
          <p:cNvSpPr/>
          <p:nvPr/>
        </p:nvSpPr>
        <p:spPr>
          <a:xfrm>
            <a:off x="713232" y="1920240"/>
            <a:ext cx="10771632" cy="9875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1430">
            <a:solidFill>
              <a:srgbClr val="0B5C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98" name="TextBox 97"/>
          <p:cNvSpPr txBox="1"/>
          <p:nvPr/>
        </p:nvSpPr>
        <p:spPr>
          <a:xfrm>
            <a:off x="932688" y="2084831"/>
            <a:ext cx="1078992" cy="146304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defRPr sz="1050" b="1">
                <a:solidFill>
                  <a:srgbClr val="0B5CAD"/>
                </a:solidFill>
                <a:latin typeface="PingFang SC" panose="020B0400000000000000" pitchFamily="34" charset="-122"/>
              </a:defRPr>
            </a:pPr>
            <a:r>
              <a:t>资源归还触发</a:t>
            </a:r>
          </a:p>
        </p:txBody>
      </p:sp>
      <p:sp>
        <p:nvSpPr>
          <p:cNvPr id="99" name="Rounded Rectangle 98"/>
          <p:cNvSpPr/>
          <p:nvPr/>
        </p:nvSpPr>
        <p:spPr>
          <a:xfrm>
            <a:off x="932688" y="2331720"/>
            <a:ext cx="2103120" cy="365760"/>
          </a:xfrm>
          <a:prstGeom prst="roundRect">
            <a:avLst>
              <a:gd name="adj" fmla="val 8000"/>
            </a:avLst>
          </a:prstGeom>
          <a:solidFill>
            <a:srgbClr val="EAF2FF"/>
          </a:solidFill>
          <a:ln w="8890">
            <a:solidFill>
              <a:srgbClr val="0B5C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00" name="TextBox 99"/>
          <p:cNvSpPr txBox="1"/>
          <p:nvPr/>
        </p:nvSpPr>
        <p:spPr>
          <a:xfrm>
            <a:off x="932688" y="2441448"/>
            <a:ext cx="2103120" cy="128016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>
              <a:defRPr sz="1050" b="1">
                <a:solidFill>
                  <a:srgbClr val="0B5CAD"/>
                </a:solidFill>
                <a:latin typeface="PingFang SC" panose="020B0400000000000000" pitchFamily="34" charset="-122"/>
              </a:defRPr>
            </a:pPr>
            <a:r>
              <a:t>Serving PodGroup 缺 4 GPU</a:t>
            </a:r>
          </a:p>
        </p:txBody>
      </p:sp>
      <p:sp>
        <p:nvSpPr>
          <p:cNvPr id="101" name="Chevron 100"/>
          <p:cNvSpPr/>
          <p:nvPr/>
        </p:nvSpPr>
        <p:spPr>
          <a:xfrm>
            <a:off x="3200400" y="2368296"/>
            <a:ext cx="347472" cy="256032"/>
          </a:xfrm>
          <a:prstGeom prst="chevron">
            <a:avLst/>
          </a:prstGeom>
          <a:solidFill>
            <a:srgbClr val="0B5C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02" name="Rounded Rectangle 101"/>
          <p:cNvSpPr/>
          <p:nvPr/>
        </p:nvSpPr>
        <p:spPr>
          <a:xfrm>
            <a:off x="3694176" y="2185416"/>
            <a:ext cx="3840480" cy="5303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0B5C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03" name="TextBox 102"/>
          <p:cNvSpPr txBox="1"/>
          <p:nvPr/>
        </p:nvSpPr>
        <p:spPr>
          <a:xfrm>
            <a:off x="3877056" y="2286000"/>
            <a:ext cx="3182112" cy="155448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defRPr sz="1100" b="1">
                <a:solidFill>
                  <a:srgbClr val="003F8F"/>
                </a:solidFill>
                <a:latin typeface="PingFang SC" panose="020B0400000000000000" pitchFamily="34" charset="-122"/>
              </a:defRPr>
            </a:pPr>
            <a:r>
              <a:t>Queue：Training 应归还 4 GPU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3877056" y="2496312"/>
            <a:ext cx="3255264" cy="128016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defRPr sz="950" b="0">
                <a:solidFill>
                  <a:srgbClr val="66788A"/>
                </a:solidFill>
                <a:latin typeface="PingFang SC" panose="020B0400000000000000" pitchFamily="34" charset="-122"/>
              </a:defRPr>
            </a:pPr>
            <a:r>
              <a:t>Gang-aware：选择完整 victim Job</a:t>
            </a:r>
          </a:p>
        </p:txBody>
      </p:sp>
      <p:sp>
        <p:nvSpPr>
          <p:cNvPr id="105" name="Chevron 104"/>
          <p:cNvSpPr/>
          <p:nvPr/>
        </p:nvSpPr>
        <p:spPr>
          <a:xfrm>
            <a:off x="7735824" y="2368296"/>
            <a:ext cx="347472" cy="256032"/>
          </a:xfrm>
          <a:prstGeom prst="chevron">
            <a:avLst/>
          </a:prstGeom>
          <a:solidFill>
            <a:srgbClr val="0B5C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06" name="Rounded Rectangle 105"/>
          <p:cNvSpPr/>
          <p:nvPr/>
        </p:nvSpPr>
        <p:spPr>
          <a:xfrm>
            <a:off x="8247888" y="2331720"/>
            <a:ext cx="2852928" cy="36576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8890">
            <a:solidFill>
              <a:srgbClr val="667A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07" name="TextBox 106"/>
          <p:cNvSpPr txBox="1"/>
          <p:nvPr/>
        </p:nvSpPr>
        <p:spPr>
          <a:xfrm>
            <a:off x="8247888" y="2441448"/>
            <a:ext cx="2852928" cy="128016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>
              <a:defRPr sz="1050" b="1">
                <a:solidFill>
                  <a:srgbClr val="667A8D"/>
                </a:solidFill>
                <a:latin typeface="PingFang SC" panose="020B0400000000000000" pitchFamily="34" charset="-122"/>
              </a:defRPr>
            </a:pPr>
            <a:r>
              <a:t>Training victim Job 已确定</a:t>
            </a:r>
          </a:p>
        </p:txBody>
      </p:sp>
      <p:sp>
        <p:nvSpPr>
          <p:cNvPr id="108" name="Rounded Rectangle 107"/>
          <p:cNvSpPr/>
          <p:nvPr/>
        </p:nvSpPr>
        <p:spPr>
          <a:xfrm>
            <a:off x="713232" y="3218688"/>
            <a:ext cx="3063240" cy="26151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1430">
            <a:solidFill>
              <a:srgbClr val="667A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09" name="Rounded Rectangle 108"/>
          <p:cNvSpPr/>
          <p:nvPr/>
        </p:nvSpPr>
        <p:spPr>
          <a:xfrm>
            <a:off x="4050791" y="3218688"/>
            <a:ext cx="3319272" cy="26151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1430">
            <a:solidFill>
              <a:srgbClr val="0B5C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10" name="Rounded Rectangle 109"/>
          <p:cNvSpPr/>
          <p:nvPr/>
        </p:nvSpPr>
        <p:spPr>
          <a:xfrm>
            <a:off x="7644383" y="3218688"/>
            <a:ext cx="3840480" cy="26151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1430">
            <a:solidFill>
              <a:srgbClr val="2D6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11" name="TextBox 110"/>
          <p:cNvSpPr txBox="1"/>
          <p:nvPr/>
        </p:nvSpPr>
        <p:spPr>
          <a:xfrm>
            <a:off x="877824" y="3337560"/>
            <a:ext cx="2734056" cy="118872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defRPr sz="950" b="1">
                <a:solidFill>
                  <a:srgbClr val="667A8D"/>
                </a:solidFill>
                <a:latin typeface="PingFang SC" panose="020B0400000000000000" pitchFamily="34" charset="-122"/>
              </a:defRPr>
            </a:pPr>
            <a:r>
              <a:t>CURRENT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877824" y="3529584"/>
            <a:ext cx="2734056" cy="201168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defRPr sz="1150" b="1">
                <a:solidFill>
                  <a:srgbClr val="003F8F"/>
                </a:solidFill>
                <a:latin typeface="PingFang SC" panose="020B0400000000000000" pitchFamily="34" charset="-122"/>
              </a:defRPr>
            </a:pPr>
            <a:r>
              <a:t>Volcano 当前路径</a:t>
            </a:r>
          </a:p>
        </p:txBody>
      </p:sp>
      <p:cxnSp>
        <p:nvCxnSpPr>
          <p:cNvPr id="113" name="Connector 112"/>
          <p:cNvCxnSpPr/>
          <p:nvPr/>
        </p:nvCxnSpPr>
        <p:spPr>
          <a:xfrm>
            <a:off x="877824" y="3858768"/>
            <a:ext cx="2734055" cy="0"/>
          </a:xfrm>
          <a:prstGeom prst="line">
            <a:avLst/>
          </a:prstGeom>
          <a:ln w="17780">
            <a:solidFill>
              <a:srgbClr val="667A8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4" name="Rounded Rectangle 113"/>
          <p:cNvSpPr/>
          <p:nvPr/>
        </p:nvSpPr>
        <p:spPr>
          <a:xfrm>
            <a:off x="950976" y="4014215"/>
            <a:ext cx="2587752" cy="512064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667A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15" name="TextBox 114"/>
          <p:cNvSpPr txBox="1"/>
          <p:nvPr/>
        </p:nvSpPr>
        <p:spPr>
          <a:xfrm>
            <a:off x="1088136" y="4105655"/>
            <a:ext cx="2313432" cy="155448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defRPr sz="1050" b="1">
                <a:solidFill>
                  <a:srgbClr val="667A8D"/>
                </a:solidFill>
                <a:latin typeface="PingFang SC" panose="020B0400000000000000" pitchFamily="34" charset="-122"/>
              </a:defRPr>
            </a:pPr>
            <a:r>
              <a:t>提交 Evict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1088136" y="4325112"/>
            <a:ext cx="2313432" cy="146304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defRPr sz="950" b="0">
                <a:solidFill>
                  <a:srgbClr val="66788A"/>
                </a:solidFill>
                <a:latin typeface="PingFang SC" panose="020B0400000000000000" pitchFamily="34" charset="-122"/>
              </a:defRPr>
            </a:pPr>
            <a:r>
              <a:t>完整 victim Job 被删除</a:t>
            </a:r>
          </a:p>
        </p:txBody>
      </p:sp>
      <p:sp>
        <p:nvSpPr>
          <p:cNvPr id="117" name="Down Arrow 116"/>
          <p:cNvSpPr/>
          <p:nvPr/>
        </p:nvSpPr>
        <p:spPr>
          <a:xfrm>
            <a:off x="2103120" y="4572000"/>
            <a:ext cx="274320" cy="228600"/>
          </a:xfrm>
          <a:prstGeom prst="downArrow">
            <a:avLst/>
          </a:prstGeom>
          <a:solidFill>
            <a:srgbClr val="667A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18" name="Rounded Rectangle 117"/>
          <p:cNvSpPr/>
          <p:nvPr/>
        </p:nvSpPr>
        <p:spPr>
          <a:xfrm>
            <a:off x="950976" y="4828032"/>
            <a:ext cx="2587752" cy="512064"/>
          </a:xfrm>
          <a:prstGeom prst="roundRect">
            <a:avLst>
              <a:gd name="adj" fmla="val 8000"/>
            </a:avLst>
          </a:prstGeom>
          <a:solidFill>
            <a:srgbClr val="EAF2FF"/>
          </a:solidFill>
          <a:ln w="9525">
            <a:solidFill>
              <a:srgbClr val="0B5C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19" name="TextBox 118"/>
          <p:cNvSpPr txBox="1"/>
          <p:nvPr/>
        </p:nvSpPr>
        <p:spPr>
          <a:xfrm>
            <a:off x="1088136" y="4919472"/>
            <a:ext cx="2313432" cy="155448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defRPr sz="1050" b="1">
                <a:solidFill>
                  <a:srgbClr val="0B5CAD"/>
                </a:solidFill>
                <a:latin typeface="PingFang SC" panose="020B0400000000000000" pitchFamily="34" charset="-122"/>
              </a:defRPr>
            </a:pPr>
            <a:r>
              <a:t>释放 4 GPU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1088136" y="5138928"/>
            <a:ext cx="2313432" cy="146304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defRPr sz="950" b="0">
                <a:solidFill>
                  <a:srgbClr val="66788A"/>
                </a:solidFill>
                <a:latin typeface="PingFang SC" panose="020B0400000000000000" pitchFamily="34" charset="-122"/>
              </a:defRPr>
            </a:pPr>
            <a:r>
              <a:t>Serving PodGroup 进入调度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4215383" y="3337560"/>
            <a:ext cx="2990088" cy="118872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defRPr sz="950" b="1">
                <a:solidFill>
                  <a:srgbClr val="0B5CAD"/>
                </a:solidFill>
                <a:latin typeface="PingFang SC" panose="020B0400000000000000" pitchFamily="34" charset="-122"/>
              </a:defRPr>
            </a:pPr>
            <a:r>
              <a:t>UPSTREAM EXPLORATION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4215383" y="3529584"/>
            <a:ext cx="2990088" cy="201168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defRPr sz="1150" b="1">
                <a:solidFill>
                  <a:srgbClr val="003F8F"/>
                </a:solidFill>
                <a:latin typeface="PingFang SC" panose="020B0400000000000000" pitchFamily="34" charset="-122"/>
              </a:defRPr>
            </a:pPr>
            <a:r>
              <a:t>Kubernetes Pod C/R</a:t>
            </a:r>
          </a:p>
        </p:txBody>
      </p:sp>
      <p:cxnSp>
        <p:nvCxnSpPr>
          <p:cNvPr id="124" name="Connector 123"/>
          <p:cNvCxnSpPr/>
          <p:nvPr/>
        </p:nvCxnSpPr>
        <p:spPr>
          <a:xfrm>
            <a:off x="4215383" y="3858768"/>
            <a:ext cx="2990088" cy="0"/>
          </a:xfrm>
          <a:prstGeom prst="line">
            <a:avLst/>
          </a:prstGeom>
          <a:ln w="17780">
            <a:solidFill>
              <a:srgbClr val="0B5C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5" name="TextBox 124"/>
          <p:cNvSpPr txBox="1"/>
          <p:nvPr/>
        </p:nvSpPr>
        <p:spPr>
          <a:xfrm>
            <a:off x="4279392" y="3986784"/>
            <a:ext cx="2862072" cy="155448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defRPr sz="1050" b="1">
                <a:solidFill>
                  <a:srgbClr val="0B5CAD"/>
                </a:solidFill>
                <a:latin typeface="PingFang SC" panose="020B0400000000000000" pitchFamily="34" charset="-122"/>
              </a:defRPr>
            </a:pPr>
            <a:r>
              <a:t>Checkpoint/Restore WG · KEP-5823</a:t>
            </a:r>
          </a:p>
        </p:txBody>
      </p:sp>
      <p:sp>
        <p:nvSpPr>
          <p:cNvPr id="126" name="Rounded Rectangle 125"/>
          <p:cNvSpPr/>
          <p:nvPr/>
        </p:nvSpPr>
        <p:spPr>
          <a:xfrm>
            <a:off x="4279392" y="4288536"/>
            <a:ext cx="1243584" cy="438912"/>
          </a:xfrm>
          <a:prstGeom prst="roundRect">
            <a:avLst>
              <a:gd name="adj" fmla="val 8000"/>
            </a:avLst>
          </a:prstGeom>
          <a:solidFill>
            <a:srgbClr val="EAF2FF"/>
          </a:solidFill>
          <a:ln w="8890">
            <a:solidFill>
              <a:srgbClr val="0B5C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27" name="TextBox 126"/>
          <p:cNvSpPr txBox="1"/>
          <p:nvPr/>
        </p:nvSpPr>
        <p:spPr>
          <a:xfrm>
            <a:off x="4279392" y="4425696"/>
            <a:ext cx="1243584" cy="128016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>
              <a:defRPr sz="1050" b="1">
                <a:solidFill>
                  <a:srgbClr val="0B5CAD"/>
                </a:solidFill>
                <a:latin typeface="PingFang SC" panose="020B0400000000000000" pitchFamily="34" charset="-122"/>
              </a:defRPr>
            </a:pPr>
            <a:r>
              <a:t>PodCheckpoint</a:t>
            </a:r>
          </a:p>
        </p:txBody>
      </p:sp>
      <p:sp>
        <p:nvSpPr>
          <p:cNvPr id="128" name="Chevron 127"/>
          <p:cNvSpPr/>
          <p:nvPr/>
        </p:nvSpPr>
        <p:spPr>
          <a:xfrm>
            <a:off x="5641848" y="4379976"/>
            <a:ext cx="256032" cy="219456"/>
          </a:xfrm>
          <a:prstGeom prst="chevron">
            <a:avLst/>
          </a:prstGeom>
          <a:solidFill>
            <a:srgbClr val="0B5C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29" name="Rounded Rectangle 128"/>
          <p:cNvSpPr/>
          <p:nvPr/>
        </p:nvSpPr>
        <p:spPr>
          <a:xfrm>
            <a:off x="5989320" y="4288536"/>
            <a:ext cx="1170432" cy="438912"/>
          </a:xfrm>
          <a:prstGeom prst="roundRect">
            <a:avLst>
              <a:gd name="adj" fmla="val 8000"/>
            </a:avLst>
          </a:prstGeom>
          <a:solidFill>
            <a:srgbClr val="EAF2FF"/>
          </a:solidFill>
          <a:ln w="8890">
            <a:solidFill>
              <a:srgbClr val="0B5C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30" name="TextBox 129"/>
          <p:cNvSpPr txBox="1"/>
          <p:nvPr/>
        </p:nvSpPr>
        <p:spPr>
          <a:xfrm>
            <a:off x="5989320" y="4425696"/>
            <a:ext cx="1170432" cy="128016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>
              <a:defRPr sz="1050" b="1">
                <a:solidFill>
                  <a:srgbClr val="0B5CAD"/>
                </a:solidFill>
                <a:latin typeface="PingFang SC" panose="020B0400000000000000" pitchFamily="34" charset="-122"/>
              </a:defRPr>
            </a:pPr>
            <a:r>
              <a:t>restoreFrom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7808975" y="3337560"/>
            <a:ext cx="3511296" cy="118872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defRPr sz="950" b="1">
                <a:solidFill>
                  <a:srgbClr val="2D6A5F"/>
                </a:solidFill>
                <a:latin typeface="PingFang SC" panose="020B0400000000000000" pitchFamily="34" charset="-122"/>
              </a:defRPr>
            </a:pPr>
            <a:r>
              <a:t>VOLCANO EVOLUTION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7808975" y="3529584"/>
            <a:ext cx="3511296" cy="201168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defRPr sz="1150" b="1">
                <a:solidFill>
                  <a:srgbClr val="003F8F"/>
                </a:solidFill>
                <a:latin typeface="PingFang SC" panose="020B0400000000000000" pitchFamily="34" charset="-122"/>
              </a:defRPr>
            </a:pPr>
            <a:r>
              <a:t>面向训练 Job 的协同恢复</a:t>
            </a:r>
          </a:p>
        </p:txBody>
      </p:sp>
      <p:cxnSp>
        <p:nvCxnSpPr>
          <p:cNvPr id="136" name="Connector 135"/>
          <p:cNvCxnSpPr/>
          <p:nvPr/>
        </p:nvCxnSpPr>
        <p:spPr>
          <a:xfrm>
            <a:off x="7808975" y="3858768"/>
            <a:ext cx="3511297" cy="0"/>
          </a:xfrm>
          <a:prstGeom prst="line">
            <a:avLst/>
          </a:prstGeom>
          <a:ln w="17780">
            <a:solidFill>
              <a:srgbClr val="2D6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7" name="Rounded Rectangle 136"/>
          <p:cNvSpPr/>
          <p:nvPr/>
        </p:nvSpPr>
        <p:spPr>
          <a:xfrm>
            <a:off x="7891272" y="3959352"/>
            <a:ext cx="3346704" cy="448056"/>
          </a:xfrm>
          <a:prstGeom prst="roundRect">
            <a:avLst>
              <a:gd name="adj" fmla="val 8000"/>
            </a:avLst>
          </a:prstGeom>
          <a:solidFill>
            <a:srgbClr val="EAF2FF"/>
          </a:solidFill>
          <a:ln w="9525">
            <a:solidFill>
              <a:srgbClr val="0B5C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38" name="TextBox 137"/>
          <p:cNvSpPr txBox="1"/>
          <p:nvPr/>
        </p:nvSpPr>
        <p:spPr>
          <a:xfrm>
            <a:off x="8028432" y="4050791"/>
            <a:ext cx="3072384" cy="155448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defRPr sz="1050" b="1">
                <a:solidFill>
                  <a:srgbClr val="0B5CAD"/>
                </a:solidFill>
                <a:latin typeface="PingFang SC" panose="020B0400000000000000" pitchFamily="34" charset="-122"/>
              </a:defRPr>
            </a:pPr>
            <a:r>
              <a:t>① ReclaimIntent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8028432" y="4270248"/>
            <a:ext cx="3072384" cy="82295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defRPr sz="950" b="0">
                <a:solidFill>
                  <a:srgbClr val="66788A"/>
                </a:solidFill>
                <a:latin typeface="PingFang SC" panose="020B0400000000000000" pitchFamily="34" charset="-122"/>
              </a:defRPr>
            </a:pPr>
            <a:r>
              <a:t>以 Job / PodGroup 为单位发出资源归还意图</a:t>
            </a:r>
          </a:p>
        </p:txBody>
      </p:sp>
      <p:sp>
        <p:nvSpPr>
          <p:cNvPr id="140" name="Down Arrow 139"/>
          <p:cNvSpPr/>
          <p:nvPr/>
        </p:nvSpPr>
        <p:spPr>
          <a:xfrm>
            <a:off x="9418320" y="4434840"/>
            <a:ext cx="274320" cy="182880"/>
          </a:xfrm>
          <a:prstGeom prst="downArrow">
            <a:avLst/>
          </a:prstGeom>
          <a:solidFill>
            <a:srgbClr val="2D6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41" name="Rounded Rectangle 140"/>
          <p:cNvSpPr/>
          <p:nvPr/>
        </p:nvSpPr>
        <p:spPr>
          <a:xfrm>
            <a:off x="7891272" y="4617720"/>
            <a:ext cx="3346704" cy="448056"/>
          </a:xfrm>
          <a:prstGeom prst="roundRect">
            <a:avLst>
              <a:gd name="adj" fmla="val 8000"/>
            </a:avLst>
          </a:prstGeom>
          <a:solidFill>
            <a:srgbClr val="EAF5F2"/>
          </a:solidFill>
          <a:ln w="9525">
            <a:solidFill>
              <a:srgbClr val="2D6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42" name="TextBox 141"/>
          <p:cNvSpPr txBox="1"/>
          <p:nvPr/>
        </p:nvSpPr>
        <p:spPr>
          <a:xfrm>
            <a:off x="8028432" y="4709159"/>
            <a:ext cx="3072384" cy="155448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defRPr sz="1050" b="1">
                <a:solidFill>
                  <a:srgbClr val="2D6A5F"/>
                </a:solidFill>
                <a:latin typeface="PingFang SC" panose="020B0400000000000000" pitchFamily="34" charset="-122"/>
              </a:defRPr>
            </a:pPr>
            <a:r>
              <a:t>② Training Controller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8028432" y="4928616"/>
            <a:ext cx="3072384" cy="82295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defRPr sz="950" b="0">
                <a:solidFill>
                  <a:srgbClr val="66788A"/>
                </a:solidFill>
                <a:latin typeface="PingFang SC" panose="020B0400000000000000" pitchFamily="34" charset="-122"/>
              </a:defRPr>
            </a:pPr>
            <a:r>
              <a:t>协调所有 Rank，返回 Framework CheckpointReady</a:t>
            </a:r>
          </a:p>
        </p:txBody>
      </p:sp>
      <p:sp>
        <p:nvSpPr>
          <p:cNvPr id="144" name="Down Arrow 143"/>
          <p:cNvSpPr/>
          <p:nvPr/>
        </p:nvSpPr>
        <p:spPr>
          <a:xfrm>
            <a:off x="9418320" y="5093208"/>
            <a:ext cx="274320" cy="182880"/>
          </a:xfrm>
          <a:prstGeom prst="downArrow">
            <a:avLst/>
          </a:prstGeom>
          <a:solidFill>
            <a:srgbClr val="2D6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45" name="Rounded Rectangle 144"/>
          <p:cNvSpPr/>
          <p:nvPr/>
        </p:nvSpPr>
        <p:spPr>
          <a:xfrm>
            <a:off x="7891272" y="5276088"/>
            <a:ext cx="3346704" cy="448056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667A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46" name="TextBox 145"/>
          <p:cNvSpPr txBox="1"/>
          <p:nvPr/>
        </p:nvSpPr>
        <p:spPr>
          <a:xfrm>
            <a:off x="8028432" y="5367527"/>
            <a:ext cx="3072384" cy="155448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defRPr sz="1050" b="1">
                <a:solidFill>
                  <a:srgbClr val="667A8D"/>
                </a:solidFill>
                <a:latin typeface="PingFang SC" panose="020B0400000000000000" pitchFamily="34" charset="-122"/>
              </a:defRPr>
            </a:pPr>
            <a:r>
              <a:t>③ Commit &amp; Restore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8028432" y="5586983"/>
            <a:ext cx="3072384" cy="82295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defRPr sz="950" b="0">
                <a:solidFill>
                  <a:srgbClr val="66788A"/>
                </a:solidFill>
                <a:latin typeface="PingFang SC" panose="020B0400000000000000" pitchFamily="34" charset="-122"/>
              </a:defRPr>
            </a:pPr>
            <a:r>
              <a:t>再 Evict / Delete；之后重建 Job 并从 Checkpoint 继续</a:t>
            </a:r>
          </a:p>
        </p:txBody>
      </p:sp>
      <p:sp>
        <p:nvSpPr>
          <p:cNvPr id="148" name="Rounded Rectangle 147"/>
          <p:cNvSpPr/>
          <p:nvPr/>
        </p:nvSpPr>
        <p:spPr>
          <a:xfrm>
            <a:off x="7900416" y="5925312"/>
            <a:ext cx="1280160" cy="228600"/>
          </a:xfrm>
          <a:prstGeom prst="roundRect">
            <a:avLst>
              <a:gd name="adj" fmla="val 8000"/>
            </a:avLst>
          </a:prstGeom>
          <a:solidFill>
            <a:srgbClr val="EAF5F2"/>
          </a:solidFill>
          <a:ln w="6350">
            <a:solidFill>
              <a:srgbClr val="2D6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49" name="TextBox 148"/>
          <p:cNvSpPr txBox="1"/>
          <p:nvPr/>
        </p:nvSpPr>
        <p:spPr>
          <a:xfrm>
            <a:off x="7900416" y="5989320"/>
            <a:ext cx="1280160" cy="100584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>
              <a:defRPr sz="950" b="1">
                <a:solidFill>
                  <a:srgbClr val="2D6A5F"/>
                </a:solidFill>
                <a:latin typeface="PingFang SC" panose="020B0400000000000000" pitchFamily="34" charset="-122"/>
              </a:defRPr>
            </a:pPr>
            <a:r>
              <a:t>短期：框架级</a:t>
            </a:r>
          </a:p>
        </p:txBody>
      </p:sp>
      <p:sp>
        <p:nvSpPr>
          <p:cNvPr id="150" name="Rounded Rectangle 149"/>
          <p:cNvSpPr/>
          <p:nvPr/>
        </p:nvSpPr>
        <p:spPr>
          <a:xfrm>
            <a:off x="9308592" y="5925312"/>
            <a:ext cx="1920240" cy="228600"/>
          </a:xfrm>
          <a:prstGeom prst="roundRect">
            <a:avLst>
              <a:gd name="adj" fmla="val 8000"/>
            </a:avLst>
          </a:prstGeom>
          <a:solidFill>
            <a:srgbClr val="EAF2FF"/>
          </a:solidFill>
          <a:ln w="6350">
            <a:solidFill>
              <a:srgbClr val="0B5C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51" name="TextBox 150"/>
          <p:cNvSpPr txBox="1"/>
          <p:nvPr/>
        </p:nvSpPr>
        <p:spPr>
          <a:xfrm>
            <a:off x="9308592" y="5989320"/>
            <a:ext cx="1920240" cy="100584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>
              <a:defRPr sz="950" b="1">
                <a:solidFill>
                  <a:srgbClr val="0B5CAD"/>
                </a:solidFill>
                <a:latin typeface="PingFang SC" panose="020B0400000000000000" pitchFamily="34" charset="-122"/>
              </a:defRPr>
            </a:pPr>
            <a:r>
              <a:t>长期：接入原生 Pod C/R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822192" cy="6858000"/>
          </a:xfrm>
          <a:prstGeom prst="rect">
            <a:avLst/>
          </a:prstGeom>
          <a:solidFill>
            <a:srgbClr val="003F8F"/>
          </a:solidFill>
          <a:ln w="12700">
            <a:solidFill>
              <a:srgbClr val="003F8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658368"/>
            <a:ext cx="822960" cy="5029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90000"/>
          </a:bodyPr>
          <a:lstStyle/>
          <a:p>
            <a:pPr marL="0" indent="0">
              <a:buNone/>
            </a:pPr>
            <a:r>
              <a:rPr lang="en-US" sz="3200" b="1" dirty="0">
                <a:solidFill>
                  <a:srgbClr val="B9CBE0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03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58368" y="1444752"/>
            <a:ext cx="2743200" cy="11887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FFFFFF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多级作业结构</a:t>
            </a:r>
            <a:endParaRPr lang="en-US" sz="2900" dirty="0"/>
          </a:p>
          <a:p>
            <a:pPr marL="0" indent="0">
              <a:buNone/>
            </a:pPr>
            <a:r>
              <a:rPr lang="en-US" sz="2900" b="1" dirty="0">
                <a:solidFill>
                  <a:srgbClr val="FFFFFF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与拓扑调度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658368" y="5207127"/>
            <a:ext cx="1691640" cy="0"/>
          </a:xfrm>
          <a:prstGeom prst="line">
            <a:avLst/>
          </a:prstGeom>
          <a:noFill/>
          <a:ln w="38100">
            <a:solidFill>
              <a:srgbClr val="E43D30"/>
            </a:solidFill>
            <a:prstDash val="solid"/>
            <a:headEnd type="none"/>
          </a:ln>
        </p:spPr>
      </p:sp>
      <p:pic>
        <p:nvPicPr>
          <p:cNvPr id="27" name="Image 0" descr="/Users/chenzicong/Documents/Codex/2026-07-20/wo/outputs/volcano-unified-scheduling-editable/assets/volcano-logo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42448" y="6248723"/>
            <a:ext cx="1051560" cy="176138"/>
          </a:xfrm>
          <a:prstGeom prst="rect">
            <a:avLst/>
          </a:prstGeom>
        </p:spPr>
      </p:pic>
      <p:sp>
        <p:nvSpPr>
          <p:cNvPr id="28" name="Text 25"/>
          <p:cNvSpPr/>
          <p:nvPr/>
        </p:nvSpPr>
        <p:spPr>
          <a:xfrm>
            <a:off x="11475720" y="6492240"/>
            <a:ext cx="347472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768597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18</a:t>
            </a:r>
            <a:endParaRPr lang="en-US" sz="950" dirty="0"/>
          </a:p>
        </p:txBody>
      </p:sp>
      <p:pic>
        <p:nvPicPr>
          <p:cNvPr id="29" name="Image 0" descr="/Users/chenzicong/Documents/Codex/2026-07-20/wo/outputs/volcano-unified-scheduling-editable/assets/volcano-logo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7202" y="5988417"/>
            <a:ext cx="1554480" cy="260378"/>
          </a:xfrm>
          <a:prstGeom prst="rect">
            <a:avLst/>
          </a:prstGeom>
        </p:spPr>
      </p:pic>
      <p:sp>
        <p:nvSpPr>
          <p:cNvPr id="30" name="Shape 9"/>
          <p:cNvSpPr/>
          <p:nvPr/>
        </p:nvSpPr>
        <p:spPr>
          <a:xfrm>
            <a:off x="4645787" y="1774317"/>
            <a:ext cx="658368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0B5CAD"/>
            </a:solidFill>
            <a:prstDash val="solid"/>
          </a:ln>
          <a:effectLst>
            <a:outerShdw blurRad="12700" dist="50800" dir="2700000" algn="bl" rotWithShape="0">
              <a:srgbClr val="7A8796">
                <a:alpha val="14000"/>
              </a:srgbClr>
            </a:outerShdw>
          </a:effectLst>
        </p:spPr>
      </p:sp>
      <p:sp>
        <p:nvSpPr>
          <p:cNvPr id="31" name="Shape 10"/>
          <p:cNvSpPr/>
          <p:nvPr/>
        </p:nvSpPr>
        <p:spPr>
          <a:xfrm>
            <a:off x="4865243" y="1948053"/>
            <a:ext cx="530352" cy="310896"/>
          </a:xfrm>
          <a:prstGeom prst="roundRect">
            <a:avLst>
              <a:gd name="adj" fmla="val 23529"/>
            </a:avLst>
          </a:prstGeom>
          <a:solidFill>
            <a:srgbClr val="0B5CAD"/>
          </a:solidFill>
          <a:ln w="12700">
            <a:solidFill>
              <a:srgbClr val="0B5CAD"/>
            </a:solidFill>
            <a:prstDash val="solid"/>
          </a:ln>
        </p:spPr>
      </p:sp>
      <p:sp>
        <p:nvSpPr>
          <p:cNvPr id="32" name="Text 11"/>
          <p:cNvSpPr/>
          <p:nvPr/>
        </p:nvSpPr>
        <p:spPr>
          <a:xfrm>
            <a:off x="4938395" y="1957197"/>
            <a:ext cx="384048" cy="28346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01</a:t>
            </a:r>
            <a:endParaRPr lang="en-US" sz="950" dirty="0"/>
          </a:p>
        </p:txBody>
      </p:sp>
      <p:sp>
        <p:nvSpPr>
          <p:cNvPr id="33" name="Text 12"/>
          <p:cNvSpPr/>
          <p:nvPr/>
        </p:nvSpPr>
        <p:spPr>
          <a:xfrm>
            <a:off x="5651500" y="1991995"/>
            <a:ext cx="2811145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marL="0" indent="0">
              <a:buNone/>
            </a:pPr>
            <a:r>
              <a:rPr lang="zh-CN" altLang="en-US" sz="1300" b="1" dirty="0">
                <a:solidFill>
                  <a:srgbClr val="003F8F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从</a:t>
            </a:r>
            <a:r>
              <a:rPr lang="en-US" altLang="zh-CN" sz="1300" b="1" dirty="0">
                <a:solidFill>
                  <a:srgbClr val="003F8F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Podgroup</a:t>
            </a:r>
            <a:r>
              <a:rPr lang="zh-CN" altLang="en-US" sz="1300" b="1" dirty="0">
                <a:solidFill>
                  <a:srgbClr val="003F8F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到</a:t>
            </a:r>
            <a:r>
              <a:rPr lang="en-US" altLang="zh-CN" sz="1300" b="1" dirty="0">
                <a:solidFill>
                  <a:srgbClr val="003F8F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Subgroup</a:t>
            </a:r>
            <a:endParaRPr lang="en-US" altLang="zh-CN" sz="1300" b="1" dirty="0">
              <a:solidFill>
                <a:srgbClr val="003F8F"/>
              </a:solidFill>
              <a:latin typeface="PingFang SC" panose="020B0400000000000000" pitchFamily="34" charset="-122"/>
              <a:ea typeface="PingFang SC" panose="020B0400000000000000" pitchFamily="34" charset="-122"/>
              <a:cs typeface="PingFang SC" panose="020B0400000000000000" pitchFamily="34" charset="-120"/>
            </a:endParaRPr>
          </a:p>
        </p:txBody>
      </p:sp>
      <p:sp>
        <p:nvSpPr>
          <p:cNvPr id="35" name="Shape 14"/>
          <p:cNvSpPr/>
          <p:nvPr/>
        </p:nvSpPr>
        <p:spPr>
          <a:xfrm>
            <a:off x="4645787" y="2716149"/>
            <a:ext cx="658368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0B5CAD"/>
            </a:solidFill>
            <a:prstDash val="solid"/>
          </a:ln>
          <a:effectLst>
            <a:outerShdw blurRad="12700" dist="50800" dir="2700000" algn="bl" rotWithShape="0">
              <a:srgbClr val="7A8796">
                <a:alpha val="14000"/>
              </a:srgbClr>
            </a:outerShdw>
          </a:effectLst>
        </p:spPr>
      </p:sp>
      <p:sp>
        <p:nvSpPr>
          <p:cNvPr id="36" name="Shape 15"/>
          <p:cNvSpPr/>
          <p:nvPr/>
        </p:nvSpPr>
        <p:spPr>
          <a:xfrm>
            <a:off x="4865243" y="2889885"/>
            <a:ext cx="530352" cy="310896"/>
          </a:xfrm>
          <a:prstGeom prst="roundRect">
            <a:avLst>
              <a:gd name="adj" fmla="val 23529"/>
            </a:avLst>
          </a:prstGeom>
          <a:solidFill>
            <a:srgbClr val="0B5CAD"/>
          </a:solidFill>
          <a:ln w="12700">
            <a:solidFill>
              <a:srgbClr val="0B5CAD"/>
            </a:solidFill>
            <a:prstDash val="solid"/>
          </a:ln>
        </p:spPr>
      </p:sp>
      <p:sp>
        <p:nvSpPr>
          <p:cNvPr id="37" name="Text 16"/>
          <p:cNvSpPr/>
          <p:nvPr/>
        </p:nvSpPr>
        <p:spPr>
          <a:xfrm>
            <a:off x="4938395" y="2899029"/>
            <a:ext cx="384048" cy="28346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02</a:t>
            </a:r>
            <a:endParaRPr lang="en-US" sz="950" dirty="0"/>
          </a:p>
        </p:txBody>
      </p:sp>
      <p:sp>
        <p:nvSpPr>
          <p:cNvPr id="38" name="Text 17"/>
          <p:cNvSpPr/>
          <p:nvPr/>
        </p:nvSpPr>
        <p:spPr>
          <a:xfrm>
            <a:off x="5651500" y="2933700"/>
            <a:ext cx="2596515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marL="0" indent="0">
              <a:buNone/>
            </a:pPr>
            <a:r>
              <a:rPr lang="en-US" sz="1300" b="1" dirty="0">
                <a:solidFill>
                  <a:srgbClr val="003F8F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HyperNode: </a:t>
            </a:r>
            <a:r>
              <a:rPr lang="zh-CN" altLang="en-US" sz="1300" b="1" dirty="0">
                <a:solidFill>
                  <a:srgbClr val="003F8F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网络拓扑的层级抽象</a:t>
            </a:r>
            <a:endParaRPr lang="zh-CN" altLang="en-US" sz="1300" b="1" dirty="0">
              <a:solidFill>
                <a:srgbClr val="003F8F"/>
              </a:solidFill>
              <a:latin typeface="PingFang SC" panose="020B0400000000000000" pitchFamily="34" charset="-122"/>
              <a:ea typeface="PingFang SC" panose="020B0400000000000000" pitchFamily="34" charset="-122"/>
              <a:cs typeface="PingFang SC" panose="020B0400000000000000" pitchFamily="34" charset="-120"/>
            </a:endParaRPr>
          </a:p>
        </p:txBody>
      </p:sp>
      <p:sp>
        <p:nvSpPr>
          <p:cNvPr id="40" name="Shape 19"/>
          <p:cNvSpPr/>
          <p:nvPr/>
        </p:nvSpPr>
        <p:spPr>
          <a:xfrm>
            <a:off x="4645787" y="3657981"/>
            <a:ext cx="658368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0B5CAD"/>
            </a:solidFill>
            <a:prstDash val="solid"/>
          </a:ln>
          <a:effectLst>
            <a:outerShdw blurRad="12700" dist="50800" dir="2700000" algn="bl" rotWithShape="0">
              <a:srgbClr val="7A8796">
                <a:alpha val="14000"/>
              </a:srgbClr>
            </a:outerShdw>
          </a:effectLst>
        </p:spPr>
      </p:sp>
      <p:sp>
        <p:nvSpPr>
          <p:cNvPr id="41" name="Shape 20"/>
          <p:cNvSpPr/>
          <p:nvPr/>
        </p:nvSpPr>
        <p:spPr>
          <a:xfrm>
            <a:off x="4865243" y="3831717"/>
            <a:ext cx="530352" cy="310896"/>
          </a:xfrm>
          <a:prstGeom prst="roundRect">
            <a:avLst>
              <a:gd name="adj" fmla="val 23529"/>
            </a:avLst>
          </a:prstGeom>
          <a:solidFill>
            <a:srgbClr val="0B5CAD"/>
          </a:solidFill>
          <a:ln w="12700">
            <a:solidFill>
              <a:srgbClr val="0B5CAD"/>
            </a:solidFill>
            <a:prstDash val="solid"/>
          </a:ln>
        </p:spPr>
      </p:sp>
      <p:sp>
        <p:nvSpPr>
          <p:cNvPr id="42" name="Text 21"/>
          <p:cNvSpPr/>
          <p:nvPr/>
        </p:nvSpPr>
        <p:spPr>
          <a:xfrm>
            <a:off x="4938395" y="3840861"/>
            <a:ext cx="384048" cy="28346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03</a:t>
            </a:r>
            <a:endParaRPr lang="en-US" sz="950" dirty="0"/>
          </a:p>
        </p:txBody>
      </p:sp>
      <p:sp>
        <p:nvSpPr>
          <p:cNvPr id="43" name="Text 22"/>
          <p:cNvSpPr/>
          <p:nvPr/>
        </p:nvSpPr>
        <p:spPr>
          <a:xfrm>
            <a:off x="5651500" y="3916045"/>
            <a:ext cx="1555115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marL="0" indent="0">
              <a:buNone/>
            </a:pPr>
            <a:r>
              <a:rPr lang="zh-CN" altLang="en-US" sz="1300" b="1" dirty="0">
                <a:solidFill>
                  <a:srgbClr val="003F8F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网络拓扑自动发现与拓扑感知资源重整</a:t>
            </a:r>
            <a:endParaRPr lang="zh-CN" altLang="en-US" sz="1300" b="1" dirty="0">
              <a:solidFill>
                <a:srgbClr val="003F8F"/>
              </a:solidFill>
              <a:latin typeface="PingFang SC" panose="020B0400000000000000" pitchFamily="34" charset="-122"/>
              <a:ea typeface="PingFang SC" panose="020B0400000000000000" pitchFamily="34" charset="-122"/>
              <a:cs typeface="PingFang SC" panose="020B0400000000000000" pitchFamily="34" charset="-120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F8F"/>
          </a:solidFill>
          <a:ln w="12700">
            <a:solidFill>
              <a:srgbClr val="003F8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" y="228600"/>
            <a:ext cx="1417320" cy="393192"/>
          </a:xfrm>
          <a:prstGeom prst="chevron">
            <a:avLst/>
          </a:prstGeom>
          <a:solidFill>
            <a:srgbClr val="003F8F"/>
          </a:solidFill>
          <a:ln w="12700">
            <a:solidFill>
              <a:srgbClr val="003F8F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274320"/>
            <a:ext cx="1078992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第三章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2212848" y="182880"/>
            <a:ext cx="7635240" cy="51206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003F8F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训练与推理的分组、放置特征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66928" y="1225296"/>
            <a:ext cx="11018520" cy="0"/>
          </a:xfrm>
          <a:prstGeom prst="line">
            <a:avLst/>
          </a:prstGeom>
          <a:noFill/>
          <a:ln w="11430">
            <a:solidFill>
              <a:srgbClr val="B9C8D8"/>
            </a:solidFill>
            <a:prstDash val="solid"/>
            <a:headEnd type="none"/>
          </a:ln>
        </p:spPr>
      </p:sp>
      <p:sp>
        <p:nvSpPr>
          <p:cNvPr id="8" name="Shape 6"/>
          <p:cNvSpPr/>
          <p:nvPr/>
        </p:nvSpPr>
        <p:spPr>
          <a:xfrm>
            <a:off x="566928" y="1179576"/>
            <a:ext cx="1225296" cy="91440"/>
          </a:xfrm>
          <a:prstGeom prst="rect">
            <a:avLst/>
          </a:prstGeom>
          <a:solidFill>
            <a:srgbClr val="E43D30"/>
          </a:solidFill>
          <a:ln w="12700">
            <a:solidFill>
              <a:srgbClr val="E43D30">
                <a:alpha val="0"/>
              </a:srgbClr>
            </a:solidFill>
            <a:prstDash val="solid"/>
          </a:ln>
        </p:spPr>
      </p:sp>
      <p:pic>
        <p:nvPicPr>
          <p:cNvPr id="9" name="Image 0" descr="/Users/chenzicong/Documents/Codex/2026-07-20/wo/outputs/volcano-unified-scheduling-editable/assets/volcano-logo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97312" y="321114"/>
            <a:ext cx="1078992" cy="180733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1475720" y="6492240"/>
            <a:ext cx="347472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768597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19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658368" y="1353312"/>
            <a:ext cx="10890504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0B5CAD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58368" y="1353312"/>
            <a:ext cx="109728" cy="438912"/>
          </a:xfrm>
          <a:prstGeom prst="rect">
            <a:avLst/>
          </a:prstGeom>
          <a:solidFill>
            <a:srgbClr val="E43D30"/>
          </a:solidFill>
          <a:ln w="12700">
            <a:solidFill>
              <a:srgbClr val="E43D3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932688" y="1435608"/>
            <a:ext cx="10314432" cy="24688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20" b="1" dirty="0">
                <a:solidFill>
                  <a:srgbClr val="172033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训练和推理都不是一组同构 Pod：组内通信、组间关系和故障域要求不同</a:t>
            </a:r>
            <a:endParaRPr lang="en-US" sz="1420" dirty="0"/>
          </a:p>
        </p:txBody>
      </p:sp>
      <p:sp>
        <p:nvSpPr>
          <p:cNvPr id="14" name="Shape 11"/>
          <p:cNvSpPr/>
          <p:nvPr/>
        </p:nvSpPr>
        <p:spPr>
          <a:xfrm>
            <a:off x="658368" y="1938528"/>
            <a:ext cx="5321808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0B5CAD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859536" y="2130552"/>
            <a:ext cx="1298448" cy="347472"/>
          </a:xfrm>
          <a:prstGeom prst="chevron">
            <a:avLst/>
          </a:prstGeom>
          <a:solidFill>
            <a:srgbClr val="003F8F"/>
          </a:solidFill>
          <a:ln w="12700">
            <a:solidFill>
              <a:srgbClr val="003F8F">
                <a:alpha val="0"/>
              </a:srgbClr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932688" y="2167128"/>
            <a:ext cx="1097280" cy="24688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20" b="1" dirty="0">
                <a:solidFill>
                  <a:srgbClr val="FFFFFF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分布式训练</a:t>
            </a:r>
            <a:endParaRPr lang="en-US" sz="1220" dirty="0"/>
          </a:p>
        </p:txBody>
      </p:sp>
      <p:sp>
        <p:nvSpPr>
          <p:cNvPr id="17" name="Shape 14"/>
          <p:cNvSpPr/>
          <p:nvPr/>
        </p:nvSpPr>
        <p:spPr>
          <a:xfrm>
            <a:off x="987552" y="2578608"/>
            <a:ext cx="4645152" cy="2432304"/>
          </a:xfrm>
          <a:prstGeom prst="rect">
            <a:avLst/>
          </a:prstGeom>
          <a:solidFill>
            <a:srgbClr val="F8FAFC"/>
          </a:solidFill>
          <a:ln w="12700">
            <a:solidFill>
              <a:srgbClr val="A8B8C8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1207008" y="2724912"/>
            <a:ext cx="4206240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3F8F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Training Job · 整体 Gang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1261872" y="3182112"/>
            <a:ext cx="1901952" cy="1353312"/>
          </a:xfrm>
          <a:prstGeom prst="rect">
            <a:avLst/>
          </a:prstGeom>
          <a:solidFill>
            <a:srgbClr val="FFFFFF"/>
          </a:solidFill>
          <a:ln w="12700">
            <a:solidFill>
              <a:srgbClr val="0B5CAD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1371600" y="3310128"/>
            <a:ext cx="1682496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03F8F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PP Stage 0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1426464" y="3767328"/>
            <a:ext cx="310896" cy="310896"/>
          </a:xfrm>
          <a:prstGeom prst="rect">
            <a:avLst/>
          </a:prstGeom>
          <a:solidFill>
            <a:srgbClr val="DCEBFA"/>
          </a:solidFill>
          <a:ln w="12700">
            <a:solidFill>
              <a:srgbClr val="0B5CAD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1426464" y="3858768"/>
            <a:ext cx="310896" cy="10972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580" b="1" dirty="0">
                <a:solidFill>
                  <a:srgbClr val="003F8F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R0</a:t>
            </a:r>
            <a:endParaRPr lang="en-US" sz="580" dirty="0"/>
          </a:p>
        </p:txBody>
      </p:sp>
      <p:sp>
        <p:nvSpPr>
          <p:cNvPr id="23" name="Shape 20"/>
          <p:cNvSpPr/>
          <p:nvPr/>
        </p:nvSpPr>
        <p:spPr>
          <a:xfrm>
            <a:off x="1837944" y="3767328"/>
            <a:ext cx="310896" cy="310896"/>
          </a:xfrm>
          <a:prstGeom prst="rect">
            <a:avLst/>
          </a:prstGeom>
          <a:solidFill>
            <a:srgbClr val="DCEBFA"/>
          </a:solidFill>
          <a:ln w="12700">
            <a:solidFill>
              <a:srgbClr val="0B5CAD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837944" y="3858768"/>
            <a:ext cx="310896" cy="10972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580" b="1" dirty="0">
                <a:solidFill>
                  <a:srgbClr val="003F8F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R1</a:t>
            </a:r>
            <a:endParaRPr lang="en-US" sz="580" dirty="0"/>
          </a:p>
        </p:txBody>
      </p:sp>
      <p:sp>
        <p:nvSpPr>
          <p:cNvPr id="25" name="Shape 22"/>
          <p:cNvSpPr/>
          <p:nvPr/>
        </p:nvSpPr>
        <p:spPr>
          <a:xfrm>
            <a:off x="2249424" y="3767328"/>
            <a:ext cx="310896" cy="310896"/>
          </a:xfrm>
          <a:prstGeom prst="rect">
            <a:avLst/>
          </a:prstGeom>
          <a:solidFill>
            <a:srgbClr val="EEF2F6"/>
          </a:solidFill>
          <a:ln w="12700">
            <a:solidFill>
              <a:srgbClr val="0B5CAD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2249424" y="3858768"/>
            <a:ext cx="310896" cy="10972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580" b="1" dirty="0">
                <a:solidFill>
                  <a:srgbClr val="003F8F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R2</a:t>
            </a:r>
            <a:endParaRPr lang="en-US" sz="580" dirty="0"/>
          </a:p>
        </p:txBody>
      </p:sp>
      <p:sp>
        <p:nvSpPr>
          <p:cNvPr id="27" name="Shape 24"/>
          <p:cNvSpPr/>
          <p:nvPr/>
        </p:nvSpPr>
        <p:spPr>
          <a:xfrm>
            <a:off x="2660904" y="3767328"/>
            <a:ext cx="310896" cy="310896"/>
          </a:xfrm>
          <a:prstGeom prst="rect">
            <a:avLst/>
          </a:prstGeom>
          <a:solidFill>
            <a:srgbClr val="EEF2F6"/>
          </a:solidFill>
          <a:ln w="12700">
            <a:solidFill>
              <a:srgbClr val="0B5CAD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2660904" y="3858768"/>
            <a:ext cx="310896" cy="10972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580" b="1" dirty="0">
                <a:solidFill>
                  <a:srgbClr val="003F8F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R3</a:t>
            </a:r>
            <a:endParaRPr lang="en-US" sz="580" dirty="0"/>
          </a:p>
        </p:txBody>
      </p:sp>
      <p:sp>
        <p:nvSpPr>
          <p:cNvPr id="29" name="Text 26"/>
          <p:cNvSpPr/>
          <p:nvPr/>
        </p:nvSpPr>
        <p:spPr>
          <a:xfrm>
            <a:off x="1408176" y="4187952"/>
            <a:ext cx="1609344" cy="14630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30" dirty="0">
                <a:solidFill>
                  <a:srgbClr val="5D6B7A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TP Group：同一 NVSwitch</a:t>
            </a:r>
            <a:endParaRPr lang="en-US" sz="730" dirty="0"/>
          </a:p>
        </p:txBody>
      </p:sp>
      <p:sp>
        <p:nvSpPr>
          <p:cNvPr id="30" name="Shape 27"/>
          <p:cNvSpPr/>
          <p:nvPr/>
        </p:nvSpPr>
        <p:spPr>
          <a:xfrm>
            <a:off x="3401568" y="3182112"/>
            <a:ext cx="1901952" cy="1353312"/>
          </a:xfrm>
          <a:prstGeom prst="rect">
            <a:avLst/>
          </a:prstGeom>
          <a:solidFill>
            <a:srgbClr val="FFFFFF"/>
          </a:solidFill>
          <a:ln w="12700">
            <a:solidFill>
              <a:srgbClr val="6F8193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3511296" y="3310128"/>
            <a:ext cx="1682496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03F8F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PP Stage 1</a:t>
            </a:r>
            <a:endParaRPr lang="en-US" sz="1050" dirty="0"/>
          </a:p>
        </p:txBody>
      </p:sp>
      <p:sp>
        <p:nvSpPr>
          <p:cNvPr id="32" name="Shape 29"/>
          <p:cNvSpPr/>
          <p:nvPr/>
        </p:nvSpPr>
        <p:spPr>
          <a:xfrm>
            <a:off x="3566160" y="3767328"/>
            <a:ext cx="310896" cy="310896"/>
          </a:xfrm>
          <a:prstGeom prst="rect">
            <a:avLst/>
          </a:prstGeom>
          <a:solidFill>
            <a:srgbClr val="DCEBFA"/>
          </a:solidFill>
          <a:ln w="12700">
            <a:solidFill>
              <a:srgbClr val="6F8193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3566160" y="3858768"/>
            <a:ext cx="310896" cy="10972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580" b="1" dirty="0">
                <a:solidFill>
                  <a:srgbClr val="003F8F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R4</a:t>
            </a:r>
            <a:endParaRPr lang="en-US" sz="580" dirty="0"/>
          </a:p>
        </p:txBody>
      </p:sp>
      <p:sp>
        <p:nvSpPr>
          <p:cNvPr id="34" name="Shape 31"/>
          <p:cNvSpPr/>
          <p:nvPr/>
        </p:nvSpPr>
        <p:spPr>
          <a:xfrm>
            <a:off x="3977640" y="3767328"/>
            <a:ext cx="310896" cy="310896"/>
          </a:xfrm>
          <a:prstGeom prst="rect">
            <a:avLst/>
          </a:prstGeom>
          <a:solidFill>
            <a:srgbClr val="DCEBFA"/>
          </a:solidFill>
          <a:ln w="12700">
            <a:solidFill>
              <a:srgbClr val="6F8193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3977640" y="3858768"/>
            <a:ext cx="310896" cy="10972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580" b="1" dirty="0">
                <a:solidFill>
                  <a:srgbClr val="003F8F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R5</a:t>
            </a:r>
            <a:endParaRPr lang="en-US" sz="580" dirty="0"/>
          </a:p>
        </p:txBody>
      </p:sp>
      <p:sp>
        <p:nvSpPr>
          <p:cNvPr id="36" name="Shape 33"/>
          <p:cNvSpPr/>
          <p:nvPr/>
        </p:nvSpPr>
        <p:spPr>
          <a:xfrm>
            <a:off x="4389120" y="3767328"/>
            <a:ext cx="310896" cy="310896"/>
          </a:xfrm>
          <a:prstGeom prst="rect">
            <a:avLst/>
          </a:prstGeom>
          <a:solidFill>
            <a:srgbClr val="EEF2F6"/>
          </a:solidFill>
          <a:ln w="12700">
            <a:solidFill>
              <a:srgbClr val="6F8193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4389120" y="3858768"/>
            <a:ext cx="310896" cy="10972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580" b="1" dirty="0">
                <a:solidFill>
                  <a:srgbClr val="003F8F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R6</a:t>
            </a:r>
            <a:endParaRPr lang="en-US" sz="580" dirty="0"/>
          </a:p>
        </p:txBody>
      </p:sp>
      <p:sp>
        <p:nvSpPr>
          <p:cNvPr id="38" name="Shape 35"/>
          <p:cNvSpPr/>
          <p:nvPr/>
        </p:nvSpPr>
        <p:spPr>
          <a:xfrm>
            <a:off x="4800600" y="3767328"/>
            <a:ext cx="310896" cy="310896"/>
          </a:xfrm>
          <a:prstGeom prst="rect">
            <a:avLst/>
          </a:prstGeom>
          <a:solidFill>
            <a:srgbClr val="EEF2F6"/>
          </a:solidFill>
          <a:ln w="12700">
            <a:solidFill>
              <a:srgbClr val="6F8193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4800600" y="3858768"/>
            <a:ext cx="310896" cy="10972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580" b="1" dirty="0">
                <a:solidFill>
                  <a:srgbClr val="003F8F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R7</a:t>
            </a:r>
            <a:endParaRPr lang="en-US" sz="580" dirty="0"/>
          </a:p>
        </p:txBody>
      </p:sp>
      <p:sp>
        <p:nvSpPr>
          <p:cNvPr id="40" name="Text 37"/>
          <p:cNvSpPr/>
          <p:nvPr/>
        </p:nvSpPr>
        <p:spPr>
          <a:xfrm>
            <a:off x="3547872" y="4187952"/>
            <a:ext cx="1609344" cy="14630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30" dirty="0">
                <a:solidFill>
                  <a:srgbClr val="5D6B7A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TP Group：同一 NVSwitch</a:t>
            </a:r>
            <a:endParaRPr lang="en-US" sz="730" dirty="0"/>
          </a:p>
        </p:txBody>
      </p:sp>
      <p:sp>
        <p:nvSpPr>
          <p:cNvPr id="41" name="Shape 38"/>
          <p:cNvSpPr/>
          <p:nvPr/>
        </p:nvSpPr>
        <p:spPr>
          <a:xfrm>
            <a:off x="987552" y="5212080"/>
            <a:ext cx="13716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3F8F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1133856" y="5312664"/>
            <a:ext cx="466344" cy="3200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30" b="1" dirty="0">
                <a:solidFill>
                  <a:srgbClr val="003F8F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TP</a:t>
            </a:r>
            <a:endParaRPr lang="en-US" sz="930" dirty="0"/>
          </a:p>
        </p:txBody>
      </p:sp>
      <p:sp>
        <p:nvSpPr>
          <p:cNvPr id="43" name="Text 40"/>
          <p:cNvSpPr/>
          <p:nvPr/>
        </p:nvSpPr>
        <p:spPr>
          <a:xfrm>
            <a:off x="1673352" y="5294376"/>
            <a:ext cx="557784" cy="34747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20" dirty="0">
                <a:solidFill>
                  <a:srgbClr val="5D6B7A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最紧凑互联</a:t>
            </a:r>
            <a:endParaRPr lang="en-US" sz="720" dirty="0"/>
          </a:p>
        </p:txBody>
      </p:sp>
      <p:sp>
        <p:nvSpPr>
          <p:cNvPr id="44" name="Shape 41"/>
          <p:cNvSpPr/>
          <p:nvPr/>
        </p:nvSpPr>
        <p:spPr>
          <a:xfrm>
            <a:off x="2514600" y="5212080"/>
            <a:ext cx="13716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6F8193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2660904" y="5312664"/>
            <a:ext cx="466344" cy="3200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30" b="1" dirty="0">
                <a:solidFill>
                  <a:srgbClr val="003F8F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PP</a:t>
            </a:r>
            <a:endParaRPr lang="en-US" sz="930" dirty="0"/>
          </a:p>
        </p:txBody>
      </p:sp>
      <p:sp>
        <p:nvSpPr>
          <p:cNvPr id="46" name="Text 43"/>
          <p:cNvSpPr/>
          <p:nvPr/>
        </p:nvSpPr>
        <p:spPr>
          <a:xfrm>
            <a:off x="3200400" y="5294376"/>
            <a:ext cx="557784" cy="34747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20" dirty="0">
                <a:solidFill>
                  <a:srgbClr val="5D6B7A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节点 / Rack</a:t>
            </a:r>
            <a:endParaRPr lang="en-US" sz="720" dirty="0"/>
          </a:p>
        </p:txBody>
      </p:sp>
      <p:sp>
        <p:nvSpPr>
          <p:cNvPr id="47" name="Shape 44"/>
          <p:cNvSpPr/>
          <p:nvPr/>
        </p:nvSpPr>
        <p:spPr>
          <a:xfrm>
            <a:off x="4041648" y="5212080"/>
            <a:ext cx="13716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6F8193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4187952" y="5312664"/>
            <a:ext cx="466344" cy="3200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30" b="1" dirty="0">
                <a:solidFill>
                  <a:srgbClr val="003F8F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DP / EP</a:t>
            </a:r>
            <a:endParaRPr lang="en-US" sz="930" dirty="0"/>
          </a:p>
        </p:txBody>
      </p:sp>
      <p:sp>
        <p:nvSpPr>
          <p:cNvPr id="49" name="Text 46"/>
          <p:cNvSpPr/>
          <p:nvPr/>
        </p:nvSpPr>
        <p:spPr>
          <a:xfrm>
            <a:off x="4727448" y="5294376"/>
            <a:ext cx="557784" cy="34747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20" dirty="0">
                <a:solidFill>
                  <a:srgbClr val="5D6B7A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跨域通信</a:t>
            </a:r>
            <a:endParaRPr lang="en-US" sz="720" dirty="0"/>
          </a:p>
        </p:txBody>
      </p:sp>
      <p:sp>
        <p:nvSpPr>
          <p:cNvPr id="50" name="Shape 47"/>
          <p:cNvSpPr/>
          <p:nvPr/>
        </p:nvSpPr>
        <p:spPr>
          <a:xfrm>
            <a:off x="6199632" y="1938528"/>
            <a:ext cx="534924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3F8F"/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6400800" y="2130552"/>
            <a:ext cx="1170432" cy="347472"/>
          </a:xfrm>
          <a:prstGeom prst="chevron">
            <a:avLst/>
          </a:prstGeom>
          <a:solidFill>
            <a:srgbClr val="003F8F"/>
          </a:solidFill>
          <a:ln w="12700">
            <a:solidFill>
              <a:srgbClr val="003F8F">
                <a:alpha val="0"/>
              </a:srgbClr>
            </a:solidFill>
            <a:prstDash val="solid"/>
          </a:ln>
        </p:spPr>
      </p:sp>
      <p:sp>
        <p:nvSpPr>
          <p:cNvPr id="52" name="Text 49"/>
          <p:cNvSpPr/>
          <p:nvPr/>
        </p:nvSpPr>
        <p:spPr>
          <a:xfrm>
            <a:off x="6473952" y="2167128"/>
            <a:ext cx="969264" cy="24688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20" b="1" dirty="0">
                <a:solidFill>
                  <a:srgbClr val="FFFFFF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在线推理</a:t>
            </a:r>
            <a:endParaRPr lang="en-US" sz="1220" dirty="0"/>
          </a:p>
        </p:txBody>
      </p:sp>
      <p:sp>
        <p:nvSpPr>
          <p:cNvPr id="53" name="Shape 50"/>
          <p:cNvSpPr/>
          <p:nvPr/>
        </p:nvSpPr>
        <p:spPr>
          <a:xfrm>
            <a:off x="6528816" y="2578608"/>
            <a:ext cx="4663440" cy="2432304"/>
          </a:xfrm>
          <a:prstGeom prst="rect">
            <a:avLst/>
          </a:prstGeom>
          <a:solidFill>
            <a:srgbClr val="F8FAFC"/>
          </a:solidFill>
          <a:ln w="12700">
            <a:solidFill>
              <a:srgbClr val="A8B8C8"/>
            </a:solidFill>
            <a:prstDash val="solid"/>
          </a:ln>
        </p:spPr>
      </p:sp>
      <p:sp>
        <p:nvSpPr>
          <p:cNvPr id="54" name="Text 51"/>
          <p:cNvSpPr/>
          <p:nvPr/>
        </p:nvSpPr>
        <p:spPr>
          <a:xfrm>
            <a:off x="6748272" y="2724912"/>
            <a:ext cx="4224528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3F8F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ServingGroup · 完整服务实例</a:t>
            </a:r>
            <a:endParaRPr lang="en-US" sz="1300" dirty="0"/>
          </a:p>
        </p:txBody>
      </p:sp>
      <p:sp>
        <p:nvSpPr>
          <p:cNvPr id="55" name="Shape 52"/>
          <p:cNvSpPr/>
          <p:nvPr/>
        </p:nvSpPr>
        <p:spPr>
          <a:xfrm>
            <a:off x="6812280" y="3182112"/>
            <a:ext cx="1691640" cy="1353312"/>
          </a:xfrm>
          <a:prstGeom prst="rect">
            <a:avLst/>
          </a:prstGeom>
          <a:solidFill>
            <a:srgbClr val="FFFFFF"/>
          </a:solidFill>
          <a:ln w="12700">
            <a:solidFill>
              <a:srgbClr val="0B5CAD"/>
            </a:solidFill>
            <a:prstDash val="solid"/>
          </a:ln>
        </p:spPr>
      </p:sp>
      <p:sp>
        <p:nvSpPr>
          <p:cNvPr id="56" name="Text 53"/>
          <p:cNvSpPr/>
          <p:nvPr/>
        </p:nvSpPr>
        <p:spPr>
          <a:xfrm>
            <a:off x="6931152" y="3328416"/>
            <a:ext cx="1453896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03F8F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Prefill Role</a:t>
            </a:r>
            <a:endParaRPr lang="en-US" sz="1050" dirty="0"/>
          </a:p>
        </p:txBody>
      </p:sp>
      <p:sp>
        <p:nvSpPr>
          <p:cNvPr id="57" name="Shape 54"/>
          <p:cNvSpPr/>
          <p:nvPr/>
        </p:nvSpPr>
        <p:spPr>
          <a:xfrm>
            <a:off x="7132320" y="3785616"/>
            <a:ext cx="411480" cy="329184"/>
          </a:xfrm>
          <a:prstGeom prst="rect">
            <a:avLst/>
          </a:prstGeom>
          <a:solidFill>
            <a:srgbClr val="DCEBFA"/>
          </a:solidFill>
          <a:ln w="12700">
            <a:solidFill>
              <a:srgbClr val="0B5CAD"/>
            </a:solidFill>
            <a:prstDash val="solid"/>
          </a:ln>
        </p:spPr>
      </p:sp>
      <p:sp>
        <p:nvSpPr>
          <p:cNvPr id="58" name="Text 55"/>
          <p:cNvSpPr/>
          <p:nvPr/>
        </p:nvSpPr>
        <p:spPr>
          <a:xfrm>
            <a:off x="7132320" y="3877056"/>
            <a:ext cx="411480" cy="11887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003F8F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P</a:t>
            </a:r>
            <a:endParaRPr lang="en-US" sz="700" dirty="0"/>
          </a:p>
        </p:txBody>
      </p:sp>
      <p:sp>
        <p:nvSpPr>
          <p:cNvPr id="59" name="Shape 56"/>
          <p:cNvSpPr/>
          <p:nvPr/>
        </p:nvSpPr>
        <p:spPr>
          <a:xfrm>
            <a:off x="7754112" y="3785616"/>
            <a:ext cx="411480" cy="329184"/>
          </a:xfrm>
          <a:prstGeom prst="rect">
            <a:avLst/>
          </a:prstGeom>
          <a:solidFill>
            <a:srgbClr val="DCEBFA"/>
          </a:solidFill>
          <a:ln w="12700">
            <a:solidFill>
              <a:srgbClr val="0B5CAD"/>
            </a:solidFill>
            <a:prstDash val="solid"/>
          </a:ln>
        </p:spPr>
      </p:sp>
      <p:sp>
        <p:nvSpPr>
          <p:cNvPr id="60" name="Text 57"/>
          <p:cNvSpPr/>
          <p:nvPr/>
        </p:nvSpPr>
        <p:spPr>
          <a:xfrm>
            <a:off x="7754112" y="3877056"/>
            <a:ext cx="411480" cy="11887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003F8F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P</a:t>
            </a:r>
            <a:endParaRPr lang="en-US" sz="700" dirty="0"/>
          </a:p>
        </p:txBody>
      </p:sp>
      <p:sp>
        <p:nvSpPr>
          <p:cNvPr id="61" name="Text 58"/>
          <p:cNvSpPr/>
          <p:nvPr/>
        </p:nvSpPr>
        <p:spPr>
          <a:xfrm>
            <a:off x="6976872" y="4206240"/>
            <a:ext cx="1362456" cy="14630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5D6B7A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高带宽聚合</a:t>
            </a:r>
            <a:endParaRPr lang="en-US" sz="750" dirty="0"/>
          </a:p>
        </p:txBody>
      </p:sp>
      <p:sp>
        <p:nvSpPr>
          <p:cNvPr id="62" name="Shape 59"/>
          <p:cNvSpPr/>
          <p:nvPr/>
        </p:nvSpPr>
        <p:spPr>
          <a:xfrm>
            <a:off x="8759952" y="3182112"/>
            <a:ext cx="2121408" cy="1353312"/>
          </a:xfrm>
          <a:prstGeom prst="rect">
            <a:avLst/>
          </a:prstGeom>
          <a:solidFill>
            <a:srgbClr val="FFFFFF"/>
          </a:solidFill>
          <a:ln w="12700">
            <a:solidFill>
              <a:srgbClr val="6F8193"/>
            </a:solidFill>
            <a:prstDash val="solid"/>
          </a:ln>
        </p:spPr>
      </p:sp>
      <p:sp>
        <p:nvSpPr>
          <p:cNvPr id="63" name="Text 60"/>
          <p:cNvSpPr/>
          <p:nvPr/>
        </p:nvSpPr>
        <p:spPr>
          <a:xfrm>
            <a:off x="8887968" y="3328416"/>
            <a:ext cx="1865376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03F8F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Decode Role</a:t>
            </a:r>
            <a:endParaRPr lang="en-US" sz="1050" dirty="0"/>
          </a:p>
        </p:txBody>
      </p:sp>
      <p:sp>
        <p:nvSpPr>
          <p:cNvPr id="64" name="Shape 61"/>
          <p:cNvSpPr/>
          <p:nvPr/>
        </p:nvSpPr>
        <p:spPr>
          <a:xfrm>
            <a:off x="9052560" y="3785616"/>
            <a:ext cx="365760" cy="329184"/>
          </a:xfrm>
          <a:prstGeom prst="rect">
            <a:avLst/>
          </a:prstGeom>
          <a:solidFill>
            <a:srgbClr val="EEF2F6"/>
          </a:solidFill>
          <a:ln w="12700">
            <a:solidFill>
              <a:srgbClr val="6F8193"/>
            </a:solidFill>
            <a:prstDash val="solid"/>
          </a:ln>
        </p:spPr>
      </p:sp>
      <p:sp>
        <p:nvSpPr>
          <p:cNvPr id="65" name="Text 62"/>
          <p:cNvSpPr/>
          <p:nvPr/>
        </p:nvSpPr>
        <p:spPr>
          <a:xfrm>
            <a:off x="9052560" y="3877056"/>
            <a:ext cx="365760" cy="11887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003F8F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D</a:t>
            </a:r>
            <a:endParaRPr lang="en-US" sz="700" dirty="0"/>
          </a:p>
        </p:txBody>
      </p:sp>
      <p:sp>
        <p:nvSpPr>
          <p:cNvPr id="66" name="Shape 63"/>
          <p:cNvSpPr/>
          <p:nvPr/>
        </p:nvSpPr>
        <p:spPr>
          <a:xfrm>
            <a:off x="9582912" y="3785616"/>
            <a:ext cx="365760" cy="329184"/>
          </a:xfrm>
          <a:prstGeom prst="rect">
            <a:avLst/>
          </a:prstGeom>
          <a:solidFill>
            <a:srgbClr val="EEF2F6"/>
          </a:solidFill>
          <a:ln w="12700">
            <a:solidFill>
              <a:srgbClr val="6F8193"/>
            </a:solidFill>
            <a:prstDash val="solid"/>
          </a:ln>
        </p:spPr>
      </p:sp>
      <p:sp>
        <p:nvSpPr>
          <p:cNvPr id="67" name="Text 64"/>
          <p:cNvSpPr/>
          <p:nvPr/>
        </p:nvSpPr>
        <p:spPr>
          <a:xfrm>
            <a:off x="9582912" y="3877056"/>
            <a:ext cx="365760" cy="11887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003F8F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D</a:t>
            </a:r>
            <a:endParaRPr lang="en-US" sz="700" dirty="0"/>
          </a:p>
        </p:txBody>
      </p:sp>
      <p:sp>
        <p:nvSpPr>
          <p:cNvPr id="68" name="Shape 65"/>
          <p:cNvSpPr/>
          <p:nvPr/>
        </p:nvSpPr>
        <p:spPr>
          <a:xfrm>
            <a:off x="10113264" y="3785616"/>
            <a:ext cx="365760" cy="329184"/>
          </a:xfrm>
          <a:prstGeom prst="rect">
            <a:avLst/>
          </a:prstGeom>
          <a:solidFill>
            <a:srgbClr val="EEF2F6"/>
          </a:solidFill>
          <a:ln w="12700">
            <a:solidFill>
              <a:srgbClr val="6F8193"/>
            </a:solidFill>
            <a:prstDash val="solid"/>
          </a:ln>
        </p:spPr>
      </p:sp>
      <p:sp>
        <p:nvSpPr>
          <p:cNvPr id="69" name="Text 66"/>
          <p:cNvSpPr/>
          <p:nvPr/>
        </p:nvSpPr>
        <p:spPr>
          <a:xfrm>
            <a:off x="10113264" y="3877056"/>
            <a:ext cx="365760" cy="11887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003F8F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D</a:t>
            </a:r>
            <a:endParaRPr lang="en-US" sz="700" dirty="0"/>
          </a:p>
        </p:txBody>
      </p:sp>
      <p:sp>
        <p:nvSpPr>
          <p:cNvPr id="70" name="Text 67"/>
          <p:cNvSpPr/>
          <p:nvPr/>
        </p:nvSpPr>
        <p:spPr>
          <a:xfrm>
            <a:off x="8915400" y="4206240"/>
            <a:ext cx="1810512" cy="14630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5D6B7A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跨 Rack </a:t>
            </a:r>
            <a:r>
              <a:rPr lang="zh-CN" altLang="en-US" sz="750" dirty="0">
                <a:solidFill>
                  <a:srgbClr val="5D6B7A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高可用</a:t>
            </a:r>
            <a:endParaRPr lang="zh-CN" altLang="en-US" sz="750" dirty="0">
              <a:solidFill>
                <a:srgbClr val="5D6B7A"/>
              </a:solidFill>
              <a:latin typeface="PingFang SC" panose="020B0400000000000000" pitchFamily="34" charset="-122"/>
              <a:ea typeface="PingFang SC" panose="020B0400000000000000" pitchFamily="34" charset="-122"/>
              <a:cs typeface="PingFang SC" panose="020B0400000000000000" pitchFamily="34" charset="-120"/>
            </a:endParaRPr>
          </a:p>
        </p:txBody>
      </p:sp>
      <p:sp>
        <p:nvSpPr>
          <p:cNvPr id="71" name="Shape 68"/>
          <p:cNvSpPr/>
          <p:nvPr/>
        </p:nvSpPr>
        <p:spPr>
          <a:xfrm>
            <a:off x="6528816" y="5212080"/>
            <a:ext cx="13716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3F8F"/>
            </a:solidFill>
            <a:prstDash val="solid"/>
          </a:ln>
        </p:spPr>
      </p:sp>
      <p:sp>
        <p:nvSpPr>
          <p:cNvPr id="72" name="Text 69"/>
          <p:cNvSpPr/>
          <p:nvPr/>
        </p:nvSpPr>
        <p:spPr>
          <a:xfrm>
            <a:off x="6675120" y="5312664"/>
            <a:ext cx="466344" cy="3200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30" b="1" dirty="0">
                <a:solidFill>
                  <a:srgbClr val="003F8F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整体</a:t>
            </a:r>
            <a:endParaRPr lang="en-US" sz="930" dirty="0"/>
          </a:p>
        </p:txBody>
      </p:sp>
      <p:sp>
        <p:nvSpPr>
          <p:cNvPr id="73" name="Text 70"/>
          <p:cNvSpPr/>
          <p:nvPr/>
        </p:nvSpPr>
        <p:spPr>
          <a:xfrm>
            <a:off x="7214616" y="5294376"/>
            <a:ext cx="557784" cy="34747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20" dirty="0">
                <a:solidFill>
                  <a:srgbClr val="5D6B7A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最低可用组合</a:t>
            </a:r>
            <a:endParaRPr lang="en-US" sz="720" dirty="0"/>
          </a:p>
        </p:txBody>
      </p:sp>
      <p:sp>
        <p:nvSpPr>
          <p:cNvPr id="74" name="Shape 71"/>
          <p:cNvSpPr/>
          <p:nvPr/>
        </p:nvSpPr>
        <p:spPr>
          <a:xfrm>
            <a:off x="8055864" y="5212080"/>
            <a:ext cx="13716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6F8193"/>
            </a:solidFill>
            <a:prstDash val="solid"/>
          </a:ln>
        </p:spPr>
      </p:sp>
      <p:sp>
        <p:nvSpPr>
          <p:cNvPr id="75" name="Text 72"/>
          <p:cNvSpPr/>
          <p:nvPr/>
        </p:nvSpPr>
        <p:spPr>
          <a:xfrm>
            <a:off x="8202168" y="5312664"/>
            <a:ext cx="466344" cy="3200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30" b="1" dirty="0">
                <a:solidFill>
                  <a:srgbClr val="003F8F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角色内</a:t>
            </a:r>
            <a:endParaRPr lang="en-US" sz="930" dirty="0"/>
          </a:p>
        </p:txBody>
      </p:sp>
      <p:sp>
        <p:nvSpPr>
          <p:cNvPr id="76" name="Text 73"/>
          <p:cNvSpPr/>
          <p:nvPr/>
        </p:nvSpPr>
        <p:spPr>
          <a:xfrm>
            <a:off x="8741664" y="5294376"/>
            <a:ext cx="557784" cy="34747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20" dirty="0">
                <a:solidFill>
                  <a:srgbClr val="5D6B7A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Affinity</a:t>
            </a:r>
            <a:endParaRPr lang="en-US" sz="720" dirty="0"/>
          </a:p>
        </p:txBody>
      </p:sp>
      <p:sp>
        <p:nvSpPr>
          <p:cNvPr id="77" name="Shape 74"/>
          <p:cNvSpPr/>
          <p:nvPr/>
        </p:nvSpPr>
        <p:spPr>
          <a:xfrm>
            <a:off x="9582912" y="5212080"/>
            <a:ext cx="13716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6F8193"/>
            </a:solidFill>
            <a:prstDash val="solid"/>
          </a:ln>
        </p:spPr>
      </p:sp>
      <p:sp>
        <p:nvSpPr>
          <p:cNvPr id="78" name="Text 75"/>
          <p:cNvSpPr/>
          <p:nvPr/>
        </p:nvSpPr>
        <p:spPr>
          <a:xfrm>
            <a:off x="9729216" y="5312664"/>
            <a:ext cx="466344" cy="3200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30" b="1" dirty="0">
                <a:solidFill>
                  <a:srgbClr val="003F8F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角色间</a:t>
            </a:r>
            <a:endParaRPr lang="en-US" sz="930" dirty="0"/>
          </a:p>
        </p:txBody>
      </p:sp>
      <p:sp>
        <p:nvSpPr>
          <p:cNvPr id="79" name="Text 76"/>
          <p:cNvSpPr/>
          <p:nvPr/>
        </p:nvSpPr>
        <p:spPr>
          <a:xfrm>
            <a:off x="10268712" y="5294376"/>
            <a:ext cx="557784" cy="34747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20" dirty="0">
                <a:solidFill>
                  <a:srgbClr val="5D6B7A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容错 / 带宽</a:t>
            </a:r>
            <a:endParaRPr lang="en-US" sz="720" dirty="0"/>
          </a:p>
        </p:txBody>
      </p:sp>
      <p:sp>
        <p:nvSpPr>
          <p:cNvPr id="80" name="Shape 77"/>
          <p:cNvSpPr/>
          <p:nvPr/>
        </p:nvSpPr>
        <p:spPr>
          <a:xfrm>
            <a:off x="640080" y="6236208"/>
            <a:ext cx="10908792" cy="402336"/>
          </a:xfrm>
          <a:prstGeom prst="rect">
            <a:avLst/>
          </a:prstGeom>
          <a:solidFill>
            <a:srgbClr val="003F8F"/>
          </a:solidFill>
          <a:ln w="12700">
            <a:solidFill>
              <a:srgbClr val="003F8F">
                <a:alpha val="0"/>
              </a:srgbClr>
            </a:solidFill>
            <a:prstDash val="solid"/>
          </a:ln>
        </p:spPr>
      </p:sp>
      <p:sp>
        <p:nvSpPr>
          <p:cNvPr id="81" name="Shape 78"/>
          <p:cNvSpPr/>
          <p:nvPr/>
        </p:nvSpPr>
        <p:spPr>
          <a:xfrm>
            <a:off x="640080" y="6236208"/>
            <a:ext cx="109728" cy="402336"/>
          </a:xfrm>
          <a:prstGeom prst="rect">
            <a:avLst/>
          </a:prstGeom>
          <a:solidFill>
            <a:srgbClr val="E43D30"/>
          </a:solidFill>
          <a:ln w="12700">
            <a:solidFill>
              <a:srgbClr val="E43D30">
                <a:alpha val="0"/>
              </a:srgbClr>
            </a:solidFill>
            <a:prstDash val="solid"/>
          </a:ln>
        </p:spPr>
      </p:sp>
      <p:sp>
        <p:nvSpPr>
          <p:cNvPr id="82" name="Text 79"/>
          <p:cNvSpPr/>
          <p:nvPr/>
        </p:nvSpPr>
        <p:spPr>
          <a:xfrm>
            <a:off x="914400" y="6272784"/>
            <a:ext cx="10378440" cy="30175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共同需求：整体成组 + 内部分组 + 每个分组独立的拓扑与亲和关系</a:t>
            </a:r>
            <a:endParaRPr lang="en-US" sz="15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F8F"/>
          </a:solidFill>
          <a:ln w="12700">
            <a:solidFill>
              <a:srgbClr val="003F8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" y="228600"/>
            <a:ext cx="1417320" cy="393192"/>
          </a:xfrm>
          <a:prstGeom prst="chevron">
            <a:avLst/>
          </a:prstGeom>
          <a:solidFill>
            <a:srgbClr val="003F8F"/>
          </a:solidFill>
          <a:ln w="12700">
            <a:solidFill>
              <a:srgbClr val="003F8F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274320"/>
            <a:ext cx="1078992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第三章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2212848" y="182880"/>
            <a:ext cx="7635240" cy="51206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003F8F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从 PodGroup 到 SubGroup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58368" y="832104"/>
            <a:ext cx="10744200" cy="34747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30" dirty="0">
                <a:solidFill>
                  <a:srgbClr val="5D6B7A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PodGroup 负责整体，SubGroup 表达角色组与并行组</a:t>
            </a:r>
            <a:endParaRPr lang="en-US" sz="1530" dirty="0"/>
          </a:p>
        </p:txBody>
      </p:sp>
      <p:sp>
        <p:nvSpPr>
          <p:cNvPr id="7" name="Shape 5"/>
          <p:cNvSpPr/>
          <p:nvPr/>
        </p:nvSpPr>
        <p:spPr>
          <a:xfrm>
            <a:off x="566928" y="1225296"/>
            <a:ext cx="11018520" cy="0"/>
          </a:xfrm>
          <a:prstGeom prst="line">
            <a:avLst/>
          </a:prstGeom>
          <a:noFill/>
          <a:ln w="11430">
            <a:solidFill>
              <a:srgbClr val="B9C8D8"/>
            </a:solidFill>
            <a:prstDash val="solid"/>
            <a:headEnd type="none"/>
          </a:ln>
        </p:spPr>
      </p:sp>
      <p:sp>
        <p:nvSpPr>
          <p:cNvPr id="8" name="Shape 6"/>
          <p:cNvSpPr/>
          <p:nvPr/>
        </p:nvSpPr>
        <p:spPr>
          <a:xfrm>
            <a:off x="566928" y="1179576"/>
            <a:ext cx="1225296" cy="91440"/>
          </a:xfrm>
          <a:prstGeom prst="rect">
            <a:avLst/>
          </a:prstGeom>
          <a:solidFill>
            <a:srgbClr val="E43D30"/>
          </a:solidFill>
          <a:ln w="12700">
            <a:solidFill>
              <a:srgbClr val="E43D30">
                <a:alpha val="0"/>
              </a:srgbClr>
            </a:solidFill>
            <a:prstDash val="solid"/>
          </a:ln>
        </p:spPr>
      </p:sp>
      <p:pic>
        <p:nvPicPr>
          <p:cNvPr id="9" name="Image 0" descr="/Users/chenzicong/Documents/Codex/2026-07-20/wo/outputs/volcano-unified-scheduling-editable/assets/volcano-logo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97312" y="321114"/>
            <a:ext cx="1078992" cy="180733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1475720" y="6492240"/>
            <a:ext cx="347472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768597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20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658368" y="1353312"/>
            <a:ext cx="10890504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0B5CAD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58368" y="1353312"/>
            <a:ext cx="109728" cy="438912"/>
          </a:xfrm>
          <a:prstGeom prst="rect">
            <a:avLst/>
          </a:prstGeom>
          <a:solidFill>
            <a:srgbClr val="E43D30"/>
          </a:solidFill>
          <a:ln w="12700">
            <a:solidFill>
              <a:srgbClr val="E43D3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932688" y="1435608"/>
            <a:ext cx="10314432" cy="24688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20" b="1" dirty="0">
                <a:solidFill>
                  <a:srgbClr val="172033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只有一层 PodGroup 时，调度器知道总数，却不知道哪些 Pod 必须一起放、放在哪一层</a:t>
            </a:r>
            <a:endParaRPr lang="en-US" sz="1420" dirty="0"/>
          </a:p>
        </p:txBody>
      </p:sp>
      <p:sp>
        <p:nvSpPr>
          <p:cNvPr id="14" name="Shape 11"/>
          <p:cNvSpPr/>
          <p:nvPr/>
        </p:nvSpPr>
        <p:spPr>
          <a:xfrm>
            <a:off x="658368" y="1956816"/>
            <a:ext cx="2971800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6F8193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859536" y="2185670"/>
            <a:ext cx="1536192" cy="347472"/>
          </a:xfrm>
          <a:prstGeom prst="chevron">
            <a:avLst/>
          </a:prstGeom>
          <a:solidFill>
            <a:schemeClr val="accent1"/>
          </a:solidFill>
          <a:ln w="12700">
            <a:solidFill>
              <a:srgbClr val="6F8193">
                <a:alpha val="0"/>
              </a:srgbClr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932815" y="2230120"/>
            <a:ext cx="1513205" cy="247015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PodGroup 单层表达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987552" y="2761488"/>
            <a:ext cx="2304288" cy="768096"/>
          </a:xfrm>
          <a:prstGeom prst="rect">
            <a:avLst/>
          </a:prstGeom>
          <a:solidFill>
            <a:srgbClr val="FFFFFF"/>
          </a:solidFill>
          <a:ln w="12700">
            <a:solidFill>
              <a:srgbClr val="6F8193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1152144" y="2880360"/>
            <a:ext cx="1975104" cy="24688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03F8F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minMember / minResources</a:t>
            </a:r>
            <a:endParaRPr lang="en-US" sz="1250" dirty="0"/>
          </a:p>
        </p:txBody>
      </p:sp>
      <p:sp>
        <p:nvSpPr>
          <p:cNvPr id="19" name="Text 16"/>
          <p:cNvSpPr/>
          <p:nvPr/>
        </p:nvSpPr>
        <p:spPr>
          <a:xfrm>
            <a:off x="1152144" y="3236976"/>
            <a:ext cx="1975104" cy="19202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30" dirty="0">
                <a:solidFill>
                  <a:srgbClr val="5D6B7A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只描述完整 Job 的准入门槛</a:t>
            </a:r>
            <a:endParaRPr lang="en-US" sz="930" dirty="0"/>
          </a:p>
        </p:txBody>
      </p:sp>
      <p:sp>
        <p:nvSpPr>
          <p:cNvPr id="20" name="Shape 17"/>
          <p:cNvSpPr/>
          <p:nvPr/>
        </p:nvSpPr>
        <p:spPr>
          <a:xfrm>
            <a:off x="987552" y="3730752"/>
            <a:ext cx="2304288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6F8193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1133856" y="3819906"/>
            <a:ext cx="438912" cy="310896"/>
          </a:xfrm>
          <a:prstGeom prst="roundRect">
            <a:avLst>
              <a:gd name="adj" fmla="val 23529"/>
            </a:avLst>
          </a:prstGeom>
          <a:solidFill>
            <a:schemeClr val="accent1"/>
          </a:solidFill>
          <a:ln w="12700">
            <a:solidFill>
              <a:srgbClr val="6F8193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1207008" y="3829050"/>
            <a:ext cx="292608" cy="28346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FFFFFF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01</a:t>
            </a:r>
            <a:endParaRPr lang="en-US" sz="820" dirty="0"/>
          </a:p>
        </p:txBody>
      </p:sp>
      <p:sp>
        <p:nvSpPr>
          <p:cNvPr id="23" name="Text 20"/>
          <p:cNvSpPr/>
          <p:nvPr/>
        </p:nvSpPr>
        <p:spPr>
          <a:xfrm>
            <a:off x="1682496" y="3831336"/>
            <a:ext cx="783458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30" b="1" dirty="0">
                <a:solidFill>
                  <a:srgbClr val="003F8F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训练</a:t>
            </a:r>
            <a:endParaRPr lang="en-US" sz="930" dirty="0"/>
          </a:p>
        </p:txBody>
      </p:sp>
      <p:sp>
        <p:nvSpPr>
          <p:cNvPr id="24" name="Text 21"/>
          <p:cNvSpPr/>
          <p:nvPr/>
        </p:nvSpPr>
        <p:spPr>
          <a:xfrm>
            <a:off x="2539106" y="3813048"/>
            <a:ext cx="624718" cy="30175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20" dirty="0">
                <a:solidFill>
                  <a:srgbClr val="5D6B7A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TP / PP / DP 分组</a:t>
            </a:r>
            <a:endParaRPr lang="en-US" sz="720" dirty="0"/>
          </a:p>
        </p:txBody>
      </p:sp>
      <p:sp>
        <p:nvSpPr>
          <p:cNvPr id="25" name="Shape 22"/>
          <p:cNvSpPr/>
          <p:nvPr/>
        </p:nvSpPr>
        <p:spPr>
          <a:xfrm>
            <a:off x="987552" y="4297680"/>
            <a:ext cx="2304288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6F8193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1133856" y="4386834"/>
            <a:ext cx="438912" cy="310896"/>
          </a:xfrm>
          <a:prstGeom prst="roundRect">
            <a:avLst>
              <a:gd name="adj" fmla="val 23529"/>
            </a:avLst>
          </a:prstGeom>
          <a:solidFill>
            <a:schemeClr val="accent1"/>
          </a:solidFill>
          <a:ln w="12700">
            <a:solidFill>
              <a:srgbClr val="6F8193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1207008" y="4395978"/>
            <a:ext cx="292608" cy="28346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FFFFFF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02</a:t>
            </a:r>
            <a:endParaRPr lang="en-US" sz="820" dirty="0"/>
          </a:p>
        </p:txBody>
      </p:sp>
      <p:sp>
        <p:nvSpPr>
          <p:cNvPr id="28" name="Text 25"/>
          <p:cNvSpPr/>
          <p:nvPr/>
        </p:nvSpPr>
        <p:spPr>
          <a:xfrm>
            <a:off x="1682496" y="4398264"/>
            <a:ext cx="783458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30" b="1" dirty="0">
                <a:solidFill>
                  <a:srgbClr val="003F8F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推理</a:t>
            </a:r>
            <a:endParaRPr lang="en-US" sz="930" dirty="0"/>
          </a:p>
        </p:txBody>
      </p:sp>
      <p:sp>
        <p:nvSpPr>
          <p:cNvPr id="29" name="Text 26"/>
          <p:cNvSpPr/>
          <p:nvPr/>
        </p:nvSpPr>
        <p:spPr>
          <a:xfrm>
            <a:off x="2539106" y="4379976"/>
            <a:ext cx="624718" cy="30175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20" dirty="0">
                <a:solidFill>
                  <a:srgbClr val="5D6B7A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Prefill / Decode 角色</a:t>
            </a:r>
            <a:endParaRPr lang="en-US" sz="720" dirty="0"/>
          </a:p>
        </p:txBody>
      </p:sp>
      <p:sp>
        <p:nvSpPr>
          <p:cNvPr id="30" name="Shape 27"/>
          <p:cNvSpPr/>
          <p:nvPr/>
        </p:nvSpPr>
        <p:spPr>
          <a:xfrm>
            <a:off x="987552" y="4864608"/>
            <a:ext cx="2304288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6F8193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1133856" y="4953762"/>
            <a:ext cx="438912" cy="310896"/>
          </a:xfrm>
          <a:prstGeom prst="roundRect">
            <a:avLst>
              <a:gd name="adj" fmla="val 23529"/>
            </a:avLst>
          </a:prstGeom>
          <a:solidFill>
            <a:schemeClr val="accent1"/>
          </a:solidFill>
          <a:ln w="12700">
            <a:solidFill>
              <a:srgbClr val="6F8193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1207008" y="4981321"/>
            <a:ext cx="292608" cy="28346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FFFFFF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03</a:t>
            </a:r>
            <a:endParaRPr lang="en-US" sz="820" dirty="0"/>
          </a:p>
        </p:txBody>
      </p:sp>
      <p:sp>
        <p:nvSpPr>
          <p:cNvPr id="33" name="Text 30"/>
          <p:cNvSpPr/>
          <p:nvPr/>
        </p:nvSpPr>
        <p:spPr>
          <a:xfrm>
            <a:off x="1682496" y="4965192"/>
            <a:ext cx="783458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30" b="1" dirty="0">
                <a:solidFill>
                  <a:srgbClr val="003F8F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放置</a:t>
            </a:r>
            <a:endParaRPr lang="en-US" sz="930" dirty="0"/>
          </a:p>
        </p:txBody>
      </p:sp>
      <p:sp>
        <p:nvSpPr>
          <p:cNvPr id="34" name="Text 31"/>
          <p:cNvSpPr/>
          <p:nvPr/>
        </p:nvSpPr>
        <p:spPr>
          <a:xfrm>
            <a:off x="2539106" y="4946904"/>
            <a:ext cx="624718" cy="30175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20" dirty="0">
                <a:solidFill>
                  <a:srgbClr val="5D6B7A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不同 topology tier</a:t>
            </a:r>
            <a:endParaRPr lang="en-US" sz="720" dirty="0"/>
          </a:p>
        </p:txBody>
      </p:sp>
      <p:sp>
        <p:nvSpPr>
          <p:cNvPr id="35" name="Shape 32"/>
          <p:cNvSpPr/>
          <p:nvPr/>
        </p:nvSpPr>
        <p:spPr>
          <a:xfrm>
            <a:off x="3840480" y="3730752"/>
            <a:ext cx="420624" cy="384048"/>
          </a:xfrm>
          <a:prstGeom prst="chevron">
            <a:avLst/>
          </a:prstGeom>
          <a:solidFill>
            <a:srgbClr val="003F8F"/>
          </a:solidFill>
          <a:ln w="12700">
            <a:solidFill>
              <a:srgbClr val="003F8F">
                <a:alpha val="0"/>
              </a:srgbClr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4480560" y="1956816"/>
            <a:ext cx="7059168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3F8F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4690872" y="2148840"/>
            <a:ext cx="1481328" cy="347472"/>
          </a:xfrm>
          <a:prstGeom prst="chevron">
            <a:avLst/>
          </a:prstGeom>
          <a:solidFill>
            <a:srgbClr val="003F8F"/>
          </a:solidFill>
          <a:ln w="12700">
            <a:solidFill>
              <a:srgbClr val="003F8F">
                <a:alpha val="0"/>
              </a:srgbClr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4764024" y="2185416"/>
            <a:ext cx="1280160" cy="24688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20" b="1" dirty="0">
                <a:solidFill>
                  <a:srgbClr val="FFFFFF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三级调度对象</a:t>
            </a:r>
            <a:endParaRPr lang="en-US" sz="1220" dirty="0"/>
          </a:p>
        </p:txBody>
      </p:sp>
      <p:sp>
        <p:nvSpPr>
          <p:cNvPr id="39" name="Shape 36"/>
          <p:cNvSpPr/>
          <p:nvPr/>
        </p:nvSpPr>
        <p:spPr>
          <a:xfrm>
            <a:off x="4937760" y="2724912"/>
            <a:ext cx="6144768" cy="2606040"/>
          </a:xfrm>
          <a:prstGeom prst="rect">
            <a:avLst/>
          </a:prstGeom>
          <a:solidFill>
            <a:srgbClr val="F5F8FC"/>
          </a:solidFill>
          <a:ln w="12700">
            <a:solidFill>
              <a:srgbClr val="003F8F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5193792" y="2880360"/>
            <a:ext cx="2148840" cy="21945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b="1" dirty="0">
                <a:solidFill>
                  <a:srgbClr val="003F8F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PodGroup  →  JobInfo</a:t>
            </a:r>
            <a:endParaRPr lang="en-US" sz="1450" dirty="0"/>
          </a:p>
        </p:txBody>
      </p:sp>
      <p:sp>
        <p:nvSpPr>
          <p:cNvPr id="41" name="Text 38"/>
          <p:cNvSpPr/>
          <p:nvPr/>
        </p:nvSpPr>
        <p:spPr>
          <a:xfrm>
            <a:off x="7882128" y="2889504"/>
            <a:ext cx="2852928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70" dirty="0">
                <a:solidFill>
                  <a:srgbClr val="5D6B7A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完整训练作业 / 完整 ServingGroup</a:t>
            </a:r>
            <a:endParaRPr lang="en-US" sz="970" dirty="0"/>
          </a:p>
        </p:txBody>
      </p:sp>
      <p:sp>
        <p:nvSpPr>
          <p:cNvPr id="42" name="Shape 39"/>
          <p:cNvSpPr/>
          <p:nvPr/>
        </p:nvSpPr>
        <p:spPr>
          <a:xfrm>
            <a:off x="5230368" y="3401568"/>
            <a:ext cx="246888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0B5CAD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5367528" y="3538728"/>
            <a:ext cx="2194560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60" b="1" dirty="0">
                <a:solidFill>
                  <a:srgbClr val="003F8F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Training SubGroup</a:t>
            </a:r>
            <a:endParaRPr lang="en-US" sz="1060" dirty="0"/>
          </a:p>
        </p:txBody>
      </p:sp>
      <p:sp>
        <p:nvSpPr>
          <p:cNvPr id="44" name="Text 41"/>
          <p:cNvSpPr/>
          <p:nvPr/>
        </p:nvSpPr>
        <p:spPr>
          <a:xfrm>
            <a:off x="5367528" y="3858768"/>
            <a:ext cx="2194560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70" dirty="0">
                <a:solidFill>
                  <a:srgbClr val="172033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TP / PP / DP</a:t>
            </a:r>
            <a:endParaRPr lang="en-US" sz="870" dirty="0"/>
          </a:p>
        </p:txBody>
      </p:sp>
      <p:sp>
        <p:nvSpPr>
          <p:cNvPr id="45" name="Shape 42"/>
          <p:cNvSpPr/>
          <p:nvPr/>
        </p:nvSpPr>
        <p:spPr>
          <a:xfrm>
            <a:off x="5550408" y="4233672"/>
            <a:ext cx="1828800" cy="228600"/>
          </a:xfrm>
          <a:prstGeom prst="rect">
            <a:avLst/>
          </a:prstGeom>
          <a:solidFill>
            <a:srgbClr val="F2F5F8"/>
          </a:solidFill>
          <a:ln w="8890">
            <a:solidFill>
              <a:srgbClr val="0B5CAD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5586984" y="4274820"/>
            <a:ext cx="1755648" cy="13716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670" b="1" dirty="0">
                <a:solidFill>
                  <a:srgbClr val="0B5CAD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size · minSubGroups</a:t>
            </a:r>
            <a:endParaRPr lang="en-US" sz="670" dirty="0"/>
          </a:p>
        </p:txBody>
      </p:sp>
      <p:sp>
        <p:nvSpPr>
          <p:cNvPr id="47" name="Shape 44"/>
          <p:cNvSpPr/>
          <p:nvPr/>
        </p:nvSpPr>
        <p:spPr>
          <a:xfrm>
            <a:off x="5614416" y="4572000"/>
            <a:ext cx="393192" cy="246888"/>
          </a:xfrm>
          <a:prstGeom prst="rect">
            <a:avLst/>
          </a:prstGeom>
          <a:solidFill>
            <a:srgbClr val="EDF3F8"/>
          </a:solidFill>
          <a:ln w="12700">
            <a:solidFill>
              <a:srgbClr val="A2B2C2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5614416" y="4626864"/>
            <a:ext cx="393192" cy="914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570" b="1" dirty="0">
                <a:solidFill>
                  <a:srgbClr val="003F8F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Pod</a:t>
            </a:r>
            <a:endParaRPr lang="en-US" sz="570" dirty="0"/>
          </a:p>
        </p:txBody>
      </p:sp>
      <p:sp>
        <p:nvSpPr>
          <p:cNvPr id="49" name="Shape 46"/>
          <p:cNvSpPr/>
          <p:nvPr/>
        </p:nvSpPr>
        <p:spPr>
          <a:xfrm>
            <a:off x="6199632" y="4572000"/>
            <a:ext cx="393192" cy="246888"/>
          </a:xfrm>
          <a:prstGeom prst="rect">
            <a:avLst/>
          </a:prstGeom>
          <a:solidFill>
            <a:srgbClr val="EDF3F8"/>
          </a:solidFill>
          <a:ln w="12700">
            <a:solidFill>
              <a:srgbClr val="A2B2C2"/>
            </a:solidFill>
            <a:prstDash val="solid"/>
          </a:ln>
        </p:spPr>
      </p:sp>
      <p:sp>
        <p:nvSpPr>
          <p:cNvPr id="50" name="Text 47"/>
          <p:cNvSpPr/>
          <p:nvPr/>
        </p:nvSpPr>
        <p:spPr>
          <a:xfrm>
            <a:off x="6199632" y="4626864"/>
            <a:ext cx="393192" cy="914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570" b="1" dirty="0">
                <a:solidFill>
                  <a:srgbClr val="003F8F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Pod</a:t>
            </a:r>
            <a:endParaRPr lang="en-US" sz="570" dirty="0"/>
          </a:p>
        </p:txBody>
      </p:sp>
      <p:sp>
        <p:nvSpPr>
          <p:cNvPr id="51" name="Shape 48"/>
          <p:cNvSpPr/>
          <p:nvPr/>
        </p:nvSpPr>
        <p:spPr>
          <a:xfrm>
            <a:off x="6784848" y="4572000"/>
            <a:ext cx="393192" cy="246888"/>
          </a:xfrm>
          <a:prstGeom prst="rect">
            <a:avLst/>
          </a:prstGeom>
          <a:solidFill>
            <a:srgbClr val="EDF3F8"/>
          </a:solidFill>
          <a:ln w="12700">
            <a:solidFill>
              <a:srgbClr val="A2B2C2"/>
            </a:solidFill>
            <a:prstDash val="solid"/>
          </a:ln>
        </p:spPr>
      </p:sp>
      <p:sp>
        <p:nvSpPr>
          <p:cNvPr id="52" name="Text 49"/>
          <p:cNvSpPr/>
          <p:nvPr/>
        </p:nvSpPr>
        <p:spPr>
          <a:xfrm>
            <a:off x="6784848" y="4626864"/>
            <a:ext cx="393192" cy="914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570" b="1" dirty="0">
                <a:solidFill>
                  <a:srgbClr val="003F8F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Pod</a:t>
            </a:r>
            <a:endParaRPr lang="en-US" sz="570" dirty="0"/>
          </a:p>
        </p:txBody>
      </p:sp>
      <p:sp>
        <p:nvSpPr>
          <p:cNvPr id="53" name="Shape 50"/>
          <p:cNvSpPr/>
          <p:nvPr/>
        </p:nvSpPr>
        <p:spPr>
          <a:xfrm>
            <a:off x="8001000" y="3401568"/>
            <a:ext cx="246888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6F8193"/>
            </a:solidFill>
            <a:prstDash val="solid"/>
          </a:ln>
        </p:spPr>
      </p:sp>
      <p:sp>
        <p:nvSpPr>
          <p:cNvPr id="54" name="Text 51"/>
          <p:cNvSpPr/>
          <p:nvPr/>
        </p:nvSpPr>
        <p:spPr>
          <a:xfrm>
            <a:off x="8138160" y="3538728"/>
            <a:ext cx="2194560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60" b="1" dirty="0">
                <a:solidFill>
                  <a:srgbClr val="003F8F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Inference SubGroup</a:t>
            </a:r>
            <a:endParaRPr lang="en-US" sz="1060" dirty="0"/>
          </a:p>
        </p:txBody>
      </p:sp>
      <p:sp>
        <p:nvSpPr>
          <p:cNvPr id="55" name="Text 52"/>
          <p:cNvSpPr/>
          <p:nvPr/>
        </p:nvSpPr>
        <p:spPr>
          <a:xfrm>
            <a:off x="8138160" y="3858768"/>
            <a:ext cx="2194560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70" dirty="0">
                <a:solidFill>
                  <a:srgbClr val="172033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Prefill / Decode</a:t>
            </a:r>
            <a:endParaRPr lang="en-US" sz="870" dirty="0"/>
          </a:p>
        </p:txBody>
      </p:sp>
      <p:sp>
        <p:nvSpPr>
          <p:cNvPr id="56" name="Shape 53"/>
          <p:cNvSpPr/>
          <p:nvPr/>
        </p:nvSpPr>
        <p:spPr>
          <a:xfrm>
            <a:off x="8321040" y="4233672"/>
            <a:ext cx="1828800" cy="228600"/>
          </a:xfrm>
          <a:prstGeom prst="rect">
            <a:avLst/>
          </a:prstGeom>
          <a:solidFill>
            <a:srgbClr val="F2F5F8"/>
          </a:solidFill>
          <a:ln w="8890">
            <a:solidFill>
              <a:srgbClr val="6F8193"/>
            </a:solidFill>
            <a:prstDash val="solid"/>
          </a:ln>
        </p:spPr>
      </p:sp>
      <p:sp>
        <p:nvSpPr>
          <p:cNvPr id="57" name="Text 54"/>
          <p:cNvSpPr/>
          <p:nvPr/>
        </p:nvSpPr>
        <p:spPr>
          <a:xfrm>
            <a:off x="8357616" y="4274820"/>
            <a:ext cx="1755648" cy="13716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670" b="1" dirty="0">
                <a:solidFill>
                  <a:srgbClr val="6F8193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networkTopology · affinity</a:t>
            </a:r>
            <a:endParaRPr lang="en-US" sz="670" dirty="0"/>
          </a:p>
        </p:txBody>
      </p:sp>
      <p:sp>
        <p:nvSpPr>
          <p:cNvPr id="58" name="Shape 55"/>
          <p:cNvSpPr/>
          <p:nvPr/>
        </p:nvSpPr>
        <p:spPr>
          <a:xfrm>
            <a:off x="8385048" y="4572000"/>
            <a:ext cx="393192" cy="246888"/>
          </a:xfrm>
          <a:prstGeom prst="rect">
            <a:avLst/>
          </a:prstGeom>
          <a:solidFill>
            <a:srgbClr val="EDF3F8"/>
          </a:solidFill>
          <a:ln w="12700">
            <a:solidFill>
              <a:srgbClr val="A2B2C2"/>
            </a:solidFill>
            <a:prstDash val="solid"/>
          </a:ln>
        </p:spPr>
      </p:sp>
      <p:sp>
        <p:nvSpPr>
          <p:cNvPr id="59" name="Text 56"/>
          <p:cNvSpPr/>
          <p:nvPr/>
        </p:nvSpPr>
        <p:spPr>
          <a:xfrm>
            <a:off x="8385048" y="4626864"/>
            <a:ext cx="393192" cy="914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570" b="1" dirty="0">
                <a:solidFill>
                  <a:srgbClr val="003F8F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Pod</a:t>
            </a:r>
            <a:endParaRPr lang="en-US" sz="570" dirty="0"/>
          </a:p>
        </p:txBody>
      </p:sp>
      <p:sp>
        <p:nvSpPr>
          <p:cNvPr id="60" name="Shape 57"/>
          <p:cNvSpPr/>
          <p:nvPr/>
        </p:nvSpPr>
        <p:spPr>
          <a:xfrm>
            <a:off x="8970264" y="4572000"/>
            <a:ext cx="393192" cy="246888"/>
          </a:xfrm>
          <a:prstGeom prst="rect">
            <a:avLst/>
          </a:prstGeom>
          <a:solidFill>
            <a:srgbClr val="EDF3F8"/>
          </a:solidFill>
          <a:ln w="12700">
            <a:solidFill>
              <a:srgbClr val="A2B2C2"/>
            </a:solidFill>
            <a:prstDash val="solid"/>
          </a:ln>
        </p:spPr>
      </p:sp>
      <p:sp>
        <p:nvSpPr>
          <p:cNvPr id="61" name="Text 58"/>
          <p:cNvSpPr/>
          <p:nvPr/>
        </p:nvSpPr>
        <p:spPr>
          <a:xfrm>
            <a:off x="8970264" y="4626864"/>
            <a:ext cx="393192" cy="914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570" b="1" dirty="0">
                <a:solidFill>
                  <a:srgbClr val="003F8F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Pod</a:t>
            </a:r>
            <a:endParaRPr lang="en-US" sz="570" dirty="0"/>
          </a:p>
        </p:txBody>
      </p:sp>
      <p:sp>
        <p:nvSpPr>
          <p:cNvPr id="62" name="Shape 59"/>
          <p:cNvSpPr/>
          <p:nvPr/>
        </p:nvSpPr>
        <p:spPr>
          <a:xfrm>
            <a:off x="9555480" y="4572000"/>
            <a:ext cx="393192" cy="246888"/>
          </a:xfrm>
          <a:prstGeom prst="rect">
            <a:avLst/>
          </a:prstGeom>
          <a:solidFill>
            <a:srgbClr val="EDF3F8"/>
          </a:solidFill>
          <a:ln w="12700">
            <a:solidFill>
              <a:srgbClr val="A2B2C2"/>
            </a:solidFill>
            <a:prstDash val="solid"/>
          </a:ln>
        </p:spPr>
      </p:sp>
      <p:sp>
        <p:nvSpPr>
          <p:cNvPr id="63" name="Text 60"/>
          <p:cNvSpPr/>
          <p:nvPr/>
        </p:nvSpPr>
        <p:spPr>
          <a:xfrm>
            <a:off x="9555480" y="4626864"/>
            <a:ext cx="393192" cy="914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570" b="1" dirty="0">
                <a:solidFill>
                  <a:srgbClr val="003F8F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Pod</a:t>
            </a:r>
            <a:endParaRPr lang="en-US" sz="570" dirty="0"/>
          </a:p>
        </p:txBody>
      </p:sp>
      <p:sp>
        <p:nvSpPr>
          <p:cNvPr id="64" name="Shape 61"/>
          <p:cNvSpPr/>
          <p:nvPr/>
        </p:nvSpPr>
        <p:spPr>
          <a:xfrm>
            <a:off x="4956048" y="5468112"/>
            <a:ext cx="6099048" cy="246888"/>
          </a:xfrm>
          <a:prstGeom prst="rect">
            <a:avLst/>
          </a:prstGeom>
          <a:solidFill>
            <a:srgbClr val="FFF8F7"/>
          </a:solidFill>
          <a:ln w="12700">
            <a:solidFill>
              <a:srgbClr val="E43D30"/>
            </a:solidFill>
            <a:prstDash val="solid"/>
          </a:ln>
        </p:spPr>
      </p:sp>
      <p:sp>
        <p:nvSpPr>
          <p:cNvPr id="65" name="Text 62"/>
          <p:cNvSpPr/>
          <p:nvPr/>
        </p:nvSpPr>
        <p:spPr>
          <a:xfrm>
            <a:off x="5138928" y="5518404"/>
            <a:ext cx="5733288" cy="12801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80" b="1" dirty="0">
                <a:solidFill>
                  <a:srgbClr val="E43D30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SubGroupPolicy：selector · size · minSubGroups · networkTopology</a:t>
            </a:r>
            <a:endParaRPr lang="en-US" sz="780" dirty="0"/>
          </a:p>
        </p:txBody>
      </p:sp>
      <p:sp>
        <p:nvSpPr>
          <p:cNvPr id="66" name="Shape 63"/>
          <p:cNvSpPr/>
          <p:nvPr/>
        </p:nvSpPr>
        <p:spPr>
          <a:xfrm>
            <a:off x="640080" y="6236208"/>
            <a:ext cx="10908792" cy="402336"/>
          </a:xfrm>
          <a:prstGeom prst="rect">
            <a:avLst/>
          </a:prstGeom>
          <a:solidFill>
            <a:srgbClr val="003F8F"/>
          </a:solidFill>
          <a:ln w="12700">
            <a:solidFill>
              <a:srgbClr val="003F8F">
                <a:alpha val="0"/>
              </a:srgbClr>
            </a:solidFill>
            <a:prstDash val="solid"/>
          </a:ln>
        </p:spPr>
      </p:sp>
      <p:sp>
        <p:nvSpPr>
          <p:cNvPr id="67" name="Shape 64"/>
          <p:cNvSpPr/>
          <p:nvPr/>
        </p:nvSpPr>
        <p:spPr>
          <a:xfrm>
            <a:off x="640080" y="6236208"/>
            <a:ext cx="109728" cy="402336"/>
          </a:xfrm>
          <a:prstGeom prst="rect">
            <a:avLst/>
          </a:prstGeom>
          <a:solidFill>
            <a:srgbClr val="E43D30"/>
          </a:solidFill>
          <a:ln w="12700">
            <a:solidFill>
              <a:srgbClr val="E43D30">
                <a:alpha val="0"/>
              </a:srgbClr>
            </a:solidFill>
            <a:prstDash val="solid"/>
          </a:ln>
        </p:spPr>
      </p:sp>
      <p:sp>
        <p:nvSpPr>
          <p:cNvPr id="68" name="Text 65"/>
          <p:cNvSpPr/>
          <p:nvPr/>
        </p:nvSpPr>
        <p:spPr>
          <a:xfrm>
            <a:off x="914400" y="6272784"/>
            <a:ext cx="10378440" cy="30175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SubGroup 不是新增一套调度器，而是把工作负载内部结构交给同一个调度循环</a:t>
            </a:r>
            <a:endParaRPr lang="en-US" sz="15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F8F"/>
          </a:solidFill>
          <a:ln w="12700">
            <a:solidFill>
              <a:srgbClr val="003F8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" y="228600"/>
            <a:ext cx="1417320" cy="393192"/>
          </a:xfrm>
          <a:prstGeom prst="chevron">
            <a:avLst/>
          </a:prstGeom>
          <a:solidFill>
            <a:srgbClr val="003F8F"/>
          </a:solidFill>
          <a:ln w="12700">
            <a:solidFill>
              <a:srgbClr val="003F8F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274320"/>
            <a:ext cx="1078992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第三章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2212848" y="182880"/>
            <a:ext cx="7635240" cy="51206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003F8F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PodGroup / SubGroup 的分层拓扑放置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66928" y="1109726"/>
            <a:ext cx="11018520" cy="0"/>
          </a:xfrm>
          <a:prstGeom prst="line">
            <a:avLst/>
          </a:prstGeom>
          <a:noFill/>
          <a:ln w="11430">
            <a:solidFill>
              <a:srgbClr val="B9C8D8"/>
            </a:solidFill>
            <a:prstDash val="solid"/>
            <a:headEnd type="none"/>
          </a:ln>
        </p:spPr>
      </p:sp>
      <p:sp>
        <p:nvSpPr>
          <p:cNvPr id="8" name="Shape 6"/>
          <p:cNvSpPr/>
          <p:nvPr/>
        </p:nvSpPr>
        <p:spPr>
          <a:xfrm>
            <a:off x="566928" y="1064006"/>
            <a:ext cx="1225296" cy="91440"/>
          </a:xfrm>
          <a:prstGeom prst="rect">
            <a:avLst/>
          </a:prstGeom>
          <a:solidFill>
            <a:srgbClr val="E43D30"/>
          </a:solidFill>
          <a:ln w="12700">
            <a:solidFill>
              <a:srgbClr val="E43D30">
                <a:alpha val="0"/>
              </a:srgbClr>
            </a:solidFill>
            <a:prstDash val="solid"/>
          </a:ln>
        </p:spPr>
      </p:sp>
      <p:pic>
        <p:nvPicPr>
          <p:cNvPr id="9" name="Image 0" descr="/Users/chenzicong/Documents/Codex/2026-07-20/wo/outputs/volcano-unified-scheduling-editable/assets/volcano-logo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97312" y="321114"/>
            <a:ext cx="1078992" cy="180733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1475720" y="6492240"/>
            <a:ext cx="347472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768597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21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658368" y="1237742"/>
            <a:ext cx="10890504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0B5CAD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58368" y="1237742"/>
            <a:ext cx="109728" cy="438912"/>
          </a:xfrm>
          <a:prstGeom prst="rect">
            <a:avLst/>
          </a:prstGeom>
          <a:solidFill>
            <a:srgbClr val="E43D30"/>
          </a:solidFill>
          <a:ln w="12700">
            <a:solidFill>
              <a:srgbClr val="E43D3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932688" y="1320038"/>
            <a:ext cx="10314432" cy="24688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20" b="1" dirty="0">
                <a:solidFill>
                  <a:srgbClr val="172033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PodGroup 限制完整作业可跨越的最高层级，SubGroup 约束各角色或并行组的局部边界</a:t>
            </a:r>
            <a:endParaRPr lang="en-US" sz="1420" dirty="0"/>
          </a:p>
        </p:txBody>
      </p:sp>
      <p:sp>
        <p:nvSpPr>
          <p:cNvPr id="14" name="Shape 11"/>
          <p:cNvSpPr/>
          <p:nvPr/>
        </p:nvSpPr>
        <p:spPr>
          <a:xfrm>
            <a:off x="658368" y="1938528"/>
            <a:ext cx="7699248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B7C4D1"/>
            </a:solidFill>
            <a:prstDash val="solid"/>
          </a:ln>
        </p:spPr>
      </p:sp>
      <p:pic>
        <p:nvPicPr>
          <p:cNvPr id="15" name="Image 1" descr="/Users/chenzicong/Documents/Codex/2026-07-20/wo/outputs/volcano-unified-scheduling-editable/assets/multi-level-topolog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0360" y="2045335"/>
            <a:ext cx="6226175" cy="3750945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>
            <a:off x="8558784" y="1938528"/>
            <a:ext cx="2990088" cy="3931920"/>
          </a:xfrm>
          <a:prstGeom prst="rect">
            <a:avLst/>
          </a:prstGeom>
          <a:solidFill>
            <a:srgbClr val="F8FAFC"/>
          </a:solidFill>
          <a:ln w="12700">
            <a:solidFill>
              <a:srgbClr val="003F8F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8759952" y="2139696"/>
            <a:ext cx="1188720" cy="347472"/>
          </a:xfrm>
          <a:prstGeom prst="chevron">
            <a:avLst/>
          </a:prstGeom>
          <a:solidFill>
            <a:srgbClr val="003F8F"/>
          </a:solidFill>
          <a:ln w="12700">
            <a:solidFill>
              <a:srgbClr val="003F8F">
                <a:alpha val="0"/>
              </a:srgbClr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8833104" y="2176272"/>
            <a:ext cx="987552" cy="24688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20" b="1" dirty="0">
                <a:solidFill>
                  <a:srgbClr val="FFFFFF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放置实例</a:t>
            </a:r>
            <a:endParaRPr lang="en-US" sz="1220" dirty="0"/>
          </a:p>
        </p:txBody>
      </p:sp>
      <p:sp>
        <p:nvSpPr>
          <p:cNvPr id="19" name="Shape 15"/>
          <p:cNvSpPr/>
          <p:nvPr/>
        </p:nvSpPr>
        <p:spPr>
          <a:xfrm>
            <a:off x="8833104" y="2724912"/>
            <a:ext cx="2414016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003F8F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8979408" y="2871216"/>
            <a:ext cx="438912" cy="310896"/>
          </a:xfrm>
          <a:prstGeom prst="roundRect">
            <a:avLst>
              <a:gd name="adj" fmla="val 23529"/>
            </a:avLst>
          </a:prstGeom>
          <a:solidFill>
            <a:srgbClr val="003F8F"/>
          </a:solidFill>
          <a:ln w="12700">
            <a:solidFill>
              <a:srgbClr val="003F8F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9052560" y="2880360"/>
            <a:ext cx="292608" cy="28346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FFFFFF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01</a:t>
            </a:r>
            <a:endParaRPr lang="en-US" sz="820" dirty="0"/>
          </a:p>
        </p:txBody>
      </p:sp>
      <p:sp>
        <p:nvSpPr>
          <p:cNvPr id="22" name="Text 18"/>
          <p:cNvSpPr/>
          <p:nvPr/>
        </p:nvSpPr>
        <p:spPr>
          <a:xfrm>
            <a:off x="9528048" y="2843784"/>
            <a:ext cx="1554480" cy="24688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03F8F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PodGroup</a:t>
            </a:r>
            <a:endParaRPr lang="en-US" sz="1250" dirty="0"/>
          </a:p>
        </p:txBody>
      </p:sp>
      <p:sp>
        <p:nvSpPr>
          <p:cNvPr id="23" name="Text 19"/>
          <p:cNvSpPr/>
          <p:nvPr/>
        </p:nvSpPr>
        <p:spPr>
          <a:xfrm>
            <a:off x="9207881" y="3137535"/>
            <a:ext cx="2084832" cy="822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30" dirty="0">
                <a:solidFill>
                  <a:srgbClr val="5D6B7A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最高允许跨到 Core 层</a:t>
            </a:r>
            <a:endParaRPr lang="en-US" sz="930" dirty="0"/>
          </a:p>
        </p:txBody>
      </p:sp>
      <p:sp>
        <p:nvSpPr>
          <p:cNvPr id="24" name="Shape 20"/>
          <p:cNvSpPr/>
          <p:nvPr/>
        </p:nvSpPr>
        <p:spPr>
          <a:xfrm>
            <a:off x="8833104" y="3547872"/>
            <a:ext cx="2414016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0B5CAD"/>
            </a:solidFill>
            <a:prstDash val="solid"/>
          </a:ln>
        </p:spPr>
      </p:sp>
      <p:sp>
        <p:nvSpPr>
          <p:cNvPr id="25" name="Shape 21"/>
          <p:cNvSpPr/>
          <p:nvPr/>
        </p:nvSpPr>
        <p:spPr>
          <a:xfrm>
            <a:off x="8979408" y="3694176"/>
            <a:ext cx="438912" cy="310896"/>
          </a:xfrm>
          <a:prstGeom prst="roundRect">
            <a:avLst>
              <a:gd name="adj" fmla="val 23529"/>
            </a:avLst>
          </a:prstGeom>
          <a:solidFill>
            <a:srgbClr val="0B5CAD"/>
          </a:solidFill>
          <a:ln w="12700">
            <a:solidFill>
              <a:srgbClr val="0B5CAD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9052560" y="3703320"/>
            <a:ext cx="292608" cy="28346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FFFFFF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02</a:t>
            </a:r>
            <a:endParaRPr lang="en-US" sz="820" dirty="0"/>
          </a:p>
        </p:txBody>
      </p:sp>
      <p:sp>
        <p:nvSpPr>
          <p:cNvPr id="27" name="Text 23"/>
          <p:cNvSpPr/>
          <p:nvPr/>
        </p:nvSpPr>
        <p:spPr>
          <a:xfrm>
            <a:off x="9528048" y="3666744"/>
            <a:ext cx="1554480" cy="24688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03F8F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Prefill SubGroup</a:t>
            </a:r>
            <a:endParaRPr lang="en-US" sz="1250" dirty="0"/>
          </a:p>
        </p:txBody>
      </p:sp>
      <p:sp>
        <p:nvSpPr>
          <p:cNvPr id="28" name="Text 24"/>
          <p:cNvSpPr/>
          <p:nvPr/>
        </p:nvSpPr>
        <p:spPr>
          <a:xfrm>
            <a:off x="9263126" y="3984625"/>
            <a:ext cx="2084832" cy="822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30" dirty="0">
                <a:solidFill>
                  <a:srgbClr val="5D6B7A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限制在 Leaf 内</a:t>
            </a:r>
            <a:endParaRPr lang="en-US" sz="930" dirty="0"/>
          </a:p>
        </p:txBody>
      </p:sp>
      <p:sp>
        <p:nvSpPr>
          <p:cNvPr id="29" name="Shape 25"/>
          <p:cNvSpPr/>
          <p:nvPr/>
        </p:nvSpPr>
        <p:spPr>
          <a:xfrm>
            <a:off x="8833104" y="4370832"/>
            <a:ext cx="2414016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6F8193"/>
            </a:solidFill>
            <a:prstDash val="solid"/>
          </a:ln>
        </p:spPr>
      </p:sp>
      <p:sp>
        <p:nvSpPr>
          <p:cNvPr id="30" name="Shape 26"/>
          <p:cNvSpPr/>
          <p:nvPr/>
        </p:nvSpPr>
        <p:spPr>
          <a:xfrm>
            <a:off x="8979408" y="4517136"/>
            <a:ext cx="438912" cy="310896"/>
          </a:xfrm>
          <a:prstGeom prst="roundRect">
            <a:avLst>
              <a:gd name="adj" fmla="val 23529"/>
            </a:avLst>
          </a:prstGeom>
          <a:solidFill>
            <a:srgbClr val="0B5CAD"/>
          </a:solidFill>
          <a:ln w="12700">
            <a:solidFill>
              <a:srgbClr val="6F8193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9052560" y="4526280"/>
            <a:ext cx="292608" cy="28346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FFFFFF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02</a:t>
            </a:r>
            <a:endParaRPr lang="en-US" sz="820" dirty="0"/>
          </a:p>
        </p:txBody>
      </p:sp>
      <p:sp>
        <p:nvSpPr>
          <p:cNvPr id="32" name="Text 28"/>
          <p:cNvSpPr/>
          <p:nvPr/>
        </p:nvSpPr>
        <p:spPr>
          <a:xfrm>
            <a:off x="9528048" y="4534154"/>
            <a:ext cx="1554480" cy="24688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03F8F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Decode SubGroup</a:t>
            </a:r>
            <a:endParaRPr lang="en-US" sz="1250" dirty="0"/>
          </a:p>
        </p:txBody>
      </p:sp>
      <p:sp>
        <p:nvSpPr>
          <p:cNvPr id="33" name="Text 29"/>
          <p:cNvSpPr/>
          <p:nvPr/>
        </p:nvSpPr>
        <p:spPr>
          <a:xfrm>
            <a:off x="9263126" y="4790440"/>
            <a:ext cx="2084832" cy="82296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5D6B7A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优先 Leaf，可向上退化</a:t>
            </a:r>
            <a:endParaRPr lang="en-US" sz="900" dirty="0">
              <a:solidFill>
                <a:srgbClr val="5D6B7A"/>
              </a:solidFill>
              <a:latin typeface="PingFang SC" panose="020B0400000000000000" pitchFamily="34" charset="-122"/>
              <a:ea typeface="PingFang SC" panose="020B0400000000000000" pitchFamily="34" charset="-122"/>
              <a:cs typeface="PingFang SC" panose="020B0400000000000000" pitchFamily="34" charset="-120"/>
            </a:endParaRPr>
          </a:p>
        </p:txBody>
      </p:sp>
      <p:sp>
        <p:nvSpPr>
          <p:cNvPr id="34" name="Text 30"/>
          <p:cNvSpPr/>
          <p:nvPr/>
        </p:nvSpPr>
        <p:spPr>
          <a:xfrm>
            <a:off x="8887968" y="5266944"/>
            <a:ext cx="2286000" cy="34747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30" b="1" dirty="0">
                <a:solidFill>
                  <a:srgbClr val="172033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Gang、角色最小成员数与拓扑边界</a:t>
            </a:r>
            <a:endParaRPr lang="en-US" sz="930" dirty="0"/>
          </a:p>
          <a:p>
            <a:pPr marL="0" indent="0" algn="ctr">
              <a:buNone/>
            </a:pPr>
            <a:r>
              <a:rPr lang="en-US" sz="930" b="1" dirty="0">
                <a:solidFill>
                  <a:srgbClr val="172033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必须同时成立</a:t>
            </a:r>
            <a:endParaRPr lang="en-US" sz="930" dirty="0"/>
          </a:p>
        </p:txBody>
      </p:sp>
      <p:sp>
        <p:nvSpPr>
          <p:cNvPr id="35" name="Shape 31"/>
          <p:cNvSpPr/>
          <p:nvPr/>
        </p:nvSpPr>
        <p:spPr>
          <a:xfrm>
            <a:off x="640080" y="6236208"/>
            <a:ext cx="10908792" cy="402336"/>
          </a:xfrm>
          <a:prstGeom prst="rect">
            <a:avLst/>
          </a:prstGeom>
          <a:solidFill>
            <a:srgbClr val="003F8F"/>
          </a:solidFill>
          <a:ln w="12700">
            <a:solidFill>
              <a:srgbClr val="003F8F">
                <a:alpha val="0"/>
              </a:srgbClr>
            </a:solidFill>
            <a:prstDash val="solid"/>
          </a:ln>
        </p:spPr>
      </p:sp>
      <p:sp>
        <p:nvSpPr>
          <p:cNvPr id="36" name="Shape 32"/>
          <p:cNvSpPr/>
          <p:nvPr/>
        </p:nvSpPr>
        <p:spPr>
          <a:xfrm>
            <a:off x="640080" y="6236208"/>
            <a:ext cx="109728" cy="402336"/>
          </a:xfrm>
          <a:prstGeom prst="rect">
            <a:avLst/>
          </a:prstGeom>
          <a:solidFill>
            <a:srgbClr val="E43D30"/>
          </a:solidFill>
          <a:ln w="12700">
            <a:solidFill>
              <a:srgbClr val="E43D30">
                <a:alpha val="0"/>
              </a:srgbClr>
            </a:solidFill>
            <a:prstDash val="solid"/>
          </a:ln>
        </p:spPr>
      </p:sp>
      <p:sp>
        <p:nvSpPr>
          <p:cNvPr id="37" name="Text 33"/>
          <p:cNvSpPr/>
          <p:nvPr/>
        </p:nvSpPr>
        <p:spPr>
          <a:xfrm>
            <a:off x="914400" y="6272784"/>
            <a:ext cx="10378440" cy="30175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整体 Gang 可运行，并不代表每个角色组都获得了合适的通信位置</a:t>
            </a:r>
            <a:endParaRPr lang="en-US" sz="15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F8F"/>
          </a:solidFill>
          <a:ln w="12700">
            <a:solidFill>
              <a:srgbClr val="003F8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" y="228600"/>
            <a:ext cx="1417320" cy="393192"/>
          </a:xfrm>
          <a:prstGeom prst="chevron">
            <a:avLst/>
          </a:prstGeom>
          <a:solidFill>
            <a:srgbClr val="003F8F"/>
          </a:solidFill>
          <a:ln w="12700">
            <a:solidFill>
              <a:srgbClr val="003F8F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274320"/>
            <a:ext cx="1078992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第三章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2212848" y="182880"/>
            <a:ext cx="7635240" cy="51206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003F8F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HyperNode：网络拓扑的层级抽象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58368" y="832104"/>
            <a:ext cx="10744200" cy="34747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30" dirty="0">
                <a:solidFill>
                  <a:srgbClr val="5D6B7A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将物理交换结构转换为调度器可读取的 Kubernetes 对象</a:t>
            </a:r>
            <a:endParaRPr lang="en-US" sz="1530" dirty="0"/>
          </a:p>
        </p:txBody>
      </p:sp>
      <p:sp>
        <p:nvSpPr>
          <p:cNvPr id="7" name="Shape 5"/>
          <p:cNvSpPr/>
          <p:nvPr/>
        </p:nvSpPr>
        <p:spPr>
          <a:xfrm>
            <a:off x="566928" y="1225296"/>
            <a:ext cx="11018520" cy="0"/>
          </a:xfrm>
          <a:prstGeom prst="line">
            <a:avLst/>
          </a:prstGeom>
          <a:noFill/>
          <a:ln w="11430">
            <a:solidFill>
              <a:srgbClr val="B9C8D8"/>
            </a:solidFill>
            <a:prstDash val="solid"/>
            <a:headEnd type="none"/>
          </a:ln>
        </p:spPr>
      </p:sp>
      <p:sp>
        <p:nvSpPr>
          <p:cNvPr id="8" name="Shape 6"/>
          <p:cNvSpPr/>
          <p:nvPr/>
        </p:nvSpPr>
        <p:spPr>
          <a:xfrm>
            <a:off x="566928" y="1179576"/>
            <a:ext cx="1225296" cy="91440"/>
          </a:xfrm>
          <a:prstGeom prst="rect">
            <a:avLst/>
          </a:prstGeom>
          <a:solidFill>
            <a:srgbClr val="E43D30"/>
          </a:solidFill>
          <a:ln w="12700">
            <a:solidFill>
              <a:srgbClr val="E43D30">
                <a:alpha val="0"/>
              </a:srgbClr>
            </a:solidFill>
            <a:prstDash val="solid"/>
          </a:ln>
        </p:spPr>
      </p:sp>
      <p:pic>
        <p:nvPicPr>
          <p:cNvPr id="9" name="Image 0" descr="/Users/chenzicong/Documents/Codex/2026-07-20/wo/outputs/volcano-unified-scheduling-editable/assets/volcano-logo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97312" y="321114"/>
            <a:ext cx="1078992" cy="180733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1475720" y="6492240"/>
            <a:ext cx="347472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768597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23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658368" y="1353312"/>
            <a:ext cx="10890504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0B5CAD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58368" y="1353312"/>
            <a:ext cx="109728" cy="438912"/>
          </a:xfrm>
          <a:prstGeom prst="rect">
            <a:avLst/>
          </a:prstGeom>
          <a:solidFill>
            <a:srgbClr val="E43D30"/>
          </a:solidFill>
          <a:ln w="12700">
            <a:solidFill>
              <a:srgbClr val="E43D3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932688" y="1435608"/>
            <a:ext cx="10314432" cy="24688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20" b="1" dirty="0">
                <a:solidFill>
                  <a:srgbClr val="172033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真实网络、HyperNode 层级与 CRD 状态一一对应，调度策略不再依赖静态 Node Label</a:t>
            </a:r>
            <a:endParaRPr lang="en-US" sz="1420" dirty="0"/>
          </a:p>
        </p:txBody>
      </p:sp>
      <p:sp>
        <p:nvSpPr>
          <p:cNvPr id="14" name="Shape 11"/>
          <p:cNvSpPr/>
          <p:nvPr/>
        </p:nvSpPr>
        <p:spPr>
          <a:xfrm>
            <a:off x="658368" y="1938528"/>
            <a:ext cx="10890504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B7C4D1"/>
            </a:solidFill>
            <a:prstDash val="solid"/>
          </a:ln>
        </p:spPr>
      </p:sp>
      <p:pic>
        <p:nvPicPr>
          <p:cNvPr id="15" name="Image 1" descr="/Users/chenzicong/Documents/Codex/2026-07-20/wo/outputs/volcano-ppt-v2-assets/hypernode-mod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0064" y="2212848"/>
            <a:ext cx="9216257" cy="324612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1234440" y="5504688"/>
            <a:ext cx="2176272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03F8F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真实网络</a:t>
            </a:r>
            <a:endParaRPr lang="en-US" sz="1050" dirty="0"/>
          </a:p>
        </p:txBody>
      </p:sp>
      <p:sp>
        <p:nvSpPr>
          <p:cNvPr id="17" name="Text 13"/>
          <p:cNvSpPr/>
          <p:nvPr/>
        </p:nvSpPr>
        <p:spPr>
          <a:xfrm>
            <a:off x="4590288" y="5504688"/>
            <a:ext cx="3163824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03F8F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父子 HyperNode 与 Node 成员关系</a:t>
            </a:r>
            <a:endParaRPr lang="en-US" sz="1050" dirty="0"/>
          </a:p>
        </p:txBody>
      </p:sp>
      <p:sp>
        <p:nvSpPr>
          <p:cNvPr id="18" name="Text 14"/>
          <p:cNvSpPr/>
          <p:nvPr/>
        </p:nvSpPr>
        <p:spPr>
          <a:xfrm>
            <a:off x="8485632" y="5504688"/>
            <a:ext cx="2377440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03F8F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spec 描述层级，status 反映可用状态</a:t>
            </a:r>
            <a:endParaRPr lang="en-US" sz="1050" dirty="0"/>
          </a:p>
        </p:txBody>
      </p:sp>
      <p:sp>
        <p:nvSpPr>
          <p:cNvPr id="19" name="Shape 15"/>
          <p:cNvSpPr/>
          <p:nvPr/>
        </p:nvSpPr>
        <p:spPr>
          <a:xfrm>
            <a:off x="640080" y="6236208"/>
            <a:ext cx="10908792" cy="402336"/>
          </a:xfrm>
          <a:prstGeom prst="rect">
            <a:avLst/>
          </a:prstGeom>
          <a:solidFill>
            <a:srgbClr val="003F8F"/>
          </a:solidFill>
          <a:ln w="12700">
            <a:solidFill>
              <a:srgbClr val="003F8F">
                <a:alpha val="0"/>
              </a:srgbClr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640080" y="6236208"/>
            <a:ext cx="109728" cy="402336"/>
          </a:xfrm>
          <a:prstGeom prst="rect">
            <a:avLst/>
          </a:prstGeom>
          <a:solidFill>
            <a:srgbClr val="E43D30"/>
          </a:solidFill>
          <a:ln w="12700">
            <a:solidFill>
              <a:srgbClr val="E43D30">
                <a:alpha val="0"/>
              </a:srgbClr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914400" y="6272784"/>
            <a:ext cx="10378440" cy="30175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HyperNode 把 Core、Spine、Leaf、Rack 与 SuperPod 变成可组合的性能域</a:t>
            </a:r>
            <a:endParaRPr lang="en-US" sz="15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F8F"/>
          </a:solidFill>
          <a:ln w="12700">
            <a:solidFill>
              <a:srgbClr val="003F8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" y="228600"/>
            <a:ext cx="1417320" cy="393192"/>
          </a:xfrm>
          <a:prstGeom prst="chevron">
            <a:avLst/>
          </a:prstGeom>
          <a:solidFill>
            <a:srgbClr val="003F8F"/>
          </a:solidFill>
          <a:ln w="12700">
            <a:solidFill>
              <a:srgbClr val="003F8F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274320"/>
            <a:ext cx="1078992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第三章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2212848" y="182880"/>
            <a:ext cx="7635240" cy="51206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003F8F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网络拓扑的自动发现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57403" y="927481"/>
            <a:ext cx="11018520" cy="0"/>
          </a:xfrm>
          <a:prstGeom prst="line">
            <a:avLst/>
          </a:prstGeom>
          <a:noFill/>
          <a:ln w="11430">
            <a:solidFill>
              <a:srgbClr val="B9C8D8"/>
            </a:solidFill>
            <a:prstDash val="solid"/>
            <a:headEnd type="none"/>
          </a:ln>
        </p:spPr>
      </p:sp>
      <p:sp>
        <p:nvSpPr>
          <p:cNvPr id="8" name="Shape 6"/>
          <p:cNvSpPr/>
          <p:nvPr/>
        </p:nvSpPr>
        <p:spPr>
          <a:xfrm>
            <a:off x="557403" y="881761"/>
            <a:ext cx="1225296" cy="91440"/>
          </a:xfrm>
          <a:prstGeom prst="rect">
            <a:avLst/>
          </a:prstGeom>
          <a:solidFill>
            <a:srgbClr val="E43D30"/>
          </a:solidFill>
          <a:ln w="12700">
            <a:solidFill>
              <a:srgbClr val="E43D30">
                <a:alpha val="0"/>
              </a:srgbClr>
            </a:solidFill>
            <a:prstDash val="solid"/>
          </a:ln>
        </p:spPr>
      </p:sp>
      <p:pic>
        <p:nvPicPr>
          <p:cNvPr id="9" name="Image 0" descr="/Users/chenzicong/Documents/Codex/2026-07-20/wo/outputs/volcano-unified-scheduling-editable/assets/volcano-logo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97312" y="321114"/>
            <a:ext cx="1078992" cy="180733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1475720" y="6492240"/>
            <a:ext cx="347472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768597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24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648843" y="1055497"/>
            <a:ext cx="10890504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0B5CAD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48843" y="1055497"/>
            <a:ext cx="109728" cy="438912"/>
          </a:xfrm>
          <a:prstGeom prst="rect">
            <a:avLst/>
          </a:prstGeom>
          <a:solidFill>
            <a:srgbClr val="E43D30"/>
          </a:solidFill>
          <a:ln w="12700">
            <a:solidFill>
              <a:srgbClr val="E43D3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923163" y="1137793"/>
            <a:ext cx="10314432" cy="24688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20" b="1" dirty="0">
                <a:solidFill>
                  <a:srgbClr val="172033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发现链路将厂商数据源与调度对象解耦，</a:t>
            </a:r>
            <a:r>
              <a:rPr lang="zh-CN" altLang="en-US" sz="1420" b="1" dirty="0">
                <a:solidFill>
                  <a:srgbClr val="172033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网络拓扑变化自动更新</a:t>
            </a:r>
            <a:r>
              <a:rPr lang="en-US" altLang="zh-CN" sz="1420" b="1" dirty="0">
                <a:solidFill>
                  <a:srgbClr val="172033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HyperNode</a:t>
            </a:r>
            <a:r>
              <a:rPr lang="zh-CN" altLang="en-US" sz="1420" b="1" dirty="0">
                <a:solidFill>
                  <a:srgbClr val="172033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层级</a:t>
            </a:r>
            <a:r>
              <a:rPr lang="zh-CN" altLang="en-US" sz="1420" b="1" dirty="0">
                <a:solidFill>
                  <a:srgbClr val="172033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树</a:t>
            </a:r>
            <a:endParaRPr lang="zh-CN" altLang="en-US" sz="1420" b="1" dirty="0">
              <a:solidFill>
                <a:srgbClr val="172033"/>
              </a:solidFill>
              <a:latin typeface="PingFang SC" panose="020B0400000000000000" pitchFamily="34" charset="-122"/>
              <a:ea typeface="PingFang SC" panose="020B0400000000000000" pitchFamily="34" charset="-122"/>
              <a:cs typeface="PingFang SC" panose="020B0400000000000000" pitchFamily="34" charset="-120"/>
            </a:endParaRPr>
          </a:p>
        </p:txBody>
      </p:sp>
      <p:sp>
        <p:nvSpPr>
          <p:cNvPr id="14" name="Shape 11"/>
          <p:cNvSpPr/>
          <p:nvPr/>
        </p:nvSpPr>
        <p:spPr>
          <a:xfrm>
            <a:off x="658495" y="1576070"/>
            <a:ext cx="10890250" cy="3361690"/>
          </a:xfrm>
          <a:prstGeom prst="rect">
            <a:avLst/>
          </a:prstGeom>
          <a:solidFill>
            <a:srgbClr val="FFFFFF"/>
          </a:solidFill>
          <a:ln w="12700">
            <a:solidFill>
              <a:srgbClr val="B7C4D1"/>
            </a:solidFill>
            <a:prstDash val="solid"/>
          </a:ln>
        </p:spPr>
      </p:sp>
      <p:pic>
        <p:nvPicPr>
          <p:cNvPr id="15" name="Image 1" descr="/Users/chenzicong/Documents/Codex/2026-07-20/wo/outputs/volcano-ppt-v2-assets/topology-discove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47925" y="1696085"/>
            <a:ext cx="7237095" cy="3038475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>
            <a:off x="841248" y="5166360"/>
            <a:ext cx="3364992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6F8193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987552" y="5312664"/>
            <a:ext cx="438912" cy="310896"/>
          </a:xfrm>
          <a:prstGeom prst="roundRect">
            <a:avLst>
              <a:gd name="adj" fmla="val 23529"/>
            </a:avLst>
          </a:prstGeom>
          <a:solidFill>
            <a:srgbClr val="0B5CAD"/>
          </a:solidFill>
          <a:ln w="12700">
            <a:solidFill>
              <a:srgbClr val="6F8193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1060704" y="5321808"/>
            <a:ext cx="292608" cy="28346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FFFFFF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01</a:t>
            </a:r>
            <a:endParaRPr lang="en-US" sz="820" dirty="0"/>
          </a:p>
        </p:txBody>
      </p:sp>
      <p:sp>
        <p:nvSpPr>
          <p:cNvPr id="19" name="Text 15"/>
          <p:cNvSpPr/>
          <p:nvPr/>
        </p:nvSpPr>
        <p:spPr>
          <a:xfrm>
            <a:off x="1536192" y="5266944"/>
            <a:ext cx="960120" cy="38404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30" b="1" dirty="0">
                <a:solidFill>
                  <a:srgbClr val="003F8F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Discoverer</a:t>
            </a:r>
            <a:endParaRPr lang="en-US" sz="930" dirty="0"/>
          </a:p>
        </p:txBody>
      </p:sp>
      <p:sp>
        <p:nvSpPr>
          <p:cNvPr id="20" name="Text 16"/>
          <p:cNvSpPr/>
          <p:nvPr/>
        </p:nvSpPr>
        <p:spPr>
          <a:xfrm>
            <a:off x="2569464" y="5248656"/>
            <a:ext cx="1508760" cy="4114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20" dirty="0">
                <a:solidFill>
                  <a:srgbClr val="5D6B7A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适配 NVLink UFM、OpenSM、RoCE、Cloud API</a:t>
            </a:r>
            <a:r>
              <a:rPr lang="zh-CN" altLang="en-US" sz="720" dirty="0">
                <a:solidFill>
                  <a:srgbClr val="5D6B7A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等</a:t>
            </a:r>
            <a:endParaRPr lang="zh-CN" altLang="en-US" sz="720" dirty="0">
              <a:solidFill>
                <a:srgbClr val="5D6B7A"/>
              </a:solidFill>
              <a:latin typeface="PingFang SC" panose="020B0400000000000000" pitchFamily="34" charset="-122"/>
              <a:ea typeface="PingFang SC" panose="020B0400000000000000" pitchFamily="34" charset="-122"/>
              <a:cs typeface="PingFang SC" panose="020B0400000000000000" pitchFamily="34" charset="-120"/>
            </a:endParaRPr>
          </a:p>
        </p:txBody>
      </p:sp>
      <p:sp>
        <p:nvSpPr>
          <p:cNvPr id="21" name="Shape 17"/>
          <p:cNvSpPr/>
          <p:nvPr/>
        </p:nvSpPr>
        <p:spPr>
          <a:xfrm>
            <a:off x="4544568" y="5166360"/>
            <a:ext cx="3364992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003F8F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4690872" y="5312664"/>
            <a:ext cx="438912" cy="310896"/>
          </a:xfrm>
          <a:prstGeom prst="roundRect">
            <a:avLst>
              <a:gd name="adj" fmla="val 23529"/>
            </a:avLst>
          </a:prstGeom>
          <a:solidFill>
            <a:srgbClr val="003F8F"/>
          </a:solidFill>
          <a:ln w="12700">
            <a:solidFill>
              <a:srgbClr val="003F8F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4764024" y="5321808"/>
            <a:ext cx="292608" cy="28346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FFFFFF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02</a:t>
            </a:r>
            <a:endParaRPr lang="en-US" sz="820" dirty="0"/>
          </a:p>
        </p:txBody>
      </p:sp>
      <p:sp>
        <p:nvSpPr>
          <p:cNvPr id="24" name="Text 20"/>
          <p:cNvSpPr/>
          <p:nvPr/>
        </p:nvSpPr>
        <p:spPr>
          <a:xfrm>
            <a:off x="5239512" y="5266944"/>
            <a:ext cx="960120" cy="38404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30" b="1" dirty="0">
                <a:solidFill>
                  <a:srgbClr val="003F8F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Discovery Manager</a:t>
            </a:r>
            <a:endParaRPr lang="en-US" sz="930" dirty="0"/>
          </a:p>
        </p:txBody>
      </p:sp>
      <p:sp>
        <p:nvSpPr>
          <p:cNvPr id="25" name="Text 21"/>
          <p:cNvSpPr/>
          <p:nvPr/>
        </p:nvSpPr>
        <p:spPr>
          <a:xfrm>
            <a:off x="6272784" y="5248656"/>
            <a:ext cx="1508760" cy="4114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20" dirty="0">
                <a:solidFill>
                  <a:srgbClr val="5D6B7A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归一化节点、链路与层级关系</a:t>
            </a:r>
            <a:endParaRPr lang="en-US" sz="720" dirty="0"/>
          </a:p>
        </p:txBody>
      </p:sp>
      <p:sp>
        <p:nvSpPr>
          <p:cNvPr id="26" name="Shape 22"/>
          <p:cNvSpPr/>
          <p:nvPr/>
        </p:nvSpPr>
        <p:spPr>
          <a:xfrm>
            <a:off x="8247888" y="5166360"/>
            <a:ext cx="3364992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6F8193"/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8394192" y="5312664"/>
            <a:ext cx="438912" cy="310896"/>
          </a:xfrm>
          <a:prstGeom prst="roundRect">
            <a:avLst>
              <a:gd name="adj" fmla="val 23529"/>
            </a:avLst>
          </a:prstGeom>
          <a:solidFill>
            <a:srgbClr val="0B5CAD"/>
          </a:solidFill>
          <a:ln w="12700">
            <a:solidFill>
              <a:srgbClr val="6F8193"/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8467344" y="5321808"/>
            <a:ext cx="292608" cy="28346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FFFFFF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03</a:t>
            </a:r>
            <a:endParaRPr lang="en-US" sz="820" dirty="0"/>
          </a:p>
        </p:txBody>
      </p:sp>
      <p:sp>
        <p:nvSpPr>
          <p:cNvPr id="29" name="Text 25"/>
          <p:cNvSpPr/>
          <p:nvPr/>
        </p:nvSpPr>
        <p:spPr>
          <a:xfrm>
            <a:off x="8942832" y="5266944"/>
            <a:ext cx="960120" cy="38404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30" b="1" dirty="0">
                <a:solidFill>
                  <a:srgbClr val="003F8F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HyperNode Controller</a:t>
            </a:r>
            <a:endParaRPr lang="en-US" sz="930" dirty="0"/>
          </a:p>
        </p:txBody>
      </p:sp>
      <p:sp>
        <p:nvSpPr>
          <p:cNvPr id="30" name="Text 26"/>
          <p:cNvSpPr/>
          <p:nvPr/>
        </p:nvSpPr>
        <p:spPr>
          <a:xfrm>
            <a:off x="9976104" y="5248656"/>
            <a:ext cx="1508760" cy="4114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20" dirty="0">
                <a:solidFill>
                  <a:srgbClr val="5D6B7A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创建对象、更新条件与健康状态</a:t>
            </a:r>
            <a:endParaRPr lang="en-US" sz="720" dirty="0"/>
          </a:p>
        </p:txBody>
      </p:sp>
      <p:sp>
        <p:nvSpPr>
          <p:cNvPr id="31" name="Shape 27"/>
          <p:cNvSpPr/>
          <p:nvPr/>
        </p:nvSpPr>
        <p:spPr>
          <a:xfrm>
            <a:off x="640080" y="6236208"/>
            <a:ext cx="10908792" cy="402336"/>
          </a:xfrm>
          <a:prstGeom prst="rect">
            <a:avLst/>
          </a:prstGeom>
          <a:solidFill>
            <a:srgbClr val="003F8F"/>
          </a:solidFill>
          <a:ln w="12700">
            <a:solidFill>
              <a:srgbClr val="003F8F">
                <a:alpha val="0"/>
              </a:srgbClr>
            </a:solidFill>
            <a:prstDash val="solid"/>
          </a:ln>
        </p:spPr>
      </p:sp>
      <p:sp>
        <p:nvSpPr>
          <p:cNvPr id="32" name="Shape 28"/>
          <p:cNvSpPr/>
          <p:nvPr/>
        </p:nvSpPr>
        <p:spPr>
          <a:xfrm>
            <a:off x="640080" y="6236208"/>
            <a:ext cx="109728" cy="402336"/>
          </a:xfrm>
          <a:prstGeom prst="rect">
            <a:avLst/>
          </a:prstGeom>
          <a:solidFill>
            <a:srgbClr val="E43D30"/>
          </a:solidFill>
          <a:ln w="12700">
            <a:solidFill>
              <a:srgbClr val="E43D30">
                <a:alpha val="0"/>
              </a:srgbClr>
            </a:solidFill>
            <a:prstDash val="solid"/>
          </a:ln>
        </p:spPr>
      </p:sp>
      <p:sp>
        <p:nvSpPr>
          <p:cNvPr id="33" name="Text 29"/>
          <p:cNvSpPr/>
          <p:nvPr/>
        </p:nvSpPr>
        <p:spPr>
          <a:xfrm>
            <a:off x="914400" y="6272784"/>
            <a:ext cx="10378440" cy="30175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Scheduler 只消费统一的 HyperNode 与状态，不直接耦合 UFM、OpenSM 或云接口</a:t>
            </a:r>
            <a:endParaRPr lang="en-US" sz="15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F8F"/>
          </a:solidFill>
          <a:ln w="12700">
            <a:solidFill>
              <a:srgbClr val="003F8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" y="228600"/>
            <a:ext cx="1417320" cy="393192"/>
          </a:xfrm>
          <a:prstGeom prst="chevron">
            <a:avLst/>
          </a:prstGeom>
          <a:solidFill>
            <a:srgbClr val="003F8F"/>
          </a:solidFill>
          <a:ln w="12700">
            <a:solidFill>
              <a:srgbClr val="003F8F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274320"/>
            <a:ext cx="1078992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第三章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2212848" y="182880"/>
            <a:ext cx="7635240" cy="51206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003F8F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拓扑</a:t>
            </a:r>
            <a:r>
              <a:rPr lang="zh-CN" altLang="en-US" sz="2800" b="1" dirty="0">
                <a:solidFill>
                  <a:srgbClr val="003F8F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感知</a:t>
            </a:r>
            <a:r>
              <a:rPr lang="en-US" sz="2800" b="1" dirty="0">
                <a:solidFill>
                  <a:srgbClr val="003F8F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的资源重整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58368" y="832104"/>
            <a:ext cx="10744200" cy="34747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30" dirty="0">
                <a:solidFill>
                  <a:srgbClr val="5D6B7A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抢占不仅选择“释放谁”，还要选择“在哪个性能域内释放”</a:t>
            </a:r>
            <a:endParaRPr lang="en-US" sz="1530" dirty="0"/>
          </a:p>
        </p:txBody>
      </p:sp>
      <p:sp>
        <p:nvSpPr>
          <p:cNvPr id="7" name="Shape 5"/>
          <p:cNvSpPr/>
          <p:nvPr/>
        </p:nvSpPr>
        <p:spPr>
          <a:xfrm>
            <a:off x="566928" y="1225296"/>
            <a:ext cx="11018520" cy="0"/>
          </a:xfrm>
          <a:prstGeom prst="line">
            <a:avLst/>
          </a:prstGeom>
          <a:noFill/>
          <a:ln w="11430">
            <a:solidFill>
              <a:srgbClr val="B9C8D8"/>
            </a:solidFill>
            <a:prstDash val="solid"/>
            <a:headEnd type="none"/>
          </a:ln>
        </p:spPr>
      </p:sp>
      <p:sp>
        <p:nvSpPr>
          <p:cNvPr id="8" name="Shape 6"/>
          <p:cNvSpPr/>
          <p:nvPr/>
        </p:nvSpPr>
        <p:spPr>
          <a:xfrm>
            <a:off x="566928" y="1179576"/>
            <a:ext cx="1225296" cy="91440"/>
          </a:xfrm>
          <a:prstGeom prst="rect">
            <a:avLst/>
          </a:prstGeom>
          <a:solidFill>
            <a:srgbClr val="E43D30"/>
          </a:solidFill>
          <a:ln w="12700">
            <a:solidFill>
              <a:srgbClr val="E43D30">
                <a:alpha val="0"/>
              </a:srgbClr>
            </a:solidFill>
            <a:prstDash val="solid"/>
          </a:ln>
        </p:spPr>
      </p:sp>
      <p:pic>
        <p:nvPicPr>
          <p:cNvPr id="9" name="Image 0" descr="/Users/chenzicong/Documents/Codex/2026-07-20/wo/outputs/volcano-unified-scheduling-editable/assets/volcano-logo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97312" y="321114"/>
            <a:ext cx="1078992" cy="180733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1475720" y="6492240"/>
            <a:ext cx="347472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768597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22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658368" y="1353312"/>
            <a:ext cx="10890504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0B5CAD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58368" y="1353312"/>
            <a:ext cx="109728" cy="438912"/>
          </a:xfrm>
          <a:prstGeom prst="rect">
            <a:avLst/>
          </a:prstGeom>
          <a:solidFill>
            <a:srgbClr val="E43D30"/>
          </a:solidFill>
          <a:ln w="12700">
            <a:solidFill>
              <a:srgbClr val="E43D3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932688" y="1435608"/>
            <a:ext cx="10314432" cy="24688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20" b="1" dirty="0">
                <a:solidFill>
                  <a:srgbClr val="172033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目标 SubGroup 需要同一 Leaf 内 4 张 GPU：跨域释放零散资源仍然无法启动</a:t>
            </a:r>
            <a:endParaRPr lang="en-US" sz="1420" dirty="0"/>
          </a:p>
        </p:txBody>
      </p:sp>
      <p:sp>
        <p:nvSpPr>
          <p:cNvPr id="14" name="Shape 11"/>
          <p:cNvSpPr/>
          <p:nvPr/>
        </p:nvSpPr>
        <p:spPr>
          <a:xfrm>
            <a:off x="658368" y="1956816"/>
            <a:ext cx="3657600" cy="3858768"/>
          </a:xfrm>
          <a:prstGeom prst="rect">
            <a:avLst/>
          </a:prstGeom>
          <a:solidFill>
            <a:srgbClr val="FFFFFF"/>
          </a:solidFill>
          <a:ln w="12700">
            <a:solidFill>
              <a:srgbClr val="6F8193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859536" y="2148840"/>
            <a:ext cx="1051560" cy="347472"/>
          </a:xfrm>
          <a:prstGeom prst="chevron">
            <a:avLst/>
          </a:prstGeom>
          <a:solidFill>
            <a:srgbClr val="6F8193"/>
          </a:solidFill>
          <a:ln w="12700">
            <a:solidFill>
              <a:srgbClr val="6F8193">
                <a:alpha val="0"/>
              </a:srgbClr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932688" y="2185416"/>
            <a:ext cx="850392" cy="24688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20" b="1" dirty="0">
                <a:solidFill>
                  <a:srgbClr val="FFFFFF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重整前</a:t>
            </a:r>
            <a:endParaRPr lang="en-US" sz="1220" dirty="0"/>
          </a:p>
        </p:txBody>
      </p:sp>
      <p:sp>
        <p:nvSpPr>
          <p:cNvPr id="17" name="Text 14"/>
          <p:cNvSpPr/>
          <p:nvPr/>
        </p:nvSpPr>
        <p:spPr>
          <a:xfrm>
            <a:off x="1078992" y="2697480"/>
            <a:ext cx="2816352" cy="21031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03F8F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目标：Decode SubGroup × 4</a:t>
            </a:r>
            <a:endParaRPr lang="en-US" sz="1250" dirty="0"/>
          </a:p>
        </p:txBody>
      </p:sp>
      <p:sp>
        <p:nvSpPr>
          <p:cNvPr id="18" name="Shape 15"/>
          <p:cNvSpPr/>
          <p:nvPr/>
        </p:nvSpPr>
        <p:spPr>
          <a:xfrm>
            <a:off x="960120" y="3246120"/>
            <a:ext cx="1444752" cy="1508760"/>
          </a:xfrm>
          <a:prstGeom prst="rect">
            <a:avLst/>
          </a:prstGeom>
          <a:solidFill>
            <a:srgbClr val="F8FAFC"/>
          </a:solidFill>
          <a:ln w="12700">
            <a:solidFill>
              <a:srgbClr val="6F8193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1069848" y="3355848"/>
            <a:ext cx="1225296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30" b="1" dirty="0">
                <a:solidFill>
                  <a:srgbClr val="003F8F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Leaf A</a:t>
            </a:r>
            <a:endParaRPr lang="en-US" sz="930" dirty="0"/>
          </a:p>
        </p:txBody>
      </p:sp>
      <p:sp>
        <p:nvSpPr>
          <p:cNvPr id="20" name="Shape 17"/>
          <p:cNvSpPr/>
          <p:nvPr/>
        </p:nvSpPr>
        <p:spPr>
          <a:xfrm>
            <a:off x="1124712" y="3721608"/>
            <a:ext cx="438912" cy="310896"/>
          </a:xfrm>
          <a:prstGeom prst="rect">
            <a:avLst/>
          </a:prstGeom>
          <a:solidFill>
            <a:srgbClr val="A8B7C6"/>
          </a:solidFill>
          <a:ln w="12700">
            <a:solidFill>
              <a:srgbClr val="6F8193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1124712" y="3813048"/>
            <a:ext cx="438912" cy="10058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580" b="1" dirty="0">
                <a:solidFill>
                  <a:srgbClr val="FFFFFF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T</a:t>
            </a:r>
            <a:endParaRPr lang="en-US" sz="580" dirty="0"/>
          </a:p>
        </p:txBody>
      </p:sp>
      <p:sp>
        <p:nvSpPr>
          <p:cNvPr id="22" name="Shape 19"/>
          <p:cNvSpPr/>
          <p:nvPr/>
        </p:nvSpPr>
        <p:spPr>
          <a:xfrm>
            <a:off x="1728216" y="3721608"/>
            <a:ext cx="438912" cy="310896"/>
          </a:xfrm>
          <a:prstGeom prst="rect">
            <a:avLst/>
          </a:prstGeom>
          <a:solidFill>
            <a:srgbClr val="A8B7C6"/>
          </a:solidFill>
          <a:ln w="12700">
            <a:solidFill>
              <a:srgbClr val="6F8193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1728216" y="3813048"/>
            <a:ext cx="438912" cy="10058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580" b="1" dirty="0">
                <a:solidFill>
                  <a:srgbClr val="FFFFFF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T</a:t>
            </a:r>
            <a:endParaRPr lang="en-US" sz="580" dirty="0"/>
          </a:p>
        </p:txBody>
      </p:sp>
      <p:sp>
        <p:nvSpPr>
          <p:cNvPr id="24" name="Shape 21"/>
          <p:cNvSpPr/>
          <p:nvPr/>
        </p:nvSpPr>
        <p:spPr>
          <a:xfrm>
            <a:off x="1124712" y="4151376"/>
            <a:ext cx="438912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6F8193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1124712" y="4242816"/>
            <a:ext cx="438912" cy="10058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580" b="1" dirty="0">
                <a:solidFill>
                  <a:srgbClr val="003F8F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Free</a:t>
            </a:r>
            <a:endParaRPr lang="en-US" sz="580" dirty="0"/>
          </a:p>
        </p:txBody>
      </p:sp>
      <p:sp>
        <p:nvSpPr>
          <p:cNvPr id="26" name="Shape 23"/>
          <p:cNvSpPr/>
          <p:nvPr/>
        </p:nvSpPr>
        <p:spPr>
          <a:xfrm>
            <a:off x="1728216" y="4151376"/>
            <a:ext cx="438912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6F8193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1728216" y="4242816"/>
            <a:ext cx="438912" cy="10058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580" b="1" dirty="0">
                <a:solidFill>
                  <a:srgbClr val="003F8F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Free</a:t>
            </a:r>
            <a:endParaRPr lang="en-US" sz="580" dirty="0"/>
          </a:p>
        </p:txBody>
      </p:sp>
      <p:sp>
        <p:nvSpPr>
          <p:cNvPr id="28" name="Shape 25"/>
          <p:cNvSpPr/>
          <p:nvPr/>
        </p:nvSpPr>
        <p:spPr>
          <a:xfrm>
            <a:off x="2670048" y="3246120"/>
            <a:ext cx="1444752" cy="1508760"/>
          </a:xfrm>
          <a:prstGeom prst="rect">
            <a:avLst/>
          </a:prstGeom>
          <a:solidFill>
            <a:srgbClr val="F8FAFC"/>
          </a:solidFill>
          <a:ln w="12700">
            <a:solidFill>
              <a:srgbClr val="0B5CAD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2779776" y="3355848"/>
            <a:ext cx="1225296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30" b="1" dirty="0">
                <a:solidFill>
                  <a:srgbClr val="003F8F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Leaf B</a:t>
            </a:r>
            <a:endParaRPr lang="en-US" sz="930" dirty="0"/>
          </a:p>
        </p:txBody>
      </p:sp>
      <p:sp>
        <p:nvSpPr>
          <p:cNvPr id="30" name="Shape 27"/>
          <p:cNvSpPr/>
          <p:nvPr/>
        </p:nvSpPr>
        <p:spPr>
          <a:xfrm>
            <a:off x="2834640" y="3721608"/>
            <a:ext cx="438912" cy="310896"/>
          </a:xfrm>
          <a:prstGeom prst="rect">
            <a:avLst/>
          </a:prstGeom>
          <a:solidFill>
            <a:srgbClr val="A8B7C6"/>
          </a:solidFill>
          <a:ln w="12700">
            <a:solidFill>
              <a:srgbClr val="0B5CAD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2834640" y="3813048"/>
            <a:ext cx="438912" cy="10058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580" b="1" dirty="0">
                <a:solidFill>
                  <a:srgbClr val="FFFFFF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T</a:t>
            </a:r>
            <a:endParaRPr lang="en-US" sz="580" dirty="0"/>
          </a:p>
        </p:txBody>
      </p:sp>
      <p:sp>
        <p:nvSpPr>
          <p:cNvPr id="32" name="Shape 29"/>
          <p:cNvSpPr/>
          <p:nvPr/>
        </p:nvSpPr>
        <p:spPr>
          <a:xfrm>
            <a:off x="3438144" y="3721608"/>
            <a:ext cx="438912" cy="310896"/>
          </a:xfrm>
          <a:prstGeom prst="rect">
            <a:avLst/>
          </a:prstGeom>
          <a:solidFill>
            <a:srgbClr val="A8B7C6"/>
          </a:solidFill>
          <a:ln w="12700">
            <a:solidFill>
              <a:srgbClr val="0B5CAD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3438144" y="3813048"/>
            <a:ext cx="438912" cy="10058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580" b="1" dirty="0">
                <a:solidFill>
                  <a:srgbClr val="FFFFFF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T</a:t>
            </a:r>
            <a:endParaRPr lang="en-US" sz="580" dirty="0"/>
          </a:p>
        </p:txBody>
      </p:sp>
      <p:sp>
        <p:nvSpPr>
          <p:cNvPr id="34" name="Shape 31"/>
          <p:cNvSpPr/>
          <p:nvPr/>
        </p:nvSpPr>
        <p:spPr>
          <a:xfrm>
            <a:off x="2834640" y="4151376"/>
            <a:ext cx="438912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0B5CAD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2834640" y="4242816"/>
            <a:ext cx="438912" cy="10058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580" b="1" dirty="0">
                <a:solidFill>
                  <a:srgbClr val="003F8F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Free</a:t>
            </a:r>
            <a:endParaRPr lang="en-US" sz="580" dirty="0"/>
          </a:p>
        </p:txBody>
      </p:sp>
      <p:sp>
        <p:nvSpPr>
          <p:cNvPr id="36" name="Shape 33"/>
          <p:cNvSpPr/>
          <p:nvPr/>
        </p:nvSpPr>
        <p:spPr>
          <a:xfrm>
            <a:off x="3438144" y="4151376"/>
            <a:ext cx="438912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0B5CAD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3438144" y="4242816"/>
            <a:ext cx="438912" cy="10058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580" b="1" dirty="0">
                <a:solidFill>
                  <a:srgbClr val="003F8F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Free</a:t>
            </a:r>
            <a:endParaRPr lang="en-US" sz="580" dirty="0"/>
          </a:p>
        </p:txBody>
      </p:sp>
      <p:sp>
        <p:nvSpPr>
          <p:cNvPr id="38" name="Shape 35"/>
          <p:cNvSpPr/>
          <p:nvPr/>
        </p:nvSpPr>
        <p:spPr>
          <a:xfrm>
            <a:off x="960120" y="4983480"/>
            <a:ext cx="315468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43D30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1106424" y="5084064"/>
            <a:ext cx="960120" cy="38404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3F8F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结果</a:t>
            </a:r>
            <a:endParaRPr lang="en-US" sz="1400" dirty="0"/>
          </a:p>
        </p:txBody>
      </p:sp>
      <p:sp>
        <p:nvSpPr>
          <p:cNvPr id="40" name="Text 37"/>
          <p:cNvSpPr/>
          <p:nvPr/>
        </p:nvSpPr>
        <p:spPr>
          <a:xfrm>
            <a:off x="1911350" y="5066030"/>
            <a:ext cx="2075815" cy="41148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5D6B7A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总计 4 张空闲，但没有一个 Leaf 可容纳完整 SubGroup</a:t>
            </a:r>
            <a:endParaRPr lang="en-US" sz="1200" dirty="0">
              <a:solidFill>
                <a:srgbClr val="5D6B7A"/>
              </a:solidFill>
              <a:latin typeface="PingFang SC" panose="020B0400000000000000" pitchFamily="34" charset="-122"/>
              <a:ea typeface="PingFang SC" panose="020B0400000000000000" pitchFamily="34" charset="-122"/>
              <a:cs typeface="PingFang SC" panose="020B0400000000000000" pitchFamily="34" charset="-120"/>
            </a:endParaRPr>
          </a:p>
        </p:txBody>
      </p:sp>
      <p:sp>
        <p:nvSpPr>
          <p:cNvPr id="41" name="Shape 38"/>
          <p:cNvSpPr/>
          <p:nvPr/>
        </p:nvSpPr>
        <p:spPr>
          <a:xfrm>
            <a:off x="4480560" y="3685032"/>
            <a:ext cx="384048" cy="384048"/>
          </a:xfrm>
          <a:prstGeom prst="chevron">
            <a:avLst/>
          </a:prstGeom>
          <a:solidFill>
            <a:srgbClr val="003F8F"/>
          </a:solidFill>
          <a:ln w="12700">
            <a:solidFill>
              <a:srgbClr val="003F8F">
                <a:alpha val="0"/>
              </a:srgbClr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5074920" y="1956816"/>
            <a:ext cx="2286000" cy="3858768"/>
          </a:xfrm>
          <a:prstGeom prst="rect">
            <a:avLst/>
          </a:prstGeom>
          <a:solidFill>
            <a:srgbClr val="F8FAFC"/>
          </a:solidFill>
          <a:ln w="12700">
            <a:solidFill>
              <a:srgbClr val="003F8F"/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5276088" y="2148840"/>
            <a:ext cx="1170432" cy="347472"/>
          </a:xfrm>
          <a:prstGeom prst="chevron">
            <a:avLst/>
          </a:prstGeom>
          <a:solidFill>
            <a:srgbClr val="003F8F"/>
          </a:solidFill>
          <a:ln w="12700">
            <a:solidFill>
              <a:srgbClr val="003F8F">
                <a:alpha val="0"/>
              </a:srgbClr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5349240" y="2185416"/>
            <a:ext cx="969264" cy="24688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20" b="1" dirty="0">
                <a:solidFill>
                  <a:srgbClr val="FFFFFF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调度决策</a:t>
            </a:r>
            <a:endParaRPr lang="en-US" sz="1220" dirty="0"/>
          </a:p>
        </p:txBody>
      </p:sp>
      <p:sp>
        <p:nvSpPr>
          <p:cNvPr id="45" name="Shape 42"/>
          <p:cNvSpPr/>
          <p:nvPr/>
        </p:nvSpPr>
        <p:spPr>
          <a:xfrm>
            <a:off x="5376672" y="2761488"/>
            <a:ext cx="1691640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003F8F"/>
            </a:solidFill>
            <a:prstDash val="solid"/>
          </a:ln>
        </p:spPr>
      </p:sp>
      <p:sp>
        <p:nvSpPr>
          <p:cNvPr id="46" name="Shape 43"/>
          <p:cNvSpPr/>
          <p:nvPr/>
        </p:nvSpPr>
        <p:spPr>
          <a:xfrm>
            <a:off x="5522976" y="2907792"/>
            <a:ext cx="438912" cy="310896"/>
          </a:xfrm>
          <a:prstGeom prst="roundRect">
            <a:avLst>
              <a:gd name="adj" fmla="val 23529"/>
            </a:avLst>
          </a:prstGeom>
          <a:solidFill>
            <a:srgbClr val="003F8F"/>
          </a:solidFill>
          <a:ln w="12700">
            <a:solidFill>
              <a:srgbClr val="003F8F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5596128" y="2916936"/>
            <a:ext cx="292608" cy="28346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FFFFFF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01</a:t>
            </a:r>
            <a:endParaRPr lang="en-US" sz="820" dirty="0"/>
          </a:p>
        </p:txBody>
      </p:sp>
      <p:sp>
        <p:nvSpPr>
          <p:cNvPr id="48" name="Text 45"/>
          <p:cNvSpPr/>
          <p:nvPr/>
        </p:nvSpPr>
        <p:spPr>
          <a:xfrm>
            <a:off x="6071616" y="2880360"/>
            <a:ext cx="832104" cy="24688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03F8F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选择拓扑域</a:t>
            </a:r>
            <a:endParaRPr lang="en-US" sz="1250" dirty="0"/>
          </a:p>
        </p:txBody>
      </p:sp>
      <p:sp>
        <p:nvSpPr>
          <p:cNvPr id="49" name="Text 46"/>
          <p:cNvSpPr/>
          <p:nvPr/>
        </p:nvSpPr>
        <p:spPr>
          <a:xfrm>
            <a:off x="5541264" y="3236976"/>
            <a:ext cx="1362456" cy="10058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30" dirty="0">
                <a:solidFill>
                  <a:srgbClr val="5D6B7A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Leaf B</a:t>
            </a:r>
            <a:endParaRPr lang="en-US" sz="930" dirty="0"/>
          </a:p>
        </p:txBody>
      </p:sp>
      <p:sp>
        <p:nvSpPr>
          <p:cNvPr id="50" name="Shape 47"/>
          <p:cNvSpPr/>
          <p:nvPr/>
        </p:nvSpPr>
        <p:spPr>
          <a:xfrm>
            <a:off x="6053328" y="3502152"/>
            <a:ext cx="310896" cy="438912"/>
          </a:xfrm>
          <a:prstGeom prst="downArrow">
            <a:avLst/>
          </a:prstGeom>
          <a:solidFill>
            <a:srgbClr val="9EB3C7"/>
          </a:solidFill>
          <a:ln w="12700">
            <a:solidFill>
              <a:srgbClr val="9EB3C7">
                <a:alpha val="0"/>
              </a:srgbClr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5376672" y="4041648"/>
            <a:ext cx="1691640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0B5CAD"/>
            </a:solidFill>
            <a:prstDash val="solid"/>
          </a:ln>
        </p:spPr>
      </p:sp>
      <p:sp>
        <p:nvSpPr>
          <p:cNvPr id="52" name="Shape 49"/>
          <p:cNvSpPr/>
          <p:nvPr/>
        </p:nvSpPr>
        <p:spPr>
          <a:xfrm>
            <a:off x="5522976" y="4149852"/>
            <a:ext cx="438912" cy="310896"/>
          </a:xfrm>
          <a:prstGeom prst="roundRect">
            <a:avLst>
              <a:gd name="adj" fmla="val 23529"/>
            </a:avLst>
          </a:prstGeom>
          <a:solidFill>
            <a:srgbClr val="0B5CAD"/>
          </a:solidFill>
          <a:ln w="12700">
            <a:solidFill>
              <a:srgbClr val="0B5CAD"/>
            </a:solidFill>
            <a:prstDash val="solid"/>
          </a:ln>
        </p:spPr>
      </p:sp>
      <p:sp>
        <p:nvSpPr>
          <p:cNvPr id="53" name="Text 50"/>
          <p:cNvSpPr/>
          <p:nvPr/>
        </p:nvSpPr>
        <p:spPr>
          <a:xfrm>
            <a:off x="5596128" y="4189476"/>
            <a:ext cx="292608" cy="28346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FFFFFF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02</a:t>
            </a:r>
            <a:endParaRPr lang="en-US" sz="820" dirty="0"/>
          </a:p>
        </p:txBody>
      </p:sp>
      <p:sp>
        <p:nvSpPr>
          <p:cNvPr id="54" name="Text 51"/>
          <p:cNvSpPr/>
          <p:nvPr/>
        </p:nvSpPr>
        <p:spPr>
          <a:xfrm>
            <a:off x="6071616" y="4160520"/>
            <a:ext cx="832104" cy="24688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03F8F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扩展候选集</a:t>
            </a:r>
            <a:endParaRPr lang="en-US" sz="1250" dirty="0"/>
          </a:p>
        </p:txBody>
      </p:sp>
      <p:sp>
        <p:nvSpPr>
          <p:cNvPr id="55" name="Text 52"/>
          <p:cNvSpPr/>
          <p:nvPr/>
        </p:nvSpPr>
        <p:spPr>
          <a:xfrm>
            <a:off x="5541264" y="4517136"/>
            <a:ext cx="1362456" cy="10058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30" dirty="0">
                <a:solidFill>
                  <a:srgbClr val="5D6B7A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按完整训练作业回收</a:t>
            </a:r>
            <a:endParaRPr lang="en-US" sz="930" dirty="0"/>
          </a:p>
        </p:txBody>
      </p:sp>
      <p:sp>
        <p:nvSpPr>
          <p:cNvPr id="56" name="Shape 53"/>
          <p:cNvSpPr/>
          <p:nvPr/>
        </p:nvSpPr>
        <p:spPr>
          <a:xfrm>
            <a:off x="6053328" y="4782312"/>
            <a:ext cx="310896" cy="438912"/>
          </a:xfrm>
          <a:prstGeom prst="downArrow">
            <a:avLst/>
          </a:prstGeom>
          <a:solidFill>
            <a:srgbClr val="9EB3C7"/>
          </a:solidFill>
          <a:ln w="12700">
            <a:solidFill>
              <a:srgbClr val="9EB3C7">
                <a:alpha val="0"/>
              </a:srgbClr>
            </a:solidFill>
            <a:prstDash val="solid"/>
          </a:ln>
        </p:spPr>
      </p:sp>
      <p:sp>
        <p:nvSpPr>
          <p:cNvPr id="57" name="Shape 54"/>
          <p:cNvSpPr/>
          <p:nvPr/>
        </p:nvSpPr>
        <p:spPr>
          <a:xfrm>
            <a:off x="5376672" y="5239512"/>
            <a:ext cx="169164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0B5CAD"/>
            </a:solidFill>
            <a:prstDash val="solid"/>
          </a:ln>
        </p:spPr>
      </p:sp>
      <p:sp>
        <p:nvSpPr>
          <p:cNvPr id="58" name="Text 55"/>
          <p:cNvSpPr/>
          <p:nvPr/>
        </p:nvSpPr>
        <p:spPr>
          <a:xfrm>
            <a:off x="5477256" y="5332349"/>
            <a:ext cx="1490472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3F8F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同时模拟 Gang、SubGroup 与 Topology</a:t>
            </a:r>
            <a:endParaRPr lang="en-US" sz="1000" b="1" dirty="0">
              <a:solidFill>
                <a:srgbClr val="003F8F"/>
              </a:solidFill>
              <a:latin typeface="PingFang SC" panose="020B0400000000000000" pitchFamily="34" charset="-122"/>
              <a:ea typeface="PingFang SC" panose="020B0400000000000000" pitchFamily="34" charset="-122"/>
              <a:cs typeface="PingFang SC" panose="020B0400000000000000" pitchFamily="34" charset="-120"/>
            </a:endParaRPr>
          </a:p>
        </p:txBody>
      </p:sp>
      <p:sp>
        <p:nvSpPr>
          <p:cNvPr id="59" name="Shape 56"/>
          <p:cNvSpPr/>
          <p:nvPr/>
        </p:nvSpPr>
        <p:spPr>
          <a:xfrm>
            <a:off x="7516368" y="3685032"/>
            <a:ext cx="384048" cy="384048"/>
          </a:xfrm>
          <a:prstGeom prst="chevron">
            <a:avLst/>
          </a:prstGeom>
          <a:solidFill>
            <a:srgbClr val="003F8F"/>
          </a:solidFill>
          <a:ln w="12700">
            <a:solidFill>
              <a:srgbClr val="003F8F">
                <a:alpha val="0"/>
              </a:srgbClr>
            </a:solidFill>
            <a:prstDash val="solid"/>
          </a:ln>
        </p:spPr>
      </p:sp>
      <p:sp>
        <p:nvSpPr>
          <p:cNvPr id="60" name="Shape 57"/>
          <p:cNvSpPr/>
          <p:nvPr/>
        </p:nvSpPr>
        <p:spPr>
          <a:xfrm>
            <a:off x="8101584" y="1956816"/>
            <a:ext cx="3447288" cy="3858768"/>
          </a:xfrm>
          <a:prstGeom prst="rect">
            <a:avLst/>
          </a:prstGeom>
          <a:solidFill>
            <a:srgbClr val="FFFFFF"/>
          </a:solidFill>
          <a:ln w="12700">
            <a:solidFill>
              <a:srgbClr val="0B5CAD"/>
            </a:solidFill>
            <a:prstDash val="solid"/>
          </a:ln>
        </p:spPr>
      </p:sp>
      <p:sp>
        <p:nvSpPr>
          <p:cNvPr id="61" name="Shape 58"/>
          <p:cNvSpPr/>
          <p:nvPr/>
        </p:nvSpPr>
        <p:spPr>
          <a:xfrm>
            <a:off x="8302752" y="2148840"/>
            <a:ext cx="1051560" cy="347472"/>
          </a:xfrm>
          <a:prstGeom prst="chevron">
            <a:avLst/>
          </a:prstGeom>
          <a:solidFill>
            <a:srgbClr val="003F8F"/>
          </a:solidFill>
          <a:ln w="12700">
            <a:solidFill>
              <a:srgbClr val="003F8F">
                <a:alpha val="0"/>
              </a:srgbClr>
            </a:solidFill>
            <a:prstDash val="solid"/>
          </a:ln>
        </p:spPr>
      </p:sp>
      <p:sp>
        <p:nvSpPr>
          <p:cNvPr id="62" name="Text 59"/>
          <p:cNvSpPr/>
          <p:nvPr/>
        </p:nvSpPr>
        <p:spPr>
          <a:xfrm>
            <a:off x="8375904" y="2185416"/>
            <a:ext cx="850392" cy="24688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20" b="1" dirty="0">
                <a:solidFill>
                  <a:srgbClr val="FFFFFF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重整后</a:t>
            </a:r>
            <a:endParaRPr lang="en-US" sz="1220" dirty="0"/>
          </a:p>
        </p:txBody>
      </p:sp>
      <p:sp>
        <p:nvSpPr>
          <p:cNvPr id="63" name="Text 60"/>
          <p:cNvSpPr/>
          <p:nvPr/>
        </p:nvSpPr>
        <p:spPr>
          <a:xfrm>
            <a:off x="8458200" y="2697480"/>
            <a:ext cx="2743200" cy="21031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03F8F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Leaf B 内完成完整放置</a:t>
            </a:r>
            <a:endParaRPr lang="en-US" sz="1250" dirty="0"/>
          </a:p>
        </p:txBody>
      </p:sp>
      <p:sp>
        <p:nvSpPr>
          <p:cNvPr id="64" name="Shape 61"/>
          <p:cNvSpPr/>
          <p:nvPr/>
        </p:nvSpPr>
        <p:spPr>
          <a:xfrm>
            <a:off x="8549640" y="3246120"/>
            <a:ext cx="2560320" cy="1508760"/>
          </a:xfrm>
          <a:prstGeom prst="rect">
            <a:avLst/>
          </a:prstGeom>
          <a:solidFill>
            <a:srgbClr val="F3F7FC"/>
          </a:solidFill>
          <a:ln w="12700">
            <a:solidFill>
              <a:srgbClr val="003F8F"/>
            </a:solidFill>
            <a:prstDash val="solid"/>
          </a:ln>
        </p:spPr>
      </p:sp>
      <p:sp>
        <p:nvSpPr>
          <p:cNvPr id="65" name="Text 62"/>
          <p:cNvSpPr/>
          <p:nvPr/>
        </p:nvSpPr>
        <p:spPr>
          <a:xfrm>
            <a:off x="8714232" y="3374136"/>
            <a:ext cx="2231136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03F8F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Leaf B · Selected Domain</a:t>
            </a:r>
            <a:endParaRPr lang="en-US" sz="950" dirty="0"/>
          </a:p>
        </p:txBody>
      </p:sp>
      <p:sp>
        <p:nvSpPr>
          <p:cNvPr id="66" name="Shape 63"/>
          <p:cNvSpPr/>
          <p:nvPr/>
        </p:nvSpPr>
        <p:spPr>
          <a:xfrm>
            <a:off x="8915400" y="3776472"/>
            <a:ext cx="658368" cy="310896"/>
          </a:xfrm>
          <a:prstGeom prst="rect">
            <a:avLst/>
          </a:prstGeom>
          <a:solidFill>
            <a:srgbClr val="DCEBFA"/>
          </a:solidFill>
          <a:ln w="12700">
            <a:solidFill>
              <a:srgbClr val="0B5CAD"/>
            </a:solidFill>
            <a:prstDash val="solid"/>
          </a:ln>
        </p:spPr>
      </p:sp>
      <p:sp>
        <p:nvSpPr>
          <p:cNvPr id="67" name="Text 64"/>
          <p:cNvSpPr/>
          <p:nvPr/>
        </p:nvSpPr>
        <p:spPr>
          <a:xfrm>
            <a:off x="8915400" y="3867912"/>
            <a:ext cx="658368" cy="10058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580" b="1" dirty="0">
                <a:solidFill>
                  <a:srgbClr val="003F8F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Decode</a:t>
            </a:r>
            <a:endParaRPr lang="en-US" sz="580" dirty="0"/>
          </a:p>
        </p:txBody>
      </p:sp>
      <p:sp>
        <p:nvSpPr>
          <p:cNvPr id="68" name="Shape 65"/>
          <p:cNvSpPr/>
          <p:nvPr/>
        </p:nvSpPr>
        <p:spPr>
          <a:xfrm>
            <a:off x="9875520" y="3776472"/>
            <a:ext cx="658368" cy="310896"/>
          </a:xfrm>
          <a:prstGeom prst="rect">
            <a:avLst/>
          </a:prstGeom>
          <a:solidFill>
            <a:srgbClr val="DCEBFA"/>
          </a:solidFill>
          <a:ln w="12700">
            <a:solidFill>
              <a:srgbClr val="0B5CAD"/>
            </a:solidFill>
            <a:prstDash val="solid"/>
          </a:ln>
        </p:spPr>
      </p:sp>
      <p:sp>
        <p:nvSpPr>
          <p:cNvPr id="69" name="Text 66"/>
          <p:cNvSpPr/>
          <p:nvPr/>
        </p:nvSpPr>
        <p:spPr>
          <a:xfrm>
            <a:off x="9875520" y="3867912"/>
            <a:ext cx="658368" cy="10058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580" b="1" dirty="0">
                <a:solidFill>
                  <a:srgbClr val="003F8F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Decode</a:t>
            </a:r>
            <a:endParaRPr lang="en-US" sz="580" dirty="0"/>
          </a:p>
        </p:txBody>
      </p:sp>
      <p:sp>
        <p:nvSpPr>
          <p:cNvPr id="70" name="Shape 67"/>
          <p:cNvSpPr/>
          <p:nvPr/>
        </p:nvSpPr>
        <p:spPr>
          <a:xfrm>
            <a:off x="8915400" y="4215384"/>
            <a:ext cx="658368" cy="310896"/>
          </a:xfrm>
          <a:prstGeom prst="rect">
            <a:avLst/>
          </a:prstGeom>
          <a:solidFill>
            <a:srgbClr val="DCEBFA"/>
          </a:solidFill>
          <a:ln w="12700">
            <a:solidFill>
              <a:srgbClr val="0B5CAD"/>
            </a:solidFill>
            <a:prstDash val="solid"/>
          </a:ln>
        </p:spPr>
      </p:sp>
      <p:sp>
        <p:nvSpPr>
          <p:cNvPr id="71" name="Text 68"/>
          <p:cNvSpPr/>
          <p:nvPr/>
        </p:nvSpPr>
        <p:spPr>
          <a:xfrm>
            <a:off x="8915400" y="4306824"/>
            <a:ext cx="658368" cy="10058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580" b="1" dirty="0">
                <a:solidFill>
                  <a:srgbClr val="003F8F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Decode</a:t>
            </a:r>
            <a:endParaRPr lang="en-US" sz="580" dirty="0"/>
          </a:p>
        </p:txBody>
      </p:sp>
      <p:sp>
        <p:nvSpPr>
          <p:cNvPr id="72" name="Shape 69"/>
          <p:cNvSpPr/>
          <p:nvPr/>
        </p:nvSpPr>
        <p:spPr>
          <a:xfrm>
            <a:off x="9875520" y="4215384"/>
            <a:ext cx="658368" cy="310896"/>
          </a:xfrm>
          <a:prstGeom prst="rect">
            <a:avLst/>
          </a:prstGeom>
          <a:solidFill>
            <a:srgbClr val="DCEBFA"/>
          </a:solidFill>
          <a:ln w="12700">
            <a:solidFill>
              <a:srgbClr val="0B5CAD"/>
            </a:solidFill>
            <a:prstDash val="solid"/>
          </a:ln>
        </p:spPr>
      </p:sp>
      <p:sp>
        <p:nvSpPr>
          <p:cNvPr id="73" name="Text 70"/>
          <p:cNvSpPr/>
          <p:nvPr/>
        </p:nvSpPr>
        <p:spPr>
          <a:xfrm>
            <a:off x="9875520" y="4306824"/>
            <a:ext cx="658368" cy="10058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580" b="1" dirty="0">
                <a:solidFill>
                  <a:srgbClr val="003F8F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Decode</a:t>
            </a:r>
            <a:endParaRPr lang="en-US" sz="580" dirty="0"/>
          </a:p>
        </p:txBody>
      </p:sp>
      <p:sp>
        <p:nvSpPr>
          <p:cNvPr id="74" name="Shape 71"/>
          <p:cNvSpPr/>
          <p:nvPr/>
        </p:nvSpPr>
        <p:spPr>
          <a:xfrm>
            <a:off x="8549640" y="4919472"/>
            <a:ext cx="25603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003F8F"/>
            </a:solidFill>
            <a:prstDash val="solid"/>
          </a:ln>
        </p:spPr>
      </p:sp>
      <p:sp>
        <p:nvSpPr>
          <p:cNvPr id="75" name="Text 72"/>
          <p:cNvSpPr/>
          <p:nvPr/>
        </p:nvSpPr>
        <p:spPr>
          <a:xfrm>
            <a:off x="8714232" y="5038344"/>
            <a:ext cx="2231136" cy="24688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03F8F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提交条件</a:t>
            </a:r>
            <a:endParaRPr lang="en-US" sz="1250" dirty="0"/>
          </a:p>
        </p:txBody>
      </p:sp>
      <p:sp>
        <p:nvSpPr>
          <p:cNvPr id="76" name="Text 73"/>
          <p:cNvSpPr/>
          <p:nvPr/>
        </p:nvSpPr>
        <p:spPr>
          <a:xfrm>
            <a:off x="8714232" y="5394960"/>
            <a:ext cx="2231136" cy="822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30" dirty="0">
                <a:solidFill>
                  <a:srgbClr val="5D6B7A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目标 PodGroup / SubGroup 完整 Pipelined</a:t>
            </a:r>
            <a:endParaRPr lang="en-US" sz="930" dirty="0"/>
          </a:p>
        </p:txBody>
      </p:sp>
      <p:sp>
        <p:nvSpPr>
          <p:cNvPr id="77" name="Shape 74"/>
          <p:cNvSpPr/>
          <p:nvPr/>
        </p:nvSpPr>
        <p:spPr>
          <a:xfrm>
            <a:off x="640080" y="6236208"/>
            <a:ext cx="10908792" cy="402336"/>
          </a:xfrm>
          <a:prstGeom prst="rect">
            <a:avLst/>
          </a:prstGeom>
          <a:solidFill>
            <a:srgbClr val="003F8F"/>
          </a:solidFill>
          <a:ln w="12700">
            <a:solidFill>
              <a:srgbClr val="003F8F">
                <a:alpha val="0"/>
              </a:srgbClr>
            </a:solidFill>
            <a:prstDash val="solid"/>
          </a:ln>
        </p:spPr>
      </p:sp>
      <p:sp>
        <p:nvSpPr>
          <p:cNvPr id="78" name="Shape 75"/>
          <p:cNvSpPr/>
          <p:nvPr/>
        </p:nvSpPr>
        <p:spPr>
          <a:xfrm>
            <a:off x="640080" y="6236208"/>
            <a:ext cx="109728" cy="402336"/>
          </a:xfrm>
          <a:prstGeom prst="rect">
            <a:avLst/>
          </a:prstGeom>
          <a:solidFill>
            <a:srgbClr val="E43D30"/>
          </a:solidFill>
          <a:ln w="12700">
            <a:solidFill>
              <a:srgbClr val="E43D30">
                <a:alpha val="0"/>
              </a:srgbClr>
            </a:solidFill>
            <a:prstDash val="solid"/>
          </a:ln>
        </p:spPr>
      </p:sp>
      <p:sp>
        <p:nvSpPr>
          <p:cNvPr id="79" name="Text 76"/>
          <p:cNvSpPr/>
          <p:nvPr/>
        </p:nvSpPr>
        <p:spPr>
          <a:xfrm>
            <a:off x="914400" y="6272784"/>
            <a:ext cx="10378440" cy="30175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拓扑级抢占以“可完整放置的性能域”为单位，避免释放了资源却仍然启动不了作业</a:t>
            </a:r>
            <a:endParaRPr lang="en-US" sz="15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F8F"/>
          </a:solidFill>
          <a:ln w="12700">
            <a:solidFill>
              <a:srgbClr val="003F8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" y="228600"/>
            <a:ext cx="1417320" cy="393192"/>
          </a:xfrm>
          <a:prstGeom prst="chevron">
            <a:avLst/>
          </a:prstGeom>
          <a:solidFill>
            <a:srgbClr val="003F8F"/>
          </a:solidFill>
          <a:ln w="12700">
            <a:solidFill>
              <a:srgbClr val="003F8F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274320"/>
            <a:ext cx="1078992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第三章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2212848" y="182880"/>
            <a:ext cx="7635240" cy="51206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003F8F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多网络平面与设备协同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58368" y="832104"/>
            <a:ext cx="10744200" cy="34747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30" dirty="0">
                <a:solidFill>
                  <a:srgbClr val="5D6B7A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从单一拓扑树走向 Multi-Rail、DRA 与通用互联</a:t>
            </a:r>
            <a:endParaRPr lang="en-US" sz="1530" dirty="0"/>
          </a:p>
        </p:txBody>
      </p:sp>
      <p:sp>
        <p:nvSpPr>
          <p:cNvPr id="7" name="Shape 5"/>
          <p:cNvSpPr/>
          <p:nvPr/>
        </p:nvSpPr>
        <p:spPr>
          <a:xfrm>
            <a:off x="566928" y="1225296"/>
            <a:ext cx="11018520" cy="0"/>
          </a:xfrm>
          <a:prstGeom prst="line">
            <a:avLst/>
          </a:prstGeom>
          <a:noFill/>
          <a:ln w="11430">
            <a:solidFill>
              <a:srgbClr val="B9C8D8"/>
            </a:solidFill>
            <a:prstDash val="solid"/>
            <a:headEnd type="none"/>
          </a:ln>
        </p:spPr>
      </p:sp>
      <p:sp>
        <p:nvSpPr>
          <p:cNvPr id="8" name="Shape 6"/>
          <p:cNvSpPr/>
          <p:nvPr/>
        </p:nvSpPr>
        <p:spPr>
          <a:xfrm>
            <a:off x="566928" y="1179576"/>
            <a:ext cx="1225296" cy="91440"/>
          </a:xfrm>
          <a:prstGeom prst="rect">
            <a:avLst/>
          </a:prstGeom>
          <a:solidFill>
            <a:srgbClr val="E43D30"/>
          </a:solidFill>
          <a:ln w="12700">
            <a:solidFill>
              <a:srgbClr val="E43D30">
                <a:alpha val="0"/>
              </a:srgbClr>
            </a:solidFill>
            <a:prstDash val="solid"/>
          </a:ln>
        </p:spPr>
      </p:sp>
      <p:pic>
        <p:nvPicPr>
          <p:cNvPr id="9" name="Image 0" descr="/Users/chenzicong/Documents/Codex/2026-07-20/wo/outputs/volcano-unified-scheduling-editable/assets/volcano-logo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97312" y="321114"/>
            <a:ext cx="1078992" cy="180733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1475720" y="6492240"/>
            <a:ext cx="347472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768597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25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658368" y="1353312"/>
            <a:ext cx="10890504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0B5CAD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58368" y="1353312"/>
            <a:ext cx="109728" cy="438912"/>
          </a:xfrm>
          <a:prstGeom prst="rect">
            <a:avLst/>
          </a:prstGeom>
          <a:solidFill>
            <a:srgbClr val="E43D30"/>
          </a:solidFill>
          <a:ln w="12700">
            <a:solidFill>
              <a:srgbClr val="E43D3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932688" y="1435608"/>
            <a:ext cx="10314432" cy="24688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20" b="1" dirty="0">
                <a:solidFill>
                  <a:srgbClr val="172033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调度需要联合选择节点、GPU、NIC 与 Rail，并扩展到非树形网络</a:t>
            </a:r>
            <a:endParaRPr lang="en-US" sz="1420" dirty="0"/>
          </a:p>
        </p:txBody>
      </p:sp>
      <p:sp>
        <p:nvSpPr>
          <p:cNvPr id="14" name="Shape 11"/>
          <p:cNvSpPr/>
          <p:nvPr/>
        </p:nvSpPr>
        <p:spPr>
          <a:xfrm>
            <a:off x="9857232" y="1426464"/>
            <a:ext cx="1371600" cy="228600"/>
          </a:xfrm>
          <a:prstGeom prst="rect">
            <a:avLst/>
          </a:prstGeom>
          <a:solidFill>
            <a:srgbClr val="FFF8F7"/>
          </a:solidFill>
          <a:ln w="8890">
            <a:solidFill>
              <a:srgbClr val="E43D3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9893808" y="1467612"/>
            <a:ext cx="1298448" cy="13716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90000"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E43D30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FUTURE WORK</a:t>
            </a:r>
            <a:endParaRPr lang="en-US" sz="850" dirty="0"/>
          </a:p>
        </p:txBody>
      </p:sp>
      <p:sp>
        <p:nvSpPr>
          <p:cNvPr id="16" name="Shape 13"/>
          <p:cNvSpPr/>
          <p:nvPr/>
        </p:nvSpPr>
        <p:spPr>
          <a:xfrm>
            <a:off x="658368" y="1938528"/>
            <a:ext cx="731520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B7C4D1"/>
            </a:solidFill>
            <a:prstDash val="solid"/>
          </a:ln>
        </p:spPr>
        <p:txBody>
          <a:bodyPr/>
          <a:p>
            <a:endParaRPr lang="en-US"/>
          </a:p>
        </p:txBody>
      </p:sp>
      <p:sp>
        <p:nvSpPr>
          <p:cNvPr id="18" name="Shape 14"/>
          <p:cNvSpPr/>
          <p:nvPr/>
        </p:nvSpPr>
        <p:spPr>
          <a:xfrm>
            <a:off x="8183880" y="1938528"/>
            <a:ext cx="3364992" cy="3931920"/>
          </a:xfrm>
          <a:prstGeom prst="rect">
            <a:avLst/>
          </a:prstGeom>
          <a:solidFill>
            <a:srgbClr val="F8FAFC"/>
          </a:solidFill>
          <a:ln w="12700">
            <a:solidFill>
              <a:srgbClr val="003F8F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8394192" y="2139696"/>
            <a:ext cx="1234440" cy="347472"/>
          </a:xfrm>
          <a:prstGeom prst="chevron">
            <a:avLst/>
          </a:prstGeom>
          <a:solidFill>
            <a:srgbClr val="003F8F"/>
          </a:solidFill>
          <a:ln w="12700">
            <a:solidFill>
              <a:srgbClr val="003F8F">
                <a:alpha val="0"/>
              </a:srgbClr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8467344" y="2176272"/>
            <a:ext cx="1033272" cy="24688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20" b="1" dirty="0">
                <a:solidFill>
                  <a:srgbClr val="FFFFFF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演进方向</a:t>
            </a:r>
            <a:endParaRPr lang="en-US" sz="1220" dirty="0"/>
          </a:p>
        </p:txBody>
      </p:sp>
      <p:sp>
        <p:nvSpPr>
          <p:cNvPr id="21" name="Shape 17"/>
          <p:cNvSpPr/>
          <p:nvPr/>
        </p:nvSpPr>
        <p:spPr>
          <a:xfrm>
            <a:off x="8458200" y="2679192"/>
            <a:ext cx="2816352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003F8F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8604504" y="2825496"/>
            <a:ext cx="438912" cy="310896"/>
          </a:xfrm>
          <a:prstGeom prst="roundRect">
            <a:avLst>
              <a:gd name="adj" fmla="val 23529"/>
            </a:avLst>
          </a:prstGeom>
          <a:solidFill>
            <a:srgbClr val="003F8F"/>
          </a:solidFill>
          <a:ln w="12700">
            <a:solidFill>
              <a:srgbClr val="003F8F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8677656" y="2834640"/>
            <a:ext cx="292608" cy="28346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FFFFFF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01</a:t>
            </a:r>
            <a:endParaRPr lang="en-US" sz="820" dirty="0"/>
          </a:p>
        </p:txBody>
      </p:sp>
      <p:sp>
        <p:nvSpPr>
          <p:cNvPr id="24" name="Text 20"/>
          <p:cNvSpPr/>
          <p:nvPr/>
        </p:nvSpPr>
        <p:spPr>
          <a:xfrm>
            <a:off x="9153144" y="2779776"/>
            <a:ext cx="957560" cy="36576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30" b="1" dirty="0">
                <a:solidFill>
                  <a:srgbClr val="003F8F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Multi-Rail</a:t>
            </a:r>
            <a:endParaRPr lang="en-US" sz="930" dirty="0"/>
          </a:p>
        </p:txBody>
      </p:sp>
      <p:sp>
        <p:nvSpPr>
          <p:cNvPr id="25" name="Text 21"/>
          <p:cNvSpPr/>
          <p:nvPr/>
        </p:nvSpPr>
        <p:spPr>
          <a:xfrm>
            <a:off x="10183856" y="2761488"/>
            <a:ext cx="962680" cy="3931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20" dirty="0">
                <a:solidFill>
                  <a:srgbClr val="5D6B7A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避免一个通信组跨网络平面</a:t>
            </a:r>
            <a:endParaRPr lang="en-US" sz="720" dirty="0"/>
          </a:p>
        </p:txBody>
      </p:sp>
      <p:sp>
        <p:nvSpPr>
          <p:cNvPr id="26" name="Shape 22"/>
          <p:cNvSpPr/>
          <p:nvPr/>
        </p:nvSpPr>
        <p:spPr>
          <a:xfrm>
            <a:off x="8458200" y="3392424"/>
            <a:ext cx="2816352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6F8193"/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8604504" y="3538728"/>
            <a:ext cx="438912" cy="310896"/>
          </a:xfrm>
          <a:prstGeom prst="roundRect">
            <a:avLst>
              <a:gd name="adj" fmla="val 23529"/>
            </a:avLst>
          </a:prstGeom>
          <a:solidFill>
            <a:srgbClr val="0B5CAD"/>
          </a:solidFill>
          <a:ln w="12700">
            <a:solidFill>
              <a:srgbClr val="6F8193"/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8677656" y="3547872"/>
            <a:ext cx="292608" cy="28346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FFFFFF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02</a:t>
            </a:r>
            <a:endParaRPr lang="en-US" sz="820" dirty="0"/>
          </a:p>
        </p:txBody>
      </p:sp>
      <p:sp>
        <p:nvSpPr>
          <p:cNvPr id="29" name="Text 25"/>
          <p:cNvSpPr/>
          <p:nvPr/>
        </p:nvSpPr>
        <p:spPr>
          <a:xfrm>
            <a:off x="9153144" y="3493008"/>
            <a:ext cx="957560" cy="36576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30" b="1" dirty="0">
                <a:solidFill>
                  <a:srgbClr val="003F8F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DRA</a:t>
            </a:r>
            <a:endParaRPr lang="en-US" sz="930" dirty="0"/>
          </a:p>
        </p:txBody>
      </p:sp>
      <p:sp>
        <p:nvSpPr>
          <p:cNvPr id="30" name="Text 26"/>
          <p:cNvSpPr/>
          <p:nvPr/>
        </p:nvSpPr>
        <p:spPr>
          <a:xfrm>
            <a:off x="10183856" y="3474720"/>
            <a:ext cx="962680" cy="3931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20" dirty="0">
                <a:solidFill>
                  <a:srgbClr val="5D6B7A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ResourceClaim 联合选择 GPU 与 NIC</a:t>
            </a:r>
            <a:endParaRPr lang="en-US" sz="720" dirty="0"/>
          </a:p>
        </p:txBody>
      </p:sp>
      <p:sp>
        <p:nvSpPr>
          <p:cNvPr id="31" name="Shape 27"/>
          <p:cNvSpPr/>
          <p:nvPr/>
        </p:nvSpPr>
        <p:spPr>
          <a:xfrm>
            <a:off x="8458200" y="4105656"/>
            <a:ext cx="2816352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6F8193"/>
            </a:solidFill>
            <a:prstDash val="solid"/>
          </a:ln>
        </p:spPr>
      </p:sp>
      <p:sp>
        <p:nvSpPr>
          <p:cNvPr id="32" name="Shape 28"/>
          <p:cNvSpPr/>
          <p:nvPr/>
        </p:nvSpPr>
        <p:spPr>
          <a:xfrm>
            <a:off x="8604504" y="4251960"/>
            <a:ext cx="438912" cy="310896"/>
          </a:xfrm>
          <a:prstGeom prst="roundRect">
            <a:avLst>
              <a:gd name="adj" fmla="val 23529"/>
            </a:avLst>
          </a:prstGeom>
          <a:solidFill>
            <a:srgbClr val="0B5CAD"/>
          </a:solidFill>
          <a:ln w="12700">
            <a:solidFill>
              <a:srgbClr val="6F8193"/>
            </a:solidFill>
            <a:prstDash val="solid"/>
          </a:ln>
        </p:spPr>
      </p:sp>
      <p:sp>
        <p:nvSpPr>
          <p:cNvPr id="33" name="Text 29"/>
          <p:cNvSpPr/>
          <p:nvPr/>
        </p:nvSpPr>
        <p:spPr>
          <a:xfrm>
            <a:off x="8677656" y="4261104"/>
            <a:ext cx="292608" cy="28346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FFFFFF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03</a:t>
            </a:r>
            <a:endParaRPr lang="en-US" sz="820" dirty="0"/>
          </a:p>
        </p:txBody>
      </p:sp>
      <p:sp>
        <p:nvSpPr>
          <p:cNvPr id="34" name="Text 30"/>
          <p:cNvSpPr/>
          <p:nvPr/>
        </p:nvSpPr>
        <p:spPr>
          <a:xfrm>
            <a:off x="9153144" y="4206240"/>
            <a:ext cx="957560" cy="36576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30" b="1" dirty="0">
                <a:solidFill>
                  <a:srgbClr val="003F8F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Generalized Topology</a:t>
            </a:r>
            <a:endParaRPr lang="en-US" sz="930" dirty="0"/>
          </a:p>
        </p:txBody>
      </p:sp>
      <p:sp>
        <p:nvSpPr>
          <p:cNvPr id="35" name="Text 31"/>
          <p:cNvSpPr/>
          <p:nvPr/>
        </p:nvSpPr>
        <p:spPr>
          <a:xfrm>
            <a:off x="10183856" y="4187952"/>
            <a:ext cx="962680" cy="3931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20" dirty="0">
                <a:solidFill>
                  <a:srgbClr val="5D6B7A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支持 3D Torus、Mesh 等非树结构</a:t>
            </a:r>
            <a:endParaRPr lang="en-US" sz="720" dirty="0"/>
          </a:p>
        </p:txBody>
      </p:sp>
      <p:sp>
        <p:nvSpPr>
          <p:cNvPr id="36" name="Shape 32"/>
          <p:cNvSpPr/>
          <p:nvPr/>
        </p:nvSpPr>
        <p:spPr>
          <a:xfrm>
            <a:off x="8458200" y="4818888"/>
            <a:ext cx="2816352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6F8193"/>
            </a:solidFill>
            <a:prstDash val="solid"/>
          </a:ln>
        </p:spPr>
      </p:sp>
      <p:sp>
        <p:nvSpPr>
          <p:cNvPr id="37" name="Shape 33"/>
          <p:cNvSpPr/>
          <p:nvPr/>
        </p:nvSpPr>
        <p:spPr>
          <a:xfrm>
            <a:off x="8604504" y="4965192"/>
            <a:ext cx="438912" cy="310896"/>
          </a:xfrm>
          <a:prstGeom prst="roundRect">
            <a:avLst>
              <a:gd name="adj" fmla="val 23529"/>
            </a:avLst>
          </a:prstGeom>
          <a:solidFill>
            <a:srgbClr val="0B5CAD"/>
          </a:solidFill>
          <a:ln w="12700">
            <a:solidFill>
              <a:srgbClr val="6F8193"/>
            </a:solidFill>
            <a:prstDash val="solid"/>
          </a:ln>
        </p:spPr>
      </p:sp>
      <p:sp>
        <p:nvSpPr>
          <p:cNvPr id="38" name="Text 34"/>
          <p:cNvSpPr/>
          <p:nvPr/>
        </p:nvSpPr>
        <p:spPr>
          <a:xfrm>
            <a:off x="8677656" y="4974336"/>
            <a:ext cx="292608" cy="28346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FFFFFF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04</a:t>
            </a:r>
            <a:endParaRPr lang="en-US" sz="820" dirty="0"/>
          </a:p>
        </p:txBody>
      </p:sp>
      <p:sp>
        <p:nvSpPr>
          <p:cNvPr id="39" name="Text 35"/>
          <p:cNvSpPr/>
          <p:nvPr/>
        </p:nvSpPr>
        <p:spPr>
          <a:xfrm>
            <a:off x="9153144" y="4919472"/>
            <a:ext cx="957560" cy="36576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30" b="1" dirty="0">
                <a:solidFill>
                  <a:srgbClr val="003F8F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开放发现源</a:t>
            </a:r>
            <a:endParaRPr lang="en-US" sz="930" dirty="0"/>
          </a:p>
        </p:txBody>
      </p:sp>
      <p:sp>
        <p:nvSpPr>
          <p:cNvPr id="40" name="Text 36"/>
          <p:cNvSpPr/>
          <p:nvPr/>
        </p:nvSpPr>
        <p:spPr>
          <a:xfrm>
            <a:off x="10183856" y="4901184"/>
            <a:ext cx="962680" cy="3931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20" dirty="0">
                <a:solidFill>
                  <a:srgbClr val="5D6B7A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LLDP / SNMP、DCIM、厂商与云 API</a:t>
            </a:r>
            <a:endParaRPr lang="en-US" sz="720" dirty="0"/>
          </a:p>
        </p:txBody>
      </p:sp>
      <p:sp>
        <p:nvSpPr>
          <p:cNvPr id="41" name="Shape 37"/>
          <p:cNvSpPr/>
          <p:nvPr/>
        </p:nvSpPr>
        <p:spPr>
          <a:xfrm>
            <a:off x="640080" y="6236208"/>
            <a:ext cx="10908792" cy="402336"/>
          </a:xfrm>
          <a:prstGeom prst="rect">
            <a:avLst/>
          </a:prstGeom>
          <a:solidFill>
            <a:srgbClr val="003F8F"/>
          </a:solidFill>
          <a:ln w="12700">
            <a:solidFill>
              <a:srgbClr val="003F8F">
                <a:alpha val="0"/>
              </a:srgbClr>
            </a:solidFill>
            <a:prstDash val="solid"/>
          </a:ln>
        </p:spPr>
      </p:sp>
      <p:sp>
        <p:nvSpPr>
          <p:cNvPr id="42" name="Shape 38"/>
          <p:cNvSpPr/>
          <p:nvPr/>
        </p:nvSpPr>
        <p:spPr>
          <a:xfrm>
            <a:off x="640080" y="6236208"/>
            <a:ext cx="109728" cy="402336"/>
          </a:xfrm>
          <a:prstGeom prst="rect">
            <a:avLst/>
          </a:prstGeom>
          <a:solidFill>
            <a:srgbClr val="E43D30"/>
          </a:solidFill>
          <a:ln w="12700">
            <a:solidFill>
              <a:srgbClr val="E43D30">
                <a:alpha val="0"/>
              </a:srgbClr>
            </a:solidFill>
            <a:prstDash val="solid"/>
          </a:ln>
        </p:spPr>
      </p:sp>
      <p:sp>
        <p:nvSpPr>
          <p:cNvPr id="43" name="Text 39"/>
          <p:cNvSpPr/>
          <p:nvPr/>
        </p:nvSpPr>
        <p:spPr>
          <a:xfrm>
            <a:off x="914400" y="6272784"/>
            <a:ext cx="10378440" cy="30175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目标是 vendor-neutral 的拓扑抽象，而不是为每一种网络单独实现调度策略</a:t>
            </a:r>
            <a:endParaRPr lang="en-US" sz="1500" dirty="0"/>
          </a:p>
        </p:txBody>
      </p:sp>
      <p:pic>
        <p:nvPicPr>
          <p:cNvPr id="602" name="Google Shape;602;p17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768350" y="2780030"/>
            <a:ext cx="4330065" cy="2216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03" name="Google Shape;603;p17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5204460" y="2679065"/>
            <a:ext cx="2720340" cy="2182495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Shape 23"/>
          <p:cNvSpPr/>
          <p:nvPr/>
        </p:nvSpPr>
        <p:spPr>
          <a:xfrm>
            <a:off x="2320925" y="5001895"/>
            <a:ext cx="1224915" cy="365760"/>
          </a:xfrm>
          <a:prstGeom prst="roundRect">
            <a:avLst>
              <a:gd name="adj" fmla="val 23529"/>
            </a:avLst>
          </a:prstGeom>
          <a:solidFill>
            <a:srgbClr val="0B5CAD"/>
          </a:solidFill>
          <a:ln w="12700">
            <a:solidFill>
              <a:srgbClr val="6F8193"/>
            </a:solidFill>
            <a:prstDash val="solid"/>
          </a:ln>
        </p:spPr>
        <p:txBody>
          <a:bodyPr/>
          <a:p>
            <a:pPr algn="ctr"/>
            <a:r>
              <a:rPr lang="en-US" sz="1400">
                <a:solidFill>
                  <a:schemeClr val="bg1"/>
                </a:solidFill>
              </a:rPr>
              <a:t>Multi-rail</a:t>
            </a:r>
            <a:endParaRPr lang="en-US" sz="1400">
              <a:solidFill>
                <a:schemeClr val="bg1"/>
              </a:solidFill>
            </a:endParaRPr>
          </a:p>
        </p:txBody>
      </p:sp>
      <p:sp>
        <p:nvSpPr>
          <p:cNvPr id="45" name="Shape 23"/>
          <p:cNvSpPr/>
          <p:nvPr/>
        </p:nvSpPr>
        <p:spPr>
          <a:xfrm>
            <a:off x="5951855" y="4990465"/>
            <a:ext cx="1224915" cy="365760"/>
          </a:xfrm>
          <a:prstGeom prst="roundRect">
            <a:avLst>
              <a:gd name="adj" fmla="val 23529"/>
            </a:avLst>
          </a:prstGeom>
          <a:solidFill>
            <a:srgbClr val="0B5CAD"/>
          </a:solidFill>
          <a:ln w="12700">
            <a:solidFill>
              <a:srgbClr val="6F8193"/>
            </a:solidFill>
            <a:prstDash val="solid"/>
          </a:ln>
        </p:spPr>
        <p:txBody>
          <a:bodyPr/>
          <a:p>
            <a:pPr algn="ctr"/>
            <a:r>
              <a:rPr lang="en-US" sz="1400">
                <a:solidFill>
                  <a:schemeClr val="bg1"/>
                </a:solidFill>
              </a:rPr>
              <a:t>Torus</a:t>
            </a:r>
            <a:endParaRPr lang="en-US" sz="140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858768" cy="6858000"/>
          </a:xfrm>
          <a:prstGeom prst="rect">
            <a:avLst/>
          </a:prstGeom>
          <a:solidFill>
            <a:srgbClr val="003F8F"/>
          </a:solidFill>
          <a:ln>
            <a:solidFill>
              <a:srgbClr val="003F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858768" y="0"/>
            <a:ext cx="109728" cy="6858000"/>
          </a:xfrm>
          <a:prstGeom prst="rect">
            <a:avLst/>
          </a:prstGeom>
          <a:solidFill>
            <a:srgbClr val="EF3C32"/>
          </a:solidFill>
          <a:ln>
            <a:solidFill>
              <a:srgbClr val="EF3C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566928"/>
            <a:ext cx="1920240" cy="1051560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defRPr sz="4800" b="0">
                <a:solidFill>
                  <a:srgbClr val="79B2E8"/>
                </a:solidFill>
                <a:latin typeface="PingFang SC" panose="020B0400000000000000" pitchFamily="34" charset="-122"/>
              </a:defRPr>
            </a:pPr>
            <a:r>
              <a:t>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627632"/>
            <a:ext cx="1783080" cy="256032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defRPr sz="1050" b="0">
                <a:solidFill>
                  <a:srgbClr val="FFFFFF"/>
                </a:solidFill>
                <a:latin typeface="PingFang SC" panose="020B0400000000000000" pitchFamily="34" charset="-122"/>
              </a:defRPr>
            </a:pPr>
            <a:r>
              <a:t>C H A P T E 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685161"/>
            <a:ext cx="2788920" cy="463550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defRPr sz="2900" b="1">
                <a:solidFill>
                  <a:srgbClr val="FFFFFF"/>
                </a:solidFill>
                <a:latin typeface="PingFang SC" panose="020B0400000000000000" pitchFamily="34" charset="-122"/>
              </a:defRPr>
            </a:pPr>
            <a:r>
              <a:rPr lang="zh-CN" altLang="en-US"/>
              <a:t>推理服务编排</a:t>
            </a:r>
            <a:endParaRPr lang="zh-CN" altLang="en-US"/>
          </a:p>
        </p:txBody>
      </p:sp>
      <p:sp>
        <p:nvSpPr>
          <p:cNvPr id="8" name="Rectangle 7"/>
          <p:cNvSpPr/>
          <p:nvPr/>
        </p:nvSpPr>
        <p:spPr>
          <a:xfrm>
            <a:off x="713232" y="5148072"/>
            <a:ext cx="2468880" cy="36576"/>
          </a:xfrm>
          <a:prstGeom prst="rect">
            <a:avLst/>
          </a:prstGeom>
          <a:solidFill>
            <a:srgbClr val="EF3C32"/>
          </a:solidFill>
          <a:ln>
            <a:solidFill>
              <a:srgbClr val="EF3C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volcano-horizontal-color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5998464"/>
            <a:ext cx="1572768" cy="27097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1475720" y="6473952"/>
            <a:ext cx="347472" cy="182880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>
              <a:defRPr sz="780" b="0">
                <a:solidFill>
                  <a:srgbClr val="66788A"/>
                </a:solidFill>
                <a:latin typeface="PingFang SC" panose="020B0400000000000000" pitchFamily="34" charset="-122"/>
              </a:defRPr>
            </a:pPr>
            <a:r>
              <a:t>26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645152" y="1307592"/>
            <a:ext cx="6583680" cy="713232"/>
          </a:xfrm>
          <a:prstGeom prst="rect">
            <a:avLst/>
          </a:prstGeom>
          <a:solidFill>
            <a:srgbClr val="FFFFFF"/>
          </a:solidFill>
          <a:ln w="11430">
            <a:solidFill>
              <a:srgbClr val="0B5C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864608" y="1481328"/>
            <a:ext cx="530352" cy="320040"/>
          </a:xfrm>
          <a:prstGeom prst="roundRect">
            <a:avLst>
              <a:gd name="adj" fmla="val 8000"/>
            </a:avLst>
          </a:prstGeom>
          <a:solidFill>
            <a:srgbClr val="0B5CAD"/>
          </a:solidFill>
          <a:ln w="8890">
            <a:solidFill>
              <a:srgbClr val="0B5C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64608" y="1545336"/>
            <a:ext cx="530352" cy="118872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>
              <a:defRPr sz="820" b="1">
                <a:solidFill>
                  <a:srgbClr val="FFFFFF"/>
                </a:solidFill>
                <a:latin typeface="PingFang SC" panose="020B0400000000000000" pitchFamily="34" charset="-122"/>
              </a:defRPr>
            </a:pPr>
            <a: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50992" y="1545335"/>
            <a:ext cx="2057400" cy="204470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defRPr sz="1220" b="1">
                <a:solidFill>
                  <a:srgbClr val="003F8F"/>
                </a:solidFill>
                <a:latin typeface="PingFang SC" panose="020B0400000000000000" pitchFamily="34" charset="-122"/>
              </a:defRPr>
            </a:pPr>
            <a:r>
              <a:rPr lang="zh-CN">
                <a:latin typeface="PingFang SC Semibold" panose="020B0400000000000000" charset="-122"/>
                <a:ea typeface="PingFang SC Semibold" panose="020B0400000000000000" charset="-122"/>
              </a:rPr>
              <a:t>推理</a:t>
            </a:r>
            <a:r>
              <a:rPr>
                <a:latin typeface="PingFang SC Semibold" panose="020B0400000000000000" charset="-122"/>
                <a:ea typeface="PingFang SC Semibold" panose="020B0400000000000000" charset="-122"/>
              </a:rPr>
              <a:t>服务抽象与调度接入</a:t>
            </a:r>
            <a:endParaRPr>
              <a:latin typeface="PingFang SC Semibold" panose="020B0400000000000000" charset="-122"/>
              <a:ea typeface="PingFang SC Semibold" panose="020B0400000000000000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7754112" y="1506346"/>
            <a:ext cx="3218688" cy="256032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defRPr sz="930" b="0">
                <a:solidFill>
                  <a:srgbClr val="172033"/>
                </a:solidFill>
                <a:latin typeface="PingFang SC" panose="020B0400000000000000" pitchFamily="34" charset="-122"/>
              </a:defRPr>
            </a:pPr>
            <a:r>
              <a:t>Kthena 如何把服务结构交给 Volcano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645152" y="2295144"/>
            <a:ext cx="6583680" cy="713232"/>
          </a:xfrm>
          <a:prstGeom prst="rect">
            <a:avLst/>
          </a:prstGeom>
          <a:solidFill>
            <a:srgbClr val="FFFFFF"/>
          </a:solidFill>
          <a:ln w="11430">
            <a:solidFill>
              <a:srgbClr val="0B5C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864608" y="2468879"/>
            <a:ext cx="530352" cy="320040"/>
          </a:xfrm>
          <a:prstGeom prst="roundRect">
            <a:avLst>
              <a:gd name="adj" fmla="val 8000"/>
            </a:avLst>
          </a:prstGeom>
          <a:solidFill>
            <a:srgbClr val="0B5CAD"/>
          </a:solidFill>
          <a:ln w="8890">
            <a:solidFill>
              <a:srgbClr val="0B5C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864608" y="2532887"/>
            <a:ext cx="530352" cy="118872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>
              <a:defRPr sz="820" b="1">
                <a:solidFill>
                  <a:srgbClr val="FFFFFF"/>
                </a:solidFill>
                <a:latin typeface="PingFang SC" panose="020B0400000000000000" pitchFamily="34" charset="-122"/>
              </a:defRPr>
            </a:pPr>
            <a:r>
              <a:t>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50865" y="2489518"/>
            <a:ext cx="2358390" cy="204470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defRPr sz="1220" b="1">
                <a:solidFill>
                  <a:srgbClr val="003F8F"/>
                </a:solidFill>
                <a:latin typeface="PingFang SC" panose="020B0400000000000000" pitchFamily="34" charset="-122"/>
              </a:defRPr>
            </a:pPr>
            <a:r>
              <a:t>ServingGroup / Role 分层调度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25562" y="2466593"/>
            <a:ext cx="3218688" cy="256032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defRPr sz="930" b="0">
                <a:solidFill>
                  <a:srgbClr val="172033"/>
                </a:solidFill>
                <a:latin typeface="PingFang SC" panose="020B0400000000000000" pitchFamily="34" charset="-122"/>
              </a:defRPr>
            </a:pPr>
            <a:r>
              <a:t>最小可用规模与 Role 内部成组启动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645152" y="3282696"/>
            <a:ext cx="6583680" cy="713232"/>
          </a:xfrm>
          <a:prstGeom prst="rect">
            <a:avLst/>
          </a:prstGeom>
          <a:solidFill>
            <a:srgbClr val="FFFFFF"/>
          </a:solidFill>
          <a:ln w="11430">
            <a:solidFill>
              <a:srgbClr val="0B5C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4864608" y="3456432"/>
            <a:ext cx="530352" cy="320040"/>
          </a:xfrm>
          <a:prstGeom prst="roundRect">
            <a:avLst>
              <a:gd name="adj" fmla="val 8000"/>
            </a:avLst>
          </a:prstGeom>
          <a:solidFill>
            <a:srgbClr val="0B5CAD"/>
          </a:solidFill>
          <a:ln w="8890">
            <a:solidFill>
              <a:srgbClr val="0B5C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864608" y="3520439"/>
            <a:ext cx="530352" cy="118872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>
              <a:defRPr sz="820" b="1">
                <a:solidFill>
                  <a:srgbClr val="FFFFFF"/>
                </a:solidFill>
                <a:latin typeface="PingFang SC" panose="020B0400000000000000" pitchFamily="34" charset="-122"/>
              </a:defRPr>
            </a:pPr>
            <a:r>
              <a:t>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50992" y="3410712"/>
            <a:ext cx="2057400" cy="219456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defRPr sz="1220" b="1">
                <a:solidFill>
                  <a:srgbClr val="003F8F"/>
                </a:solidFill>
                <a:latin typeface="PingFang SC" panose="020B0400000000000000" pitchFamily="34" charset="-122"/>
              </a:defRPr>
            </a:pPr>
            <a:r>
              <a:t>ModelServing 到 PodGroup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54112" y="3419856"/>
            <a:ext cx="3218688" cy="256032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defRPr sz="930" b="0">
                <a:solidFill>
                  <a:srgbClr val="172033"/>
                </a:solidFill>
                <a:latin typeface="PingFang SC" panose="020B0400000000000000" pitchFamily="34" charset="-122"/>
              </a:defRPr>
            </a:pPr>
            <a:r>
              <a:t>Queue、Gang、SubGroupPolicy 与拓扑约束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645152" y="4270248"/>
            <a:ext cx="6583680" cy="713232"/>
          </a:xfrm>
          <a:prstGeom prst="rect">
            <a:avLst/>
          </a:prstGeom>
          <a:solidFill>
            <a:srgbClr val="FFFFFF"/>
          </a:solidFill>
          <a:ln w="11430">
            <a:solidFill>
              <a:srgbClr val="7180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4864608" y="4443984"/>
            <a:ext cx="530352" cy="320040"/>
          </a:xfrm>
          <a:prstGeom prst="roundRect">
            <a:avLst>
              <a:gd name="adj" fmla="val 8000"/>
            </a:avLst>
          </a:prstGeom>
          <a:solidFill>
            <a:schemeClr val="accent1"/>
          </a:solidFill>
          <a:ln w="8890">
            <a:solidFill>
              <a:srgbClr val="7180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864608" y="4507992"/>
            <a:ext cx="530352" cy="118872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>
              <a:defRPr sz="820" b="1">
                <a:solidFill>
                  <a:srgbClr val="FFFFFF"/>
                </a:solidFill>
                <a:latin typeface="PingFang SC" panose="020B0400000000000000" pitchFamily="34" charset="-122"/>
              </a:defRPr>
            </a:pPr>
            <a:r>
              <a:t>04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650992" y="4398264"/>
            <a:ext cx="2057400" cy="219456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defRPr sz="1220" b="1">
                <a:solidFill>
                  <a:srgbClr val="003F8F"/>
                </a:solidFill>
                <a:latin typeface="PingFang SC" panose="020B0400000000000000" pitchFamily="34" charset="-122"/>
              </a:defRPr>
            </a:pPr>
            <a:r>
              <a:t>扩缩容中的训推资源协同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54112" y="4407408"/>
            <a:ext cx="3218688" cy="256032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defRPr sz="930" b="0">
                <a:solidFill>
                  <a:srgbClr val="172033"/>
                </a:solidFill>
                <a:latin typeface="PingFang SC" panose="020B0400000000000000" pitchFamily="34" charset="-122"/>
              </a:defRPr>
            </a:pPr>
            <a:r>
              <a:t>推理扩容触发归还，缩容后重新借用</a:t>
            </a:r>
          </a:p>
        </p:txBody>
      </p:sp>
      <p:pic>
        <p:nvPicPr>
          <p:cNvPr id="31" name="Picture 30" descr="volcano-horizontal-color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42448" y="6236208"/>
            <a:ext cx="1051560" cy="181176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F8F"/>
          </a:solidFill>
          <a:ln w="12700">
            <a:solidFill>
              <a:srgbClr val="003F8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" y="228600"/>
            <a:ext cx="1417320" cy="393192"/>
          </a:xfrm>
          <a:prstGeom prst="chevron">
            <a:avLst/>
          </a:prstGeom>
          <a:solidFill>
            <a:srgbClr val="003F8F"/>
          </a:solidFill>
          <a:ln w="12700">
            <a:solidFill>
              <a:srgbClr val="003F8F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274320"/>
            <a:ext cx="1078992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第四章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2212848" y="182880"/>
            <a:ext cx="7635240" cy="51206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003F8F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Kthena 模型服务抽象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58368" y="832104"/>
            <a:ext cx="10744200" cy="34747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30" dirty="0">
                <a:solidFill>
                  <a:srgbClr val="5D6B7A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用 ModelServing、ServingGroup 与 Role 表达完整服务实例</a:t>
            </a:r>
            <a:endParaRPr lang="en-US" sz="1530" dirty="0"/>
          </a:p>
        </p:txBody>
      </p:sp>
      <p:sp>
        <p:nvSpPr>
          <p:cNvPr id="7" name="Shape 5"/>
          <p:cNvSpPr/>
          <p:nvPr/>
        </p:nvSpPr>
        <p:spPr>
          <a:xfrm>
            <a:off x="566928" y="1225296"/>
            <a:ext cx="11018520" cy="0"/>
          </a:xfrm>
          <a:prstGeom prst="line">
            <a:avLst/>
          </a:prstGeom>
          <a:noFill/>
          <a:ln w="11430">
            <a:solidFill>
              <a:srgbClr val="B9C8D8"/>
            </a:solidFill>
            <a:prstDash val="solid"/>
            <a:headEnd type="none"/>
          </a:ln>
        </p:spPr>
      </p:sp>
      <p:sp>
        <p:nvSpPr>
          <p:cNvPr id="8" name="Shape 6"/>
          <p:cNvSpPr/>
          <p:nvPr/>
        </p:nvSpPr>
        <p:spPr>
          <a:xfrm>
            <a:off x="566928" y="1179576"/>
            <a:ext cx="1225296" cy="91440"/>
          </a:xfrm>
          <a:prstGeom prst="rect">
            <a:avLst/>
          </a:prstGeom>
          <a:solidFill>
            <a:srgbClr val="E43D30"/>
          </a:solidFill>
          <a:ln w="12700">
            <a:solidFill>
              <a:srgbClr val="E43D30">
                <a:alpha val="0"/>
              </a:srgbClr>
            </a:solidFill>
            <a:prstDash val="solid"/>
          </a:ln>
        </p:spPr>
      </p:sp>
      <p:pic>
        <p:nvPicPr>
          <p:cNvPr id="9" name="Image 0" descr="/Users/chenzicong/Documents/Codex/2026-07-20/wo/outputs/volcano-unified-scheduling-editable/assets/volcano-logo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97312" y="321114"/>
            <a:ext cx="1078992" cy="180733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1475720" y="6492240"/>
            <a:ext cx="347472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768597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28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658368" y="1353312"/>
            <a:ext cx="10890504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0B5CAD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58368" y="1353312"/>
            <a:ext cx="109728" cy="438912"/>
          </a:xfrm>
          <a:prstGeom prst="rect">
            <a:avLst/>
          </a:prstGeom>
          <a:solidFill>
            <a:srgbClr val="E43D30"/>
          </a:solidFill>
          <a:ln w="12700">
            <a:solidFill>
              <a:srgbClr val="E43D3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932688" y="1435608"/>
            <a:ext cx="10314432" cy="24688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20" b="1" dirty="0">
                <a:solidFill>
                  <a:srgbClr val="172033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服务语义向下投影为 PodGroup、SubGroup 与 Pod</a:t>
            </a:r>
            <a:r>
              <a:rPr lang="zh-CN" altLang="en-US" sz="1420" b="1" dirty="0">
                <a:solidFill>
                  <a:srgbClr val="172033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，而不是没有关系的一组</a:t>
            </a:r>
            <a:r>
              <a:rPr lang="en-US" altLang="zh-CN" sz="1420" b="1" dirty="0">
                <a:solidFill>
                  <a:srgbClr val="172033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Deployment</a:t>
            </a:r>
            <a:endParaRPr lang="en-US" altLang="zh-CN" sz="1420" b="1" dirty="0">
              <a:solidFill>
                <a:srgbClr val="172033"/>
              </a:solidFill>
              <a:latin typeface="PingFang SC" panose="020B0400000000000000" pitchFamily="34" charset="-122"/>
              <a:ea typeface="PingFang SC" panose="020B0400000000000000" pitchFamily="34" charset="-122"/>
              <a:cs typeface="PingFang SC" panose="020B0400000000000000" pitchFamily="34" charset="-120"/>
            </a:endParaRPr>
          </a:p>
        </p:txBody>
      </p:sp>
      <p:sp>
        <p:nvSpPr>
          <p:cNvPr id="14" name="Shape 11"/>
          <p:cNvSpPr/>
          <p:nvPr/>
        </p:nvSpPr>
        <p:spPr>
          <a:xfrm>
            <a:off x="658368" y="1938528"/>
            <a:ext cx="6693408" cy="3913632"/>
          </a:xfrm>
          <a:prstGeom prst="rect">
            <a:avLst/>
          </a:prstGeom>
          <a:solidFill>
            <a:srgbClr val="FFFFFF"/>
          </a:solidFill>
          <a:ln w="12700">
            <a:solidFill>
              <a:srgbClr val="B7C4D1"/>
            </a:solidFill>
            <a:prstDash val="solid"/>
          </a:ln>
        </p:spPr>
      </p:sp>
      <p:pic>
        <p:nvPicPr>
          <p:cNvPr id="17" name="Image 1" descr="/Users/chenzicong/Documents/Codex/2026-07-20/wo/outputs/volcano-unified-scheduling-editable/assets/kthena-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3440" y="1965325"/>
            <a:ext cx="3781425" cy="3754755"/>
          </a:xfrm>
          <a:prstGeom prst="rect">
            <a:avLst/>
          </a:prstGeom>
        </p:spPr>
      </p:pic>
      <p:sp>
        <p:nvSpPr>
          <p:cNvPr id="18" name="Shape 14"/>
          <p:cNvSpPr/>
          <p:nvPr/>
        </p:nvSpPr>
        <p:spPr>
          <a:xfrm>
            <a:off x="7562088" y="1938528"/>
            <a:ext cx="3977640" cy="3913632"/>
          </a:xfrm>
          <a:prstGeom prst="rect">
            <a:avLst/>
          </a:prstGeom>
          <a:solidFill>
            <a:srgbClr val="F8FAFC"/>
          </a:solidFill>
          <a:ln w="12700">
            <a:solidFill>
              <a:srgbClr val="003F8F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7772400" y="2130552"/>
            <a:ext cx="1234440" cy="347472"/>
          </a:xfrm>
          <a:prstGeom prst="chevron">
            <a:avLst/>
          </a:prstGeom>
          <a:solidFill>
            <a:srgbClr val="003F8F"/>
          </a:solidFill>
          <a:ln w="12700">
            <a:solidFill>
              <a:srgbClr val="003F8F">
                <a:alpha val="0"/>
              </a:srgbClr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7845552" y="2167128"/>
            <a:ext cx="1033272" cy="24688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调度投影</a:t>
            </a:r>
            <a:endParaRPr lang="en-US" sz="950" b="1" dirty="0">
              <a:solidFill>
                <a:srgbClr val="FFFFFF"/>
              </a:solidFill>
              <a:latin typeface="PingFang SC" panose="020B0400000000000000" pitchFamily="34" charset="-122"/>
              <a:ea typeface="PingFang SC" panose="020B0400000000000000" pitchFamily="34" charset="-122"/>
              <a:cs typeface="PingFang SC" panose="020B0400000000000000" pitchFamily="34" charset="-120"/>
            </a:endParaRPr>
          </a:p>
        </p:txBody>
      </p:sp>
      <p:sp>
        <p:nvSpPr>
          <p:cNvPr id="21" name="Shape 17"/>
          <p:cNvSpPr/>
          <p:nvPr/>
        </p:nvSpPr>
        <p:spPr>
          <a:xfrm>
            <a:off x="7836408" y="2670048"/>
            <a:ext cx="34290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6F8193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7955280" y="2752344"/>
            <a:ext cx="1005840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950" b="1" dirty="0">
                <a:solidFill>
                  <a:srgbClr val="003F8F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ModelServing</a:t>
            </a:r>
            <a:endParaRPr lang="en-US" sz="950" b="1" dirty="0">
              <a:solidFill>
                <a:srgbClr val="003F8F"/>
              </a:solidFill>
              <a:latin typeface="PingFang SC" panose="020B0400000000000000" pitchFamily="34" charset="-122"/>
              <a:ea typeface="PingFang SC" panose="020B0400000000000000" pitchFamily="34" charset="-122"/>
              <a:cs typeface="PingFang SC" panose="020B0400000000000000" pitchFamily="34" charset="-120"/>
            </a:endParaRPr>
          </a:p>
        </p:txBody>
      </p:sp>
      <p:sp>
        <p:nvSpPr>
          <p:cNvPr id="23" name="Text 19"/>
          <p:cNvSpPr/>
          <p:nvPr/>
        </p:nvSpPr>
        <p:spPr>
          <a:xfrm>
            <a:off x="8961120" y="2743200"/>
            <a:ext cx="1417320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5D6B7A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模型、版本与副本策略</a:t>
            </a:r>
            <a:endParaRPr lang="en-US" sz="950" dirty="0">
              <a:solidFill>
                <a:srgbClr val="5D6B7A"/>
              </a:solidFill>
              <a:latin typeface="PingFang SC" panose="020B0400000000000000" pitchFamily="34" charset="-122"/>
              <a:ea typeface="PingFang SC" panose="020B0400000000000000" pitchFamily="34" charset="-122"/>
              <a:cs typeface="PingFang SC" panose="020B0400000000000000" pitchFamily="34" charset="-120"/>
            </a:endParaRPr>
          </a:p>
        </p:txBody>
      </p:sp>
      <p:sp>
        <p:nvSpPr>
          <p:cNvPr id="24" name="Shape 20"/>
          <p:cNvSpPr/>
          <p:nvPr/>
        </p:nvSpPr>
        <p:spPr>
          <a:xfrm>
            <a:off x="10451592" y="2734056"/>
            <a:ext cx="640080" cy="228600"/>
          </a:xfrm>
          <a:prstGeom prst="rect">
            <a:avLst/>
          </a:prstGeom>
          <a:solidFill>
            <a:srgbClr val="F2F5F8"/>
          </a:solidFill>
          <a:ln w="8890">
            <a:solidFill>
              <a:srgbClr val="6F8193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10488168" y="2775204"/>
            <a:ext cx="566928" cy="13716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6F8193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服务声明</a:t>
            </a:r>
            <a:endParaRPr lang="en-US" sz="950" b="1" dirty="0">
              <a:solidFill>
                <a:srgbClr val="6F8193"/>
              </a:solidFill>
              <a:latin typeface="PingFang SC" panose="020B0400000000000000" pitchFamily="34" charset="-122"/>
              <a:ea typeface="PingFang SC" panose="020B0400000000000000" pitchFamily="34" charset="-122"/>
              <a:cs typeface="PingFang SC" panose="020B0400000000000000" pitchFamily="34" charset="-120"/>
            </a:endParaRPr>
          </a:p>
        </p:txBody>
      </p:sp>
      <p:sp>
        <p:nvSpPr>
          <p:cNvPr id="26" name="Shape 22"/>
          <p:cNvSpPr/>
          <p:nvPr/>
        </p:nvSpPr>
        <p:spPr>
          <a:xfrm>
            <a:off x="7836408" y="3374136"/>
            <a:ext cx="34290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0B5CAD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7955280" y="3456432"/>
            <a:ext cx="1005840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950" b="1" dirty="0">
                <a:solidFill>
                  <a:srgbClr val="003F8F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ServingGroup</a:t>
            </a:r>
            <a:endParaRPr lang="en-US" sz="950" b="1" dirty="0">
              <a:solidFill>
                <a:srgbClr val="003F8F"/>
              </a:solidFill>
              <a:latin typeface="PingFang SC" panose="020B0400000000000000" pitchFamily="34" charset="-122"/>
              <a:ea typeface="PingFang SC" panose="020B0400000000000000" pitchFamily="34" charset="-122"/>
              <a:cs typeface="PingFang SC" panose="020B0400000000000000" pitchFamily="34" charset="-120"/>
            </a:endParaRPr>
          </a:p>
        </p:txBody>
      </p:sp>
      <p:sp>
        <p:nvSpPr>
          <p:cNvPr id="28" name="Text 24"/>
          <p:cNvSpPr/>
          <p:nvPr/>
        </p:nvSpPr>
        <p:spPr>
          <a:xfrm>
            <a:off x="8961120" y="3447288"/>
            <a:ext cx="1417320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5D6B7A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完整推理实例 / PD Group</a:t>
            </a:r>
            <a:endParaRPr lang="en-US" sz="950" dirty="0">
              <a:solidFill>
                <a:srgbClr val="5D6B7A"/>
              </a:solidFill>
              <a:latin typeface="PingFang SC" panose="020B0400000000000000" pitchFamily="34" charset="-122"/>
              <a:ea typeface="PingFang SC" panose="020B0400000000000000" pitchFamily="34" charset="-122"/>
              <a:cs typeface="PingFang SC" panose="020B0400000000000000" pitchFamily="34" charset="-120"/>
            </a:endParaRPr>
          </a:p>
        </p:txBody>
      </p:sp>
      <p:sp>
        <p:nvSpPr>
          <p:cNvPr id="29" name="Shape 25"/>
          <p:cNvSpPr/>
          <p:nvPr/>
        </p:nvSpPr>
        <p:spPr>
          <a:xfrm>
            <a:off x="10451592" y="3438144"/>
            <a:ext cx="640080" cy="228600"/>
          </a:xfrm>
          <a:prstGeom prst="rect">
            <a:avLst/>
          </a:prstGeom>
          <a:solidFill>
            <a:srgbClr val="F2F5F8"/>
          </a:solidFill>
          <a:ln w="8890">
            <a:solidFill>
              <a:srgbClr val="6F8193"/>
            </a:solidFill>
            <a:prstDash val="solid"/>
          </a:ln>
        </p:spPr>
      </p:sp>
      <p:sp>
        <p:nvSpPr>
          <p:cNvPr id="30" name="Text 26"/>
          <p:cNvSpPr/>
          <p:nvPr/>
        </p:nvSpPr>
        <p:spPr>
          <a:xfrm>
            <a:off x="10488168" y="3479292"/>
            <a:ext cx="566928" cy="13716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6F8193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PodGroup</a:t>
            </a:r>
            <a:endParaRPr lang="en-US" sz="950" b="1" dirty="0">
              <a:solidFill>
                <a:srgbClr val="6F8193"/>
              </a:solidFill>
              <a:latin typeface="PingFang SC" panose="020B0400000000000000" pitchFamily="34" charset="-122"/>
              <a:ea typeface="PingFang SC" panose="020B0400000000000000" pitchFamily="34" charset="-122"/>
              <a:cs typeface="PingFang SC" panose="020B0400000000000000" pitchFamily="34" charset="-120"/>
            </a:endParaRPr>
          </a:p>
        </p:txBody>
      </p:sp>
      <p:sp>
        <p:nvSpPr>
          <p:cNvPr id="31" name="Shape 27"/>
          <p:cNvSpPr/>
          <p:nvPr/>
        </p:nvSpPr>
        <p:spPr>
          <a:xfrm>
            <a:off x="7836408" y="4078224"/>
            <a:ext cx="34290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6F8193"/>
            </a:solidFill>
            <a:prstDash val="solid"/>
          </a:ln>
        </p:spPr>
      </p:sp>
      <p:sp>
        <p:nvSpPr>
          <p:cNvPr id="32" name="Text 28"/>
          <p:cNvSpPr/>
          <p:nvPr/>
        </p:nvSpPr>
        <p:spPr>
          <a:xfrm>
            <a:off x="7955280" y="4160520"/>
            <a:ext cx="1005840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950" b="1" dirty="0">
                <a:solidFill>
                  <a:srgbClr val="003F8F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Role / Instance</a:t>
            </a:r>
            <a:endParaRPr lang="en-US" sz="950" b="1" dirty="0">
              <a:solidFill>
                <a:srgbClr val="003F8F"/>
              </a:solidFill>
              <a:latin typeface="PingFang SC" panose="020B0400000000000000" pitchFamily="34" charset="-122"/>
              <a:ea typeface="PingFang SC" panose="020B0400000000000000" pitchFamily="34" charset="-122"/>
              <a:cs typeface="PingFang SC" panose="020B0400000000000000" pitchFamily="34" charset="-120"/>
            </a:endParaRPr>
          </a:p>
        </p:txBody>
      </p:sp>
      <p:sp>
        <p:nvSpPr>
          <p:cNvPr id="33" name="Text 29"/>
          <p:cNvSpPr/>
          <p:nvPr/>
        </p:nvSpPr>
        <p:spPr>
          <a:xfrm>
            <a:off x="8878570" y="4151630"/>
            <a:ext cx="1499870" cy="20129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5D6B7A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Prefill · Decode </a:t>
            </a:r>
            <a:endParaRPr lang="en-US" sz="950" dirty="0">
              <a:solidFill>
                <a:srgbClr val="5D6B7A"/>
              </a:solidFill>
              <a:latin typeface="PingFang SC" panose="020B0400000000000000" pitchFamily="34" charset="-122"/>
              <a:ea typeface="PingFang SC" panose="020B0400000000000000" pitchFamily="34" charset="-122"/>
              <a:cs typeface="PingFang SC" panose="020B0400000000000000" pitchFamily="34" charset="-120"/>
            </a:endParaRPr>
          </a:p>
        </p:txBody>
      </p:sp>
      <p:sp>
        <p:nvSpPr>
          <p:cNvPr id="34" name="Shape 30"/>
          <p:cNvSpPr/>
          <p:nvPr/>
        </p:nvSpPr>
        <p:spPr>
          <a:xfrm>
            <a:off x="10451592" y="4142232"/>
            <a:ext cx="640080" cy="228600"/>
          </a:xfrm>
          <a:prstGeom prst="rect">
            <a:avLst/>
          </a:prstGeom>
          <a:solidFill>
            <a:srgbClr val="F2F5F8"/>
          </a:solidFill>
          <a:ln w="8890">
            <a:solidFill>
              <a:srgbClr val="6F8193"/>
            </a:solidFill>
            <a:prstDash val="solid"/>
          </a:ln>
        </p:spPr>
      </p:sp>
      <p:sp>
        <p:nvSpPr>
          <p:cNvPr id="35" name="Text 31"/>
          <p:cNvSpPr/>
          <p:nvPr/>
        </p:nvSpPr>
        <p:spPr>
          <a:xfrm>
            <a:off x="10488168" y="4183380"/>
            <a:ext cx="566928" cy="13716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6F8193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SubGroup</a:t>
            </a:r>
            <a:endParaRPr lang="en-US" sz="950" b="1" dirty="0">
              <a:solidFill>
                <a:srgbClr val="6F8193"/>
              </a:solidFill>
              <a:latin typeface="PingFang SC" panose="020B0400000000000000" pitchFamily="34" charset="-122"/>
              <a:ea typeface="PingFang SC" panose="020B0400000000000000" pitchFamily="34" charset="-122"/>
              <a:cs typeface="PingFang SC" panose="020B0400000000000000" pitchFamily="34" charset="-120"/>
            </a:endParaRPr>
          </a:p>
        </p:txBody>
      </p:sp>
      <p:sp>
        <p:nvSpPr>
          <p:cNvPr id="36" name="Shape 32"/>
          <p:cNvSpPr/>
          <p:nvPr/>
        </p:nvSpPr>
        <p:spPr>
          <a:xfrm>
            <a:off x="7836408" y="4782312"/>
            <a:ext cx="34290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6F8193"/>
            </a:solidFill>
            <a:prstDash val="solid"/>
          </a:ln>
        </p:spPr>
      </p:sp>
      <p:sp>
        <p:nvSpPr>
          <p:cNvPr id="37" name="Text 33"/>
          <p:cNvSpPr/>
          <p:nvPr/>
        </p:nvSpPr>
        <p:spPr>
          <a:xfrm>
            <a:off x="7955280" y="4864608"/>
            <a:ext cx="1005840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950" b="1" dirty="0">
                <a:solidFill>
                  <a:srgbClr val="003F8F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Entry / Worker</a:t>
            </a:r>
            <a:endParaRPr lang="en-US" sz="950" b="1" dirty="0">
              <a:solidFill>
                <a:srgbClr val="003F8F"/>
              </a:solidFill>
              <a:latin typeface="PingFang SC" panose="020B0400000000000000" pitchFamily="34" charset="-122"/>
              <a:ea typeface="PingFang SC" panose="020B0400000000000000" pitchFamily="34" charset="-122"/>
              <a:cs typeface="PingFang SC" panose="020B0400000000000000" pitchFamily="34" charset="-120"/>
            </a:endParaRPr>
          </a:p>
        </p:txBody>
      </p:sp>
      <p:sp>
        <p:nvSpPr>
          <p:cNvPr id="38" name="Text 34"/>
          <p:cNvSpPr/>
          <p:nvPr/>
        </p:nvSpPr>
        <p:spPr>
          <a:xfrm>
            <a:off x="8961120" y="4855464"/>
            <a:ext cx="1417320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5D6B7A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具体运行副本</a:t>
            </a:r>
            <a:endParaRPr lang="en-US" sz="950" dirty="0">
              <a:solidFill>
                <a:srgbClr val="5D6B7A"/>
              </a:solidFill>
              <a:latin typeface="PingFang SC" panose="020B0400000000000000" pitchFamily="34" charset="-122"/>
              <a:ea typeface="PingFang SC" panose="020B0400000000000000" pitchFamily="34" charset="-122"/>
              <a:cs typeface="PingFang SC" panose="020B0400000000000000" pitchFamily="34" charset="-120"/>
            </a:endParaRPr>
          </a:p>
        </p:txBody>
      </p:sp>
      <p:sp>
        <p:nvSpPr>
          <p:cNvPr id="39" name="Shape 35"/>
          <p:cNvSpPr/>
          <p:nvPr/>
        </p:nvSpPr>
        <p:spPr>
          <a:xfrm>
            <a:off x="10451592" y="4846320"/>
            <a:ext cx="640080" cy="228600"/>
          </a:xfrm>
          <a:prstGeom prst="rect">
            <a:avLst/>
          </a:prstGeom>
          <a:solidFill>
            <a:srgbClr val="F2F5F8"/>
          </a:solidFill>
          <a:ln w="8890">
            <a:solidFill>
              <a:srgbClr val="6F8193"/>
            </a:solidFill>
            <a:prstDash val="solid"/>
          </a:ln>
        </p:spPr>
      </p:sp>
      <p:sp>
        <p:nvSpPr>
          <p:cNvPr id="40" name="Text 36"/>
          <p:cNvSpPr/>
          <p:nvPr/>
        </p:nvSpPr>
        <p:spPr>
          <a:xfrm>
            <a:off x="10488168" y="4887468"/>
            <a:ext cx="566928" cy="13716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6F8193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Pod</a:t>
            </a:r>
            <a:endParaRPr lang="en-US" sz="950" b="1" dirty="0">
              <a:solidFill>
                <a:srgbClr val="6F8193"/>
              </a:solidFill>
              <a:latin typeface="PingFang SC" panose="020B0400000000000000" pitchFamily="34" charset="-122"/>
              <a:ea typeface="PingFang SC" panose="020B0400000000000000" pitchFamily="34" charset="-122"/>
              <a:cs typeface="PingFang SC" panose="020B0400000000000000" pitchFamily="34" charset="-120"/>
            </a:endParaRPr>
          </a:p>
        </p:txBody>
      </p:sp>
      <p:sp>
        <p:nvSpPr>
          <p:cNvPr id="41" name="Shape 37"/>
          <p:cNvSpPr/>
          <p:nvPr/>
        </p:nvSpPr>
        <p:spPr>
          <a:xfrm>
            <a:off x="640080" y="6236208"/>
            <a:ext cx="10908792" cy="402336"/>
          </a:xfrm>
          <a:prstGeom prst="rect">
            <a:avLst/>
          </a:prstGeom>
          <a:solidFill>
            <a:srgbClr val="003F8F"/>
          </a:solidFill>
          <a:ln w="12700">
            <a:solidFill>
              <a:srgbClr val="003F8F">
                <a:alpha val="0"/>
              </a:srgbClr>
            </a:solidFill>
            <a:prstDash val="solid"/>
          </a:ln>
        </p:spPr>
      </p:sp>
      <p:sp>
        <p:nvSpPr>
          <p:cNvPr id="42" name="Shape 38"/>
          <p:cNvSpPr/>
          <p:nvPr/>
        </p:nvSpPr>
        <p:spPr>
          <a:xfrm>
            <a:off x="640080" y="6236208"/>
            <a:ext cx="109728" cy="402336"/>
          </a:xfrm>
          <a:prstGeom prst="rect">
            <a:avLst/>
          </a:prstGeom>
          <a:solidFill>
            <a:srgbClr val="E43D30"/>
          </a:solidFill>
          <a:ln w="12700">
            <a:solidFill>
              <a:srgbClr val="E43D30">
                <a:alpha val="0"/>
              </a:srgbClr>
            </a:solidFill>
            <a:prstDash val="solid"/>
          </a:ln>
        </p:spPr>
      </p:sp>
      <p:sp>
        <p:nvSpPr>
          <p:cNvPr id="43" name="Text 39"/>
          <p:cNvSpPr/>
          <p:nvPr/>
        </p:nvSpPr>
        <p:spPr>
          <a:xfrm>
            <a:off x="914400" y="6272784"/>
            <a:ext cx="10378440" cy="30175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Kthena </a:t>
            </a:r>
            <a:r>
              <a:rPr lang="zh-CN" altLang="en-US" sz="1500" b="1" dirty="0">
                <a:solidFill>
                  <a:srgbClr val="FFFFFF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进行模型服务推理的编排</a:t>
            </a:r>
            <a:r>
              <a:rPr lang="en-US" sz="1500" b="1" dirty="0">
                <a:solidFill>
                  <a:srgbClr val="FFFFFF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，Volcano 接收完整实例和角色组的调度语义</a:t>
            </a:r>
            <a:r>
              <a:rPr lang="zh-CN" altLang="en-US" sz="1500" b="1" dirty="0">
                <a:solidFill>
                  <a:srgbClr val="FFFFFF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，进行</a:t>
            </a:r>
            <a:r>
              <a:rPr lang="zh-CN" altLang="en-US" sz="1500" b="1" dirty="0">
                <a:solidFill>
                  <a:srgbClr val="FFFFFF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调度</a:t>
            </a:r>
            <a:endParaRPr lang="zh-CN" altLang="en-US" sz="1500" b="1" dirty="0">
              <a:solidFill>
                <a:srgbClr val="FFFFFF"/>
              </a:solidFill>
              <a:latin typeface="PingFang SC" panose="020B0400000000000000" pitchFamily="34" charset="-122"/>
              <a:ea typeface="PingFang SC" panose="020B0400000000000000" pitchFamily="34" charset="-122"/>
              <a:cs typeface="PingFang SC" panose="020B0400000000000000" pitchFamily="34" charset="-120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slide_02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slide_03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solidFill>
              <a:srgbClr val="F5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003F8F"/>
          </a:solidFill>
          <a:ln>
            <a:solidFill>
              <a:srgbClr val="003F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Chevron 3"/>
          <p:cNvSpPr/>
          <p:nvPr/>
        </p:nvSpPr>
        <p:spPr>
          <a:xfrm>
            <a:off x="566928" y="219456"/>
            <a:ext cx="1417320" cy="402336"/>
          </a:xfrm>
          <a:prstGeom prst="chevron">
            <a:avLst/>
          </a:prstGeom>
          <a:solidFill>
            <a:srgbClr val="003F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94944" y="301752"/>
            <a:ext cx="1051560" cy="164592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>
              <a:defRPr sz="1020" b="1">
                <a:solidFill>
                  <a:srgbClr val="FFFFFF"/>
                </a:solidFill>
                <a:latin typeface="PingFang SC" panose="020B0400000000000000" pitchFamily="34" charset="-122"/>
              </a:defRPr>
            </a:pPr>
            <a:r>
              <a:t>第四章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12848" y="146304"/>
            <a:ext cx="8092440" cy="493776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defRPr sz="2750" b="1">
                <a:solidFill>
                  <a:srgbClr val="003F8F"/>
                </a:solidFill>
                <a:latin typeface="PingFang SC" panose="020B0400000000000000" pitchFamily="34" charset="-122"/>
              </a:defRPr>
            </a:pPr>
            <a:r>
              <a:t>扩缩容中的训推资源协同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795528"/>
            <a:ext cx="9966960" cy="301752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defRPr sz="1310" b="0">
                <a:solidFill>
                  <a:srgbClr val="66788A"/>
                </a:solidFill>
                <a:latin typeface="PingFang SC" panose="020B0400000000000000" pitchFamily="34" charset="-122"/>
              </a:defRPr>
            </a:pPr>
            <a:r>
              <a:t>Kthena 调整服务副本；待调度需求进入 Queue 后，Volcano 决定资源归还与拓扑放置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" y="1197864"/>
            <a:ext cx="1225296" cy="91440"/>
          </a:xfrm>
          <a:prstGeom prst="rect">
            <a:avLst/>
          </a:prstGeom>
          <a:solidFill>
            <a:srgbClr val="EF3C32"/>
          </a:solidFill>
          <a:ln>
            <a:solidFill>
              <a:srgbClr val="EF3C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" name="Connector 8"/>
          <p:cNvCxnSpPr/>
          <p:nvPr/>
        </p:nvCxnSpPr>
        <p:spPr>
          <a:xfrm>
            <a:off x="1847088" y="1243584"/>
            <a:ext cx="9701784" cy="0"/>
          </a:xfrm>
          <a:prstGeom prst="line">
            <a:avLst/>
          </a:prstGeom>
          <a:ln w="10160">
            <a:solidFill>
              <a:srgbClr val="B8C5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Picture 9" descr="volcano-horizontal-color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71632" y="283464"/>
            <a:ext cx="960120" cy="165421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1631168" y="6464808"/>
            <a:ext cx="292608" cy="164592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>
              <a:defRPr sz="780" b="0">
                <a:solidFill>
                  <a:srgbClr val="66788A"/>
                </a:solidFill>
                <a:latin typeface="PingFang SC" panose="020B0400000000000000" pitchFamily="34" charset="-122"/>
              </a:defRPr>
            </a:pPr>
            <a:r>
              <a:t>31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8368" y="1389888"/>
            <a:ext cx="10890504" cy="393192"/>
          </a:xfrm>
          <a:prstGeom prst="rect">
            <a:avLst/>
          </a:prstGeom>
          <a:solidFill>
            <a:srgbClr val="FFFFFF"/>
          </a:solidFill>
          <a:ln w="11430">
            <a:solidFill>
              <a:srgbClr val="0B5C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8368" y="1389888"/>
            <a:ext cx="109728" cy="393192"/>
          </a:xfrm>
          <a:prstGeom prst="rect">
            <a:avLst/>
          </a:prstGeom>
          <a:solidFill>
            <a:srgbClr val="EF3C32"/>
          </a:solidFill>
          <a:ln>
            <a:solidFill>
              <a:srgbClr val="EF3C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6112" y="1472184"/>
            <a:ext cx="10332720" cy="182880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>
              <a:defRPr sz="1120" b="1">
                <a:solidFill>
                  <a:srgbClr val="172033"/>
                </a:solidFill>
                <a:latin typeface="PingFang SC" panose="020B0400000000000000" pitchFamily="34" charset="-122"/>
              </a:defRPr>
            </a:pPr>
            <a:r>
              <a:t>扩容先产生真实的 Serving PodGroup 需求，Queue 再按份额关系回收训练侧借用资源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13232" y="1938528"/>
            <a:ext cx="3246120" cy="195681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0B5C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13232" y="1938528"/>
            <a:ext cx="3246120" cy="347472"/>
          </a:xfrm>
          <a:prstGeom prst="roundRect">
            <a:avLst>
              <a:gd name="adj" fmla="val 8000"/>
            </a:avLst>
          </a:prstGeom>
          <a:solidFill>
            <a:srgbClr val="0B5CAD"/>
          </a:solidFill>
          <a:ln w="10160">
            <a:solidFill>
              <a:srgbClr val="0B5C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" y="2020824"/>
            <a:ext cx="2953512" cy="164592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PingFang SC" panose="020B0400000000000000" pitchFamily="34" charset="-122"/>
              </a:defRPr>
            </a:pPr>
            <a:r>
              <a:t>01  Kthena 产生扩容需求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41832" y="2459736"/>
            <a:ext cx="2788920" cy="420624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10160">
            <a:solidFill>
              <a:srgbClr val="0B5C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33272" y="2514600"/>
            <a:ext cx="2606039" cy="155448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defRPr sz="860" b="1">
                <a:solidFill>
                  <a:srgbClr val="003F8F"/>
                </a:solidFill>
                <a:latin typeface="PingFang SC" panose="020B0400000000000000" pitchFamily="34" charset="-122"/>
              </a:defRPr>
            </a:pPr>
            <a:r>
              <a:t>流量 / 延迟信号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33272" y="2688336"/>
            <a:ext cx="2606039" cy="118872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defRPr sz="690" b="0">
                <a:solidFill>
                  <a:srgbClr val="66788A"/>
                </a:solidFill>
                <a:latin typeface="PingFang SC" panose="020B0400000000000000" pitchFamily="34" charset="-122"/>
              </a:defRPr>
            </a:pPr>
            <a:r>
              <a:t>AutoscalingPolicy 计算 Role 副本</a:t>
            </a:r>
          </a:p>
        </p:txBody>
      </p:sp>
      <p:sp>
        <p:nvSpPr>
          <p:cNvPr id="21" name="Down Arrow 20"/>
          <p:cNvSpPr/>
          <p:nvPr/>
        </p:nvSpPr>
        <p:spPr>
          <a:xfrm>
            <a:off x="2212848" y="2898648"/>
            <a:ext cx="256032" cy="219456"/>
          </a:xfrm>
          <a:prstGeom prst="downArrow">
            <a:avLst/>
          </a:prstGeom>
          <a:solidFill>
            <a:srgbClr val="356F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41832" y="3172968"/>
            <a:ext cx="2788920" cy="420624"/>
          </a:xfrm>
          <a:prstGeom prst="roundRect">
            <a:avLst>
              <a:gd name="adj" fmla="val 8000"/>
            </a:avLst>
          </a:prstGeom>
          <a:solidFill>
            <a:srgbClr val="EAF2FF"/>
          </a:solidFill>
          <a:ln w="10160">
            <a:solidFill>
              <a:srgbClr val="0B5C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33272" y="3227832"/>
            <a:ext cx="2606039" cy="155448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defRPr sz="860" b="1">
                <a:solidFill>
                  <a:srgbClr val="003F8F"/>
                </a:solidFill>
                <a:latin typeface="PingFang SC" panose="020B0400000000000000" pitchFamily="34" charset="-122"/>
              </a:defRPr>
            </a:pPr>
            <a:r>
              <a:t>Prefill / Decode replicas 增加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33272" y="3401568"/>
            <a:ext cx="2606039" cy="118872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defRPr sz="690" b="0">
                <a:solidFill>
                  <a:srgbClr val="66788A"/>
                </a:solidFill>
                <a:latin typeface="PingFang SC" panose="020B0400000000000000" pitchFamily="34" charset="-122"/>
              </a:defRPr>
            </a:pPr>
            <a:r>
              <a:t>更新 ModelServing 与 PodGroup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4014215" y="2770632"/>
            <a:ext cx="384048" cy="310896"/>
          </a:xfrm>
          <a:prstGeom prst="rightArrow">
            <a:avLst/>
          </a:prstGeom>
          <a:solidFill>
            <a:srgbClr val="0B5C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4471416" y="1938528"/>
            <a:ext cx="3246120" cy="195681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356F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4471416" y="1938528"/>
            <a:ext cx="3246120" cy="347472"/>
          </a:xfrm>
          <a:prstGeom prst="roundRect">
            <a:avLst>
              <a:gd name="adj" fmla="val 8000"/>
            </a:avLst>
          </a:prstGeom>
          <a:solidFill>
            <a:srgbClr val="356F9E"/>
          </a:solidFill>
          <a:ln w="10160">
            <a:solidFill>
              <a:srgbClr val="356F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617720" y="2020824"/>
            <a:ext cx="2953512" cy="164592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PingFang SC" panose="020B0400000000000000" pitchFamily="34" charset="-122"/>
              </a:defRPr>
            </a:pPr>
            <a:r>
              <a:t>02  Queue 判断归还关系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700016" y="2459736"/>
            <a:ext cx="2788920" cy="420624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10160">
            <a:solidFill>
              <a:srgbClr val="356F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791455" y="2514600"/>
            <a:ext cx="2606039" cy="155448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defRPr sz="860" b="1">
                <a:solidFill>
                  <a:srgbClr val="003F8F"/>
                </a:solidFill>
                <a:latin typeface="PingFang SC" panose="020B0400000000000000" pitchFamily="34" charset="-122"/>
              </a:defRPr>
            </a:pPr>
            <a:r>
              <a:t>Serving Queue 新增 4 GPU Pending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791455" y="2688336"/>
            <a:ext cx="2606039" cy="118872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defRPr sz="690" b="0">
                <a:solidFill>
                  <a:srgbClr val="66788A"/>
                </a:solidFill>
                <a:latin typeface="PingFang SC" panose="020B0400000000000000" pitchFamily="34" charset="-122"/>
              </a:defRPr>
            </a:pPr>
            <a:r>
              <a:t>真实工作负载进入调度</a:t>
            </a:r>
          </a:p>
        </p:txBody>
      </p:sp>
      <p:sp>
        <p:nvSpPr>
          <p:cNvPr id="32" name="Down Arrow 31"/>
          <p:cNvSpPr/>
          <p:nvPr/>
        </p:nvSpPr>
        <p:spPr>
          <a:xfrm>
            <a:off x="5971032" y="2898648"/>
            <a:ext cx="256032" cy="219456"/>
          </a:xfrm>
          <a:prstGeom prst="downArrow">
            <a:avLst/>
          </a:prstGeom>
          <a:solidFill>
            <a:srgbClr val="356F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4700016" y="3172968"/>
            <a:ext cx="2788920" cy="420624"/>
          </a:xfrm>
          <a:prstGeom prst="roundRect">
            <a:avLst>
              <a:gd name="adj" fmla="val 8000"/>
            </a:avLst>
          </a:prstGeom>
          <a:solidFill>
            <a:srgbClr val="EAF2FF"/>
          </a:solidFill>
          <a:ln w="10160">
            <a:solidFill>
              <a:srgbClr val="356F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791455" y="3227832"/>
            <a:ext cx="2606039" cy="155448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defRPr sz="860" b="1">
                <a:solidFill>
                  <a:srgbClr val="003F8F"/>
                </a:solidFill>
                <a:latin typeface="PingFang SC" panose="020B0400000000000000" pitchFamily="34" charset="-122"/>
              </a:defRPr>
            </a:pPr>
            <a:r>
              <a:t>Serving 2 &lt; Deserved 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791455" y="3401568"/>
            <a:ext cx="2606039" cy="118872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defRPr sz="690" b="0">
                <a:solidFill>
                  <a:srgbClr val="66788A"/>
                </a:solidFill>
                <a:latin typeface="PingFang SC" panose="020B0400000000000000" pitchFamily="34" charset="-122"/>
              </a:defRPr>
            </a:pPr>
            <a:r>
              <a:t>Training 10 &gt; Deserved 6：应归还 4 GPU</a:t>
            </a:r>
          </a:p>
        </p:txBody>
      </p:sp>
      <p:sp>
        <p:nvSpPr>
          <p:cNvPr id="36" name="Right Arrow 35"/>
          <p:cNvSpPr/>
          <p:nvPr/>
        </p:nvSpPr>
        <p:spPr>
          <a:xfrm>
            <a:off x="7772400" y="2770632"/>
            <a:ext cx="384048" cy="310896"/>
          </a:xfrm>
          <a:prstGeom prst="rightArrow">
            <a:avLst/>
          </a:prstGeom>
          <a:solidFill>
            <a:srgbClr val="0B5C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8229600" y="1938528"/>
            <a:ext cx="3246120" cy="195681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003F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8229600" y="1938528"/>
            <a:ext cx="3246120" cy="347472"/>
          </a:xfrm>
          <a:prstGeom prst="roundRect">
            <a:avLst>
              <a:gd name="adj" fmla="val 8000"/>
            </a:avLst>
          </a:prstGeom>
          <a:solidFill>
            <a:srgbClr val="003F8F"/>
          </a:solidFill>
          <a:ln w="10160">
            <a:solidFill>
              <a:srgbClr val="003F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375904" y="2020824"/>
            <a:ext cx="2953512" cy="164592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PingFang SC" panose="020B0400000000000000" pitchFamily="34" charset="-122"/>
              </a:defRPr>
            </a:pPr>
            <a:r>
              <a:t>03  Volcano 整体回收并放置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458200" y="2395728"/>
            <a:ext cx="2788920" cy="420624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10160">
            <a:solidFill>
              <a:srgbClr val="003F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549640" y="2450592"/>
            <a:ext cx="2606039" cy="155448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defRPr sz="860" b="1">
                <a:solidFill>
                  <a:srgbClr val="003F8F"/>
                </a:solidFill>
                <a:latin typeface="PingFang SC" panose="020B0400000000000000" pitchFamily="34" charset="-122"/>
              </a:defRPr>
            </a:pPr>
            <a:r>
              <a:t>Gang-aware 选择完整 victim Job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549640" y="2624328"/>
            <a:ext cx="2606039" cy="118872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defRPr sz="690" b="0">
                <a:solidFill>
                  <a:srgbClr val="66788A"/>
                </a:solidFill>
                <a:latin typeface="PingFang SC" panose="020B0400000000000000" pitchFamily="34" charset="-122"/>
              </a:defRPr>
            </a:pPr>
            <a:r>
              <a:t>训练侧整体归还 4 GPU</a:t>
            </a:r>
          </a:p>
        </p:txBody>
      </p:sp>
      <p:sp>
        <p:nvSpPr>
          <p:cNvPr id="43" name="Down Arrow 42"/>
          <p:cNvSpPr/>
          <p:nvPr/>
        </p:nvSpPr>
        <p:spPr>
          <a:xfrm>
            <a:off x="9729216" y="2834640"/>
            <a:ext cx="256032" cy="201168"/>
          </a:xfrm>
          <a:prstGeom prst="downArrow">
            <a:avLst/>
          </a:prstGeom>
          <a:solidFill>
            <a:srgbClr val="356F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8458200" y="3090672"/>
            <a:ext cx="2788920" cy="420624"/>
          </a:xfrm>
          <a:prstGeom prst="roundRect">
            <a:avLst>
              <a:gd name="adj" fmla="val 8000"/>
            </a:avLst>
          </a:prstGeom>
          <a:solidFill>
            <a:srgbClr val="EAF2FF"/>
          </a:solidFill>
          <a:ln w="10160">
            <a:solidFill>
              <a:srgbClr val="003F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549640" y="3145536"/>
            <a:ext cx="2606039" cy="155448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defRPr sz="860" b="1">
                <a:solidFill>
                  <a:srgbClr val="003F8F"/>
                </a:solidFill>
                <a:latin typeface="PingFang SC" panose="020B0400000000000000" pitchFamily="34" charset="-122"/>
              </a:defRPr>
            </a:pPr>
            <a:r>
              <a:t>SubGroupPolicy + HyperNode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549640" y="3319272"/>
            <a:ext cx="2606039" cy="118872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defRPr sz="690" b="0">
                <a:solidFill>
                  <a:srgbClr val="66788A"/>
                </a:solidFill>
                <a:latin typeface="PingFang SC" panose="020B0400000000000000" pitchFamily="34" charset="-122"/>
              </a:defRPr>
            </a:pPr>
            <a:r>
              <a:t>按角色组和网络拓扑放置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49808" y="4050791"/>
            <a:ext cx="2377440" cy="182880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defRPr sz="1020" b="1">
                <a:solidFill>
                  <a:srgbClr val="003F8F"/>
                </a:solidFill>
                <a:latin typeface="PingFang SC" panose="020B0400000000000000" pitchFamily="34" charset="-122"/>
              </a:defRPr>
            </a:pPr>
            <a:r>
              <a:t>共享 GPU 资源池的状态变化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713232" y="4343400"/>
            <a:ext cx="3611880" cy="106070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1430">
            <a:solidFill>
              <a:srgbClr val="B8C5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59536" y="4443984"/>
            <a:ext cx="1389888" cy="182880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defRPr sz="970" b="1">
                <a:solidFill>
                  <a:srgbClr val="003F8F"/>
                </a:solidFill>
                <a:latin typeface="PingFang SC" panose="020B0400000000000000" pitchFamily="34" charset="-122"/>
              </a:defRPr>
            </a:pPr>
            <a:r>
              <a:t>T0｜推理低峰</a:t>
            </a:r>
          </a:p>
        </p:txBody>
      </p:sp>
      <p:sp>
        <p:nvSpPr>
          <p:cNvPr id="50" name="Rectangle 49"/>
          <p:cNvSpPr/>
          <p:nvPr/>
        </p:nvSpPr>
        <p:spPr>
          <a:xfrm>
            <a:off x="877824" y="4736592"/>
            <a:ext cx="256032" cy="256032"/>
          </a:xfrm>
          <a:prstGeom prst="rect">
            <a:avLst/>
          </a:prstGeom>
          <a:solidFill>
            <a:srgbClr val="EAF2FF"/>
          </a:solidFill>
          <a:ln w="8890">
            <a:solidFill>
              <a:srgbClr val="0B5C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1207008" y="4736592"/>
            <a:ext cx="256032" cy="256032"/>
          </a:xfrm>
          <a:prstGeom prst="rect">
            <a:avLst/>
          </a:prstGeom>
          <a:solidFill>
            <a:srgbClr val="EAF2FF"/>
          </a:solidFill>
          <a:ln w="8890">
            <a:solidFill>
              <a:srgbClr val="0B5C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1536192" y="4736592"/>
            <a:ext cx="256032" cy="256032"/>
          </a:xfrm>
          <a:prstGeom prst="rect">
            <a:avLst/>
          </a:prstGeom>
          <a:solidFill>
            <a:srgbClr val="EEF2F6"/>
          </a:solidFill>
          <a:ln w="8890">
            <a:solidFill>
              <a:srgbClr val="7180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1865376" y="4736592"/>
            <a:ext cx="256032" cy="256032"/>
          </a:xfrm>
          <a:prstGeom prst="rect">
            <a:avLst/>
          </a:prstGeom>
          <a:solidFill>
            <a:srgbClr val="EEF2F6"/>
          </a:solidFill>
          <a:ln w="8890">
            <a:solidFill>
              <a:srgbClr val="7180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2194560" y="4736592"/>
            <a:ext cx="256032" cy="256032"/>
          </a:xfrm>
          <a:prstGeom prst="rect">
            <a:avLst/>
          </a:prstGeom>
          <a:solidFill>
            <a:srgbClr val="EEF2F6"/>
          </a:solidFill>
          <a:ln w="8890">
            <a:solidFill>
              <a:srgbClr val="7180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2523744" y="4736592"/>
            <a:ext cx="256032" cy="256032"/>
          </a:xfrm>
          <a:prstGeom prst="rect">
            <a:avLst/>
          </a:prstGeom>
          <a:solidFill>
            <a:srgbClr val="EEF2F6"/>
          </a:solidFill>
          <a:ln w="8890">
            <a:solidFill>
              <a:srgbClr val="7180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877824" y="5084064"/>
            <a:ext cx="256032" cy="256032"/>
          </a:xfrm>
          <a:prstGeom prst="rect">
            <a:avLst/>
          </a:prstGeom>
          <a:solidFill>
            <a:srgbClr val="EEF2F6"/>
          </a:solidFill>
          <a:ln w="8890">
            <a:solidFill>
              <a:srgbClr val="7180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1207008" y="5084064"/>
            <a:ext cx="256032" cy="256032"/>
          </a:xfrm>
          <a:prstGeom prst="rect">
            <a:avLst/>
          </a:prstGeom>
          <a:solidFill>
            <a:srgbClr val="EEF2F6"/>
          </a:solidFill>
          <a:ln w="8890">
            <a:solidFill>
              <a:srgbClr val="7180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1536192" y="5084064"/>
            <a:ext cx="256032" cy="256032"/>
          </a:xfrm>
          <a:prstGeom prst="rect">
            <a:avLst/>
          </a:prstGeom>
          <a:solidFill>
            <a:srgbClr val="EEF2F6"/>
          </a:solidFill>
          <a:ln w="8890">
            <a:solidFill>
              <a:srgbClr val="7180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1865376" y="5084064"/>
            <a:ext cx="256032" cy="256032"/>
          </a:xfrm>
          <a:prstGeom prst="rect">
            <a:avLst/>
          </a:prstGeom>
          <a:solidFill>
            <a:srgbClr val="EEF2F6"/>
          </a:solidFill>
          <a:ln w="8890">
            <a:solidFill>
              <a:srgbClr val="7180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2194560" y="5084064"/>
            <a:ext cx="256032" cy="256032"/>
          </a:xfrm>
          <a:prstGeom prst="rect">
            <a:avLst/>
          </a:prstGeom>
          <a:solidFill>
            <a:srgbClr val="EEF2F6"/>
          </a:solidFill>
          <a:ln w="8890">
            <a:solidFill>
              <a:srgbClr val="7180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2523744" y="5084064"/>
            <a:ext cx="256032" cy="256032"/>
          </a:xfrm>
          <a:prstGeom prst="rect">
            <a:avLst/>
          </a:prstGeom>
          <a:solidFill>
            <a:srgbClr val="EEF2F6"/>
          </a:solidFill>
          <a:ln w="8890">
            <a:solidFill>
              <a:srgbClr val="7180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017520" y="4663440"/>
            <a:ext cx="960120" cy="146304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defRPr sz="720" b="1">
                <a:solidFill>
                  <a:srgbClr val="0B5CAD"/>
                </a:solidFill>
                <a:latin typeface="PingFang SC" panose="020B0400000000000000" pitchFamily="34" charset="-122"/>
              </a:defRPr>
            </a:pPr>
            <a:r>
              <a:t>Serving 2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3017520" y="4901184"/>
            <a:ext cx="1005840" cy="146304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defRPr sz="720" b="1">
                <a:solidFill>
                  <a:srgbClr val="718096"/>
                </a:solidFill>
                <a:latin typeface="PingFang SC" panose="020B0400000000000000" pitchFamily="34" charset="-122"/>
              </a:defRPr>
            </a:pPr>
            <a:r>
              <a:t>Training 10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3017520" y="5138928"/>
            <a:ext cx="1078992" cy="128016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defRPr sz="680" b="0">
                <a:solidFill>
                  <a:srgbClr val="66788A"/>
                </a:solidFill>
                <a:latin typeface="PingFang SC" panose="020B0400000000000000" pitchFamily="34" charset="-122"/>
              </a:defRPr>
            </a:pPr>
            <a:r>
              <a:t>Training 借用 4</a:t>
            </a:r>
          </a:p>
        </p:txBody>
      </p:sp>
      <p:sp>
        <p:nvSpPr>
          <p:cNvPr id="65" name="Right Arrow 64"/>
          <p:cNvSpPr/>
          <p:nvPr/>
        </p:nvSpPr>
        <p:spPr>
          <a:xfrm>
            <a:off x="4507992" y="4681728"/>
            <a:ext cx="694944" cy="329184"/>
          </a:xfrm>
          <a:prstGeom prst="rightArrow">
            <a:avLst/>
          </a:prstGeom>
          <a:solidFill>
            <a:srgbClr val="0B5C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4379976" y="5084064"/>
            <a:ext cx="950976" cy="128016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>
              <a:defRPr sz="720" b="1">
                <a:solidFill>
                  <a:srgbClr val="003F8F"/>
                </a:solidFill>
                <a:latin typeface="PingFang SC" panose="020B0400000000000000" pitchFamily="34" charset="-122"/>
              </a:defRPr>
            </a:pPr>
            <a:r>
              <a:t>归还 4 GPU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5504688" y="4343400"/>
            <a:ext cx="3611880" cy="106070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1430">
            <a:solidFill>
              <a:srgbClr val="B8C5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5650992" y="4443984"/>
            <a:ext cx="1389888" cy="182880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defRPr sz="970" b="1">
                <a:solidFill>
                  <a:srgbClr val="003F8F"/>
                </a:solidFill>
                <a:latin typeface="PingFang SC" panose="020B0400000000000000" pitchFamily="34" charset="-122"/>
              </a:defRPr>
            </a:pPr>
            <a:r>
              <a:t>T1｜扩容完成</a:t>
            </a:r>
          </a:p>
        </p:txBody>
      </p:sp>
      <p:sp>
        <p:nvSpPr>
          <p:cNvPr id="69" name="Rectangle 68"/>
          <p:cNvSpPr/>
          <p:nvPr/>
        </p:nvSpPr>
        <p:spPr>
          <a:xfrm>
            <a:off x="5669279" y="4736592"/>
            <a:ext cx="256032" cy="256032"/>
          </a:xfrm>
          <a:prstGeom prst="rect">
            <a:avLst/>
          </a:prstGeom>
          <a:solidFill>
            <a:srgbClr val="EAF2FF"/>
          </a:solidFill>
          <a:ln w="8890">
            <a:solidFill>
              <a:srgbClr val="0B5C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5998464" y="4736592"/>
            <a:ext cx="256032" cy="256032"/>
          </a:xfrm>
          <a:prstGeom prst="rect">
            <a:avLst/>
          </a:prstGeom>
          <a:solidFill>
            <a:srgbClr val="EAF2FF"/>
          </a:solidFill>
          <a:ln w="8890">
            <a:solidFill>
              <a:srgbClr val="0B5C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6327647" y="4736592"/>
            <a:ext cx="256032" cy="256032"/>
          </a:xfrm>
          <a:prstGeom prst="rect">
            <a:avLst/>
          </a:prstGeom>
          <a:solidFill>
            <a:srgbClr val="EAF2FF"/>
          </a:solidFill>
          <a:ln w="8890">
            <a:solidFill>
              <a:srgbClr val="0B5C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6656831" y="4736592"/>
            <a:ext cx="256032" cy="256032"/>
          </a:xfrm>
          <a:prstGeom prst="rect">
            <a:avLst/>
          </a:prstGeom>
          <a:solidFill>
            <a:srgbClr val="EAF2FF"/>
          </a:solidFill>
          <a:ln w="8890">
            <a:solidFill>
              <a:srgbClr val="0B5C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6986016" y="4736592"/>
            <a:ext cx="256032" cy="256032"/>
          </a:xfrm>
          <a:prstGeom prst="rect">
            <a:avLst/>
          </a:prstGeom>
          <a:solidFill>
            <a:srgbClr val="EAF2FF"/>
          </a:solidFill>
          <a:ln w="8890">
            <a:solidFill>
              <a:srgbClr val="0B5C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7315200" y="4736592"/>
            <a:ext cx="256032" cy="256032"/>
          </a:xfrm>
          <a:prstGeom prst="rect">
            <a:avLst/>
          </a:prstGeom>
          <a:solidFill>
            <a:srgbClr val="EAF2FF"/>
          </a:solidFill>
          <a:ln w="8890">
            <a:solidFill>
              <a:srgbClr val="0B5C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5669279" y="5084064"/>
            <a:ext cx="256032" cy="256032"/>
          </a:xfrm>
          <a:prstGeom prst="rect">
            <a:avLst/>
          </a:prstGeom>
          <a:solidFill>
            <a:srgbClr val="EEF2F6"/>
          </a:solidFill>
          <a:ln w="8890">
            <a:solidFill>
              <a:srgbClr val="7180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5998464" y="5084064"/>
            <a:ext cx="256032" cy="256032"/>
          </a:xfrm>
          <a:prstGeom prst="rect">
            <a:avLst/>
          </a:prstGeom>
          <a:solidFill>
            <a:srgbClr val="EEF2F6"/>
          </a:solidFill>
          <a:ln w="8890">
            <a:solidFill>
              <a:srgbClr val="7180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6327647" y="5084064"/>
            <a:ext cx="256032" cy="256032"/>
          </a:xfrm>
          <a:prstGeom prst="rect">
            <a:avLst/>
          </a:prstGeom>
          <a:solidFill>
            <a:srgbClr val="EEF2F6"/>
          </a:solidFill>
          <a:ln w="8890">
            <a:solidFill>
              <a:srgbClr val="7180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6656831" y="5084064"/>
            <a:ext cx="256032" cy="256032"/>
          </a:xfrm>
          <a:prstGeom prst="rect">
            <a:avLst/>
          </a:prstGeom>
          <a:solidFill>
            <a:srgbClr val="EEF2F6"/>
          </a:solidFill>
          <a:ln w="8890">
            <a:solidFill>
              <a:srgbClr val="7180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6986016" y="5084064"/>
            <a:ext cx="256032" cy="256032"/>
          </a:xfrm>
          <a:prstGeom prst="rect">
            <a:avLst/>
          </a:prstGeom>
          <a:solidFill>
            <a:srgbClr val="EEF2F6"/>
          </a:solidFill>
          <a:ln w="8890">
            <a:solidFill>
              <a:srgbClr val="7180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7315200" y="5084064"/>
            <a:ext cx="256032" cy="256032"/>
          </a:xfrm>
          <a:prstGeom prst="rect">
            <a:avLst/>
          </a:prstGeom>
          <a:solidFill>
            <a:srgbClr val="EEF2F6"/>
          </a:solidFill>
          <a:ln w="8890">
            <a:solidFill>
              <a:srgbClr val="7180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7808975" y="4663440"/>
            <a:ext cx="960120" cy="146304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defRPr sz="720" b="1">
                <a:solidFill>
                  <a:srgbClr val="0B5CAD"/>
                </a:solidFill>
                <a:latin typeface="PingFang SC" panose="020B0400000000000000" pitchFamily="34" charset="-122"/>
              </a:defRPr>
            </a:pPr>
            <a:r>
              <a:t>Serving 6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7808975" y="4901184"/>
            <a:ext cx="1005840" cy="146304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defRPr sz="720" b="1">
                <a:solidFill>
                  <a:srgbClr val="718096"/>
                </a:solidFill>
                <a:latin typeface="PingFang SC" panose="020B0400000000000000" pitchFamily="34" charset="-122"/>
              </a:defRPr>
            </a:pPr>
            <a:r>
              <a:t>Training 6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7808975" y="5138928"/>
            <a:ext cx="1078992" cy="128016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defRPr sz="680" b="0">
                <a:solidFill>
                  <a:srgbClr val="66788A"/>
                </a:solidFill>
                <a:latin typeface="PingFang SC" panose="020B0400000000000000" pitchFamily="34" charset="-122"/>
              </a:defRPr>
            </a:pPr>
            <a:r>
              <a:t>两侧回到 Deserved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9363456" y="4343400"/>
            <a:ext cx="1883664" cy="1060704"/>
          </a:xfrm>
          <a:prstGeom prst="roundRect">
            <a:avLst>
              <a:gd name="adj" fmla="val 8000"/>
            </a:avLst>
          </a:prstGeom>
          <a:solidFill>
            <a:srgbClr val="EAF4F4"/>
          </a:solidFill>
          <a:ln w="11430">
            <a:solidFill>
              <a:srgbClr val="2B6F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9555480" y="4471416"/>
            <a:ext cx="1499616" cy="182880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>
              <a:defRPr sz="960" b="1">
                <a:solidFill>
                  <a:srgbClr val="2B6F73"/>
                </a:solidFill>
                <a:latin typeface="PingFang SC" panose="020B0400000000000000" pitchFamily="34" charset="-122"/>
              </a:defRPr>
            </a:pPr>
            <a:r>
              <a:t>缩容时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9555480" y="4736592"/>
            <a:ext cx="1499616" cy="493776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>
              <a:defRPr sz="770" b="0">
                <a:solidFill>
                  <a:srgbClr val="172033"/>
                </a:solidFill>
                <a:latin typeface="PingFang SC" panose="020B0400000000000000" pitchFamily="34" charset="-122"/>
              </a:defRPr>
            </a:pPr>
            <a:r>
              <a:t>Serving 释放资源</a:t>
            </a:r>
            <a:br/>
            <a:r>
              <a:t>Training / Batch</a:t>
            </a:r>
            <a:br/>
            <a:r>
              <a:t>可以再次借用</a:t>
            </a:r>
          </a:p>
        </p:txBody>
      </p:sp>
      <p:cxnSp>
        <p:nvCxnSpPr>
          <p:cNvPr id="87" name="Connector 86"/>
          <p:cNvCxnSpPr/>
          <p:nvPr/>
        </p:nvCxnSpPr>
        <p:spPr>
          <a:xfrm>
            <a:off x="10296144" y="5413248"/>
            <a:ext cx="0" cy="219456"/>
          </a:xfrm>
          <a:prstGeom prst="line">
            <a:avLst/>
          </a:prstGeom>
          <a:ln w="13970">
            <a:solidFill>
              <a:srgbClr val="2B6F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 flipH="1">
            <a:off x="2514600" y="5632704"/>
            <a:ext cx="7781544" cy="0"/>
          </a:xfrm>
          <a:prstGeom prst="line">
            <a:avLst/>
          </a:prstGeom>
          <a:ln w="13970">
            <a:solidFill>
              <a:srgbClr val="2B6F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9" name="Up Arrow 88"/>
          <p:cNvSpPr/>
          <p:nvPr/>
        </p:nvSpPr>
        <p:spPr>
          <a:xfrm>
            <a:off x="2359152" y="5413248"/>
            <a:ext cx="310896" cy="228600"/>
          </a:xfrm>
          <a:prstGeom prst="upArrow">
            <a:avLst/>
          </a:prstGeom>
          <a:solidFill>
            <a:srgbClr val="2B6F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5696712" y="5486400"/>
            <a:ext cx="1792224" cy="128016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>
              <a:defRPr sz="720" b="1">
                <a:solidFill>
                  <a:srgbClr val="2B6F73"/>
                </a:solidFill>
                <a:latin typeface="PingFang SC" panose="020B0400000000000000" pitchFamily="34" charset="-122"/>
              </a:defRPr>
            </a:pPr>
            <a:r>
              <a:t>缩容释放，重新借用</a:t>
            </a:r>
          </a:p>
        </p:txBody>
      </p:sp>
      <p:sp>
        <p:nvSpPr>
          <p:cNvPr id="91" name="Rectangle 90"/>
          <p:cNvSpPr/>
          <p:nvPr/>
        </p:nvSpPr>
        <p:spPr>
          <a:xfrm>
            <a:off x="640080" y="6144768"/>
            <a:ext cx="10972800" cy="420624"/>
          </a:xfrm>
          <a:prstGeom prst="rect">
            <a:avLst/>
          </a:prstGeom>
          <a:solidFill>
            <a:srgbClr val="003F8F"/>
          </a:solidFill>
          <a:ln>
            <a:solidFill>
              <a:srgbClr val="003F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640080" y="6144768"/>
            <a:ext cx="118872" cy="420624"/>
          </a:xfrm>
          <a:prstGeom prst="rect">
            <a:avLst/>
          </a:prstGeom>
          <a:solidFill>
            <a:srgbClr val="EF3C32"/>
          </a:solidFill>
          <a:ln>
            <a:solidFill>
              <a:srgbClr val="EF3C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896112" y="6236208"/>
            <a:ext cx="10460736" cy="210312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>
              <a:defRPr sz="1220" b="1">
                <a:solidFill>
                  <a:srgbClr val="FFFFFF"/>
                </a:solidFill>
                <a:latin typeface="PingFang SC" panose="020B0400000000000000" pitchFamily="34" charset="-122"/>
              </a:defRPr>
            </a:pPr>
            <a:r>
              <a:t>Kthena 决定服务需要多少副本；Volcano 决定资源从哪里回来、如何整体释放，以及新副本落到哪里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solidFill>
              <a:srgbClr val="F5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F8F"/>
          </a:solidFill>
          <a:ln>
            <a:solidFill>
              <a:srgbClr val="003F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" name="Connector 3"/>
          <p:cNvCxnSpPr/>
          <p:nvPr/>
        </p:nvCxnSpPr>
        <p:spPr>
          <a:xfrm flipV="1">
            <a:off x="502920" y="685800"/>
            <a:ext cx="1554480" cy="365760"/>
          </a:xfrm>
          <a:prstGeom prst="line">
            <a:avLst/>
          </a:prstGeom>
          <a:ln w="15240">
            <a:solidFill>
              <a:srgbClr val="C9D9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2057400" y="685800"/>
            <a:ext cx="1069848" cy="704088"/>
          </a:xfrm>
          <a:prstGeom prst="line">
            <a:avLst/>
          </a:prstGeom>
          <a:ln w="15240">
            <a:solidFill>
              <a:srgbClr val="C9D9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502920" y="1051560"/>
            <a:ext cx="822960" cy="1033271"/>
          </a:xfrm>
          <a:prstGeom prst="line">
            <a:avLst/>
          </a:prstGeom>
          <a:ln w="15240">
            <a:solidFill>
              <a:srgbClr val="C9D9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V="1">
            <a:off x="1325880" y="1389888"/>
            <a:ext cx="1801368" cy="694943"/>
          </a:xfrm>
          <a:prstGeom prst="line">
            <a:avLst/>
          </a:prstGeom>
          <a:ln w="15240">
            <a:solidFill>
              <a:srgbClr val="C9D9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V="1">
            <a:off x="9070848" y="4498848"/>
            <a:ext cx="1444752" cy="822960"/>
          </a:xfrm>
          <a:prstGeom prst="line">
            <a:avLst/>
          </a:prstGeom>
          <a:ln w="15240">
            <a:solidFill>
              <a:srgbClr val="C9D9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0515600" y="4498848"/>
            <a:ext cx="1115568" cy="603504"/>
          </a:xfrm>
          <a:prstGeom prst="line">
            <a:avLst/>
          </a:prstGeom>
          <a:ln w="15240">
            <a:solidFill>
              <a:srgbClr val="C9D9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9070848" y="5321808"/>
            <a:ext cx="1115568" cy="822960"/>
          </a:xfrm>
          <a:prstGeom prst="line">
            <a:avLst/>
          </a:prstGeom>
          <a:ln w="15240">
            <a:solidFill>
              <a:srgbClr val="C9D9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10186416" y="5102352"/>
            <a:ext cx="1444752" cy="1042416"/>
          </a:xfrm>
          <a:prstGeom prst="line">
            <a:avLst/>
          </a:prstGeom>
          <a:ln w="15240">
            <a:solidFill>
              <a:srgbClr val="C9D9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8961120" y="658368"/>
            <a:ext cx="1261872" cy="420624"/>
          </a:xfrm>
          <a:prstGeom prst="line">
            <a:avLst/>
          </a:prstGeom>
          <a:ln w="15240">
            <a:solidFill>
              <a:srgbClr val="C9D9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10222992" y="658368"/>
            <a:ext cx="1316736" cy="603504"/>
          </a:xfrm>
          <a:prstGeom prst="line">
            <a:avLst/>
          </a:prstGeom>
          <a:ln w="15240">
            <a:solidFill>
              <a:srgbClr val="C9D9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Oval 13"/>
          <p:cNvSpPr/>
          <p:nvPr/>
        </p:nvSpPr>
        <p:spPr>
          <a:xfrm>
            <a:off x="411480" y="960120"/>
            <a:ext cx="182880" cy="182880"/>
          </a:xfrm>
          <a:prstGeom prst="ellipse">
            <a:avLst/>
          </a:prstGeom>
          <a:solidFill>
            <a:srgbClr val="FFFFFF"/>
          </a:solidFill>
          <a:ln w="13970">
            <a:solidFill>
              <a:srgbClr val="0B5C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965960" y="594360"/>
            <a:ext cx="182880" cy="182880"/>
          </a:xfrm>
          <a:prstGeom prst="ellipse">
            <a:avLst/>
          </a:prstGeom>
          <a:solidFill>
            <a:srgbClr val="FFFFFF"/>
          </a:solidFill>
          <a:ln w="13970">
            <a:solidFill>
              <a:srgbClr val="0B5C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035808" y="1298448"/>
            <a:ext cx="182880" cy="182880"/>
          </a:xfrm>
          <a:prstGeom prst="ellipse">
            <a:avLst/>
          </a:prstGeom>
          <a:solidFill>
            <a:srgbClr val="FFFFFF"/>
          </a:solidFill>
          <a:ln w="13970">
            <a:solidFill>
              <a:srgbClr val="0B5C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234440" y="1993392"/>
            <a:ext cx="182880" cy="182880"/>
          </a:xfrm>
          <a:prstGeom prst="ellipse">
            <a:avLst/>
          </a:prstGeom>
          <a:solidFill>
            <a:srgbClr val="FFFFFF"/>
          </a:solidFill>
          <a:ln w="13970">
            <a:solidFill>
              <a:srgbClr val="0B5C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979408" y="5230368"/>
            <a:ext cx="182880" cy="182880"/>
          </a:xfrm>
          <a:prstGeom prst="ellipse">
            <a:avLst/>
          </a:prstGeom>
          <a:solidFill>
            <a:srgbClr val="FFFFFF"/>
          </a:solidFill>
          <a:ln w="13970">
            <a:solidFill>
              <a:srgbClr val="0B5C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424160" y="4407408"/>
            <a:ext cx="182880" cy="182880"/>
          </a:xfrm>
          <a:prstGeom prst="ellipse">
            <a:avLst/>
          </a:prstGeom>
          <a:solidFill>
            <a:srgbClr val="FFFFFF"/>
          </a:solidFill>
          <a:ln w="13970">
            <a:solidFill>
              <a:srgbClr val="0B5C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1539728" y="5010912"/>
            <a:ext cx="182880" cy="182880"/>
          </a:xfrm>
          <a:prstGeom prst="ellipse">
            <a:avLst/>
          </a:prstGeom>
          <a:solidFill>
            <a:srgbClr val="FFFFFF"/>
          </a:solidFill>
          <a:ln w="13970">
            <a:solidFill>
              <a:srgbClr val="0B5C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0094976" y="6053328"/>
            <a:ext cx="182880" cy="182880"/>
          </a:xfrm>
          <a:prstGeom prst="ellipse">
            <a:avLst/>
          </a:prstGeom>
          <a:solidFill>
            <a:srgbClr val="FFFFFF"/>
          </a:solidFill>
          <a:ln w="13970">
            <a:solidFill>
              <a:srgbClr val="0B5C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869680" y="987552"/>
            <a:ext cx="182880" cy="182880"/>
          </a:xfrm>
          <a:prstGeom prst="ellipse">
            <a:avLst/>
          </a:prstGeom>
          <a:solidFill>
            <a:srgbClr val="FFFFFF"/>
          </a:solidFill>
          <a:ln w="13970">
            <a:solidFill>
              <a:srgbClr val="0B5C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131552" y="566928"/>
            <a:ext cx="182880" cy="182880"/>
          </a:xfrm>
          <a:prstGeom prst="ellipse">
            <a:avLst/>
          </a:prstGeom>
          <a:solidFill>
            <a:srgbClr val="FFFFFF"/>
          </a:solidFill>
          <a:ln w="13970">
            <a:solidFill>
              <a:srgbClr val="0B5C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1448288" y="1170432"/>
            <a:ext cx="182880" cy="182880"/>
          </a:xfrm>
          <a:prstGeom prst="ellipse">
            <a:avLst/>
          </a:prstGeom>
          <a:solidFill>
            <a:srgbClr val="FFFFFF"/>
          </a:solidFill>
          <a:ln w="13970">
            <a:solidFill>
              <a:srgbClr val="0B5C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4069080" y="1627632"/>
            <a:ext cx="4023360" cy="4023360"/>
          </a:xfrm>
          <a:prstGeom prst="ellipse">
            <a:avLst/>
          </a:prstGeom>
          <a:solidFill>
            <a:srgbClr val="F5F7FA"/>
          </a:solidFill>
          <a:ln w="17780">
            <a:solidFill>
              <a:srgbClr val="DDEA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4617720" y="2176272"/>
            <a:ext cx="2926080" cy="2926080"/>
          </a:xfrm>
          <a:prstGeom prst="ellipse">
            <a:avLst/>
          </a:prstGeom>
          <a:solidFill>
            <a:srgbClr val="F5F7FA"/>
          </a:solidFill>
          <a:ln w="17780">
            <a:solidFill>
              <a:srgbClr val="C9D9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246120" y="2313432"/>
            <a:ext cx="5715000" cy="1463040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>
              <a:defRPr sz="5800" b="1">
                <a:solidFill>
                  <a:srgbClr val="003F8F"/>
                </a:solidFill>
                <a:latin typeface="PingFang SC" panose="020B0400000000000000" pitchFamily="34" charset="-122"/>
              </a:defRPr>
            </a:pPr>
            <a:r>
              <a:t>Q&amp;A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992624" y="3931920"/>
            <a:ext cx="2212848" cy="54864"/>
          </a:xfrm>
          <a:prstGeom prst="rect">
            <a:avLst/>
          </a:prstGeom>
          <a:solidFill>
            <a:srgbClr val="EF3C32"/>
          </a:solidFill>
          <a:ln>
            <a:solidFill>
              <a:srgbClr val="EF3C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Picture 28" descr="volcano-horizontal-color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33888" y="6199632"/>
            <a:ext cx="1051560" cy="18117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PingFang S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ingFang S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PingFang S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ingFang S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8899</Words>
  <Application>WPS Presentation</Application>
  <PresentationFormat>On-screen Show (16:9)</PresentationFormat>
  <Paragraphs>1392</Paragraphs>
  <Slides>31</Slides>
  <Notes>32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31</vt:i4>
      </vt:variant>
    </vt:vector>
  </HeadingPairs>
  <TitlesOfParts>
    <vt:vector size="47" baseType="lpstr">
      <vt:lpstr>Arial</vt:lpstr>
      <vt:lpstr>宋体</vt:lpstr>
      <vt:lpstr>Wingdings</vt:lpstr>
      <vt:lpstr>PingFang SC</vt:lpstr>
      <vt:lpstr>PingFang SC</vt:lpstr>
      <vt:lpstr>微软雅黑</vt:lpstr>
      <vt:lpstr>汉仪旗黑</vt:lpstr>
      <vt:lpstr>宋体</vt:lpstr>
      <vt:lpstr>Arial Unicode MS</vt:lpstr>
      <vt:lpstr>PingFang SC Semibold</vt:lpstr>
      <vt:lpstr>Calibri</vt:lpstr>
      <vt:lpstr>Helvetica Neue</vt:lpstr>
      <vt:lpstr>等线</vt:lpstr>
      <vt:lpstr>汉仪中等线KW</vt:lpstr>
      <vt:lpstr>汉仪书宋二KW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Huawei Cloud / CNCF Volcano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从通用计算到 AI 工作负载</dc:title>
  <dc:creator>陈子聪</dc:creator>
  <dc:subject>通智融合的 Kubernetes 共池调度实践</dc:subject>
  <cp:lastModifiedBy>汪琳</cp:lastModifiedBy>
  <cp:revision>193</cp:revision>
  <dcterms:created xsi:type="dcterms:W3CDTF">2026-07-23T07:02:12Z</dcterms:created>
  <dcterms:modified xsi:type="dcterms:W3CDTF">2026-07-23T07:02:12Z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19E58BE43926655A8D1A5F6A0EBB3B8E_42</vt:lpwstr>
  </property>
  <property fmtid="{D5CDD505-2E9C-101B-9397-08002B2CF9AE}" pid="3" name="KSOProductBuildVer">
    <vt:lpwstr>1033-7.2.2.8955</vt:lpwstr>
  </property>
</Properties>
</file>