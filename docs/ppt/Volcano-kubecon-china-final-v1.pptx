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8" r:id="rId26"/>
    <p:sldId id="277" r:id="rId27"/>
    <p:sldId id="279" r:id="rId28"/>
    <p:sldId id="280" r:id="rId29"/>
    <p:sldId id="281" r:id="rId30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大家好，欢迎大家来聆听</a:t>
            </a:r>
            <a:r>
              <a:rPr lang="en-US" altLang="zh-CN"/>
              <a:t>Volcano Maintainer Track</a:t>
            </a:r>
            <a:r>
              <a:rPr lang="zh-CN" altLang="en-US">
                <a:ea typeface="宋体" charset="0"/>
              </a:rPr>
              <a:t>，我叫</a:t>
            </a:r>
            <a:r>
              <a:rPr lang="en-US" altLang="zh-CN">
                <a:ea typeface="宋体" charset="0"/>
              </a:rPr>
              <a:t>xxx</a:t>
            </a:r>
            <a:r>
              <a:rPr lang="zh-CN" altLang="en-US">
                <a:ea typeface="宋体" charset="0"/>
              </a:rPr>
              <a:t>，跟我一起分享的是</a:t>
            </a:r>
            <a:r>
              <a:rPr lang="en-US" altLang="zh-CN">
                <a:ea typeface="宋体" charset="0"/>
              </a:rPr>
              <a:t>xxx</a:t>
            </a:r>
            <a:r>
              <a:rPr lang="zh-CN" altLang="en-US">
                <a:ea typeface="宋体" charset="0"/>
              </a:rPr>
              <a:t>，今天我们将向大家分享</a:t>
            </a:r>
            <a:r>
              <a:rPr lang="en-US" altLang="zh-CN">
                <a:ea typeface="宋体" charset="0"/>
              </a:rPr>
              <a:t>Volcano</a:t>
            </a:r>
            <a:r>
              <a:rPr lang="zh-CN" altLang="en-US">
                <a:ea typeface="宋体" charset="0"/>
              </a:rPr>
              <a:t>是如何去构建统一调度平台，以及关于针对训推场景、</a:t>
            </a:r>
            <a:r>
              <a:rPr lang="en-US" altLang="zh-CN">
                <a:ea typeface="宋体" charset="0"/>
              </a:rPr>
              <a:t>topology</a:t>
            </a:r>
            <a:r>
              <a:rPr lang="zh-CN" altLang="en-US">
                <a:ea typeface="宋体" charset="0"/>
              </a:rPr>
              <a:t>等方面的调度</a:t>
            </a:r>
            <a:r>
              <a:rPr lang="zh-CN" altLang="en-US">
                <a:ea typeface="宋体" charset="0"/>
              </a:rPr>
              <a:t>优化</a:t>
            </a:r>
            <a:endParaRPr lang="zh-CN" altLang="en-US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user-edited English deck, slide 2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第一部分从工作负载变化出发</a:t>
            </a:r>
            <a:r>
              <a:rPr lang="zh-CN">
                <a:ea typeface="宋体" charset="0"/>
              </a:rPr>
              <a:t>，解释为什么一个平台或者集群为何需要不同的调度路径，第二章会分享</a:t>
            </a:r>
            <a:r>
              <a:rPr lang="en-US" altLang="zh-CN">
                <a:ea typeface="宋体" charset="0"/>
              </a:rPr>
              <a:t>Volcano</a:t>
            </a:r>
            <a:r>
              <a:rPr lang="zh-CN" altLang="en-US">
                <a:ea typeface="宋体" charset="0"/>
              </a:rPr>
              <a:t>是如何将训练</a:t>
            </a:r>
            <a:r>
              <a:rPr lang="en-US" altLang="zh-CN">
                <a:ea typeface="宋体" charset="0"/>
              </a:rPr>
              <a:t>/</a:t>
            </a:r>
            <a:r>
              <a:rPr lang="zh-CN" altLang="en-US">
                <a:ea typeface="宋体" charset="0"/>
              </a:rPr>
              <a:t>推理</a:t>
            </a:r>
            <a:r>
              <a:rPr lang="en-US" altLang="zh-CN">
                <a:ea typeface="宋体" charset="0"/>
              </a:rPr>
              <a:t>workload</a:t>
            </a:r>
            <a:r>
              <a:rPr lang="zh-CN" altLang="en-US">
                <a:ea typeface="宋体" charset="0"/>
              </a:rPr>
              <a:t>转换为多级调度原语，以及</a:t>
            </a:r>
            <a:r>
              <a:rPr lang="en-US" altLang="zh-CN">
                <a:ea typeface="宋体" charset="0"/>
              </a:rPr>
              <a:t>topology</a:t>
            </a:r>
            <a:r>
              <a:rPr lang="zh-CN" altLang="en-US">
                <a:ea typeface="宋体" charset="0"/>
              </a:rPr>
              <a:t>上的调度优化的一些更新内容，第三部分我们将介绍我们的推理子项目</a:t>
            </a:r>
            <a:r>
              <a:rPr lang="en-US" altLang="zh-CN">
                <a:ea typeface="宋体" charset="0"/>
              </a:rPr>
              <a:t>Kthena</a:t>
            </a:r>
            <a:r>
              <a:rPr lang="zh-CN" altLang="en-US">
                <a:ea typeface="宋体" charset="0"/>
              </a:rPr>
              <a:t>，简单介绍下</a:t>
            </a:r>
            <a:r>
              <a:rPr lang="en-US" altLang="zh-CN">
                <a:ea typeface="宋体" charset="0"/>
              </a:rPr>
              <a:t>Kthena</a:t>
            </a:r>
            <a:r>
              <a:rPr lang="zh-CN" altLang="en-US">
                <a:ea typeface="宋体" charset="0"/>
              </a:rPr>
              <a:t>以及</a:t>
            </a:r>
            <a:r>
              <a:rPr lang="en-US" altLang="zh-CN">
                <a:ea typeface="宋体" charset="0"/>
              </a:rPr>
              <a:t>Kthena</a:t>
            </a:r>
            <a:r>
              <a:rPr lang="zh-CN" altLang="en-US">
                <a:ea typeface="宋体" charset="0"/>
              </a:rPr>
              <a:t>的最新</a:t>
            </a:r>
            <a:r>
              <a:rPr lang="zh-CN" altLang="en-US">
                <a:ea typeface="宋体" charset="0"/>
              </a:rPr>
              <a:t>更新</a:t>
            </a:r>
            <a:endParaRPr lang="zh-CN" altLang="en-US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当前</a:t>
            </a:r>
            <a:r>
              <a:rPr lang="en-US" altLang="zh-CN"/>
              <a:t>AI workloads</a:t>
            </a:r>
            <a:r>
              <a:rPr lang="zh-CN" altLang="en-US"/>
              <a:t>的形态正在不断变化，</a:t>
            </a:r>
            <a:r>
              <a:t>早期 AI 集群主要服务离线训练</a:t>
            </a:r>
            <a:r>
              <a:rPr lang="zh-CN">
                <a:ea typeface="宋体" charset="0"/>
              </a:rPr>
              <a:t>，有些机器学习的任务</a:t>
            </a:r>
            <a:r>
              <a:t>。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大模型训练把规模推到数百甚至数千张卡，Gang、网络拓扑开始</a:t>
            </a:r>
            <a:r>
              <a:rPr lang="zh-CN"/>
              <a:t>出现越来越多的诉求，因为训练的规模在不断扩大</a:t>
            </a:r>
            <a:r>
              <a:t>。进入大模型推理以后，</a:t>
            </a:r>
            <a:r>
              <a:rPr lang="zh-CN"/>
              <a:t>又出现</a:t>
            </a:r>
            <a:r>
              <a:rPr lang="en-US" altLang="zh-CN"/>
              <a:t>Prefill Decode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zh-CN">
                <a:ea typeface="宋体" charset="0"/>
              </a:rPr>
              <a:t>Encode</a:t>
            </a:r>
            <a:r>
              <a:rPr lang="zh-CN" altLang="en-US">
                <a:ea typeface="宋体" charset="0"/>
              </a:rPr>
              <a:t>等多种</a:t>
            </a:r>
            <a:r>
              <a:rPr lang="en-US" altLang="zh-CN">
                <a:ea typeface="宋体" charset="0"/>
              </a:rPr>
              <a:t>role</a:t>
            </a:r>
            <a:r>
              <a:t>。</a:t>
            </a:r>
            <a:r>
              <a:t>Agent </a:t>
            </a:r>
            <a:r>
              <a:t>工作负载又带来大量短生命周期任务，它们对排队延迟非常敏感。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这些负载共享底层资源，却有完全不同的执行节奏。把每类负载做成一套独立资源池，隔离简单，但资源碎片和利用率问题会越来越严重。更合适的方向是共享资源视图，</a:t>
            </a:r>
            <a:r>
              <a:rPr lang="zh-CN"/>
              <a:t>提高整个集群的利用率，</a:t>
            </a:r>
            <a:r>
              <a:t>同时保留针对训练、推理和</a:t>
            </a:r>
            <a:r>
              <a:t> Agent </a:t>
            </a:r>
            <a:r>
              <a:t>的专用调度路径。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首先还是来简单</a:t>
            </a:r>
            <a:r>
              <a:t>回顾</a:t>
            </a:r>
            <a:r>
              <a:rPr lang="zh-CN"/>
              <a:t>一下</a:t>
            </a:r>
            <a:r>
              <a:t>Volcano本身，Volcano起始于Batch Scheduler，擅长于batch workload例如大数据</a:t>
            </a:r>
            <a:r>
              <a:rPr lang="zh-CN">
                <a:ea typeface="宋体" charset="0"/>
              </a:rPr>
              <a:t>、训练等任务</a:t>
            </a:r>
            <a:r>
              <a:t>的调度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向下，它管理 GPU、NPU、NUMA 和网络拓扑等异构资源；向上，它接收 Kubernetes 原生工作负载，以及 PyTorch、TensorFlow、Spark、Ray、Flink 等框架提交的任务。中间通过 PodGroup、</a:t>
            </a:r>
            <a:r>
              <a:rPr lang="zh-CN"/>
              <a:t>队列</a:t>
            </a:r>
            <a:r>
              <a:t> </a:t>
            </a:r>
            <a:r>
              <a:t>和一组可组合的调度插件表达</a:t>
            </a:r>
            <a:r>
              <a:t> Gang</a:t>
            </a:r>
            <a:r>
              <a:t>、</a:t>
            </a:r>
            <a:r>
              <a:t>Fair Share</a:t>
            </a:r>
            <a:r>
              <a:t>、</a:t>
            </a:r>
            <a:r>
              <a:t>Binpack</a:t>
            </a:r>
            <a:r>
              <a:t>、</a:t>
            </a:r>
            <a:r>
              <a:t>DeviceShare </a:t>
            </a:r>
            <a:r>
              <a:t>等策略。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但如今，随着推理、还有特别是</a:t>
            </a:r>
            <a:r>
              <a:rPr lang="en-US" altLang="zh-CN"/>
              <a:t>Agent</a:t>
            </a:r>
            <a:r>
              <a:rPr lang="zh-CN" altLang="en-US"/>
              <a:t>的</a:t>
            </a:r>
            <a:r>
              <a:rPr lang="en-US" altLang="zh-CN"/>
              <a:t>Workload</a:t>
            </a:r>
            <a:r>
              <a:rPr lang="zh-CN" altLang="en-US"/>
              <a:t>这种对于时延敏感，</a:t>
            </a:r>
            <a:r>
              <a:rPr lang="en-US" altLang="zh-CN"/>
              <a:t>burst</a:t>
            </a:r>
            <a:r>
              <a:rPr lang="zh-CN" altLang="en-US"/>
              <a:t>性的任务，</a:t>
            </a:r>
            <a:r>
              <a:rPr lang="en-US" altLang="zh-CN"/>
              <a:t>batch scheduler</a:t>
            </a:r>
            <a:r>
              <a:rPr lang="zh-CN" altLang="en-US"/>
              <a:t>不能满足所有形态的</a:t>
            </a:r>
            <a:r>
              <a:rPr lang="en-US" altLang="zh-CN"/>
              <a:t>workload</a:t>
            </a:r>
            <a:r>
              <a:rPr lang="zh-CN" altLang="en-US"/>
              <a:t>的调度，因此需要扩展去构建其他</a:t>
            </a:r>
            <a:r>
              <a:rPr lang="en-US" altLang="zh-CN"/>
              <a:t>scheduler</a:t>
            </a:r>
            <a:r>
              <a:rPr lang="zh-CN" altLang="en-US">
                <a:ea typeface="宋体" charset="0"/>
              </a:rPr>
              <a:t>，</a:t>
            </a:r>
            <a:r>
              <a:rPr lang="zh-CN" altLang="en-US"/>
              <a:t>构建统一调度</a:t>
            </a:r>
            <a:r>
              <a:rPr lang="zh-CN" altLang="en-US"/>
              <a:t>平台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这是我们当前的统一调度的架构，对于</a:t>
            </a:r>
            <a:r>
              <a:rPr lang="en-US" altLang="zh-CN"/>
              <a:t>Agent Scheduler</a:t>
            </a:r>
            <a:r>
              <a:rPr lang="zh-CN" altLang="en-US"/>
              <a:t>我在后续的</a:t>
            </a:r>
            <a:r>
              <a:rPr lang="en-US" altLang="zh-CN"/>
              <a:t>ppt</a:t>
            </a:r>
            <a:r>
              <a:rPr lang="zh-CN" altLang="en-US"/>
              <a:t>中会去展开介绍，</a:t>
            </a:r>
            <a:r>
              <a:rPr lang="en-US" altLang="zh-CN"/>
              <a:t>Agent Scheduler</a:t>
            </a:r>
            <a:r>
              <a:rPr lang="zh-CN" altLang="en-US"/>
              <a:t>适合不需要</a:t>
            </a:r>
            <a:r>
              <a:rPr lang="en-US" altLang="zh-CN"/>
              <a:t>gang</a:t>
            </a:r>
            <a:r>
              <a:rPr lang="zh-CN" altLang="en-US"/>
              <a:t>的，短周期，</a:t>
            </a:r>
            <a:r>
              <a:rPr lang="en-US" altLang="zh-CN"/>
              <a:t>burst</a:t>
            </a:r>
            <a:r>
              <a:rPr lang="zh-CN" altLang="en-US">
                <a:ea typeface="宋体" charset="0"/>
              </a:rPr>
              <a:t>，对时延敏感的任务，进行快速调度，而</a:t>
            </a:r>
            <a:r>
              <a:rPr lang="en-US" altLang="zh-CN">
                <a:ea typeface="宋体" charset="0"/>
              </a:rPr>
              <a:t>batch scheduler</a:t>
            </a:r>
            <a:r>
              <a:rPr lang="zh-CN" altLang="en-US">
                <a:ea typeface="宋体" charset="0"/>
              </a:rPr>
              <a:t>适合</a:t>
            </a:r>
            <a:r>
              <a:t>长时间运行的训练</a:t>
            </a:r>
            <a:r>
              <a:rPr lang="zh-CN"/>
              <a:t>或者推理任务，需要队列的资源管理能力，做抢占、拓扑调度，</a:t>
            </a:r>
            <a:r>
              <a:rPr lang="en-US" altLang="zh-CN"/>
              <a:t>gang scheduling</a:t>
            </a:r>
            <a:r>
              <a:rPr lang="zh-CN" altLang="en-US"/>
              <a:t>等等</a:t>
            </a:r>
            <a:r>
              <a:t>。</a:t>
            </a:r>
            <a:r>
              <a:rPr lang="zh-CN"/>
              <a:t>不同的负载路由到不同的调度器，多个调度器可以去共享整个集群资源，中间的</a:t>
            </a:r>
            <a:r>
              <a:rPr lang="en-US" altLang="zh-CN"/>
              <a:t>sharding controller</a:t>
            </a:r>
            <a:r>
              <a:rPr lang="zh-CN" altLang="en-US"/>
              <a:t>对集群进行一个动态的划分，但这个划分并不是一个简单的静态的集群分片，而是根据可插拔的策略进行调度器间的动态的节点流转，来提高整个集群的资源</a:t>
            </a:r>
            <a:r>
              <a:rPr lang="zh-CN" altLang="en-US"/>
              <a:t>利用率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刚才在架构层面引入了</a:t>
            </a:r>
            <a:r>
              <a:rPr lang="en-US" altLang="zh-CN"/>
              <a:t>Agent Scheduler</a:t>
            </a:r>
            <a:r>
              <a:rPr lang="zh-CN" altLang="en-US">
                <a:ea typeface="宋体" charset="0"/>
              </a:rPr>
              <a:t>，</a:t>
            </a:r>
            <a:r>
              <a:t>Agent 任务的典型特点是突发、数量多、生命周期短。它们如果进入面向大型 Batch Job 的session级别的完整调度周期，调度开销可能已经接近或超过任务自身的运行时间。Agent Scheduler的</a:t>
            </a:r>
            <a:r>
              <a:rPr lang="zh-CN"/>
              <a:t>快速调度路径</a:t>
            </a:r>
            <a:r>
              <a:t>使用多个 worker 并行读取共享的集群快照，各自完成候选节点筛选和放置决策。绑定阶段再做冲突检测；如果资源版本或节点状态已经变化，就放弃这次乐观结果并重新调度，而不是依赖一个全局大锁串行处理所有任务。会减少burst，时延敏感型的pod的调度时间，并且在同集群中，与 Batch Scheduler 共享资源边界，动态地将节点在调度器当中流转。</a:t>
            </a:r>
            <a:r>
              <a:rPr lang="zh-CN"/>
              <a:t>当然当前也有一些架构例如</a:t>
            </a:r>
            <a:r>
              <a:rPr lang="en-US" altLang="zh-CN"/>
              <a:t>Substrate</a:t>
            </a:r>
            <a:r>
              <a:rPr lang="zh-CN" altLang="en-US">
                <a:ea typeface="宋体" charset="0"/>
              </a:rPr>
              <a:t>，腾讯的</a:t>
            </a:r>
            <a:r>
              <a:rPr lang="en-US" altLang="zh-CN">
                <a:ea typeface="宋体" charset="0"/>
              </a:rPr>
              <a:t>Cubesandbox</a:t>
            </a:r>
            <a:r>
              <a:rPr lang="zh-CN" altLang="en-US">
                <a:ea typeface="宋体" charset="0"/>
              </a:rPr>
              <a:t>另外开发了调度器，但他们的调度原语已经不是基于</a:t>
            </a:r>
            <a:r>
              <a:rPr lang="en-US" altLang="zh-CN">
                <a:ea typeface="宋体" charset="0"/>
              </a:rPr>
              <a:t>pod</a:t>
            </a:r>
            <a:r>
              <a:rPr lang="zh-CN" altLang="en-US">
                <a:ea typeface="宋体" charset="0"/>
              </a:rPr>
              <a:t>，而是比</a:t>
            </a:r>
            <a:r>
              <a:rPr lang="en-US" altLang="zh-CN">
                <a:ea typeface="宋体" charset="0"/>
              </a:rPr>
              <a:t>pod</a:t>
            </a:r>
            <a:r>
              <a:rPr lang="zh-CN" altLang="en-US">
                <a:ea typeface="宋体" charset="0"/>
              </a:rPr>
              <a:t>的粒度更小，有的公司的</a:t>
            </a:r>
            <a:r>
              <a:rPr lang="en-US" altLang="zh-CN">
                <a:ea typeface="宋体" charset="0"/>
              </a:rPr>
              <a:t>agent infra</a:t>
            </a:r>
            <a:r>
              <a:rPr lang="zh-CN" altLang="en-US">
                <a:ea typeface="宋体" charset="0"/>
              </a:rPr>
              <a:t>还是基于</a:t>
            </a:r>
            <a:r>
              <a:rPr lang="en-US" altLang="zh-CN">
                <a:ea typeface="宋体" charset="0"/>
              </a:rPr>
              <a:t>Agent Sandbox</a:t>
            </a:r>
            <a:r>
              <a:rPr lang="zh-CN" altLang="en-US">
                <a:ea typeface="宋体" charset="0"/>
              </a:rPr>
              <a:t>项目去构建基于</a:t>
            </a:r>
            <a:r>
              <a:rPr lang="en-US" altLang="zh-CN">
                <a:ea typeface="宋体" charset="0"/>
              </a:rPr>
              <a:t>pod</a:t>
            </a:r>
            <a:r>
              <a:rPr lang="zh-CN" altLang="en-US">
                <a:ea typeface="宋体" charset="0"/>
              </a:rPr>
              <a:t>的预热池，我们当前不考虑我们应该追随哪种模式，当前我们不打破</a:t>
            </a:r>
            <a:r>
              <a:rPr lang="en-US" altLang="zh-CN">
                <a:ea typeface="宋体" charset="0"/>
              </a:rPr>
              <a:t>pod</a:t>
            </a:r>
            <a:r>
              <a:rPr lang="zh-CN" altLang="en-US">
                <a:ea typeface="宋体" charset="0"/>
              </a:rPr>
              <a:t>的最小原语，不对</a:t>
            </a:r>
            <a:r>
              <a:rPr lang="en-US" altLang="zh-CN">
                <a:ea typeface="宋体" charset="0"/>
              </a:rPr>
              <a:t>k8s</a:t>
            </a:r>
            <a:r>
              <a:rPr lang="zh-CN" altLang="en-US">
                <a:ea typeface="宋体" charset="0"/>
              </a:rPr>
              <a:t>进行旁路，还是在</a:t>
            </a:r>
            <a:r>
              <a:rPr lang="en-US" altLang="zh-CN">
                <a:ea typeface="宋体" charset="0"/>
              </a:rPr>
              <a:t>k8s</a:t>
            </a:r>
            <a:r>
              <a:rPr lang="zh-CN" altLang="en-US">
                <a:ea typeface="宋体" charset="0"/>
              </a:rPr>
              <a:t>之上去构建这套</a:t>
            </a:r>
            <a:r>
              <a:rPr lang="en-US" altLang="zh-CN">
                <a:ea typeface="宋体" charset="0"/>
              </a:rPr>
              <a:t>scheduler</a:t>
            </a:r>
            <a:endParaRPr lang="en-US" altLang="zh-CN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刚才提到集群当中会有多个调度器进行同时工作，</a:t>
            </a:r>
            <a:r>
              <a:rPr lang="zh-CN"/>
              <a:t>需要</a:t>
            </a:r>
            <a:r>
              <a:rPr lang="en-US" altLang="zh-CN"/>
              <a:t>Shard</a:t>
            </a:r>
            <a:r>
              <a:rPr lang="zh-CN" altLang="en-US"/>
              <a:t>来进行节点的分片，</a:t>
            </a:r>
            <a:r>
              <a:t>但</a:t>
            </a:r>
            <a:r>
              <a:t>Node Shard</a:t>
            </a:r>
            <a:r>
              <a:t>这套机制并不是简单的静态分池，静态分池通常按照节点标签把集群长期切开。它能减少调度器之间的冲突，但一边资源空闲、另一边任务排队时，节点无法及时流动。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Sharding Controller </a:t>
            </a:r>
            <a:r>
              <a:t>根据策略和实时负载计算候选节点集合，并通过</a:t>
            </a:r>
            <a:r>
              <a:t> NodeShard CRD </a:t>
            </a:r>
            <a:r>
              <a:t>把边界交给不同调度器。可以是</a:t>
            </a:r>
            <a:r>
              <a:t> Agent Scheduler </a:t>
            </a:r>
            <a:r>
              <a:t>和</a:t>
            </a:r>
            <a:r>
              <a:t> Batch Scheduler </a:t>
            </a:r>
            <a:r>
              <a:t>的组合，也可以是多个</a:t>
            </a:r>
            <a:r>
              <a:t> Batch Scheduler </a:t>
            </a:r>
            <a:r>
              <a:t>分担超大规模集群。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Node Shard</a:t>
            </a:r>
            <a:r>
              <a:t>可以随着负载变化而调整，调度器只在自己的候选集合内做高频决策。这样既降低单个调度器的搜索空间，也保留资源重新分配的能力。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谢谢</a:t>
            </a:r>
            <a:r>
              <a:t>zicong</a:t>
            </a:r>
            <a:r>
              <a:t>，大家好，我是来自商汤科技的王东阳，接下来</a:t>
            </a:r>
            <a:r>
              <a:t>我们进入第二</a:t>
            </a:r>
            <a:r>
              <a:t>章节</a:t>
            </a:r>
            <a:r>
              <a:t>：</a:t>
            </a:r>
            <a:r>
              <a:rPr sz="1200" b="1"/>
              <a:t>保留工作负载结构与拓扑</a:t>
            </a:r>
            <a:r>
              <a:rPr sz="1200" b="1"/>
              <a:t>。</a:t>
            </a:r>
            <a:endParaRPr sz="1200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在 AI 集群里，绝大多数训练任务都是分布式作业，需要多个 Worker Pod 协同工作。当集群资源紧张时，一个很直观的做法，就是</a:t>
            </a:r>
            <a:r>
              <a:t>执行</a:t>
            </a:r>
            <a:r>
              <a:t>驱逐，把 GPU 资源释放给更高优先级的任务。</a:t>
            </a:r>
            <a:r>
              <a:t>Volcano</a:t>
            </a:r>
            <a:r>
              <a:t>拥有同队列及跨队列的资源抢占能力，但是在早期的版本中，抢占是以节点粒度去遍历的，在考虑抢占节点上的</a:t>
            </a:r>
            <a:r>
              <a:t>pod</a:t>
            </a:r>
            <a:r>
              <a:t>时，并不关心</a:t>
            </a:r>
            <a:r>
              <a:t>pod</a:t>
            </a:r>
            <a:r>
              <a:t>归属于哪个</a:t>
            </a:r>
            <a:r>
              <a:t>job</a:t>
            </a:r>
            <a:r>
              <a:t>，</a:t>
            </a:r>
            <a:r>
              <a:t>但很多人没有注意到，这种以单个 Pod 为单位的驱逐，会带来非常大的隐性伤害。</a:t>
            </a:r>
            <a:br/>
          </a:p>
          <a:p>
            <a:r>
              <a:t>我们来看一个很典型的场景：现在集群上跑着 4 个训练</a:t>
            </a:r>
            <a:r>
              <a:t>任务</a:t>
            </a:r>
            <a:r>
              <a:t>，每个</a:t>
            </a:r>
            <a:r>
              <a:t>任务</a:t>
            </a:r>
            <a:r>
              <a:t>包含 4 个 Worker。这时来了一个大模型推理任务，它需要 4 张 GPU 才能启动。如果我们</a:t>
            </a:r>
            <a:r>
              <a:t>按照之前的驱逐方式，可能最终</a:t>
            </a:r>
            <a:r>
              <a:t>从 4 个训练任务中各驱逐一个 Pod，释放出 4 张 GPU。表面上看，资源需求被满足了，问题好像解决了。</a:t>
            </a:r>
          </a:p>
          <a:p>
            <a:r>
              <a:t>但真实结果是什么呢？每一个训练任务都缺失了一个 Worker，只剩下 3 个实例可用，最终</a:t>
            </a:r>
            <a:r>
              <a:rPr sz="1200" b="1"/>
              <a:t>4 个分布式训练任务全部卡住，无法继续迭代</a:t>
            </a:r>
            <a:r>
              <a:t>。我们为了腾出 4 张 GPU，却造成了 4 个完整训练任务停滞，这对于昂贵的 GPU 集群来说，是非常巨大的算力浪费。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/>
            <a:r>
              <a:t>既然我们找到了这个痛点，那 Volcano 是怎么去解决它的呢？</a:t>
            </a:r>
            <a:r>
              <a:t>我们也在上个版本也就是</a:t>
            </a:r>
            <a:r>
              <a:t>v1.15</a:t>
            </a:r>
            <a:r>
              <a:t>版本支持了</a:t>
            </a:r>
            <a:r>
              <a:t>gang</a:t>
            </a:r>
            <a:r>
              <a:t>级别的抢占能力，包括支持跨队列的及同队列的，同时</a:t>
            </a:r>
            <a:r>
              <a:t>gang</a:t>
            </a:r>
            <a:r>
              <a:t>级别的抢占也会考虑该</a:t>
            </a:r>
            <a:r>
              <a:t>podgroup</a:t>
            </a:r>
            <a:r>
              <a:t>的拓扑约束，如果在模拟调度过程中调度失败，则该次抢占会放弃</a:t>
            </a:r>
          </a:p>
          <a:p>
            <a:r>
              <a:t>它的核心思路很简单：不再跨多个任务随机挑选零散 Pod 杀掉，而是优先选中一整套受害作业，将整个 PodGroup 完整驱逐。</a:t>
            </a:r>
          </a:p>
          <a:p>
            <a:r>
              <a:t>回到刚才的例子，如果我们完整驱逐训练作业 A，它全部 4 个 Worker 一起退出，就可以一次性释放 HyperNode‑A 里的 4 张 GPU。这样一来，等待调度的推理 PodGroup 就可以作为一个完整的任务组正常启动。而其余像训练作业 B 这类任务，完全不受影响，继续运行。</a:t>
            </a:r>
          </a:p>
          <a:p>
            <a:r>
              <a:t>通过这种方式，最终我们只中断了</a:t>
            </a:r>
            <a:r>
              <a:rPr sz="1200" b="1"/>
              <a:t>一个任务</a:t>
            </a:r>
            <a:r>
              <a:t>，而不是把四个任务全部破坏，就能够极大降低资源抢占对集群内业务带来的负面影响。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/>
            <a:r>
              <a:t>说到</a:t>
            </a:r>
            <a:r>
              <a:t>驱逐和</a:t>
            </a:r>
            <a:r>
              <a:t>回收，很多同学会联想到集群混部。这里我也顺势介绍下 Volcano 在混部上的现状，以及我们接下来的演进方向。</a:t>
            </a:r>
          </a:p>
          <a:p>
            <a:r>
              <a:t>当前 Volcano 已经可以支持 CPU、内存维度的作业混部。我们基于 Linux 的 cgroup‑v2 能力，实现了自适应 CPU 限流、CPU </a:t>
            </a:r>
            <a:r>
              <a:t>burst</a:t>
            </a:r>
            <a:r>
              <a:t>等特性，让在线业务和离线训练任务可以安全地混跑，以此提升整体集群的资源利用率。</a:t>
            </a:r>
          </a:p>
          <a:p>
            <a:r>
              <a:t>但是，现在的 GPU 任务还有一个短板：一旦被抢占驱逐，训练进度就全部丢失，重启就要从头开始训练，损耗非常大。所以面向未来，我们提出了checkpoint</a:t>
            </a:r>
            <a:r>
              <a:t> </a:t>
            </a:r>
            <a:r>
              <a:t>感知回收机制</a:t>
            </a:r>
            <a:r>
              <a:t>。</a:t>
            </a:r>
          </a:p>
          <a:p>
            <a:r>
              <a:t>它的逻辑是：当一个</a:t>
            </a:r>
            <a:r>
              <a:t>完整的</a:t>
            </a:r>
            <a:r>
              <a:t> GPU 训练任务需要被抢占时，在真正</a:t>
            </a:r>
            <a:r>
              <a:t>驱逐</a:t>
            </a:r>
            <a:r>
              <a:t>pod</a:t>
            </a:r>
            <a:r>
              <a:t>之前</a:t>
            </a:r>
            <a:r>
              <a:t>，调度器先触发训练作业执行 checkpoint，把当前的模型状态保存下来。等 checkpoint 落盘完成后，再去驱逐整个作业组释放 GPU。等到后续资源空闲，任务恢复时，就可以直接从这个 checkpoint 继续训练，不用从零开始。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聊完了任务的抢占回收，接下来我们换一个视角。现在大模型的架构越来越复杂，很多任务</a:t>
            </a:r>
            <a:r>
              <a:t>都是由多种角色组成，当前</a:t>
            </a:r>
            <a:r>
              <a:t>PodGroup</a:t>
            </a:r>
            <a:r>
              <a:t>之</a:t>
            </a:r>
            <a:r>
              <a:t> </a:t>
            </a:r>
            <a:r>
              <a:t>能表达整个作业的准入条件，例如</a:t>
            </a:r>
            <a:r>
              <a:t> </a:t>
            </a:r>
            <a:r>
              <a:t>minMember</a:t>
            </a:r>
            <a:r>
              <a:t> </a:t>
            </a:r>
            <a:r>
              <a:t>和最小资源量。它可以保证成员足够时才启动，但一个扁平</a:t>
            </a:r>
            <a:r>
              <a:t> </a:t>
            </a:r>
            <a:r>
              <a:t>PodGroup</a:t>
            </a:r>
            <a:r>
              <a:t> </a:t>
            </a:r>
            <a:r>
              <a:t>无法说明哪些</a:t>
            </a:r>
            <a:r>
              <a:t> Pod </a:t>
            </a:r>
            <a:r>
              <a:t>构成</a:t>
            </a:r>
            <a:r>
              <a:t> TP group</a:t>
            </a:r>
            <a:r>
              <a:t>、</a:t>
            </a:r>
            <a:r>
              <a:t>PP stage</a:t>
            </a:r>
            <a:r>
              <a:t>，或者</a:t>
            </a:r>
            <a:r>
              <a:t> Prefill</a:t>
            </a:r>
            <a:r>
              <a:t>、</a:t>
            </a:r>
            <a:r>
              <a:t>Decode </a:t>
            </a:r>
            <a:r>
              <a:t>role</a:t>
            </a:r>
            <a:r>
              <a:t>。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为此我们引入了</a:t>
            </a:r>
            <a:r>
              <a:t>SubGroup</a:t>
            </a:r>
            <a:r>
              <a:t>概念，</a:t>
            </a:r>
            <a:r>
              <a:t>PodGroup</a:t>
            </a:r>
            <a:r>
              <a:t> </a:t>
            </a:r>
            <a:r>
              <a:t>仍然是完整训练作业或</a:t>
            </a:r>
            <a:r>
              <a:t> </a:t>
            </a:r>
            <a:r>
              <a:t>推理服务</a:t>
            </a:r>
            <a:r>
              <a:t> </a:t>
            </a:r>
            <a:r>
              <a:t>的</a:t>
            </a:r>
            <a:r>
              <a:t> Gang </a:t>
            </a:r>
            <a:r>
              <a:t>边界；</a:t>
            </a:r>
            <a:r>
              <a:t>SubGroup</a:t>
            </a:r>
            <a:r>
              <a:t> </a:t>
            </a:r>
            <a:r>
              <a:t>则描述</a:t>
            </a:r>
            <a:r>
              <a:t> TP</a:t>
            </a:r>
            <a:r>
              <a:t>、</a:t>
            </a:r>
            <a:r>
              <a:t>PP</a:t>
            </a:r>
            <a:r>
              <a:t>、</a:t>
            </a:r>
            <a:r>
              <a:t>DP </a:t>
            </a:r>
            <a:r>
              <a:t>或推理角色内部需要共同放置的成员，和各自的网络拓扑需求。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这样设计的好处就是，我们既可以对整个作业设置全局约束，也能对作业内部不同子角色，单独配置独立的网络拓扑放置规则。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有了 PodGroup 之后，大家自然会想到一个问题：我们能不能针对整个任务组，去做亲和、反亲和这类高级调度策略？而这恰恰是原生 K8s 的短板。</a:t>
            </a:r>
          </a:p>
          <a:p>
            <a:r>
              <a:t>Kubernetes 原生只提供 Pod 粒度的亲和与反亲和策略。但是在 AI 业务场景，很多时候我们需要约束的不是单个 Pod，而是</a:t>
            </a:r>
            <a:r>
              <a:rPr sz="1200" b="1"/>
              <a:t>一整个任务</a:t>
            </a:r>
            <a:r>
              <a:t>。</a:t>
            </a:r>
          </a:p>
          <a:p>
            <a:r>
              <a:t>所以 Volcano 将在 v1.16 版本，正式推出 PodGroup 级别的亲和与反亲和能力。</a:t>
            </a:r>
          </a:p>
          <a:p>
            <a:r>
              <a:t>先说 PodGroup 反亲和：它可以要求多个独立的推理副本组，调度到不同的 Tier‑1 HyperNode，也就是不同的故障域。这样就算某一个机架、某一台叶子交换机故障，也不会让所有推理副本同时失效，极大提升服务的高可用能力。</a:t>
            </a:r>
          </a:p>
          <a:p>
            <a:r>
              <a:t>与之对应的 PodGroup 亲和，则用于另一种场景：如果多组任务之间需要频繁高速通信，我们就可以强制把它们调度到同一个故障域内，以此降低跨节点、跨机架带来的网络延迟。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讲到这里，很多同学会问：不管是 SubGroup，还是组级亲和反亲和，这些拓扑约束最终靠什么落地？答案就是我们接下来要介绍的 HyperNode。</a:t>
            </a:r>
          </a:p>
          <a:p>
            <a:r>
              <a:t>之前大家或多或少已经了解过或者用过</a:t>
            </a:r>
            <a:r>
              <a:t>Volcano</a:t>
            </a:r>
            <a:r>
              <a:t>的</a:t>
            </a:r>
            <a:r>
              <a:t>HyperNode</a:t>
            </a:r>
            <a:r>
              <a:t>，再回顾一下，</a:t>
            </a:r>
            <a:r>
              <a:t>真实的数据中心网络，是一套多层的物理架构，包含核心交换机、汇聚交换机、叶子交换机，往下是机架，再到每一台物理服务器。</a:t>
            </a:r>
          </a:p>
          <a:p>
            <a:r>
              <a:t>HyperNode 的设计思想，就是把这套真实的物理网络拓扑，完整映射成 Kubernetes 里的 CRD 自定义资源，构建出一套层级模型：从集群、超级节点、机架，一直到物理节点，每一层都对应机房真实的网络层级。</a:t>
            </a:r>
          </a:p>
          <a:p>
            <a:r>
              <a:t>用户只需要在 PodGroup 的配置中，声明自己的拓扑放置要求，Volcano 调度器就会把这些需求映射到 HyperNode 的层级模型上，完成拓扑感知调度。简单来说，HyperNode 把看不见摸不着的物理机房拓扑，变成了调度器可以直接使用的一套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光讲概念比较抽象，我们来看一个真实的大模型推理业务示例，直观感受下多级拓扑约束该如何使用。</a:t>
            </a:r>
          </a:p>
          <a:p>
            <a:r>
              <a:t>这份 YAML 描述了一个 </a:t>
            </a:r>
            <a:r>
              <a:t>大模型</a:t>
            </a:r>
            <a:r>
              <a:t> 推理 </a:t>
            </a:r>
            <a:r>
              <a:t>任务</a:t>
            </a:r>
            <a:r>
              <a:t>，</a:t>
            </a:r>
            <a:r>
              <a:t>需要</a:t>
            </a:r>
            <a:r>
              <a:t> 8 个 Pod。全局层面，我们允许整个作业最高可以跨到第三层，也就是核心交换机层级。而在它内部包含两个 SubGroup：4 个 Pod 的 Prefill </a:t>
            </a:r>
            <a:r>
              <a:t>suBgroup</a:t>
            </a:r>
            <a:r>
              <a:t>、4 个 Pod 的 Decode </a:t>
            </a:r>
            <a:r>
              <a:t>subGroup</a:t>
            </a:r>
            <a:r>
              <a:t>。</a:t>
            </a:r>
          </a:p>
          <a:p>
            <a:r>
              <a:t>其中 Prefill </a:t>
            </a:r>
            <a:r>
              <a:t>SubGroup</a:t>
            </a:r>
            <a:r>
              <a:t>，我们做了严格限制，要求它只能运行在第一层叶子交换机范围内，也就是同一个机架，保证最低延迟。而 Decode </a:t>
            </a:r>
            <a:r>
              <a:t>SubGroup</a:t>
            </a:r>
            <a:r>
              <a:t>，允许它最多跨到第二层汇聚交换机。</a:t>
            </a:r>
          </a:p>
          <a:p>
            <a:r>
              <a:t>借助这种方式，同一个作业，全局和内部不同子组件，可以拥有完全不同的拓扑规则，这对于 Prefill‑Decode 解耦推理这类场景，是非常实用的。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说到 HyperNode，最后还有一个很现实的运维问题摆在面前：如果所有 HyperNode 资源都需要管理员手动编写、手动维护，那工作量会非常大，几乎不可落地。所以我们做了 HyperNode 自动拓扑发现。</a:t>
            </a:r>
            <a:r>
              <a:t>里面的</a:t>
            </a:r>
            <a:r>
              <a:t>Discovery Manager</a:t>
            </a:r>
            <a:r>
              <a:t>是插件化的，可以扩展去支持多种</a:t>
            </a:r>
            <a:r>
              <a:t>Cloud</a:t>
            </a:r>
            <a:r>
              <a:t>或者数据中心的网络拓扑数据的采集和转换，</a:t>
            </a:r>
            <a:r>
              <a:t>交给 HyperNode 控制器，由控制器自动创建、更新对应的 HyperNode CRD 对象，不需要人工介入。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在</a:t>
            </a:r>
            <a:r>
              <a:t>v1.16</a:t>
            </a:r>
            <a:r>
              <a:t>版本，我们支持将</a:t>
            </a:r>
            <a:r>
              <a:t>HyperNode</a:t>
            </a:r>
            <a:r>
              <a:t> controller</a:t>
            </a:r>
            <a:r>
              <a:t>独立部署，可以对接各种自定义的调度器，而不是</a:t>
            </a:r>
            <a:r>
              <a:t>Volcano</a:t>
            </a:r>
            <a:r>
              <a:t>调度器，也欢迎其他社区伙伴或者感兴趣的用户使用</a:t>
            </a:r>
            <a:r>
              <a:t>HyperNode</a:t>
            </a:r>
            <a:r>
              <a:t> controller</a:t>
            </a:r>
            <a:r>
              <a:t>，贡献</a:t>
            </a:r>
            <a:r>
              <a:t>HyperNode</a:t>
            </a:r>
            <a:r>
              <a:t>的生态，相信</a:t>
            </a:r>
            <a:r>
              <a:t>HyperNode</a:t>
            </a:r>
            <a:r>
              <a:t>这套生态也能够帮助到其他平台更高效地调度</a:t>
            </a:r>
            <a:r>
              <a:t>AI workload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>
                <a:sym typeface="+mn-ea"/>
              </a:rPr>
              <a:t>前面我们主要站在调度器的视角，介绍了</a:t>
            </a:r>
            <a:r>
              <a:rPr lang="en-US" altLang="en-US">
                <a:sym typeface="+mn-ea"/>
              </a:rPr>
              <a:t> PodGroup</a:t>
            </a:r>
            <a:r>
              <a:rPr lang="zh-CN" altLang="en-US">
                <a:sym typeface="+mn-ea"/>
              </a:rPr>
              <a:t>、</a:t>
            </a:r>
            <a:r>
              <a:rPr lang="en-US" altLang="en-US">
                <a:sym typeface="+mn-ea"/>
              </a:rPr>
              <a:t>SubGroup </a:t>
            </a:r>
            <a:r>
              <a:rPr lang="zh-CN" altLang="en-US">
                <a:sym typeface="+mn-ea"/>
              </a:rPr>
              <a:t>和</a:t>
            </a:r>
            <a:r>
              <a:rPr lang="en-US" altLang="en-US">
                <a:sym typeface="+mn-ea"/>
              </a:rPr>
              <a:t> HyperNode </a:t>
            </a:r>
            <a:r>
              <a:rPr lang="zh-CN" altLang="en-US">
                <a:sym typeface="+mn-ea"/>
              </a:rPr>
              <a:t>如何保留工作负载结构与网络拓扑。接下来我们再往上走一层，看这些能力怎样服务大模型推理。这里要介绍的是</a:t>
            </a:r>
            <a:r>
              <a:rPr lang="en-US" altLang="en-US">
                <a:sym typeface="+mn-ea"/>
              </a:rPr>
              <a:t> Volcano </a:t>
            </a:r>
            <a:r>
              <a:rPr lang="zh-CN" altLang="en-US">
                <a:sym typeface="+mn-ea"/>
              </a:rPr>
              <a:t>社区的推理子项目</a:t>
            </a:r>
            <a:r>
              <a:rPr lang="en-US" altLang="en-US">
                <a:sym typeface="+mn-ea"/>
              </a:rPr>
              <a:t>Kthena</a:t>
            </a:r>
            <a:r>
              <a:rPr lang="zh-CN" altLang="en-US">
                <a:sym typeface="+mn-ea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/>
              <a:t>有的听众可能已经使用或者听过</a:t>
            </a:r>
            <a:r>
              <a:rPr lang="en-US" altLang="zh-CN"/>
              <a:t>Kthena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en-US"/>
              <a:t>Kthena </a:t>
            </a:r>
            <a:r>
              <a:rPr lang="zh-CN" altLang="en-US"/>
              <a:t>是</a:t>
            </a:r>
            <a:r>
              <a:rPr lang="en-US" altLang="en-US"/>
              <a:t> Volcano </a:t>
            </a:r>
            <a:r>
              <a:rPr lang="zh-CN" altLang="en-US"/>
              <a:t>社区面向推理场景孵化的项目。大家可以把它分成三个部分来看。</a:t>
            </a:r>
            <a:endParaRPr lang="zh-CN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/>
              <a:t>左边是声明式控制面。用户通过</a:t>
            </a:r>
            <a:r>
              <a:rPr lang="en-US" altLang="en-US"/>
              <a:t> ModelServing</a:t>
            </a:r>
            <a:r>
              <a:rPr lang="zh-CN" altLang="en-US"/>
              <a:t>、</a:t>
            </a:r>
            <a:r>
              <a:rPr lang="en-US" altLang="en-US"/>
              <a:t>ModelServer</a:t>
            </a:r>
            <a:r>
              <a:rPr lang="zh-CN" altLang="en-US"/>
              <a:t>、</a:t>
            </a:r>
            <a:r>
              <a:rPr lang="en-US" altLang="en-US"/>
              <a:t>ModelRoute </a:t>
            </a:r>
            <a:r>
              <a:rPr lang="zh-CN" altLang="en-US"/>
              <a:t>和</a:t>
            </a:r>
            <a:r>
              <a:rPr lang="en-US" altLang="en-US"/>
              <a:t> AutoscalingPolicy </a:t>
            </a:r>
            <a:r>
              <a:rPr lang="zh-CN" altLang="en-US"/>
              <a:t>这些</a:t>
            </a:r>
            <a:r>
              <a:rPr lang="en-US" altLang="en-US"/>
              <a:t> CRD</a:t>
            </a:r>
            <a:r>
              <a:rPr lang="zh-CN" altLang="en-US"/>
              <a:t>，描述模型怎样部署、怎样暴露服务，以及怎样扩缩容。底层可以运行</a:t>
            </a:r>
            <a:r>
              <a:rPr lang="en-US" altLang="en-US"/>
              <a:t> vLLM</a:t>
            </a:r>
            <a:r>
              <a:rPr lang="zh-CN" altLang="en-US"/>
              <a:t>、</a:t>
            </a:r>
            <a:r>
              <a:rPr lang="en-US" altLang="en-US"/>
              <a:t>SGLang</a:t>
            </a:r>
            <a:r>
              <a:rPr lang="zh-CN" altLang="en-US"/>
              <a:t>、</a:t>
            </a:r>
            <a:r>
              <a:rPr lang="en-US" altLang="en-US"/>
              <a:t>Triton </a:t>
            </a:r>
            <a:r>
              <a:rPr lang="zh-CN" altLang="en-US"/>
              <a:t>等不同推理引擎，也支持普通副本和</a:t>
            </a:r>
            <a:r>
              <a:rPr lang="en-US" altLang="en-US"/>
              <a:t> Prefill</a:t>
            </a:r>
            <a:r>
              <a:rPr lang="zh-CN" altLang="en-US"/>
              <a:t>、</a:t>
            </a:r>
            <a:r>
              <a:rPr lang="en-US" altLang="en-US"/>
              <a:t>Decode </a:t>
            </a:r>
            <a:r>
              <a:rPr lang="zh-CN" altLang="en-US"/>
              <a:t>分离部署。</a:t>
            </a:r>
            <a:endParaRPr lang="zh-CN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/>
              <a:t>中间是</a:t>
            </a:r>
            <a:r>
              <a:rPr lang="en-US" altLang="en-US"/>
              <a:t> Kthena Router</a:t>
            </a:r>
            <a:r>
              <a:rPr lang="zh-CN" altLang="en-US"/>
              <a:t>。它处理认证、限流、公平排队和负载均衡，还可以根据请求数、延迟、</a:t>
            </a:r>
            <a:r>
              <a:rPr lang="en-US" altLang="en-US"/>
              <a:t>Prefix Cache</a:t>
            </a:r>
            <a:r>
              <a:rPr lang="zh-CN" altLang="en-US"/>
              <a:t>、</a:t>
            </a:r>
            <a:r>
              <a:rPr lang="en-US" altLang="en-US"/>
              <a:t>KV Cache </a:t>
            </a:r>
            <a:r>
              <a:rPr lang="zh-CN" altLang="en-US"/>
              <a:t>等信息选择后端。</a:t>
            </a:r>
            <a:endParaRPr lang="zh-CN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/>
              <a:t>最下面是</a:t>
            </a:r>
            <a:r>
              <a:rPr lang="en-US" altLang="en-US"/>
              <a:t> Volcano </a:t>
            </a:r>
            <a:r>
              <a:rPr lang="zh-CN" altLang="en-US"/>
              <a:t>调度器。</a:t>
            </a:r>
            <a:r>
              <a:rPr lang="en-US" altLang="zh-CN"/>
              <a:t>Kthena</a:t>
            </a:r>
            <a:r>
              <a:rPr lang="zh-CN" altLang="en-US"/>
              <a:t>可以和</a:t>
            </a:r>
            <a:r>
              <a:rPr lang="en-US" altLang="zh-CN"/>
              <a:t>Volcano</a:t>
            </a:r>
            <a:r>
              <a:rPr lang="zh-CN" altLang="en-US"/>
              <a:t>紧密的结合，</a:t>
            </a:r>
            <a:r>
              <a:rPr lang="en-US" altLang="en-US"/>
              <a:t>Kthena </a:t>
            </a:r>
            <a:r>
              <a:rPr lang="zh-CN" altLang="en-US"/>
              <a:t>负责描述推理服务的结构，</a:t>
            </a:r>
            <a:r>
              <a:rPr lang="en-US" altLang="en-US"/>
              <a:t>Volcano </a:t>
            </a:r>
            <a:r>
              <a:rPr lang="zh-CN" altLang="en-US"/>
              <a:t>负责把这些</a:t>
            </a:r>
            <a:r>
              <a:rPr lang="en-US" altLang="en-US"/>
              <a:t> Pod </a:t>
            </a:r>
            <a:r>
              <a:rPr lang="zh-CN" altLang="en-US"/>
              <a:t>作为完整的服务单元调度到合适的</a:t>
            </a:r>
            <a:r>
              <a:rPr lang="en-US" altLang="en-US"/>
              <a:t> GPU </a:t>
            </a:r>
            <a:r>
              <a:rPr lang="zh-CN" altLang="en-US"/>
              <a:t>和网络拓扑上。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/>
              <a:t>看</a:t>
            </a:r>
            <a:r>
              <a:rPr lang="en-US" altLang="en-US"/>
              <a:t> Kthena </a:t>
            </a:r>
            <a:r>
              <a:rPr lang="zh-CN" altLang="en-US"/>
              <a:t>和</a:t>
            </a:r>
            <a:r>
              <a:rPr lang="en-US" altLang="en-US"/>
              <a:t> Volcano </a:t>
            </a:r>
            <a:r>
              <a:rPr lang="zh-CN" altLang="en-US"/>
              <a:t>的对应关系。一个</a:t>
            </a:r>
            <a:r>
              <a:rPr lang="en-US" altLang="en-US"/>
              <a:t> ModelServing </a:t>
            </a:r>
            <a:r>
              <a:rPr lang="zh-CN" altLang="en-US"/>
              <a:t>可以包含多个</a:t>
            </a:r>
            <a:r>
              <a:rPr lang="en-US" altLang="en-US"/>
              <a:t> ServingGroup</a:t>
            </a:r>
            <a:r>
              <a:rPr lang="zh-CN" altLang="en-US"/>
              <a:t>，每个</a:t>
            </a:r>
            <a:r>
              <a:rPr lang="en-US" altLang="en-US"/>
              <a:t> ServingGroup </a:t>
            </a:r>
            <a:r>
              <a:rPr lang="zh-CN" altLang="en-US"/>
              <a:t>内又包含</a:t>
            </a:r>
            <a:r>
              <a:rPr lang="en-US" altLang="en-US"/>
              <a:t> Prefill</a:t>
            </a:r>
            <a:r>
              <a:rPr lang="zh-CN" altLang="en-US"/>
              <a:t>、</a:t>
            </a:r>
            <a:r>
              <a:rPr lang="en-US" altLang="en-US"/>
              <a:t>Decode </a:t>
            </a:r>
            <a:r>
              <a:rPr lang="zh-CN" altLang="en-US"/>
              <a:t>等</a:t>
            </a:r>
            <a:r>
              <a:rPr lang="en-US" altLang="en-US"/>
              <a:t> Role</a:t>
            </a:r>
            <a:r>
              <a:rPr lang="zh-CN" altLang="en-US"/>
              <a:t>。</a:t>
            </a:r>
            <a:r>
              <a:rPr lang="en-US" altLang="en-US"/>
              <a:t>Kthena </a:t>
            </a:r>
            <a:r>
              <a:rPr lang="zh-CN" altLang="en-US"/>
              <a:t>将</a:t>
            </a:r>
            <a:r>
              <a:rPr lang="en-US" altLang="en-US"/>
              <a:t> ServingGroup </a:t>
            </a:r>
            <a:r>
              <a:rPr lang="zh-CN" altLang="en-US"/>
              <a:t>对应到</a:t>
            </a:r>
            <a:r>
              <a:rPr lang="en-US" altLang="en-US"/>
              <a:t> PodGroup</a:t>
            </a:r>
            <a:r>
              <a:rPr lang="zh-CN" altLang="en-US"/>
              <a:t>，将每个</a:t>
            </a:r>
            <a:r>
              <a:rPr lang="en-US" altLang="en-US"/>
              <a:t> Role replica </a:t>
            </a:r>
            <a:r>
              <a:rPr lang="zh-CN" altLang="en-US"/>
              <a:t>对应到</a:t>
            </a:r>
            <a:r>
              <a:rPr lang="en-US" altLang="en-US"/>
              <a:t> SubGroup</a:t>
            </a:r>
            <a:r>
              <a:rPr lang="zh-CN" altLang="en-US"/>
              <a:t>。</a:t>
            </a:r>
            <a:endParaRPr lang="zh-CN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/>
              <a:t>图中的</a:t>
            </a:r>
            <a:r>
              <a:rPr lang="en-US" altLang="en-US"/>
              <a:t> 1P3D </a:t>
            </a:r>
            <a:r>
              <a:rPr lang="zh-CN" altLang="en-US"/>
              <a:t>需要一个</a:t>
            </a:r>
            <a:r>
              <a:rPr lang="en-US" altLang="en-US"/>
              <a:t> Prefill </a:t>
            </a:r>
            <a:r>
              <a:rPr lang="zh-CN" altLang="en-US"/>
              <a:t>和三个</a:t>
            </a:r>
            <a:r>
              <a:rPr lang="en-US" altLang="en-US"/>
              <a:t> Decode replica</a:t>
            </a:r>
            <a:r>
              <a:rPr lang="zh-CN" altLang="en-US"/>
              <a:t>。</a:t>
            </a:r>
            <a:r>
              <a:rPr lang="en-US" altLang="en-US"/>
              <a:t>Volcano </a:t>
            </a:r>
            <a:r>
              <a:rPr lang="zh-CN" altLang="en-US"/>
              <a:t>会把它们作为完整的</a:t>
            </a:r>
            <a:r>
              <a:rPr lang="en-US" altLang="en-US"/>
              <a:t> Gang </a:t>
            </a:r>
            <a:r>
              <a:rPr lang="zh-CN" altLang="en-US"/>
              <a:t>调度。同时不同的</a:t>
            </a:r>
            <a:r>
              <a:rPr lang="en-US" altLang="zh-CN"/>
              <a:t>role</a:t>
            </a:r>
            <a:r>
              <a:rPr lang="zh-CN" altLang="en-US"/>
              <a:t>又可以指定不同的网络拓扑</a:t>
            </a:r>
            <a:r>
              <a:rPr lang="zh-CN" altLang="en-US"/>
              <a:t>约束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/>
              <a:t>从</a:t>
            </a:r>
            <a:r>
              <a:rPr lang="en-US" altLang="en-US"/>
              <a:t> v0.4 </a:t>
            </a:r>
            <a:r>
              <a:rPr lang="zh-CN" altLang="en-US"/>
              <a:t>到</a:t>
            </a:r>
            <a:r>
              <a:rPr lang="en-US" altLang="en-US"/>
              <a:t> v1.0</a:t>
            </a:r>
            <a:r>
              <a:rPr lang="zh-CN" altLang="en-US"/>
              <a:t>，</a:t>
            </a:r>
            <a:r>
              <a:rPr lang="en-US" altLang="en-US"/>
              <a:t>Kthena </a:t>
            </a:r>
            <a:r>
              <a:rPr lang="zh-CN" altLang="en-US"/>
              <a:t>开始从</a:t>
            </a:r>
            <a:r>
              <a:rPr lang="en-US" altLang="zh-CN"/>
              <a:t>role</a:t>
            </a:r>
            <a:r>
              <a:rPr lang="zh-CN" altLang="en-US"/>
              <a:t>级别管理走向整个推理系统的协同。从</a:t>
            </a:r>
            <a:r>
              <a:rPr lang="en-US" altLang="zh-CN"/>
              <a:t>2026</a:t>
            </a:r>
            <a:r>
              <a:rPr lang="zh-CN" altLang="en-US"/>
              <a:t>初期开始到如今已经迭代到</a:t>
            </a:r>
            <a:r>
              <a:rPr lang="en-US" altLang="zh-CN"/>
              <a:t>1.0</a:t>
            </a:r>
            <a:r>
              <a:rPr lang="zh-CN" altLang="en-US"/>
              <a:t>版本，增加了包括进一步支持</a:t>
            </a:r>
            <a:r>
              <a:rPr lang="en-US" altLang="en-US"/>
              <a:t> P/D </a:t>
            </a:r>
            <a:r>
              <a:rPr lang="zh-CN" altLang="en-US"/>
              <a:t>协同扩缩容，让</a:t>
            </a:r>
            <a:r>
              <a:rPr lang="en-US" altLang="en-US"/>
              <a:t> Prefill </a:t>
            </a:r>
            <a:r>
              <a:rPr lang="zh-CN" altLang="en-US"/>
              <a:t>和</a:t>
            </a:r>
            <a:r>
              <a:rPr lang="en-US" altLang="en-US"/>
              <a:t> Decode </a:t>
            </a:r>
            <a:r>
              <a:rPr lang="zh-CN" altLang="en-US"/>
              <a:t>根据各自压力进行调整，同时维持合理比例。</a:t>
            </a:r>
            <a:r>
              <a:rPr lang="en-US" altLang="en-US"/>
              <a:t>Session Boost </a:t>
            </a:r>
            <a:r>
              <a:rPr lang="zh-CN" altLang="en-US"/>
              <a:t>则优先处理最近会话的后续请求，提升</a:t>
            </a:r>
            <a:r>
              <a:rPr lang="en-US" altLang="en-US"/>
              <a:t> KV Cache </a:t>
            </a:r>
            <a:r>
              <a:rPr lang="zh-CN" altLang="en-US"/>
              <a:t>的复用机会。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/>
              <a:t>下一步我们会更多关注</a:t>
            </a:r>
            <a:r>
              <a:rPr lang="en-US" altLang="en-US"/>
              <a:t> Agent Serving </a:t>
            </a:r>
            <a:r>
              <a:rPr lang="zh-CN" altLang="en-US"/>
              <a:t>和</a:t>
            </a:r>
            <a:r>
              <a:rPr lang="en-US" altLang="en-US"/>
              <a:t> Agentic RL</a:t>
            </a:r>
            <a:r>
              <a:rPr lang="zh-CN" altLang="en-US"/>
              <a:t>。它们的特点是流量突发、实例变化快，而且一次扩容不仅包含</a:t>
            </a:r>
            <a:r>
              <a:rPr lang="en-US" altLang="en-US"/>
              <a:t> Pod </a:t>
            </a:r>
            <a:r>
              <a:rPr lang="zh-CN" altLang="en-US"/>
              <a:t>调度，还包括模型准备、引擎启动和预热。</a:t>
            </a:r>
            <a:endParaRPr lang="zh-CN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/>
              <a:t>Kthena Next</a:t>
            </a:r>
            <a:r>
              <a:rPr lang="zh-CN" altLang="en-US"/>
              <a:t>希望复用已有</a:t>
            </a:r>
            <a:r>
              <a:rPr lang="en-US" altLang="en-US"/>
              <a:t> Pod </a:t>
            </a:r>
            <a:r>
              <a:rPr lang="zh-CN" altLang="en-US"/>
              <a:t>生成的</a:t>
            </a:r>
            <a:r>
              <a:rPr lang="en-US" altLang="en-US"/>
              <a:t> Snapshot </a:t>
            </a:r>
            <a:r>
              <a:rPr lang="zh-CN" altLang="en-US"/>
              <a:t>和预热资产，减少弹性</a:t>
            </a:r>
            <a:r>
              <a:rPr lang="en-US" altLang="zh-CN"/>
              <a:t>Scale up</a:t>
            </a:r>
            <a:r>
              <a:rPr lang="zh-CN" altLang="en-US"/>
              <a:t>的时间。</a:t>
            </a:r>
            <a:r>
              <a:rPr lang="en-US"/>
              <a:t>Router</a:t>
            </a:r>
            <a:r>
              <a:rPr lang="zh-CN" altLang="en-US"/>
              <a:t>也会对</a:t>
            </a:r>
            <a:r>
              <a:rPr lang="en-US" altLang="zh-CN"/>
              <a:t>Agent serving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zh-CN">
                <a:ea typeface="宋体" charset="0"/>
              </a:rPr>
              <a:t>Agentic RL</a:t>
            </a:r>
            <a:r>
              <a:rPr lang="zh-CN" altLang="en-US">
                <a:ea typeface="宋体" charset="0"/>
              </a:rPr>
              <a:t>会有更多的路由方面的</a:t>
            </a:r>
            <a:r>
              <a:rPr lang="zh-CN" altLang="en-US">
                <a:ea typeface="宋体" charset="0"/>
              </a:rPr>
              <a:t>优化</a:t>
            </a:r>
            <a:endParaRPr lang="zh-CN" altLang="en-US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China template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3" name="Google Shape;56;p14"/>
          <p:cNvPicPr>
            <a:picLocks noChangeAspect="1"/>
          </p:cNvPicPr>
          <p:nvPr/>
        </p:nvPicPr>
        <p:blipFill rotWithShape="1">
          <a:blip r:embed="rId2"/>
          <a:srcRect l="7975" r="3180"/>
          <a:stretch>
            <a:fillRect/>
          </a:stretch>
        </p:blipFill>
        <p:spPr>
          <a:xfrm>
            <a:off x="0" y="0"/>
            <a:ext cx="9144000" cy="5146062"/>
          </a:xfrm>
          <a:prstGeom prst="rect">
            <a:avLst/>
          </a:prstGeom>
          <a:ln>
            <a:noFill/>
          </a:ln>
        </p:spPr>
      </p:pic>
      <p:sp>
        <p:nvSpPr>
          <p:cNvPr id="57" name="Google Shape;57;p14"/>
          <p:cNvSpPr>
            <a:spLocks noGrp="1"/>
          </p:cNvSpPr>
          <p:nvPr/>
        </p:nvSpPr>
        <p:spPr>
          <a:xfrm>
            <a:off x="0" y="2531700"/>
            <a:ext cx="1312500" cy="9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Google Shape;58;p14"/>
          <p:cNvSpPr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4"/>
          <p:cNvSpPr>
            <a:spLocks noGrp="1"/>
          </p:cNvSpPr>
          <p:nvPr/>
        </p:nvSpPr>
        <p:spPr>
          <a:xfrm>
            <a:off x="4572000" y="178532"/>
            <a:ext cx="42550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#KubeCon #CloudNativeCon</a:t>
            </a:r>
            <a:b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#OpenInfraSummit #PyTorchCon</a:t>
            </a:r>
            <a:endParaRPr sz="1200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8" name="Google Shape;61;p14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Google Shape;69;p16"/>
          <p:cNvSpPr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4" name="Google Shape;71;p16"/>
          <p:cNvPicPr>
            <a:picLocks noChangeAspect="1"/>
          </p:cNvPicPr>
          <p:nvPr/>
        </p:nvPicPr>
        <p:blipFill rotWithShape="1">
          <a:blip r:embed="rId2"/>
          <a:srcRect r="14460"/>
          <a:stretch>
            <a:fillRect/>
          </a:stretch>
        </p:blipFill>
        <p:spPr>
          <a:xfrm>
            <a:off x="2715352" y="2998599"/>
            <a:ext cx="6428647" cy="2144901"/>
          </a:xfrm>
          <a:prstGeom prst="rect">
            <a:avLst/>
          </a:prstGeom>
          <a:ln>
            <a:noFill/>
          </a:ln>
        </p:spPr>
      </p:pic>
      <p:pic>
        <p:nvPicPr>
          <p:cNvPr id="75" name="Google Shape;72;p16"/>
          <p:cNvPicPr>
            <a:picLocks noChangeAspect="1"/>
          </p:cNvPicPr>
          <p:nvPr/>
        </p:nvPicPr>
        <p:blipFill rotWithShape="1">
          <a:blip r:embed="rId3"/>
          <a:srcRect l="64144"/>
          <a:stretch>
            <a:fillRect/>
          </a:stretch>
        </p:blipFill>
        <p:spPr>
          <a:xfrm>
            <a:off x="0" y="4071049"/>
            <a:ext cx="2715353" cy="1072451"/>
          </a:xfrm>
          <a:prstGeom prst="rect">
            <a:avLst/>
          </a:prstGeom>
          <a:ln>
            <a:noFill/>
          </a:ln>
        </p:spPr>
      </p:pic>
      <p:pic>
        <p:nvPicPr>
          <p:cNvPr id="76" name="Google Shape;73;p16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" name="Google Shape;75;p17"/>
          <p:cNvSpPr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7"/>
          <p:cNvSpPr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3" name="Google Shape;77;p17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40823" y="453033"/>
            <a:ext cx="2590800" cy="1181100"/>
          </a:xfrm>
          <a:prstGeom prst="rect">
            <a:avLst/>
          </a:prstGeom>
          <a:ln>
            <a:noFill/>
          </a:ln>
        </p:spPr>
      </p:pic>
      <p:pic>
        <p:nvPicPr>
          <p:cNvPr id="84" name="Google Shape;78;p17"/>
          <p:cNvPicPr>
            <a:picLocks noChangeAspect="1"/>
          </p:cNvPicPr>
          <p:nvPr/>
        </p:nvPicPr>
        <p:blipFill rotWithShape="1">
          <a:blip r:embed="rId2"/>
          <a:srcRect l="41002" b="9974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  <a:ln>
            <a:noFill/>
          </a:ln>
        </p:spPr>
      </p:pic>
      <p:pic>
        <p:nvPicPr>
          <p:cNvPr id="85" name="Google Shape;79;p17"/>
          <p:cNvPicPr>
            <a:picLocks noChangeAspect="1"/>
          </p:cNvPicPr>
          <p:nvPr/>
        </p:nvPicPr>
        <p:blipFill rotWithShape="1">
          <a:blip r:embed="rId3"/>
          <a:srcRect t="40037" r="35395" b="24793"/>
          <a:stretch>
            <a:fillRect/>
          </a:stretch>
        </p:blipFill>
        <p:spPr>
          <a:xfrm>
            <a:off x="5890451" y="-1"/>
            <a:ext cx="3253550" cy="5143501"/>
          </a:xfrm>
          <a:prstGeom prst="rect">
            <a:avLst/>
          </a:prstGeom>
          <a:ln>
            <a:noFill/>
          </a:ln>
        </p:spPr>
      </p:pic>
      <p:pic>
        <p:nvPicPr>
          <p:cNvPr id="86" name="Google Shape;80;p17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Google Shape;84;p18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7" name="Google Shape;85;p18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  <a:ln>
            <a:noFill/>
          </a:ln>
        </p:spPr>
      </p:pic>
      <p:sp>
        <p:nvSpPr>
          <p:cNvPr id="3" name="图片占位符 2"/>
          <p:cNvSpPr>
            <a:spLocks noGrp="1"/>
          </p:cNvSpPr>
          <p:nvPr>
            <p:ph type="pic" idx="13" hasCustomPrompt="1"/>
          </p:nvPr>
        </p:nvSpPr>
        <p:spPr>
          <a:xfrm>
            <a:off x="1570038" y="1017588"/>
            <a:ext cx="1889125" cy="24653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讲师照片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4" hasCustomPrompt="1"/>
          </p:nvPr>
        </p:nvSpPr>
        <p:spPr>
          <a:xfrm>
            <a:off x="4629150" y="1017588"/>
            <a:ext cx="3033713" cy="2465387"/>
          </a:xfrm>
        </p:spPr>
        <p:txBody>
          <a:bodyPr/>
          <a:lstStyle/>
          <a:p>
            <a:pPr lvl="0">
              <a:buNone/>
            </a:pPr>
            <a:r>
              <a:t>单击此处编辑讲师介绍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and body">
  <p:cSld name="2_Title and 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Google Shape;84;p18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7" name="Google Shape;85;p18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7" name="Google Shape;87;p19"/>
          <p:cNvSpPr>
            <a:spLocks noGrp="1"/>
          </p:cNvSpPr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Google Shape;88;p19"/>
          <p:cNvSpPr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9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6" name="Google Shape;91;p19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Google Shape;106;p2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317" y="0"/>
            <a:ext cx="9166634" cy="5143500"/>
          </a:xfrm>
          <a:prstGeom prst="rect">
            <a:avLst/>
          </a:prstGeom>
          <a:ln>
            <a:noFill/>
          </a:ln>
        </p:spPr>
      </p:pic>
      <p:pic>
        <p:nvPicPr>
          <p:cNvPr id="4" name="Google Shape;107;p23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3" name="Google Shape;56;p14"/>
          <p:cNvPicPr>
            <a:picLocks noChangeAspect="1"/>
          </p:cNvPicPr>
          <p:nvPr/>
        </p:nvPicPr>
        <p:blipFill rotWithShape="1">
          <a:blip r:embed="rId2"/>
          <a:srcRect l="7975" r="3180"/>
          <a:stretch>
            <a:fillRect/>
          </a:stretch>
        </p:blipFill>
        <p:spPr>
          <a:xfrm>
            <a:off x="0" y="0"/>
            <a:ext cx="9144000" cy="5146062"/>
          </a:xfrm>
          <a:prstGeom prst="rect">
            <a:avLst/>
          </a:prstGeom>
          <a:ln>
            <a:noFill/>
          </a:ln>
        </p:spPr>
      </p:pic>
      <p:sp>
        <p:nvSpPr>
          <p:cNvPr id="57" name="Google Shape;57;p14"/>
          <p:cNvSpPr>
            <a:spLocks noGrp="1"/>
          </p:cNvSpPr>
          <p:nvPr/>
        </p:nvSpPr>
        <p:spPr>
          <a:xfrm>
            <a:off x="0" y="2531700"/>
            <a:ext cx="1312500" cy="9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Google Shape;58;p14"/>
          <p:cNvSpPr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4"/>
          <p:cNvSpPr>
            <a:spLocks noGrp="1"/>
          </p:cNvSpPr>
          <p:nvPr/>
        </p:nvSpPr>
        <p:spPr>
          <a:xfrm>
            <a:off x="4572000" y="178532"/>
            <a:ext cx="42550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#KubeCon #CloudNativeCon</a:t>
            </a:r>
            <a:b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#OpenInfraSummit #PyTorchCon</a:t>
            </a:r>
            <a:endParaRPr sz="1200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8" name="Google Shape;61;p14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Google Shape;69;p16"/>
          <p:cNvSpPr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4" name="Google Shape;71;p16"/>
          <p:cNvPicPr>
            <a:picLocks noChangeAspect="1"/>
          </p:cNvPicPr>
          <p:nvPr/>
        </p:nvPicPr>
        <p:blipFill rotWithShape="1">
          <a:blip r:embed="rId2"/>
          <a:srcRect r="14460"/>
          <a:stretch>
            <a:fillRect/>
          </a:stretch>
        </p:blipFill>
        <p:spPr>
          <a:xfrm>
            <a:off x="2715352" y="2998599"/>
            <a:ext cx="6428647" cy="2144901"/>
          </a:xfrm>
          <a:prstGeom prst="rect">
            <a:avLst/>
          </a:prstGeom>
          <a:ln>
            <a:noFill/>
          </a:ln>
        </p:spPr>
      </p:pic>
      <p:pic>
        <p:nvPicPr>
          <p:cNvPr id="75" name="Google Shape;72;p16"/>
          <p:cNvPicPr>
            <a:picLocks noChangeAspect="1"/>
          </p:cNvPicPr>
          <p:nvPr/>
        </p:nvPicPr>
        <p:blipFill rotWithShape="1">
          <a:blip r:embed="rId3"/>
          <a:srcRect l="64144"/>
          <a:stretch>
            <a:fillRect/>
          </a:stretch>
        </p:blipFill>
        <p:spPr>
          <a:xfrm>
            <a:off x="0" y="4071049"/>
            <a:ext cx="2715353" cy="1072451"/>
          </a:xfrm>
          <a:prstGeom prst="rect">
            <a:avLst/>
          </a:prstGeom>
          <a:ln>
            <a:noFill/>
          </a:ln>
        </p:spPr>
      </p:pic>
      <p:pic>
        <p:nvPicPr>
          <p:cNvPr id="76" name="Google Shape;73;p16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" name="Google Shape;75;p17"/>
          <p:cNvSpPr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7"/>
          <p:cNvSpPr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3" name="Google Shape;77;p17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40823" y="453033"/>
            <a:ext cx="2590800" cy="1181100"/>
          </a:xfrm>
          <a:prstGeom prst="rect">
            <a:avLst/>
          </a:prstGeom>
          <a:ln>
            <a:noFill/>
          </a:ln>
        </p:spPr>
      </p:pic>
      <p:pic>
        <p:nvPicPr>
          <p:cNvPr id="84" name="Google Shape;78;p17"/>
          <p:cNvPicPr>
            <a:picLocks noChangeAspect="1"/>
          </p:cNvPicPr>
          <p:nvPr/>
        </p:nvPicPr>
        <p:blipFill rotWithShape="1">
          <a:blip r:embed="rId2"/>
          <a:srcRect l="41002" b="9974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  <a:ln>
            <a:noFill/>
          </a:ln>
        </p:spPr>
      </p:pic>
      <p:pic>
        <p:nvPicPr>
          <p:cNvPr id="85" name="Google Shape;79;p17"/>
          <p:cNvPicPr>
            <a:picLocks noChangeAspect="1"/>
          </p:cNvPicPr>
          <p:nvPr/>
        </p:nvPicPr>
        <p:blipFill rotWithShape="1">
          <a:blip r:embed="rId3"/>
          <a:srcRect t="40037" r="35395" b="24793"/>
          <a:stretch>
            <a:fillRect/>
          </a:stretch>
        </p:blipFill>
        <p:spPr>
          <a:xfrm>
            <a:off x="5890451" y="-1"/>
            <a:ext cx="3253550" cy="5143501"/>
          </a:xfrm>
          <a:prstGeom prst="rect">
            <a:avLst/>
          </a:prstGeom>
          <a:ln>
            <a:noFill/>
          </a:ln>
        </p:spPr>
      </p:pic>
      <p:pic>
        <p:nvPicPr>
          <p:cNvPr id="86" name="Google Shape;80;p17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Google Shape;84;p18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7" name="Google Shape;85;p18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  <a:ln>
            <a:noFill/>
          </a:ln>
        </p:spPr>
      </p:pic>
      <p:sp>
        <p:nvSpPr>
          <p:cNvPr id="3" name="图片占位符 2"/>
          <p:cNvSpPr>
            <a:spLocks noGrp="1"/>
          </p:cNvSpPr>
          <p:nvPr>
            <p:ph type="pic" idx="13" hasCustomPrompt="1"/>
          </p:nvPr>
        </p:nvSpPr>
        <p:spPr>
          <a:xfrm>
            <a:off x="1570038" y="1017588"/>
            <a:ext cx="1889125" cy="24653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讲师照片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4" hasCustomPrompt="1"/>
          </p:nvPr>
        </p:nvSpPr>
        <p:spPr>
          <a:xfrm>
            <a:off x="4629150" y="1017588"/>
            <a:ext cx="3033713" cy="2465387"/>
          </a:xfrm>
        </p:spPr>
        <p:txBody>
          <a:bodyPr/>
          <a:lstStyle/>
          <a:p>
            <a:pPr lvl="0">
              <a:buNone/>
            </a:pPr>
            <a:r>
              <a:t>单击此处编辑讲师介绍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and body">
  <p:cSld name="2_Title and 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Google Shape;84;p18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7" name="Google Shape;85;p18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7" name="Google Shape;87;p19"/>
          <p:cNvSpPr>
            <a:spLocks noGrp="1"/>
          </p:cNvSpPr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Google Shape;88;p19"/>
          <p:cNvSpPr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9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6" name="Google Shape;91;p19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Google Shape;106;p2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317" y="0"/>
            <a:ext cx="9166634" cy="5143500"/>
          </a:xfrm>
          <a:prstGeom prst="rect">
            <a:avLst/>
          </a:prstGeom>
          <a:ln>
            <a:noFill/>
          </a:ln>
        </p:spPr>
      </p:pic>
      <p:pic>
        <p:nvPicPr>
          <p:cNvPr id="4" name="Google Shape;107;p23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Google Shape;51;p13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1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52" name="Google Shape;52;p13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53" name="Google Shape;53;p13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Google Shape;51;p13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1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52" name="Google Shape;52;p13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53" name="Google Shape;53;p13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9" Type="http://schemas.openxmlformats.org/officeDocument/2006/relationships/image" Target="../media/image29.png"/><Relationship Id="rId18" Type="http://schemas.openxmlformats.org/officeDocument/2006/relationships/image" Target="../media/image28.png"/><Relationship Id="rId17" Type="http://schemas.openxmlformats.org/officeDocument/2006/relationships/image" Target="../media/image27.png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8" Type="http://schemas.openxmlformats.org/officeDocument/2006/relationships/notesSlide" Target="../notesSlides/notesSlide25.xml"/><Relationship Id="rId37" Type="http://schemas.openxmlformats.org/officeDocument/2006/relationships/slideLayout" Target="../slideLayouts/slideLayout5.xml"/><Relationship Id="rId36" Type="http://schemas.openxmlformats.org/officeDocument/2006/relationships/image" Target="../media/image85.png"/><Relationship Id="rId35" Type="http://schemas.openxmlformats.org/officeDocument/2006/relationships/image" Target="../media/image84.png"/><Relationship Id="rId34" Type="http://schemas.openxmlformats.org/officeDocument/2006/relationships/image" Target="../media/image83.png"/><Relationship Id="rId33" Type="http://schemas.openxmlformats.org/officeDocument/2006/relationships/image" Target="../media/image82.png"/><Relationship Id="rId32" Type="http://schemas.openxmlformats.org/officeDocument/2006/relationships/image" Target="../media/image81.png"/><Relationship Id="rId31" Type="http://schemas.openxmlformats.org/officeDocument/2006/relationships/image" Target="../media/image80.png"/><Relationship Id="rId30" Type="http://schemas.openxmlformats.org/officeDocument/2006/relationships/image" Target="../media/image79.png"/><Relationship Id="rId3" Type="http://schemas.openxmlformats.org/officeDocument/2006/relationships/image" Target="../media/image52.png"/><Relationship Id="rId29" Type="http://schemas.openxmlformats.org/officeDocument/2006/relationships/image" Target="../media/image78.png"/><Relationship Id="rId28" Type="http://schemas.openxmlformats.org/officeDocument/2006/relationships/image" Target="../media/image77.png"/><Relationship Id="rId27" Type="http://schemas.openxmlformats.org/officeDocument/2006/relationships/image" Target="../media/image76.png"/><Relationship Id="rId26" Type="http://schemas.openxmlformats.org/officeDocument/2006/relationships/image" Target="../media/image75.png"/><Relationship Id="rId25" Type="http://schemas.openxmlformats.org/officeDocument/2006/relationships/image" Target="../media/image74.png"/><Relationship Id="rId24" Type="http://schemas.openxmlformats.org/officeDocument/2006/relationships/image" Target="../media/image73.png"/><Relationship Id="rId23" Type="http://schemas.openxmlformats.org/officeDocument/2006/relationships/image" Target="../media/image72.png"/><Relationship Id="rId22" Type="http://schemas.openxmlformats.org/officeDocument/2006/relationships/image" Target="../media/image71.png"/><Relationship Id="rId21" Type="http://schemas.openxmlformats.org/officeDocument/2006/relationships/image" Target="../media/image70.png"/><Relationship Id="rId20" Type="http://schemas.openxmlformats.org/officeDocument/2006/relationships/image" Target="../media/image69.png"/><Relationship Id="rId2" Type="http://schemas.openxmlformats.org/officeDocument/2006/relationships/image" Target="../media/image51.jpeg"/><Relationship Id="rId19" Type="http://schemas.openxmlformats.org/officeDocument/2006/relationships/image" Target="../media/image68.png"/><Relationship Id="rId18" Type="http://schemas.openxmlformats.org/officeDocument/2006/relationships/image" Target="../media/image67.png"/><Relationship Id="rId17" Type="http://schemas.openxmlformats.org/officeDocument/2006/relationships/image" Target="../media/image66.png"/><Relationship Id="rId16" Type="http://schemas.openxmlformats.org/officeDocument/2006/relationships/image" Target="../media/image65.png"/><Relationship Id="rId15" Type="http://schemas.openxmlformats.org/officeDocument/2006/relationships/image" Target="../media/image64.png"/><Relationship Id="rId14" Type="http://schemas.openxmlformats.org/officeDocument/2006/relationships/image" Target="../media/image63.png"/><Relationship Id="rId13" Type="http://schemas.openxmlformats.org/officeDocument/2006/relationships/image" Target="../media/image62.png"/><Relationship Id="rId12" Type="http://schemas.openxmlformats.org/officeDocument/2006/relationships/image" Target="../media/image61.png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1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6" name="Google Shape;586;p62"/>
          <p:cNvSpPr>
            <a:spLocks noGrp="1"/>
          </p:cNvSpPr>
          <p:nvPr>
            <p:ph type="ctrTitle"/>
          </p:nvPr>
        </p:nvSpPr>
        <p:spPr>
          <a:xfrm>
            <a:off x="311215" y="1251446"/>
            <a:ext cx="80103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Volcano: A Unified</a:t>
            </a:r>
            <a:endParaRPr sz="32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Scheduling Platform for</a:t>
            </a:r>
            <a:endParaRPr sz="32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Cloud Native AI</a:t>
            </a:r>
            <a:endParaRPr sz="3200"/>
          </a:p>
        </p:txBody>
      </p:sp>
      <p:sp>
        <p:nvSpPr>
          <p:cNvPr id="587" name="Google Shape;587;p62"/>
          <p:cNvSpPr>
            <a:spLocks noGrp="1"/>
          </p:cNvSpPr>
          <p:nvPr>
            <p:ph type="subTitle" idx="1"/>
          </p:nvPr>
        </p:nvSpPr>
        <p:spPr>
          <a:xfrm>
            <a:off x="311214" y="3046349"/>
            <a:ext cx="80103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12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Zicong Chen · Huawei Technologies</a:t>
            </a:r>
            <a:endParaRPr sz="1800"/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12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DongYang Wang · SenseTime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Speakers</a:t>
            </a:r>
          </a:p>
        </p:txBody>
      </p:sp>
      <p:pic>
        <p:nvPicPr>
          <p:cNvPr id="621" name="Google Shape;122;g3d09662ff30_2_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773" y="1156749"/>
            <a:ext cx="2049994" cy="2049994"/>
          </a:xfrm>
          <a:prstGeom prst="rect">
            <a:avLst/>
          </a:prstGeom>
          <a:ln>
            <a:noFill/>
          </a:ln>
        </p:spPr>
      </p:pic>
      <p:sp>
        <p:nvSpPr>
          <p:cNvPr id="616" name="Google Shape;123;g3d09662ff30_2_0"/>
          <p:cNvSpPr>
            <a:spLocks noGrp="1"/>
          </p:cNvSpPr>
          <p:nvPr/>
        </p:nvSpPr>
        <p:spPr>
          <a:xfrm>
            <a:off x="1383210" y="3392622"/>
            <a:ext cx="2200844" cy="106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lnSpc>
                <a:spcPct val="141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1345" b="1">
                <a:solidFill>
                  <a:srgbClr val="141414"/>
                </a:solidFill>
                <a:highlight>
                  <a:srgbClr val="FFFFFF"/>
                </a:highlight>
              </a:rPr>
              <a:t>Zicong Chen</a:t>
            </a:r>
            <a:br>
              <a:rPr sz="1345" b="1">
                <a:solidFill>
                  <a:srgbClr val="141414"/>
                </a:solidFill>
                <a:highlight>
                  <a:srgbClr val="FFFFFF"/>
                </a:highlight>
              </a:rPr>
            </a:b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R&amp;D Engineer, Volcano Maintainer</a:t>
            </a:r>
            <a:b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</a:b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Huawei Technologies Co., Ltd</a:t>
            </a:r>
            <a:endParaRPr sz="1030">
              <a:solidFill>
                <a:srgbClr val="141414"/>
              </a:solidFill>
              <a:highlight>
                <a:srgbClr val="FFFFFF"/>
              </a:highlight>
            </a:endParaRPr>
          </a:p>
          <a:p>
            <a:pPr marL="0" lvl="0" indent="0" algn="l">
              <a:lnSpc>
                <a:spcPct val="141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https://github.com/JesseStutler</a:t>
            </a:r>
            <a:endParaRPr sz="1030">
              <a:solidFill>
                <a:srgbClr val="141414"/>
              </a:solidFill>
              <a:highlight>
                <a:srgbClr val="FFFFFF"/>
              </a:highlight>
            </a:endParaRPr>
          </a:p>
        </p:txBody>
      </p:sp>
      <p:sp>
        <p:nvSpPr>
          <p:cNvPr id="617" name="Google Shape;124;g3d09662ff30_2_0"/>
          <p:cNvSpPr>
            <a:spLocks noGrp="1"/>
          </p:cNvSpPr>
          <p:nvPr/>
        </p:nvSpPr>
        <p:spPr>
          <a:xfrm>
            <a:off x="4753610" y="3474720"/>
            <a:ext cx="2745105" cy="132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lnSpc>
                <a:spcPct val="141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1345" b="1">
                <a:solidFill>
                  <a:srgbClr val="141414"/>
                </a:solidFill>
                <a:highlight>
                  <a:srgbClr val="FFFFFF"/>
                </a:highlight>
              </a:rPr>
              <a:t>DongYang Wang</a:t>
            </a:r>
            <a:br>
              <a:rPr sz="1345" b="1">
                <a:solidFill>
                  <a:srgbClr val="141414"/>
                </a:solidFill>
                <a:highlight>
                  <a:srgbClr val="FFFFFF"/>
                </a:highlight>
              </a:rPr>
            </a:b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Cloud-Native AI Infrastructure Engineer at SenseTime</a:t>
            </a:r>
            <a:endParaRPr sz="1030">
              <a:solidFill>
                <a:srgbClr val="141414"/>
              </a:solidFill>
              <a:highlight>
                <a:srgbClr val="FFFFFF"/>
              </a:highlight>
            </a:endParaRPr>
          </a:p>
          <a:p>
            <a:pPr marL="0" lvl="0" indent="0" algn="l">
              <a:lnSpc>
                <a:spcPct val="141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https://github.com/kingeasternsun</a:t>
            </a:r>
            <a:endParaRPr sz="1030">
              <a:solidFill>
                <a:srgbClr val="141414"/>
              </a:solidFill>
              <a:highlight>
                <a:srgbClr val="FFFFFF"/>
              </a:highlight>
            </a:endParaRPr>
          </a:p>
        </p:txBody>
      </p:sp>
      <p:pic>
        <p:nvPicPr>
          <p:cNvPr id="62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07" y="1135144"/>
            <a:ext cx="2428875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Agenda</a:t>
            </a:r>
          </a:p>
        </p:txBody>
      </p:sp>
      <p:sp>
        <p:nvSpPr>
          <p:cNvPr id="616" name="V8 container agenda 0"/>
          <p:cNvSpPr>
            <a:spLocks noGrp="1"/>
          </p:cNvSpPr>
          <p:nvPr/>
        </p:nvSpPr>
        <p:spPr>
          <a:xfrm>
            <a:off x="1706245" y="1622425"/>
            <a:ext cx="5845175" cy="527685"/>
          </a:xfrm>
          <a:prstGeom prst="rect">
            <a:avLst/>
          </a:prstGeom>
          <a:noFill/>
          <a:ln w="10478">
            <a:solidFill>
              <a:srgbClr val="2F6FED"/>
            </a:solidFill>
            <a:prstDash val="solid"/>
          </a:ln>
        </p:spPr>
      </p:sp>
      <p:sp>
        <p:nvSpPr>
          <p:cNvPr id="617" name="V8 container label agenda 0"/>
          <p:cNvSpPr>
            <a:spLocks noGrp="1"/>
          </p:cNvSpPr>
          <p:nvPr/>
        </p:nvSpPr>
        <p:spPr>
          <a:xfrm>
            <a:off x="1798955" y="1800225"/>
            <a:ext cx="2228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01</a:t>
            </a:r>
            <a:endParaRPr sz="1800" b="1">
              <a:solidFill>
                <a:srgbClr val="2F6FED"/>
              </a:solidFill>
            </a:endParaRPr>
          </a:p>
        </p:txBody>
      </p:sp>
      <p:sp>
        <p:nvSpPr>
          <p:cNvPr id="2" name="Text Box 1"/>
          <p:cNvSpPr>
            <a:spLocks noGrp="1"/>
          </p:cNvSpPr>
          <p:nvPr/>
        </p:nvSpPr>
        <p:spPr>
          <a:xfrm>
            <a:off x="2330450" y="1701800"/>
            <a:ext cx="43611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One Platform, Different Scheduling Paths</a:t>
            </a:r>
          </a:p>
        </p:txBody>
      </p:sp>
      <p:sp>
        <p:nvSpPr>
          <p:cNvPr id="3" name="V8 container agenda 0"/>
          <p:cNvSpPr>
            <a:spLocks noGrp="1"/>
          </p:cNvSpPr>
          <p:nvPr/>
        </p:nvSpPr>
        <p:spPr>
          <a:xfrm>
            <a:off x="1706245" y="2724785"/>
            <a:ext cx="5845175" cy="527685"/>
          </a:xfrm>
          <a:prstGeom prst="rect">
            <a:avLst/>
          </a:prstGeom>
          <a:noFill/>
          <a:ln w="10478">
            <a:solidFill>
              <a:srgbClr val="2F6FED"/>
            </a:solidFill>
            <a:prstDash val="solid"/>
          </a:ln>
        </p:spPr>
      </p:sp>
      <p:sp>
        <p:nvSpPr>
          <p:cNvPr id="4" name="V8 container label agenda 0"/>
          <p:cNvSpPr>
            <a:spLocks noGrp="1"/>
          </p:cNvSpPr>
          <p:nvPr/>
        </p:nvSpPr>
        <p:spPr>
          <a:xfrm>
            <a:off x="1798955" y="2902585"/>
            <a:ext cx="2228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02</a:t>
            </a:r>
            <a:endParaRPr sz="1800" b="1">
              <a:solidFill>
                <a:srgbClr val="2F6FED"/>
              </a:solidFill>
            </a:endParaRPr>
          </a:p>
        </p:txBody>
      </p:sp>
      <p:sp>
        <p:nvSpPr>
          <p:cNvPr id="5" name="Text Box 4"/>
          <p:cNvSpPr>
            <a:spLocks noGrp="1"/>
          </p:cNvSpPr>
          <p:nvPr/>
        </p:nvSpPr>
        <p:spPr>
          <a:xfrm>
            <a:off x="2330450" y="2804160"/>
            <a:ext cx="52724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Preserving Workload Structure and Topology</a:t>
            </a:r>
          </a:p>
        </p:txBody>
      </p:sp>
      <p:sp>
        <p:nvSpPr>
          <p:cNvPr id="6" name="V8 container agenda 0"/>
          <p:cNvSpPr>
            <a:spLocks noGrp="1"/>
          </p:cNvSpPr>
          <p:nvPr/>
        </p:nvSpPr>
        <p:spPr>
          <a:xfrm>
            <a:off x="1706245" y="3907155"/>
            <a:ext cx="5845175" cy="527685"/>
          </a:xfrm>
          <a:prstGeom prst="rect">
            <a:avLst/>
          </a:prstGeom>
          <a:noFill/>
          <a:ln w="10478">
            <a:solidFill>
              <a:srgbClr val="2F6FED"/>
            </a:solidFill>
            <a:prstDash val="solid"/>
          </a:ln>
        </p:spPr>
      </p:sp>
      <p:sp>
        <p:nvSpPr>
          <p:cNvPr id="7" name="V8 container label agenda 0"/>
          <p:cNvSpPr>
            <a:spLocks noGrp="1"/>
          </p:cNvSpPr>
          <p:nvPr/>
        </p:nvSpPr>
        <p:spPr>
          <a:xfrm>
            <a:off x="1798955" y="4084955"/>
            <a:ext cx="2228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0</a:t>
            </a:r>
            <a:r>
              <a:rPr sz="1800" b="1">
                <a:solidFill>
                  <a:srgbClr val="2F6FED"/>
                </a:solidFill>
              </a:rPr>
              <a:t>3</a:t>
            </a:r>
            <a:endParaRPr sz="1800" b="1">
              <a:solidFill>
                <a:srgbClr val="2F6FED"/>
              </a:solidFill>
            </a:endParaRPr>
          </a:p>
        </p:txBody>
      </p:sp>
      <p:sp>
        <p:nvSpPr>
          <p:cNvPr id="8" name="Text Box 7"/>
          <p:cNvSpPr>
            <a:spLocks noGrp="1"/>
          </p:cNvSpPr>
          <p:nvPr/>
        </p:nvSpPr>
        <p:spPr>
          <a:xfrm>
            <a:off x="2330450" y="3986530"/>
            <a:ext cx="43611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Kubernetes-Native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7" name="Google Shape;597;p64"/>
          <p:cNvSpPr>
            <a:spLocks noGrp="1"/>
          </p:cNvSpPr>
          <p:nvPr>
            <p:ph type="title"/>
          </p:nvPr>
        </p:nvSpPr>
        <p:spPr>
          <a:xfrm>
            <a:off x="311785" y="1940560"/>
            <a:ext cx="7853680" cy="84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t>One Platform, Different Scheduling Paths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AI Workloads Are Diverging</a:t>
            </a:r>
          </a:p>
        </p:txBody>
      </p:sp>
      <p:sp>
        <p:nvSpPr>
          <p:cNvPr id="337" name="Google Shape;337;p5"/>
          <p:cNvSpPr>
            <a:spLocks noGrp="1"/>
          </p:cNvSpPr>
          <p:nvPr>
            <p:ph type="body" idx="1"/>
          </p:nvPr>
        </p:nvSpPr>
        <p:spPr>
          <a:xfrm>
            <a:off x="311700" y="4128325"/>
            <a:ext cx="85206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2000">
                <a:solidFill>
                  <a:srgbClr val="000000"/>
                </a:solidFill>
              </a:rPr>
              <a:t>New requirement: one control plane, multiple execution patterns</a:t>
            </a:r>
            <a:endParaRPr sz="2000">
              <a:solidFill>
                <a:srgbClr val="000000"/>
              </a:solidFill>
            </a:endParaRPr>
          </a:p>
          <a:p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2000">
                <a:solidFill>
                  <a:srgbClr val="000000"/>
                </a:solidFill>
              </a:rPr>
              <a:t>One platform shall optimize for throughput and latency together</a:t>
            </a:r>
            <a:endParaRPr sz="2000"/>
          </a:p>
        </p:txBody>
      </p:sp>
      <p:sp>
        <p:nvSpPr>
          <p:cNvPr id="338" name="Google Shape;338;p5"/>
          <p:cNvSpPr>
            <a:spLocks noGrp="1"/>
          </p:cNvSpPr>
          <p:nvPr/>
        </p:nvSpPr>
        <p:spPr>
          <a:xfrm>
            <a:off x="311700" y="1284950"/>
            <a:ext cx="8520600" cy="46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2000">
                <a:solidFill>
                  <a:srgbClr val="000000"/>
                </a:solidFill>
              </a:rPr>
              <a:t>AI workloads are diverging fast.</a:t>
            </a:r>
            <a:endParaRPr sz="2000"/>
          </a:p>
        </p:txBody>
      </p:sp>
      <p:sp>
        <p:nvSpPr>
          <p:cNvPr id="340" name="Google Shape;340;p5"/>
          <p:cNvSpPr>
            <a:spLocks noGrp="1"/>
          </p:cNvSpPr>
          <p:nvPr/>
        </p:nvSpPr>
        <p:spPr>
          <a:xfrm>
            <a:off x="3779400" y="2110500"/>
            <a:ext cx="2135400" cy="95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45720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/>
              <a:t>LLM serving introduced disaggregated runtime patterns</a:t>
            </a:r>
            <a:endParaRPr sz="1400"/>
          </a:p>
        </p:txBody>
      </p:sp>
      <p:sp>
        <p:nvSpPr>
          <p:cNvPr id="341" name="Google Shape;341;p5"/>
          <p:cNvSpPr>
            <a:spLocks noGrp="1"/>
          </p:cNvSpPr>
          <p:nvPr/>
        </p:nvSpPr>
        <p:spPr>
          <a:xfrm>
            <a:off x="5986780" y="2110105"/>
            <a:ext cx="2369820" cy="955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45720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/>
              <a:t>Agent workloads </a:t>
            </a:r>
            <a:endParaRPr sz="1400"/>
          </a:p>
          <a:p>
            <a:pPr marL="45720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/>
              <a:t>Bursty, short-lived, ultra-low latency scheduling</a:t>
            </a:r>
            <a:endParaRPr sz="1400"/>
          </a:p>
        </p:txBody>
      </p:sp>
      <p:cxnSp>
        <p:nvCxnSpPr>
          <p:cNvPr id="659" name="Google Shape;342;p5"/>
          <p:cNvCxnSpPr/>
          <p:nvPr/>
        </p:nvCxnSpPr>
        <p:spPr>
          <a:xfrm>
            <a:off x="2135400" y="2665350"/>
            <a:ext cx="454800" cy="0"/>
          </a:xfrm>
          <a:prstGeom prst="straightConnector1">
            <a:avLst/>
          </a:prstGeom>
          <a:ln w="38100" cap="flat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3" name="Google Shape;343;p5"/>
          <p:cNvSpPr>
            <a:spLocks noGrp="1"/>
          </p:cNvSpPr>
          <p:nvPr/>
        </p:nvSpPr>
        <p:spPr>
          <a:xfrm>
            <a:off x="789650" y="3453700"/>
            <a:ext cx="7414200" cy="116700"/>
          </a:xfrm>
          <a:prstGeom prst="rightArrow">
            <a:avLst>
              <a:gd name="adj1" fmla="val 50000"/>
              <a:gd name="adj2" fmla="val 101027"/>
            </a:avLst>
          </a:prstGeom>
          <a:solidFill>
            <a:srgbClr val="C71D3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4" name="Google Shape;344;p5"/>
          <p:cNvSpPr>
            <a:spLocks noGrp="1"/>
          </p:cNvSpPr>
          <p:nvPr/>
        </p:nvSpPr>
        <p:spPr>
          <a:xfrm>
            <a:off x="263975" y="3600063"/>
            <a:ext cx="1434300" cy="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45720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>
                <a:solidFill>
                  <a:srgbClr val="B91C1C"/>
                </a:solidFill>
              </a:rPr>
              <a:t>~ 2018</a:t>
            </a:r>
            <a:endParaRPr sz="1400">
              <a:solidFill>
                <a:srgbClr val="B91C1C"/>
              </a:solidFill>
            </a:endParaRPr>
          </a:p>
        </p:txBody>
      </p:sp>
      <p:sp>
        <p:nvSpPr>
          <p:cNvPr id="345" name="Google Shape;345;p5"/>
          <p:cNvSpPr>
            <a:spLocks noGrp="1"/>
          </p:cNvSpPr>
          <p:nvPr/>
        </p:nvSpPr>
        <p:spPr>
          <a:xfrm>
            <a:off x="2207910" y="3573380"/>
            <a:ext cx="1434300" cy="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45720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>
                <a:solidFill>
                  <a:srgbClr val="B91C1C"/>
                </a:solidFill>
              </a:rPr>
              <a:t>~ 2023</a:t>
            </a:r>
            <a:endParaRPr sz="1400">
              <a:solidFill>
                <a:srgbClr val="B91C1C"/>
              </a:solidFill>
            </a:endParaRPr>
          </a:p>
        </p:txBody>
      </p:sp>
      <p:sp>
        <p:nvSpPr>
          <p:cNvPr id="346" name="Google Shape;346;p5"/>
          <p:cNvSpPr>
            <a:spLocks noGrp="1"/>
          </p:cNvSpPr>
          <p:nvPr/>
        </p:nvSpPr>
        <p:spPr>
          <a:xfrm>
            <a:off x="6324425" y="3602638"/>
            <a:ext cx="1434300" cy="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45720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>
                <a:solidFill>
                  <a:srgbClr val="B91C1C"/>
                </a:solidFill>
              </a:rPr>
              <a:t>~ 2025</a:t>
            </a:r>
            <a:endParaRPr sz="1400">
              <a:solidFill>
                <a:srgbClr val="B91C1C"/>
              </a:solidFill>
            </a:endParaRPr>
          </a:p>
        </p:txBody>
      </p:sp>
      <p:sp>
        <p:nvSpPr>
          <p:cNvPr id="347" name="Google Shape;347;p5"/>
          <p:cNvSpPr>
            <a:spLocks noGrp="1"/>
          </p:cNvSpPr>
          <p:nvPr/>
        </p:nvSpPr>
        <p:spPr>
          <a:xfrm>
            <a:off x="2207895" y="2198370"/>
            <a:ext cx="1621790" cy="95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45720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None/>
            </a:pPr>
            <a:r>
              <a: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Massive LLM</a:t>
            </a:r>
            <a:endParaRPr sz="1400" b="0" i="0" u="none" cap="none">
              <a:solidFill>
                <a:schemeClr val="dk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720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None/>
            </a:pPr>
            <a:r>
              <a: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Distributed Training</a:t>
            </a:r>
            <a:endParaRPr sz="1400" b="0" i="0" u="none" cap="none">
              <a:solidFill>
                <a:schemeClr val="dk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665" name="Google Shape;348;p5"/>
          <p:cNvCxnSpPr/>
          <p:nvPr/>
        </p:nvCxnSpPr>
        <p:spPr>
          <a:xfrm>
            <a:off x="3901970" y="2683130"/>
            <a:ext cx="454660" cy="0"/>
          </a:xfrm>
          <a:prstGeom prst="straightConnector1">
            <a:avLst/>
          </a:prstGeom>
          <a:ln w="38100" cap="flat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66" name="Google Shape;349;p5"/>
          <p:cNvCxnSpPr/>
          <p:nvPr/>
        </p:nvCxnSpPr>
        <p:spPr>
          <a:xfrm>
            <a:off x="5869835" y="2658365"/>
            <a:ext cx="454660" cy="0"/>
          </a:xfrm>
          <a:prstGeom prst="straightConnector1">
            <a:avLst/>
          </a:prstGeom>
          <a:ln w="38100" cap="flat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0" name="Google Shape;350;p5"/>
          <p:cNvSpPr>
            <a:spLocks noGrp="1"/>
          </p:cNvSpPr>
          <p:nvPr/>
        </p:nvSpPr>
        <p:spPr>
          <a:xfrm>
            <a:off x="4032075" y="3574063"/>
            <a:ext cx="14343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45720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None/>
            </a:pPr>
            <a:r>
              <a:rPr sz="1400" b="0" i="0" u="none" cap="none">
                <a:solidFill>
                  <a:srgbClr val="B91C1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~ 2025</a:t>
            </a:r>
            <a:endParaRPr sz="1400" b="0" i="0" u="none" cap="none">
              <a:solidFill>
                <a:srgbClr val="B91C1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9" name="Google Shape;339;p5"/>
          <p:cNvSpPr>
            <a:spLocks noGrp="1"/>
          </p:cNvSpPr>
          <p:nvPr/>
        </p:nvSpPr>
        <p:spPr>
          <a:xfrm>
            <a:off x="0" y="2187750"/>
            <a:ext cx="2135400" cy="95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45720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/>
              <a:t>Batch training dominated cluster design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Volcano Overview</a:t>
            </a:r>
          </a:p>
        </p:txBody>
      </p:sp>
      <p:sp>
        <p:nvSpPr>
          <p:cNvPr id="143" name="Google Shape;143;p4"/>
          <p:cNvSpPr>
            <a:spLocks noGrp="1"/>
          </p:cNvSpPr>
          <p:nvPr/>
        </p:nvSpPr>
        <p:spPr>
          <a:xfrm>
            <a:off x="7205679" y="1168650"/>
            <a:ext cx="1760100" cy="111540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FFDA3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Google Shape;144;p4"/>
          <p:cNvSpPr>
            <a:spLocks noGrp="1"/>
          </p:cNvSpPr>
          <p:nvPr/>
        </p:nvSpPr>
        <p:spPr>
          <a:xfrm>
            <a:off x="5443645" y="1168650"/>
            <a:ext cx="1666200" cy="110820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FFDA3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Google Shape;145;p4"/>
          <p:cNvSpPr>
            <a:spLocks noGrp="1"/>
          </p:cNvSpPr>
          <p:nvPr/>
        </p:nvSpPr>
        <p:spPr>
          <a:xfrm>
            <a:off x="5443645" y="1168650"/>
            <a:ext cx="1704600" cy="8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sz="995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Unified Scheduling</a:t>
            </a:r>
            <a:endParaRPr sz="995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sz="78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Supports integrated job scheduling for both Kubernetes native workloads and mainstream computing frameworks (such as TensorFlow, Spark, PyTorch, Ray, Flink, etc.).</a:t>
            </a:r>
            <a:endParaRPr sz="78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Google Shape;146;p4"/>
          <p:cNvSpPr>
            <a:spLocks noGrp="1"/>
          </p:cNvSpPr>
          <p:nvPr/>
        </p:nvSpPr>
        <p:spPr>
          <a:xfrm>
            <a:off x="7300582" y="1168650"/>
            <a:ext cx="15606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sz="995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Queue Management</a:t>
            </a:r>
            <a:endParaRPr sz="995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sz="78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Provides multi-level queue management capabilities, enabling fine-grained resource quota control and task priority scheduling.</a:t>
            </a:r>
            <a:endParaRPr sz="78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Google Shape;147;p4"/>
          <p:cNvSpPr>
            <a:spLocks noGrp="1"/>
          </p:cNvSpPr>
          <p:nvPr/>
        </p:nvSpPr>
        <p:spPr>
          <a:xfrm>
            <a:off x="5444097" y="2436745"/>
            <a:ext cx="1665900" cy="117270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FFDA3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Google Shape;148;p4"/>
          <p:cNvSpPr>
            <a:spLocks noGrp="1"/>
          </p:cNvSpPr>
          <p:nvPr/>
        </p:nvSpPr>
        <p:spPr>
          <a:xfrm>
            <a:off x="5497423" y="2463409"/>
            <a:ext cx="16125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Arial" panose="020B0604020202090204"/>
              <a:buNone/>
            </a:pPr>
            <a:r>
              <a:rPr sz="855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95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Workloads Colocation</a:t>
            </a:r>
            <a:endParaRPr sz="995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sz="78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Enables online and offline workloads colocation, improving cluster resource utilization through intelligent scheduling strategies.</a:t>
            </a:r>
            <a:endParaRPr sz="78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Google Shape;149;p4"/>
          <p:cNvSpPr>
            <a:spLocks noGrp="1"/>
          </p:cNvSpPr>
          <p:nvPr/>
        </p:nvSpPr>
        <p:spPr>
          <a:xfrm>
            <a:off x="7206131" y="2436745"/>
            <a:ext cx="1760100" cy="117270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FFDA3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Google Shape;150;p4"/>
          <p:cNvSpPr>
            <a:spLocks noGrp="1"/>
          </p:cNvSpPr>
          <p:nvPr/>
        </p:nvSpPr>
        <p:spPr>
          <a:xfrm>
            <a:off x="7206131" y="2463409"/>
            <a:ext cx="1760100" cy="11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sz="995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Multi-cluster Scheduling</a:t>
            </a:r>
            <a:endParaRPr sz="995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sz="78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Supports cross cluster job scheduling, improving resource pool management capabilities and achieving large scale load balancing.</a:t>
            </a:r>
            <a:endParaRPr sz="78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Google Shape;151;p4"/>
          <p:cNvSpPr>
            <a:spLocks noGrp="1"/>
          </p:cNvSpPr>
          <p:nvPr/>
        </p:nvSpPr>
        <p:spPr>
          <a:xfrm>
            <a:off x="5444097" y="3715235"/>
            <a:ext cx="1665900" cy="130500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FFDA3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Google Shape;152;p4"/>
          <p:cNvSpPr>
            <a:spLocks noGrp="1"/>
          </p:cNvSpPr>
          <p:nvPr/>
        </p:nvSpPr>
        <p:spPr>
          <a:xfrm>
            <a:off x="5497423" y="3741899"/>
            <a:ext cx="16125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sz="995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Heterogeneous Device Support</a:t>
            </a:r>
            <a:endParaRPr sz="995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sz="78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Efficiently schedules heterogeneous devices like GPU and NPU, fully unleashing hardware computing potential.</a:t>
            </a:r>
            <a:endParaRPr sz="78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Google Shape;153;p4"/>
          <p:cNvSpPr>
            <a:spLocks noGrp="1"/>
          </p:cNvSpPr>
          <p:nvPr/>
        </p:nvSpPr>
        <p:spPr>
          <a:xfrm>
            <a:off x="7206131" y="3715235"/>
            <a:ext cx="1760100" cy="130500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FFDA3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Google Shape;154;p4"/>
          <p:cNvSpPr>
            <a:spLocks noGrp="1"/>
          </p:cNvSpPr>
          <p:nvPr/>
        </p:nvSpPr>
        <p:spPr>
          <a:xfrm>
            <a:off x="7206131" y="3741899"/>
            <a:ext cx="1760100" cy="11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sz="995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Multiple Scheduling Policies</a:t>
            </a:r>
            <a:endParaRPr sz="995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endParaRPr sz="78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sz="78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Supports various scheduling strategies such as Gang scheduling, Network Topology Aware Scheduling, Fair-Share, Binpack, DeviceShare, NUMA-aware scheduling, Task Topology, etc.</a:t>
            </a:r>
            <a:endParaRPr sz="78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Google Shape;156;p4"/>
          <p:cNvSpPr>
            <a:spLocks noGrp="1"/>
          </p:cNvSpPr>
          <p:nvPr/>
        </p:nvSpPr>
        <p:spPr>
          <a:xfrm>
            <a:off x="143734" y="3752058"/>
            <a:ext cx="2542834" cy="102314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Google Shape;157;p4"/>
          <p:cNvSpPr>
            <a:spLocks noGrp="1"/>
          </p:cNvSpPr>
          <p:nvPr/>
        </p:nvSpPr>
        <p:spPr>
          <a:xfrm>
            <a:off x="244183" y="3788278"/>
            <a:ext cx="2218756" cy="767100"/>
          </a:xfrm>
          <a:prstGeom prst="rect">
            <a:avLst/>
          </a:prstGeom>
          <a:solidFill>
            <a:srgbClr val="DEEBF7"/>
          </a:solidFill>
          <a:ln w="9525" cmpd="sng">
            <a:solidFill>
              <a:srgbClr val="ACCBE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Google Shape;158;p4"/>
          <p:cNvSpPr>
            <a:spLocks noGrp="1"/>
          </p:cNvSpPr>
          <p:nvPr/>
        </p:nvSpPr>
        <p:spPr>
          <a:xfrm>
            <a:off x="297035" y="3826969"/>
            <a:ext cx="2216807" cy="765990"/>
          </a:xfrm>
          <a:prstGeom prst="rect">
            <a:avLst/>
          </a:prstGeom>
          <a:solidFill>
            <a:srgbClr val="DEEBF7"/>
          </a:solidFill>
          <a:ln w="9525" cmpd="sng">
            <a:solidFill>
              <a:srgbClr val="ACCBE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Google Shape;159;p4"/>
          <p:cNvSpPr>
            <a:spLocks noGrp="1"/>
          </p:cNvSpPr>
          <p:nvPr/>
        </p:nvSpPr>
        <p:spPr>
          <a:xfrm>
            <a:off x="361871" y="3873557"/>
            <a:ext cx="2220984" cy="825261"/>
          </a:xfrm>
          <a:prstGeom prst="rect">
            <a:avLst/>
          </a:prstGeom>
          <a:solidFill>
            <a:srgbClr val="DEEBF7"/>
          </a:solidFill>
          <a:ln w="9525" cmpd="sng">
            <a:solidFill>
              <a:srgbClr val="ACCBE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0" name="Google Shape;160;p4"/>
          <p:cNvSpPr>
            <a:spLocks noGrp="1"/>
          </p:cNvSpPr>
          <p:nvPr/>
        </p:nvSpPr>
        <p:spPr>
          <a:xfrm>
            <a:off x="143734" y="3219220"/>
            <a:ext cx="2542834" cy="40756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56" name="Google Shape;161;p4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13566" y="3277782"/>
            <a:ext cx="1014295" cy="141534"/>
          </a:xfrm>
          <a:prstGeom prst="rect">
            <a:avLst/>
          </a:prstGeom>
          <a:ln>
            <a:noFill/>
          </a:ln>
        </p:spPr>
      </p:pic>
      <p:pic>
        <p:nvPicPr>
          <p:cNvPr id="657" name="Google Shape;162;p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40564" y="3260138"/>
            <a:ext cx="1014295" cy="182455"/>
          </a:xfrm>
          <a:prstGeom prst="rect">
            <a:avLst/>
          </a:prstGeom>
          <a:ln>
            <a:noFill/>
          </a:ln>
        </p:spPr>
      </p:pic>
      <p:sp>
        <p:nvSpPr>
          <p:cNvPr id="163" name="Google Shape;163;p4"/>
          <p:cNvSpPr>
            <a:spLocks noGrp="1"/>
          </p:cNvSpPr>
          <p:nvPr/>
        </p:nvSpPr>
        <p:spPr>
          <a:xfrm>
            <a:off x="2800056" y="3219220"/>
            <a:ext cx="2542834" cy="4149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59" name="Google Shape;164;p4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69888" y="3289001"/>
            <a:ext cx="1014295" cy="141534"/>
          </a:xfrm>
          <a:prstGeom prst="rect">
            <a:avLst/>
          </a:prstGeom>
          <a:ln>
            <a:noFill/>
          </a:ln>
        </p:spPr>
      </p:pic>
      <p:pic>
        <p:nvPicPr>
          <p:cNvPr id="660" name="Google Shape;165;p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996886" y="3270691"/>
            <a:ext cx="1014295" cy="182455"/>
          </a:xfrm>
          <a:prstGeom prst="rect">
            <a:avLst/>
          </a:prstGeom>
          <a:ln>
            <a:noFill/>
          </a:ln>
        </p:spPr>
      </p:pic>
      <p:sp>
        <p:nvSpPr>
          <p:cNvPr id="166" name="Google Shape;166;p4"/>
          <p:cNvSpPr>
            <a:spLocks noGrp="1"/>
          </p:cNvSpPr>
          <p:nvPr/>
        </p:nvSpPr>
        <p:spPr>
          <a:xfrm>
            <a:off x="128344" y="2297217"/>
            <a:ext cx="5199155" cy="80922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62" name="Google Shape;167;p4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60481" y="2405412"/>
            <a:ext cx="372174" cy="310044"/>
          </a:xfrm>
          <a:prstGeom prst="rect">
            <a:avLst/>
          </a:prstGeom>
          <a:ln>
            <a:noFill/>
          </a:ln>
        </p:spPr>
      </p:pic>
      <p:pic>
        <p:nvPicPr>
          <p:cNvPr id="663" name="Google Shape;168;p4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9720" y="2398094"/>
            <a:ext cx="372174" cy="310044"/>
          </a:xfrm>
          <a:prstGeom prst="rect">
            <a:avLst/>
          </a:prstGeom>
          <a:ln>
            <a:noFill/>
          </a:ln>
        </p:spPr>
      </p:pic>
      <p:pic>
        <p:nvPicPr>
          <p:cNvPr id="664" name="Google Shape;169;p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290269" y="2741971"/>
            <a:ext cx="372174" cy="310045"/>
          </a:xfrm>
          <a:prstGeom prst="rect">
            <a:avLst/>
          </a:prstGeom>
          <a:ln>
            <a:noFill/>
          </a:ln>
        </p:spPr>
      </p:pic>
      <p:pic>
        <p:nvPicPr>
          <p:cNvPr id="665" name="Google Shape;170;p4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22446" y="2412583"/>
            <a:ext cx="372174" cy="310044"/>
          </a:xfrm>
          <a:prstGeom prst="rect">
            <a:avLst/>
          </a:prstGeom>
          <a:ln>
            <a:noFill/>
          </a:ln>
        </p:spPr>
      </p:pic>
      <p:pic>
        <p:nvPicPr>
          <p:cNvPr id="666" name="Google Shape;171;p4"/>
          <p:cNvPicPr>
            <a:picLocks noChangeAspect="1"/>
          </p:cNvPicPr>
          <p:nvPr/>
        </p:nvPicPr>
        <p:blipFill rotWithShape="1">
          <a:blip r:embed="rId7"/>
          <a:srcRect l="-8510" t="1" r="-1" b="-8511"/>
          <a:stretch>
            <a:fillRect/>
          </a:stretch>
        </p:blipFill>
        <p:spPr>
          <a:xfrm>
            <a:off x="259411" y="2426516"/>
            <a:ext cx="372174" cy="310044"/>
          </a:xfrm>
          <a:prstGeom prst="rect">
            <a:avLst/>
          </a:prstGeom>
          <a:ln>
            <a:noFill/>
          </a:ln>
        </p:spPr>
      </p:pic>
      <p:pic>
        <p:nvPicPr>
          <p:cNvPr id="667" name="Google Shape;172;p4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205792" y="2409371"/>
            <a:ext cx="372174" cy="310045"/>
          </a:xfrm>
          <a:prstGeom prst="rect">
            <a:avLst/>
          </a:prstGeom>
          <a:ln>
            <a:noFill/>
          </a:ln>
        </p:spPr>
      </p:pic>
      <p:pic>
        <p:nvPicPr>
          <p:cNvPr id="668" name="Google Shape;173;p4"/>
          <p:cNvPicPr>
            <a:picLocks noChangeAspect="1"/>
          </p:cNvPicPr>
          <p:nvPr/>
        </p:nvPicPr>
        <p:blipFill rotWithShape="1">
          <a:blip r:embed="rId9"/>
          <a:srcRect l="-4064" t="-4063" r="-4064" b="-4063"/>
          <a:stretch>
            <a:fillRect/>
          </a:stretch>
        </p:blipFill>
        <p:spPr>
          <a:xfrm>
            <a:off x="271295" y="2719417"/>
            <a:ext cx="372174" cy="310045"/>
          </a:xfrm>
          <a:prstGeom prst="rect">
            <a:avLst/>
          </a:prstGeom>
          <a:ln>
            <a:noFill/>
          </a:ln>
        </p:spPr>
      </p:pic>
      <p:pic>
        <p:nvPicPr>
          <p:cNvPr id="669" name="Google Shape;174;p4"/>
          <p:cNvPicPr>
            <a:picLocks noChangeAspect="1"/>
          </p:cNvPicPr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43469" y="2719418"/>
            <a:ext cx="372174" cy="310043"/>
          </a:xfrm>
          <a:prstGeom prst="rect">
            <a:avLst/>
          </a:prstGeom>
          <a:ln>
            <a:noFill/>
          </a:ln>
        </p:spPr>
      </p:pic>
      <p:pic>
        <p:nvPicPr>
          <p:cNvPr id="670" name="Google Shape;175;p4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1015643" y="2719418"/>
            <a:ext cx="372174" cy="310043"/>
          </a:xfrm>
          <a:prstGeom prst="rect">
            <a:avLst/>
          </a:prstGeom>
          <a:ln>
            <a:noFill/>
          </a:ln>
        </p:spPr>
      </p:pic>
      <p:pic>
        <p:nvPicPr>
          <p:cNvPr id="671" name="Google Shape;176;p4"/>
          <p:cNvPicPr>
            <a:picLocks noChangeAspect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2730549" y="2717090"/>
            <a:ext cx="372174" cy="310044"/>
          </a:xfrm>
          <a:prstGeom prst="rect">
            <a:avLst/>
          </a:prstGeom>
          <a:ln>
            <a:noFill/>
          </a:ln>
        </p:spPr>
      </p:pic>
      <p:pic>
        <p:nvPicPr>
          <p:cNvPr id="672" name="Google Shape;177;p4"/>
          <p:cNvPicPr>
            <a:picLocks noChangeAspect="1"/>
          </p:cNvPicPr>
          <p:nvPr/>
        </p:nvPicPr>
        <p:blipFill rotWithShape="1">
          <a:blip r:embed="rId13"/>
          <a:srcRect l="-4064" t="-4063" r="-4064" b="-4063"/>
          <a:stretch>
            <a:fillRect/>
          </a:stretch>
        </p:blipFill>
        <p:spPr>
          <a:xfrm>
            <a:off x="1402971" y="2721050"/>
            <a:ext cx="372174" cy="310043"/>
          </a:xfrm>
          <a:prstGeom prst="rect">
            <a:avLst/>
          </a:prstGeom>
          <a:ln>
            <a:noFill/>
          </a:ln>
        </p:spPr>
      </p:pic>
      <p:pic>
        <p:nvPicPr>
          <p:cNvPr id="673" name="Google Shape;178;p4"/>
          <p:cNvPicPr>
            <a:picLocks noChangeAspect="1"/>
          </p:cNvPicPr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2556430" y="2440838"/>
            <a:ext cx="631711" cy="263297"/>
          </a:xfrm>
          <a:prstGeom prst="rect">
            <a:avLst/>
          </a:prstGeom>
          <a:ln>
            <a:noFill/>
          </a:ln>
        </p:spPr>
      </p:pic>
      <p:pic>
        <p:nvPicPr>
          <p:cNvPr id="674" name="Google Shape;179;p4"/>
          <p:cNvPicPr>
            <a:picLocks noChangeAspect="1"/>
          </p:cNvPicPr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1726755" y="2723376"/>
            <a:ext cx="577158" cy="307717"/>
          </a:xfrm>
          <a:prstGeom prst="rect">
            <a:avLst/>
          </a:prstGeom>
          <a:ln>
            <a:noFill/>
          </a:ln>
        </p:spPr>
      </p:pic>
      <p:sp>
        <p:nvSpPr>
          <p:cNvPr id="180" name="Google Shape;180;p4"/>
          <p:cNvSpPr>
            <a:spLocks noGrp="1"/>
          </p:cNvSpPr>
          <p:nvPr/>
        </p:nvSpPr>
        <p:spPr>
          <a:xfrm>
            <a:off x="227136" y="2398094"/>
            <a:ext cx="3410346" cy="637432"/>
          </a:xfrm>
          <a:prstGeom prst="rect">
            <a:avLst/>
          </a:prstGeom>
          <a:noFill/>
          <a:ln w="12700" cmpd="sng">
            <a:solidFill>
              <a:srgbClr val="595959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1" name="Google Shape;181;p4"/>
          <p:cNvSpPr>
            <a:spLocks noGrp="1"/>
          </p:cNvSpPr>
          <p:nvPr/>
        </p:nvSpPr>
        <p:spPr>
          <a:xfrm>
            <a:off x="3749225" y="2457652"/>
            <a:ext cx="167457" cy="15551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3" name="Google Shape;183;p4"/>
          <p:cNvSpPr>
            <a:spLocks noGrp="1"/>
          </p:cNvSpPr>
          <p:nvPr/>
        </p:nvSpPr>
        <p:spPr>
          <a:xfrm>
            <a:off x="248905" y="1485732"/>
            <a:ext cx="241273" cy="200995"/>
          </a:xfrm>
          <a:prstGeom prst="ellipse">
            <a:avLst/>
          </a:prstGeom>
          <a:solidFill>
            <a:srgbClr val="CF5D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4" name="Google Shape;184;p4"/>
          <p:cNvSpPr>
            <a:spLocks noGrp="1"/>
          </p:cNvSpPr>
          <p:nvPr/>
        </p:nvSpPr>
        <p:spPr>
          <a:xfrm rot="5400000">
            <a:off x="303303" y="1527095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5" name="Google Shape;185;p4"/>
          <p:cNvSpPr>
            <a:spLocks noGrp="1"/>
          </p:cNvSpPr>
          <p:nvPr/>
        </p:nvSpPr>
        <p:spPr>
          <a:xfrm>
            <a:off x="243831" y="1477753"/>
            <a:ext cx="284946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7" name="Google Shape;187;p4"/>
          <p:cNvSpPr>
            <a:spLocks noGrp="1"/>
          </p:cNvSpPr>
          <p:nvPr/>
        </p:nvSpPr>
        <p:spPr>
          <a:xfrm>
            <a:off x="1140242" y="1482533"/>
            <a:ext cx="241272" cy="200995"/>
          </a:xfrm>
          <a:prstGeom prst="ellipse">
            <a:avLst/>
          </a:prstGeom>
          <a:solidFill>
            <a:srgbClr val="FF700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8" name="Google Shape;188;p4"/>
          <p:cNvSpPr>
            <a:spLocks noGrp="1"/>
          </p:cNvSpPr>
          <p:nvPr/>
        </p:nvSpPr>
        <p:spPr>
          <a:xfrm rot="5400000">
            <a:off x="1194640" y="1523896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9" name="Google Shape;189;p4"/>
          <p:cNvSpPr>
            <a:spLocks noGrp="1"/>
          </p:cNvSpPr>
          <p:nvPr/>
        </p:nvSpPr>
        <p:spPr>
          <a:xfrm>
            <a:off x="1140455" y="1472398"/>
            <a:ext cx="28494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1" name="Google Shape;191;p4"/>
          <p:cNvSpPr>
            <a:spLocks noGrp="1"/>
          </p:cNvSpPr>
          <p:nvPr/>
        </p:nvSpPr>
        <p:spPr>
          <a:xfrm>
            <a:off x="2919882" y="1482532"/>
            <a:ext cx="241273" cy="200994"/>
          </a:xfrm>
          <a:prstGeom prst="ellipse">
            <a:avLst/>
          </a:prstGeom>
          <a:solidFill>
            <a:srgbClr val="23447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2" name="Google Shape;192;p4"/>
          <p:cNvSpPr>
            <a:spLocks noGrp="1"/>
          </p:cNvSpPr>
          <p:nvPr/>
        </p:nvSpPr>
        <p:spPr>
          <a:xfrm rot="5400000">
            <a:off x="2974281" y="1523895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3" name="Google Shape;193;p4"/>
          <p:cNvSpPr>
            <a:spLocks noGrp="1"/>
          </p:cNvSpPr>
          <p:nvPr/>
        </p:nvSpPr>
        <p:spPr>
          <a:xfrm>
            <a:off x="2922615" y="1483363"/>
            <a:ext cx="284945" cy="2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5" name="Google Shape;195;p4"/>
          <p:cNvSpPr>
            <a:spLocks noGrp="1"/>
          </p:cNvSpPr>
          <p:nvPr/>
        </p:nvSpPr>
        <p:spPr>
          <a:xfrm>
            <a:off x="4197167" y="1482509"/>
            <a:ext cx="241272" cy="200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6" name="Google Shape;196;p4"/>
          <p:cNvSpPr>
            <a:spLocks noGrp="1"/>
          </p:cNvSpPr>
          <p:nvPr/>
        </p:nvSpPr>
        <p:spPr>
          <a:xfrm rot="5400000">
            <a:off x="4251565" y="1523871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7" name="Google Shape;197;p4"/>
          <p:cNvSpPr>
            <a:spLocks noGrp="1"/>
          </p:cNvSpPr>
          <p:nvPr/>
        </p:nvSpPr>
        <p:spPr>
          <a:xfrm>
            <a:off x="4197766" y="1481281"/>
            <a:ext cx="284668" cy="20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9" name="Google Shape;199;p4"/>
          <p:cNvSpPr>
            <a:spLocks noGrp="1"/>
          </p:cNvSpPr>
          <p:nvPr/>
        </p:nvSpPr>
        <p:spPr>
          <a:xfrm>
            <a:off x="515555" y="1487970"/>
            <a:ext cx="241273" cy="200995"/>
          </a:xfrm>
          <a:prstGeom prst="ellipse">
            <a:avLst/>
          </a:prstGeom>
          <a:solidFill>
            <a:srgbClr val="CF5D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0" name="Google Shape;200;p4"/>
          <p:cNvSpPr>
            <a:spLocks noGrp="1"/>
          </p:cNvSpPr>
          <p:nvPr/>
        </p:nvSpPr>
        <p:spPr>
          <a:xfrm rot="5400000">
            <a:off x="569953" y="1529333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1" name="Google Shape;201;p4"/>
          <p:cNvSpPr>
            <a:spLocks noGrp="1"/>
          </p:cNvSpPr>
          <p:nvPr/>
        </p:nvSpPr>
        <p:spPr>
          <a:xfrm>
            <a:off x="508683" y="1477536"/>
            <a:ext cx="284946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3" name="Google Shape;203;p4"/>
          <p:cNvSpPr>
            <a:spLocks noGrp="1"/>
          </p:cNvSpPr>
          <p:nvPr/>
        </p:nvSpPr>
        <p:spPr>
          <a:xfrm>
            <a:off x="793569" y="1485732"/>
            <a:ext cx="241273" cy="200995"/>
          </a:xfrm>
          <a:prstGeom prst="ellipse">
            <a:avLst/>
          </a:prstGeom>
          <a:solidFill>
            <a:srgbClr val="CF5D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4" name="Google Shape;204;p4"/>
          <p:cNvSpPr>
            <a:spLocks noGrp="1"/>
          </p:cNvSpPr>
          <p:nvPr/>
        </p:nvSpPr>
        <p:spPr>
          <a:xfrm rot="5400000">
            <a:off x="847967" y="1527095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5" name="Google Shape;205;p4"/>
          <p:cNvSpPr>
            <a:spLocks noGrp="1"/>
          </p:cNvSpPr>
          <p:nvPr/>
        </p:nvSpPr>
        <p:spPr>
          <a:xfrm>
            <a:off x="780704" y="1477753"/>
            <a:ext cx="284946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7" name="Google Shape;207;p4"/>
          <p:cNvSpPr>
            <a:spLocks noGrp="1"/>
          </p:cNvSpPr>
          <p:nvPr/>
        </p:nvSpPr>
        <p:spPr>
          <a:xfrm>
            <a:off x="1414843" y="1482510"/>
            <a:ext cx="241272" cy="200995"/>
          </a:xfrm>
          <a:prstGeom prst="ellipse">
            <a:avLst/>
          </a:prstGeom>
          <a:solidFill>
            <a:srgbClr val="FF700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8" name="Google Shape;208;p4"/>
          <p:cNvSpPr>
            <a:spLocks noGrp="1"/>
          </p:cNvSpPr>
          <p:nvPr/>
        </p:nvSpPr>
        <p:spPr>
          <a:xfrm rot="5400000">
            <a:off x="1469241" y="1523873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9" name="Google Shape;209;p4"/>
          <p:cNvSpPr>
            <a:spLocks noGrp="1"/>
          </p:cNvSpPr>
          <p:nvPr/>
        </p:nvSpPr>
        <p:spPr>
          <a:xfrm>
            <a:off x="1415056" y="1472375"/>
            <a:ext cx="28494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1" name="Google Shape;211;p4"/>
          <p:cNvSpPr>
            <a:spLocks noGrp="1"/>
          </p:cNvSpPr>
          <p:nvPr/>
        </p:nvSpPr>
        <p:spPr>
          <a:xfrm>
            <a:off x="1684213" y="1482533"/>
            <a:ext cx="241272" cy="200995"/>
          </a:xfrm>
          <a:prstGeom prst="ellipse">
            <a:avLst/>
          </a:prstGeom>
          <a:solidFill>
            <a:srgbClr val="FF700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2" name="Google Shape;212;p4"/>
          <p:cNvSpPr>
            <a:spLocks noGrp="1"/>
          </p:cNvSpPr>
          <p:nvPr/>
        </p:nvSpPr>
        <p:spPr>
          <a:xfrm rot="5400000">
            <a:off x="1738611" y="1523896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3" name="Google Shape;213;p4"/>
          <p:cNvSpPr>
            <a:spLocks noGrp="1"/>
          </p:cNvSpPr>
          <p:nvPr/>
        </p:nvSpPr>
        <p:spPr>
          <a:xfrm>
            <a:off x="1684426" y="1472398"/>
            <a:ext cx="28494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5" name="Google Shape;215;p4"/>
          <p:cNvSpPr>
            <a:spLocks noGrp="1"/>
          </p:cNvSpPr>
          <p:nvPr/>
        </p:nvSpPr>
        <p:spPr>
          <a:xfrm>
            <a:off x="3199296" y="1482532"/>
            <a:ext cx="241273" cy="200994"/>
          </a:xfrm>
          <a:prstGeom prst="ellipse">
            <a:avLst/>
          </a:prstGeom>
          <a:solidFill>
            <a:srgbClr val="23447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6" name="Google Shape;216;p4"/>
          <p:cNvSpPr>
            <a:spLocks noGrp="1"/>
          </p:cNvSpPr>
          <p:nvPr/>
        </p:nvSpPr>
        <p:spPr>
          <a:xfrm rot="5400000">
            <a:off x="3253695" y="1523895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7" name="Google Shape;217;p4"/>
          <p:cNvSpPr>
            <a:spLocks noGrp="1"/>
          </p:cNvSpPr>
          <p:nvPr/>
        </p:nvSpPr>
        <p:spPr>
          <a:xfrm>
            <a:off x="3202029" y="1483363"/>
            <a:ext cx="284945" cy="2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9" name="Google Shape;219;p4"/>
          <p:cNvSpPr>
            <a:spLocks noGrp="1"/>
          </p:cNvSpPr>
          <p:nvPr/>
        </p:nvSpPr>
        <p:spPr>
          <a:xfrm>
            <a:off x="3472068" y="1482508"/>
            <a:ext cx="241273" cy="200994"/>
          </a:xfrm>
          <a:prstGeom prst="ellipse">
            <a:avLst/>
          </a:prstGeom>
          <a:solidFill>
            <a:srgbClr val="23447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0" name="Google Shape;220;p4"/>
          <p:cNvSpPr>
            <a:spLocks noGrp="1"/>
          </p:cNvSpPr>
          <p:nvPr/>
        </p:nvSpPr>
        <p:spPr>
          <a:xfrm rot="5400000">
            <a:off x="3526467" y="1523871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1" name="Google Shape;221;p4"/>
          <p:cNvSpPr>
            <a:spLocks noGrp="1"/>
          </p:cNvSpPr>
          <p:nvPr/>
        </p:nvSpPr>
        <p:spPr>
          <a:xfrm>
            <a:off x="3474801" y="1483339"/>
            <a:ext cx="284945" cy="2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3" name="Google Shape;223;p4"/>
          <p:cNvSpPr>
            <a:spLocks noGrp="1"/>
          </p:cNvSpPr>
          <p:nvPr/>
        </p:nvSpPr>
        <p:spPr>
          <a:xfrm>
            <a:off x="4459631" y="1483238"/>
            <a:ext cx="241272" cy="200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4" name="Google Shape;224;p4"/>
          <p:cNvSpPr>
            <a:spLocks noGrp="1"/>
          </p:cNvSpPr>
          <p:nvPr/>
        </p:nvSpPr>
        <p:spPr>
          <a:xfrm rot="5400000">
            <a:off x="4514029" y="1524600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5" name="Google Shape;225;p4"/>
          <p:cNvSpPr>
            <a:spLocks noGrp="1"/>
          </p:cNvSpPr>
          <p:nvPr/>
        </p:nvSpPr>
        <p:spPr>
          <a:xfrm>
            <a:off x="4460230" y="1482010"/>
            <a:ext cx="284668" cy="20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7" name="Google Shape;227;p4"/>
          <p:cNvSpPr>
            <a:spLocks noGrp="1"/>
          </p:cNvSpPr>
          <p:nvPr/>
        </p:nvSpPr>
        <p:spPr>
          <a:xfrm>
            <a:off x="4722094" y="1478667"/>
            <a:ext cx="241272" cy="200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8" name="Google Shape;228;p4"/>
          <p:cNvSpPr>
            <a:spLocks noGrp="1"/>
          </p:cNvSpPr>
          <p:nvPr/>
        </p:nvSpPr>
        <p:spPr>
          <a:xfrm rot="5400000">
            <a:off x="4776492" y="1520029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9" name="Google Shape;229;p4"/>
          <p:cNvSpPr>
            <a:spLocks noGrp="1"/>
          </p:cNvSpPr>
          <p:nvPr/>
        </p:nvSpPr>
        <p:spPr>
          <a:xfrm>
            <a:off x="4722693" y="1477439"/>
            <a:ext cx="284668" cy="20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0" name="Google Shape;230;p4"/>
          <p:cNvSpPr>
            <a:spLocks noGrp="1"/>
          </p:cNvSpPr>
          <p:nvPr/>
        </p:nvSpPr>
        <p:spPr>
          <a:xfrm>
            <a:off x="216050" y="1447049"/>
            <a:ext cx="851208" cy="271987"/>
          </a:xfrm>
          <a:prstGeom prst="rect">
            <a:avLst/>
          </a:prstGeom>
          <a:noFill/>
          <a:ln w="12700" cmpd="sng">
            <a:solidFill>
              <a:srgbClr val="595959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1" name="Google Shape;231;p4"/>
          <p:cNvSpPr>
            <a:spLocks noGrp="1"/>
          </p:cNvSpPr>
          <p:nvPr/>
        </p:nvSpPr>
        <p:spPr>
          <a:xfrm>
            <a:off x="340309" y="1267265"/>
            <a:ext cx="640521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</a:t>
            </a: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2" name="Google Shape;232;p4"/>
          <p:cNvSpPr>
            <a:spLocks noGrp="1"/>
          </p:cNvSpPr>
          <p:nvPr/>
        </p:nvSpPr>
        <p:spPr>
          <a:xfrm>
            <a:off x="1134835" y="1272398"/>
            <a:ext cx="869667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Big Data</a:t>
            </a: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3" name="Google Shape;233;p4"/>
          <p:cNvSpPr>
            <a:spLocks noGrp="1"/>
          </p:cNvSpPr>
          <p:nvPr/>
        </p:nvSpPr>
        <p:spPr>
          <a:xfrm>
            <a:off x="2830581" y="1272270"/>
            <a:ext cx="956771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Transcoding</a:t>
            </a: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4" name="Google Shape;234;p4"/>
          <p:cNvSpPr>
            <a:spLocks noGrp="1"/>
          </p:cNvSpPr>
          <p:nvPr/>
        </p:nvSpPr>
        <p:spPr>
          <a:xfrm>
            <a:off x="4116622" y="1254760"/>
            <a:ext cx="887689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MicroService</a:t>
            </a: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5" name="Google Shape;235;p4"/>
          <p:cNvSpPr>
            <a:spLocks noGrp="1"/>
          </p:cNvSpPr>
          <p:nvPr/>
        </p:nvSpPr>
        <p:spPr>
          <a:xfrm>
            <a:off x="1140620" y="3581302"/>
            <a:ext cx="647902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Cluster A</a:t>
            </a:r>
            <a:endParaRPr sz="800" b="1" i="0" u="non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7" name="Google Shape;237;p4"/>
          <p:cNvSpPr>
            <a:spLocks noGrp="1"/>
          </p:cNvSpPr>
          <p:nvPr/>
        </p:nvSpPr>
        <p:spPr>
          <a:xfrm>
            <a:off x="2040817" y="1487221"/>
            <a:ext cx="241273" cy="20099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8" name="Google Shape;238;p4"/>
          <p:cNvSpPr>
            <a:spLocks noGrp="1"/>
          </p:cNvSpPr>
          <p:nvPr/>
        </p:nvSpPr>
        <p:spPr>
          <a:xfrm rot="5400000">
            <a:off x="2095215" y="1528584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9" name="Google Shape;239;p4"/>
          <p:cNvSpPr>
            <a:spLocks noGrp="1"/>
          </p:cNvSpPr>
          <p:nvPr/>
        </p:nvSpPr>
        <p:spPr>
          <a:xfrm>
            <a:off x="2049806" y="1484766"/>
            <a:ext cx="284668" cy="20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1" name="Google Shape;241;p4"/>
          <p:cNvSpPr>
            <a:spLocks noGrp="1"/>
          </p:cNvSpPr>
          <p:nvPr/>
        </p:nvSpPr>
        <p:spPr>
          <a:xfrm>
            <a:off x="2302886" y="1487221"/>
            <a:ext cx="241273" cy="20099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2" name="Google Shape;242;p4"/>
          <p:cNvSpPr>
            <a:spLocks noGrp="1"/>
          </p:cNvSpPr>
          <p:nvPr/>
        </p:nvSpPr>
        <p:spPr>
          <a:xfrm rot="5400000">
            <a:off x="2357284" y="1528584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3" name="Google Shape;243;p4"/>
          <p:cNvSpPr>
            <a:spLocks noGrp="1"/>
          </p:cNvSpPr>
          <p:nvPr/>
        </p:nvSpPr>
        <p:spPr>
          <a:xfrm>
            <a:off x="2311875" y="1484766"/>
            <a:ext cx="284668" cy="20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5" name="Google Shape;245;p4"/>
          <p:cNvSpPr>
            <a:spLocks noGrp="1"/>
          </p:cNvSpPr>
          <p:nvPr/>
        </p:nvSpPr>
        <p:spPr>
          <a:xfrm>
            <a:off x="2575658" y="1490879"/>
            <a:ext cx="241273" cy="20099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6" name="Google Shape;246;p4"/>
          <p:cNvSpPr>
            <a:spLocks noGrp="1"/>
          </p:cNvSpPr>
          <p:nvPr/>
        </p:nvSpPr>
        <p:spPr>
          <a:xfrm rot="5400000">
            <a:off x="2630056" y="1532242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7" name="Google Shape;247;p4"/>
          <p:cNvSpPr>
            <a:spLocks noGrp="1"/>
          </p:cNvSpPr>
          <p:nvPr/>
        </p:nvSpPr>
        <p:spPr>
          <a:xfrm>
            <a:off x="2584647" y="1488424"/>
            <a:ext cx="284668" cy="20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8" name="Google Shape;248;p4"/>
          <p:cNvSpPr>
            <a:spLocks noGrp="1"/>
          </p:cNvSpPr>
          <p:nvPr/>
        </p:nvSpPr>
        <p:spPr>
          <a:xfrm>
            <a:off x="1112406" y="1448441"/>
            <a:ext cx="851208" cy="271987"/>
          </a:xfrm>
          <a:prstGeom prst="rect">
            <a:avLst/>
          </a:prstGeom>
          <a:noFill/>
          <a:ln w="12700" cmpd="sng">
            <a:solidFill>
              <a:srgbClr val="595959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9" name="Google Shape;249;p4"/>
          <p:cNvSpPr>
            <a:spLocks noGrp="1"/>
          </p:cNvSpPr>
          <p:nvPr/>
        </p:nvSpPr>
        <p:spPr>
          <a:xfrm>
            <a:off x="2891935" y="1447741"/>
            <a:ext cx="851208" cy="271987"/>
          </a:xfrm>
          <a:prstGeom prst="rect">
            <a:avLst/>
          </a:prstGeom>
          <a:noFill/>
          <a:ln w="12700" cmpd="sng">
            <a:solidFill>
              <a:srgbClr val="595959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0" name="Google Shape;250;p4"/>
          <p:cNvSpPr>
            <a:spLocks noGrp="1"/>
          </p:cNvSpPr>
          <p:nvPr/>
        </p:nvSpPr>
        <p:spPr>
          <a:xfrm>
            <a:off x="4153087" y="1447786"/>
            <a:ext cx="851208" cy="271987"/>
          </a:xfrm>
          <a:prstGeom prst="rect">
            <a:avLst/>
          </a:prstGeom>
          <a:noFill/>
          <a:ln w="12700" cmpd="sng">
            <a:solidFill>
              <a:srgbClr val="595959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1" name="Google Shape;251;p4"/>
          <p:cNvSpPr>
            <a:spLocks noGrp="1"/>
          </p:cNvSpPr>
          <p:nvPr/>
        </p:nvSpPr>
        <p:spPr>
          <a:xfrm>
            <a:off x="1997774" y="1448469"/>
            <a:ext cx="851208" cy="271987"/>
          </a:xfrm>
          <a:prstGeom prst="rect">
            <a:avLst/>
          </a:prstGeom>
          <a:noFill/>
          <a:ln w="12700" cmpd="sng">
            <a:solidFill>
              <a:srgbClr val="595959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2" name="Google Shape;252;p4"/>
          <p:cNvSpPr>
            <a:spLocks noGrp="1"/>
          </p:cNvSpPr>
          <p:nvPr/>
        </p:nvSpPr>
        <p:spPr>
          <a:xfrm>
            <a:off x="2103118" y="1273245"/>
            <a:ext cx="727324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HPC</a:t>
            </a: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3" name="Google Shape;253;p4"/>
          <p:cNvSpPr>
            <a:spLocks noGrp="1"/>
          </p:cNvSpPr>
          <p:nvPr/>
        </p:nvSpPr>
        <p:spPr>
          <a:xfrm>
            <a:off x="236308" y="3873688"/>
            <a:ext cx="640521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Node</a:t>
            </a:r>
            <a:endParaRPr sz="800" b="1" i="0" u="none" cap="none">
              <a:solidFill>
                <a:srgbClr val="26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4" name="Google Shape;254;p4"/>
          <p:cNvSpPr>
            <a:spLocks noGrp="1"/>
          </p:cNvSpPr>
          <p:nvPr/>
        </p:nvSpPr>
        <p:spPr>
          <a:xfrm>
            <a:off x="420063" y="4493571"/>
            <a:ext cx="952665" cy="150258"/>
          </a:xfrm>
          <a:prstGeom prst="rect">
            <a:avLst/>
          </a:prstGeom>
          <a:solidFill>
            <a:srgbClr val="ACCBE9"/>
          </a:solidFill>
          <a:ln>
            <a:noFill/>
          </a:ln>
          <a:effectLst>
            <a:outerShdw blurRad="44450" dist="27940" dir="5400000" algn="ctr">
              <a:srgbClr val="000000">
                <a:alpha val="32156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kubelet</a:t>
            </a:r>
            <a:endParaRPr sz="800" b="0" i="0" u="none" cap="none">
              <a:solidFill>
                <a:srgbClr val="26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5" name="Google Shape;255;p4"/>
          <p:cNvSpPr>
            <a:spLocks noGrp="1"/>
          </p:cNvSpPr>
          <p:nvPr/>
        </p:nvSpPr>
        <p:spPr>
          <a:xfrm>
            <a:off x="2791092" y="3748684"/>
            <a:ext cx="2542834" cy="102314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6" name="Google Shape;256;p4"/>
          <p:cNvSpPr>
            <a:spLocks noGrp="1"/>
          </p:cNvSpPr>
          <p:nvPr/>
        </p:nvSpPr>
        <p:spPr>
          <a:xfrm>
            <a:off x="2869833" y="3784904"/>
            <a:ext cx="2218756" cy="767100"/>
          </a:xfrm>
          <a:prstGeom prst="rect">
            <a:avLst/>
          </a:prstGeom>
          <a:solidFill>
            <a:srgbClr val="DEEBF7"/>
          </a:solidFill>
          <a:ln w="9525" cmpd="sng">
            <a:solidFill>
              <a:srgbClr val="ACCBE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7" name="Google Shape;257;p4"/>
          <p:cNvSpPr>
            <a:spLocks noGrp="1"/>
          </p:cNvSpPr>
          <p:nvPr/>
        </p:nvSpPr>
        <p:spPr>
          <a:xfrm>
            <a:off x="2922685" y="3823595"/>
            <a:ext cx="2216807" cy="765990"/>
          </a:xfrm>
          <a:prstGeom prst="rect">
            <a:avLst/>
          </a:prstGeom>
          <a:solidFill>
            <a:srgbClr val="DEEBF7"/>
          </a:solidFill>
          <a:ln w="9525" cmpd="sng">
            <a:solidFill>
              <a:srgbClr val="ACCBE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8" name="Google Shape;258;p4"/>
          <p:cNvSpPr>
            <a:spLocks noGrp="1"/>
          </p:cNvSpPr>
          <p:nvPr/>
        </p:nvSpPr>
        <p:spPr>
          <a:xfrm>
            <a:off x="2987522" y="3870183"/>
            <a:ext cx="2220984" cy="828634"/>
          </a:xfrm>
          <a:prstGeom prst="rect">
            <a:avLst/>
          </a:prstGeom>
          <a:solidFill>
            <a:srgbClr val="DEEBF7"/>
          </a:solidFill>
          <a:ln w="9525" cmpd="sng">
            <a:solidFill>
              <a:srgbClr val="ACCBE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9" name="Google Shape;259;p4"/>
          <p:cNvSpPr>
            <a:spLocks noGrp="1"/>
          </p:cNvSpPr>
          <p:nvPr/>
        </p:nvSpPr>
        <p:spPr>
          <a:xfrm>
            <a:off x="2861958" y="3870314"/>
            <a:ext cx="640521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Node</a:t>
            </a:r>
            <a:endParaRPr sz="800" b="1" i="0" u="none" cap="none">
              <a:solidFill>
                <a:srgbClr val="26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0" name="Google Shape;260;p4"/>
          <p:cNvSpPr>
            <a:spLocks noGrp="1"/>
          </p:cNvSpPr>
          <p:nvPr/>
        </p:nvSpPr>
        <p:spPr>
          <a:xfrm>
            <a:off x="3061629" y="4493571"/>
            <a:ext cx="949551" cy="150258"/>
          </a:xfrm>
          <a:prstGeom prst="rect">
            <a:avLst/>
          </a:prstGeom>
          <a:solidFill>
            <a:srgbClr val="ACCBE9"/>
          </a:solidFill>
          <a:ln>
            <a:noFill/>
          </a:ln>
          <a:effectLst>
            <a:outerShdw blurRad="44450" dist="27940" dir="5400000" algn="ctr">
              <a:srgbClr val="000000">
                <a:alpha val="32156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Kubelet</a:t>
            </a:r>
            <a:endParaRPr sz="800" b="0" i="0" u="none" cap="none">
              <a:solidFill>
                <a:srgbClr val="26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1" name="Google Shape;261;p4"/>
          <p:cNvSpPr>
            <a:spLocks noGrp="1"/>
          </p:cNvSpPr>
          <p:nvPr/>
        </p:nvSpPr>
        <p:spPr>
          <a:xfrm>
            <a:off x="3468430" y="3888599"/>
            <a:ext cx="1287143" cy="537848"/>
          </a:xfrm>
          <a:prstGeom prst="ellipse">
            <a:avLst/>
          </a:prstGeom>
          <a:solidFill>
            <a:srgbClr val="D8D8D8"/>
          </a:solidFill>
          <a:ln w="349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317500" algn="ctr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3" name="Google Shape;263;p4"/>
          <p:cNvSpPr>
            <a:spLocks noGrp="1"/>
          </p:cNvSpPr>
          <p:nvPr/>
        </p:nvSpPr>
        <p:spPr>
          <a:xfrm>
            <a:off x="3679529" y="3956261"/>
            <a:ext cx="241273" cy="200994"/>
          </a:xfrm>
          <a:prstGeom prst="ellipse">
            <a:avLst/>
          </a:prstGeom>
          <a:solidFill>
            <a:srgbClr val="CF5D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4" name="Google Shape;264;p4"/>
          <p:cNvSpPr>
            <a:spLocks noGrp="1"/>
          </p:cNvSpPr>
          <p:nvPr/>
        </p:nvSpPr>
        <p:spPr>
          <a:xfrm rot="5400000">
            <a:off x="3733927" y="3997624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5" name="Google Shape;265;p4"/>
          <p:cNvSpPr>
            <a:spLocks noGrp="1"/>
          </p:cNvSpPr>
          <p:nvPr/>
        </p:nvSpPr>
        <p:spPr>
          <a:xfrm>
            <a:off x="3674718" y="3934258"/>
            <a:ext cx="284946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7" name="Google Shape;267;p4"/>
          <p:cNvSpPr>
            <a:spLocks noGrp="1"/>
          </p:cNvSpPr>
          <p:nvPr/>
        </p:nvSpPr>
        <p:spPr>
          <a:xfrm>
            <a:off x="4001063" y="3917204"/>
            <a:ext cx="241272" cy="200995"/>
          </a:xfrm>
          <a:prstGeom prst="ellipse">
            <a:avLst/>
          </a:prstGeom>
          <a:solidFill>
            <a:srgbClr val="FF700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8" name="Google Shape;268;p4"/>
          <p:cNvSpPr>
            <a:spLocks noGrp="1"/>
          </p:cNvSpPr>
          <p:nvPr/>
        </p:nvSpPr>
        <p:spPr>
          <a:xfrm rot="5400000">
            <a:off x="4055461" y="3958567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9" name="Google Shape;269;p4"/>
          <p:cNvSpPr>
            <a:spLocks noGrp="1"/>
          </p:cNvSpPr>
          <p:nvPr/>
        </p:nvSpPr>
        <p:spPr>
          <a:xfrm>
            <a:off x="4000940" y="3904090"/>
            <a:ext cx="28494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1" name="Google Shape;271;p4"/>
          <p:cNvSpPr>
            <a:spLocks noGrp="1"/>
          </p:cNvSpPr>
          <p:nvPr/>
        </p:nvSpPr>
        <p:spPr>
          <a:xfrm>
            <a:off x="4306100" y="3952657"/>
            <a:ext cx="241272" cy="200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2" name="Google Shape;272;p4"/>
          <p:cNvSpPr>
            <a:spLocks noGrp="1"/>
          </p:cNvSpPr>
          <p:nvPr/>
        </p:nvSpPr>
        <p:spPr>
          <a:xfrm rot="5400000">
            <a:off x="4360498" y="3994020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3" name="Google Shape;273;p4"/>
          <p:cNvSpPr>
            <a:spLocks noGrp="1"/>
          </p:cNvSpPr>
          <p:nvPr/>
        </p:nvSpPr>
        <p:spPr>
          <a:xfrm>
            <a:off x="4306265" y="3931075"/>
            <a:ext cx="284945" cy="2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5" name="Google Shape;275;p4"/>
          <p:cNvSpPr>
            <a:spLocks noGrp="1"/>
          </p:cNvSpPr>
          <p:nvPr/>
        </p:nvSpPr>
        <p:spPr>
          <a:xfrm>
            <a:off x="3832954" y="4180327"/>
            <a:ext cx="241272" cy="20099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6" name="Google Shape;276;p4"/>
          <p:cNvSpPr>
            <a:spLocks noGrp="1"/>
          </p:cNvSpPr>
          <p:nvPr/>
        </p:nvSpPr>
        <p:spPr>
          <a:xfrm rot="5400000">
            <a:off x="3887352" y="4221690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7" name="Google Shape;277;p4"/>
          <p:cNvSpPr>
            <a:spLocks noGrp="1"/>
          </p:cNvSpPr>
          <p:nvPr/>
        </p:nvSpPr>
        <p:spPr>
          <a:xfrm>
            <a:off x="3837148" y="4160998"/>
            <a:ext cx="28494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9" name="Google Shape;279;p4"/>
          <p:cNvSpPr>
            <a:spLocks noGrp="1"/>
          </p:cNvSpPr>
          <p:nvPr/>
        </p:nvSpPr>
        <p:spPr>
          <a:xfrm>
            <a:off x="4165942" y="4177024"/>
            <a:ext cx="241272" cy="20099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0" name="Google Shape;280;p4"/>
          <p:cNvSpPr>
            <a:spLocks noGrp="1"/>
          </p:cNvSpPr>
          <p:nvPr/>
        </p:nvSpPr>
        <p:spPr>
          <a:xfrm rot="5400000">
            <a:off x="4220340" y="4218387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1" name="Google Shape;281;p4"/>
          <p:cNvSpPr>
            <a:spLocks noGrp="1"/>
          </p:cNvSpPr>
          <p:nvPr/>
        </p:nvSpPr>
        <p:spPr>
          <a:xfrm>
            <a:off x="4170136" y="4157695"/>
            <a:ext cx="28494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2" name="Google Shape;282;p4"/>
          <p:cNvSpPr>
            <a:spLocks noGrp="1"/>
          </p:cNvSpPr>
          <p:nvPr/>
        </p:nvSpPr>
        <p:spPr>
          <a:xfrm rot="10800000">
            <a:off x="119380" y="2192352"/>
            <a:ext cx="5199155" cy="104864"/>
          </a:xfrm>
          <a:custGeom>
            <a:avLst/>
            <a:gdLst/>
            <a:ahLst/>
            <a:cxnLst/>
            <a:rect l="l" t="t" r="r" b="b"/>
            <a:pathLst>
              <a:path w="1931995" h="417617">
                <a:moveTo>
                  <a:pt x="0" y="0"/>
                </a:moveTo>
                <a:lnTo>
                  <a:pt x="1931995" y="0"/>
                </a:lnTo>
                <a:lnTo>
                  <a:pt x="1492645" y="404918"/>
                </a:lnTo>
                <a:lnTo>
                  <a:pt x="424022" y="4176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0E0E0">
                  <a:alpha val="60000"/>
                </a:srgbClr>
              </a:gs>
              <a:gs pos="95000">
                <a:srgbClr val="E0E0E0">
                  <a:alpha val="0"/>
                </a:srgbClr>
              </a:gs>
              <a:gs pos="100000">
                <a:srgbClr val="E0E0E0">
                  <a:alpha val="0"/>
                </a:srgbClr>
              </a:gs>
            </a:gsLst>
            <a:lin ang="5400000" scaled="0"/>
          </a:gradFill>
          <a:ln w="9525" cmpd="sng">
            <a:solidFill>
              <a:srgbClr val="C1C1C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3475" tIns="71950" rIns="13475" bIns="13475" anchor="t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1D1D1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3" name="Google Shape;283;p4"/>
          <p:cNvSpPr>
            <a:spLocks noGrp="1"/>
          </p:cNvSpPr>
          <p:nvPr/>
        </p:nvSpPr>
        <p:spPr>
          <a:xfrm rot="10800000">
            <a:off x="138753" y="3114355"/>
            <a:ext cx="2547814" cy="104864"/>
          </a:xfrm>
          <a:custGeom>
            <a:avLst/>
            <a:gdLst/>
            <a:ahLst/>
            <a:cxnLst/>
            <a:rect l="l" t="t" r="r" b="b"/>
            <a:pathLst>
              <a:path w="1931995" h="417617">
                <a:moveTo>
                  <a:pt x="0" y="0"/>
                </a:moveTo>
                <a:lnTo>
                  <a:pt x="1931995" y="0"/>
                </a:lnTo>
                <a:lnTo>
                  <a:pt x="1492645" y="404918"/>
                </a:lnTo>
                <a:lnTo>
                  <a:pt x="424022" y="4176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0E0E0">
                  <a:alpha val="60000"/>
                </a:srgbClr>
              </a:gs>
              <a:gs pos="95000">
                <a:srgbClr val="E0E0E0">
                  <a:alpha val="0"/>
                </a:srgbClr>
              </a:gs>
              <a:gs pos="100000">
                <a:srgbClr val="E0E0E0">
                  <a:alpha val="0"/>
                </a:srgbClr>
              </a:gs>
            </a:gsLst>
            <a:lin ang="5400000" scaled="0"/>
          </a:gradFill>
          <a:ln w="9525" cmpd="sng">
            <a:solidFill>
              <a:srgbClr val="C1C1C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3475" tIns="71950" rIns="13475" bIns="13475" anchor="t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1D1D1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4" name="Google Shape;284;p4"/>
          <p:cNvSpPr>
            <a:spLocks noGrp="1"/>
          </p:cNvSpPr>
          <p:nvPr/>
        </p:nvSpPr>
        <p:spPr>
          <a:xfrm rot="10800000">
            <a:off x="2781552" y="3114356"/>
            <a:ext cx="2547814" cy="104864"/>
          </a:xfrm>
          <a:custGeom>
            <a:avLst/>
            <a:gdLst/>
            <a:ahLst/>
            <a:cxnLst/>
            <a:rect l="l" t="t" r="r" b="b"/>
            <a:pathLst>
              <a:path w="1931995" h="417617">
                <a:moveTo>
                  <a:pt x="0" y="0"/>
                </a:moveTo>
                <a:lnTo>
                  <a:pt x="1931995" y="0"/>
                </a:lnTo>
                <a:lnTo>
                  <a:pt x="1492645" y="404918"/>
                </a:lnTo>
                <a:lnTo>
                  <a:pt x="424022" y="4176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0E0E0">
                  <a:alpha val="60000"/>
                </a:srgbClr>
              </a:gs>
              <a:gs pos="95000">
                <a:srgbClr val="E0E0E0">
                  <a:alpha val="0"/>
                </a:srgbClr>
              </a:gs>
              <a:gs pos="100000">
                <a:srgbClr val="E0E0E0">
                  <a:alpha val="0"/>
                </a:srgbClr>
              </a:gs>
            </a:gsLst>
            <a:lin ang="5400000" scaled="0"/>
          </a:gradFill>
          <a:ln w="9525" cmpd="sng">
            <a:solidFill>
              <a:srgbClr val="C1C1C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3475" tIns="71950" rIns="13475" bIns="13475" anchor="t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1D1D1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5" name="Google Shape;285;p4"/>
          <p:cNvSpPr>
            <a:spLocks noGrp="1"/>
          </p:cNvSpPr>
          <p:nvPr/>
        </p:nvSpPr>
        <p:spPr>
          <a:xfrm rot="10800000">
            <a:off x="139065" y="3643631"/>
            <a:ext cx="2547619" cy="104774"/>
          </a:xfrm>
          <a:custGeom>
            <a:avLst/>
            <a:gdLst/>
            <a:ahLst/>
            <a:cxnLst/>
            <a:rect l="l" t="t" r="r" b="b"/>
            <a:pathLst>
              <a:path w="1931995" h="417617">
                <a:moveTo>
                  <a:pt x="0" y="0"/>
                </a:moveTo>
                <a:lnTo>
                  <a:pt x="1931995" y="0"/>
                </a:lnTo>
                <a:lnTo>
                  <a:pt x="1492645" y="404918"/>
                </a:lnTo>
                <a:lnTo>
                  <a:pt x="424022" y="4176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0E0E0">
                  <a:alpha val="60000"/>
                </a:srgbClr>
              </a:gs>
              <a:gs pos="95000">
                <a:srgbClr val="E0E0E0">
                  <a:alpha val="0"/>
                </a:srgbClr>
              </a:gs>
              <a:gs pos="100000">
                <a:srgbClr val="E0E0E0">
                  <a:alpha val="0"/>
                </a:srgbClr>
              </a:gs>
            </a:gsLst>
            <a:lin ang="5400000" scaled="0"/>
          </a:gradFill>
          <a:ln w="9525" cmpd="sng">
            <a:solidFill>
              <a:srgbClr val="C1C1C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3475" tIns="71950" rIns="13475" bIns="13475" anchor="t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1D1D1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6" name="Google Shape;286;p4"/>
          <p:cNvSpPr>
            <a:spLocks noGrp="1"/>
          </p:cNvSpPr>
          <p:nvPr/>
        </p:nvSpPr>
        <p:spPr>
          <a:xfrm rot="10800000">
            <a:off x="2781552" y="3643819"/>
            <a:ext cx="2547814" cy="104864"/>
          </a:xfrm>
          <a:custGeom>
            <a:avLst/>
            <a:gdLst/>
            <a:ahLst/>
            <a:cxnLst/>
            <a:rect l="l" t="t" r="r" b="b"/>
            <a:pathLst>
              <a:path w="1931995" h="417617">
                <a:moveTo>
                  <a:pt x="0" y="0"/>
                </a:moveTo>
                <a:lnTo>
                  <a:pt x="1931995" y="0"/>
                </a:lnTo>
                <a:lnTo>
                  <a:pt x="1492645" y="404918"/>
                </a:lnTo>
                <a:lnTo>
                  <a:pt x="424022" y="4176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0E0E0">
                  <a:alpha val="60000"/>
                </a:srgbClr>
              </a:gs>
              <a:gs pos="95000">
                <a:srgbClr val="E0E0E0">
                  <a:alpha val="0"/>
                </a:srgbClr>
              </a:gs>
              <a:gs pos="100000">
                <a:srgbClr val="E0E0E0">
                  <a:alpha val="0"/>
                </a:srgbClr>
              </a:gs>
            </a:gsLst>
            <a:lin ang="5400000" scaled="0"/>
          </a:gradFill>
          <a:ln w="9525" cmpd="sng">
            <a:solidFill>
              <a:srgbClr val="C1C1C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3475" tIns="71950" rIns="13475" bIns="13475" anchor="t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1D1D1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7" name="Google Shape;287;p4"/>
          <p:cNvSpPr>
            <a:spLocks noGrp="1"/>
          </p:cNvSpPr>
          <p:nvPr/>
        </p:nvSpPr>
        <p:spPr>
          <a:xfrm rot="5400000">
            <a:off x="737000" y="3076368"/>
            <a:ext cx="81408" cy="155519"/>
          </a:xfrm>
          <a:prstGeom prst="rightArrow">
            <a:avLst>
              <a:gd name="adj1" fmla="val 57599"/>
              <a:gd name="adj2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8" name="Google Shape;288;p4"/>
          <p:cNvSpPr>
            <a:spLocks noGrp="1"/>
          </p:cNvSpPr>
          <p:nvPr/>
        </p:nvSpPr>
        <p:spPr>
          <a:xfrm rot="5400000">
            <a:off x="1767563" y="3076368"/>
            <a:ext cx="81408" cy="155519"/>
          </a:xfrm>
          <a:prstGeom prst="rightArrow">
            <a:avLst>
              <a:gd name="adj1" fmla="val 57599"/>
              <a:gd name="adj2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9" name="Google Shape;289;p4"/>
          <p:cNvSpPr>
            <a:spLocks noGrp="1"/>
          </p:cNvSpPr>
          <p:nvPr/>
        </p:nvSpPr>
        <p:spPr>
          <a:xfrm rot="5400000">
            <a:off x="3590964" y="3076368"/>
            <a:ext cx="81408" cy="155519"/>
          </a:xfrm>
          <a:prstGeom prst="rightArrow">
            <a:avLst>
              <a:gd name="adj1" fmla="val 57599"/>
              <a:gd name="adj2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0" name="Google Shape;290;p4"/>
          <p:cNvSpPr>
            <a:spLocks noGrp="1"/>
          </p:cNvSpPr>
          <p:nvPr/>
        </p:nvSpPr>
        <p:spPr>
          <a:xfrm rot="5400000">
            <a:off x="4621526" y="3076369"/>
            <a:ext cx="81409" cy="155519"/>
          </a:xfrm>
          <a:prstGeom prst="rightArrow">
            <a:avLst>
              <a:gd name="adj1" fmla="val 57599"/>
              <a:gd name="adj2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66" name="Google Shape;291;p4"/>
          <p:cNvPicPr>
            <a:picLocks noChangeAspect="1"/>
          </p:cNvPicPr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3234042" y="2481571"/>
            <a:ext cx="248051" cy="146199"/>
          </a:xfrm>
          <a:prstGeom prst="rect">
            <a:avLst/>
          </a:prstGeom>
          <a:ln>
            <a:noFill/>
          </a:ln>
        </p:spPr>
      </p:pic>
      <p:pic>
        <p:nvPicPr>
          <p:cNvPr id="767" name="Google Shape;292;p4"/>
          <p:cNvPicPr>
            <a:picLocks noChangeAspect="1"/>
          </p:cNvPicPr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3216383" y="2783291"/>
            <a:ext cx="329589" cy="141402"/>
          </a:xfrm>
          <a:prstGeom prst="rect">
            <a:avLst/>
          </a:prstGeom>
          <a:ln>
            <a:noFill/>
          </a:ln>
        </p:spPr>
      </p:pic>
      <p:sp>
        <p:nvSpPr>
          <p:cNvPr id="294" name="Google Shape;294;p4"/>
          <p:cNvSpPr>
            <a:spLocks noGrp="1"/>
          </p:cNvSpPr>
          <p:nvPr/>
        </p:nvSpPr>
        <p:spPr>
          <a:xfrm>
            <a:off x="431384" y="1815800"/>
            <a:ext cx="3169929" cy="140746"/>
          </a:xfrm>
          <a:prstGeom prst="rect">
            <a:avLst/>
          </a:prstGeom>
          <a:solidFill>
            <a:srgbClr val="666666">
              <a:alpha val="34901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 panose="020B0604020202090204"/>
              <a:buNone/>
            </a:pPr>
            <a:r>
              <a:rPr sz="800" b="1" i="0" u="none" cap="none">
                <a:solidFill>
                  <a:srgbClr val="1D1D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Batch Computing</a:t>
            </a:r>
            <a:endParaRPr sz="800" b="1" i="0" u="none" cap="none">
              <a:solidFill>
                <a:srgbClr val="1D1D1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5" name="Google Shape;295;p4"/>
          <p:cNvSpPr>
            <a:spLocks noGrp="1"/>
          </p:cNvSpPr>
          <p:nvPr/>
        </p:nvSpPr>
        <p:spPr>
          <a:xfrm rot="5400000">
            <a:off x="226395" y="1778516"/>
            <a:ext cx="223655" cy="160944"/>
          </a:xfrm>
          <a:custGeom>
            <a:avLst/>
            <a:gdLst/>
            <a:ahLst/>
            <a:cxnLst/>
            <a:rect l="l" t="t" r="r" b="b"/>
            <a:pathLst>
              <a:path w="605476" h="509168">
                <a:moveTo>
                  <a:pt x="0" y="509168"/>
                </a:moveTo>
                <a:lnTo>
                  <a:pt x="169461" y="2382"/>
                </a:lnTo>
                <a:lnTo>
                  <a:pt x="605476" y="0"/>
                </a:lnTo>
                <a:lnTo>
                  <a:pt x="430063" y="509168"/>
                </a:lnTo>
                <a:lnTo>
                  <a:pt x="0" y="509168"/>
                </a:lnTo>
                <a:close/>
              </a:path>
            </a:pathLst>
          </a:custGeom>
          <a:solidFill>
            <a:srgbClr val="666666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6" name="Google Shape;296;p4"/>
          <p:cNvSpPr>
            <a:spLocks noGrp="1"/>
          </p:cNvSpPr>
          <p:nvPr/>
        </p:nvSpPr>
        <p:spPr>
          <a:xfrm>
            <a:off x="244184" y="1710790"/>
            <a:ext cx="3544329" cy="106515"/>
          </a:xfrm>
          <a:custGeom>
            <a:avLst/>
            <a:gdLst/>
            <a:ahLst/>
            <a:cxnLst/>
            <a:rect l="l" t="t" r="r" b="b"/>
            <a:pathLst>
              <a:path w="8198812" h="491587">
                <a:moveTo>
                  <a:pt x="0" y="240664"/>
                </a:moveTo>
                <a:lnTo>
                  <a:pt x="615651" y="0"/>
                </a:lnTo>
                <a:lnTo>
                  <a:pt x="7583161" y="0"/>
                </a:lnTo>
                <a:lnTo>
                  <a:pt x="8198812" y="240664"/>
                </a:lnTo>
                <a:lnTo>
                  <a:pt x="7765387" y="485511"/>
                </a:lnTo>
                <a:lnTo>
                  <a:pt x="434712" y="491587"/>
                </a:lnTo>
                <a:lnTo>
                  <a:pt x="0" y="240664"/>
                </a:lnTo>
                <a:close/>
              </a:path>
            </a:pathLst>
          </a:custGeom>
          <a:gradFill>
            <a:gsLst>
              <a:gs pos="0">
                <a:srgbClr val="666666">
                  <a:alpha val="0"/>
                </a:srgbClr>
              </a:gs>
              <a:gs pos="100000">
                <a:srgbClr val="666666">
                  <a:alpha val="25098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7" name="Google Shape;297;p4"/>
          <p:cNvSpPr>
            <a:spLocks noGrp="1"/>
          </p:cNvSpPr>
          <p:nvPr/>
        </p:nvSpPr>
        <p:spPr>
          <a:xfrm rot="-5400000" flipH="1">
            <a:off x="3582001" y="1778516"/>
            <a:ext cx="223655" cy="160944"/>
          </a:xfrm>
          <a:custGeom>
            <a:avLst/>
            <a:gdLst/>
            <a:ahLst/>
            <a:cxnLst/>
            <a:rect l="l" t="t" r="r" b="b"/>
            <a:pathLst>
              <a:path w="605476" h="509168">
                <a:moveTo>
                  <a:pt x="0" y="509168"/>
                </a:moveTo>
                <a:lnTo>
                  <a:pt x="169461" y="2382"/>
                </a:lnTo>
                <a:lnTo>
                  <a:pt x="605476" y="0"/>
                </a:lnTo>
                <a:lnTo>
                  <a:pt x="430063" y="509168"/>
                </a:lnTo>
                <a:lnTo>
                  <a:pt x="0" y="509168"/>
                </a:lnTo>
                <a:close/>
              </a:path>
            </a:pathLst>
          </a:custGeom>
          <a:solidFill>
            <a:srgbClr val="666666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9" name="Google Shape;299;p4"/>
          <p:cNvSpPr>
            <a:spLocks noGrp="1"/>
          </p:cNvSpPr>
          <p:nvPr/>
        </p:nvSpPr>
        <p:spPr>
          <a:xfrm>
            <a:off x="3994625" y="1815003"/>
            <a:ext cx="1250085" cy="139678"/>
          </a:xfrm>
          <a:prstGeom prst="rect">
            <a:avLst/>
          </a:prstGeom>
          <a:solidFill>
            <a:srgbClr val="666666">
              <a:alpha val="34901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 panose="020B0604020202090204"/>
              <a:buNone/>
            </a:pPr>
            <a:r>
              <a:rPr sz="800" b="1" i="0" u="none" cap="none">
                <a:solidFill>
                  <a:srgbClr val="1D1D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MicroService</a:t>
            </a:r>
            <a:endParaRPr sz="800" b="1" i="0" u="none" cap="none">
              <a:solidFill>
                <a:srgbClr val="1D1D1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0" name="Google Shape;300;p4"/>
          <p:cNvSpPr>
            <a:spLocks noGrp="1"/>
          </p:cNvSpPr>
          <p:nvPr/>
        </p:nvSpPr>
        <p:spPr>
          <a:xfrm rot="5400000">
            <a:off x="3913786" y="1778002"/>
            <a:ext cx="88200" cy="159724"/>
          </a:xfrm>
          <a:custGeom>
            <a:avLst/>
            <a:gdLst/>
            <a:ahLst/>
            <a:cxnLst/>
            <a:rect l="l" t="t" r="r" b="b"/>
            <a:pathLst>
              <a:path w="605476" h="509168">
                <a:moveTo>
                  <a:pt x="0" y="509168"/>
                </a:moveTo>
                <a:lnTo>
                  <a:pt x="169461" y="2382"/>
                </a:lnTo>
                <a:lnTo>
                  <a:pt x="605476" y="0"/>
                </a:lnTo>
                <a:lnTo>
                  <a:pt x="430063" y="509168"/>
                </a:lnTo>
                <a:lnTo>
                  <a:pt x="0" y="509168"/>
                </a:lnTo>
                <a:close/>
              </a:path>
            </a:pathLst>
          </a:custGeom>
          <a:solidFill>
            <a:srgbClr val="666666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1" name="Google Shape;301;p4"/>
          <p:cNvSpPr>
            <a:spLocks noGrp="1"/>
          </p:cNvSpPr>
          <p:nvPr/>
        </p:nvSpPr>
        <p:spPr>
          <a:xfrm>
            <a:off x="3920801" y="1710790"/>
            <a:ext cx="1397733" cy="105707"/>
          </a:xfrm>
          <a:custGeom>
            <a:avLst/>
            <a:gdLst/>
            <a:ahLst/>
            <a:cxnLst/>
            <a:rect l="l" t="t" r="r" b="b"/>
            <a:pathLst>
              <a:path w="8198812" h="491587">
                <a:moveTo>
                  <a:pt x="0" y="240664"/>
                </a:moveTo>
                <a:lnTo>
                  <a:pt x="615651" y="0"/>
                </a:lnTo>
                <a:lnTo>
                  <a:pt x="7583161" y="0"/>
                </a:lnTo>
                <a:lnTo>
                  <a:pt x="8198812" y="240664"/>
                </a:lnTo>
                <a:lnTo>
                  <a:pt x="7765387" y="485511"/>
                </a:lnTo>
                <a:lnTo>
                  <a:pt x="434712" y="491587"/>
                </a:lnTo>
                <a:lnTo>
                  <a:pt x="0" y="240664"/>
                </a:lnTo>
                <a:close/>
              </a:path>
            </a:pathLst>
          </a:custGeom>
          <a:gradFill>
            <a:gsLst>
              <a:gs pos="0">
                <a:srgbClr val="666666">
                  <a:alpha val="0"/>
                </a:srgbClr>
              </a:gs>
              <a:gs pos="100000">
                <a:srgbClr val="666666">
                  <a:alpha val="25098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2" name="Google Shape;302;p4"/>
          <p:cNvSpPr>
            <a:spLocks noGrp="1"/>
          </p:cNvSpPr>
          <p:nvPr/>
        </p:nvSpPr>
        <p:spPr>
          <a:xfrm rot="-5400000" flipH="1">
            <a:off x="5237095" y="1778002"/>
            <a:ext cx="88200" cy="159724"/>
          </a:xfrm>
          <a:custGeom>
            <a:avLst/>
            <a:gdLst/>
            <a:ahLst/>
            <a:cxnLst/>
            <a:rect l="l" t="t" r="r" b="b"/>
            <a:pathLst>
              <a:path w="605476" h="509168">
                <a:moveTo>
                  <a:pt x="0" y="509168"/>
                </a:moveTo>
                <a:lnTo>
                  <a:pt x="169461" y="2382"/>
                </a:lnTo>
                <a:lnTo>
                  <a:pt x="605476" y="0"/>
                </a:lnTo>
                <a:lnTo>
                  <a:pt x="430063" y="509168"/>
                </a:lnTo>
                <a:lnTo>
                  <a:pt x="0" y="509168"/>
                </a:lnTo>
                <a:close/>
              </a:path>
            </a:pathLst>
          </a:custGeom>
          <a:solidFill>
            <a:srgbClr val="666666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76" name="Google Shape;303;p4"/>
          <p:cNvPicPr>
            <a:picLocks noChangeAspect="1"/>
          </p:cNvPicPr>
          <p:nvPr/>
        </p:nvPicPr>
        <p:blipFill rotWithShape="1">
          <a:blip r:embed="rId18">
            <a:alphaModFix amt="50000"/>
          </a:blip>
          <a:srcRect/>
          <a:stretch>
            <a:fillRect/>
          </a:stretch>
        </p:blipFill>
        <p:spPr>
          <a:xfrm>
            <a:off x="952819" y="1969978"/>
            <a:ext cx="3898232" cy="278031"/>
          </a:xfrm>
          <a:prstGeom prst="rect">
            <a:avLst/>
          </a:prstGeom>
          <a:ln>
            <a:noFill/>
          </a:ln>
        </p:spPr>
      </p:pic>
      <p:sp>
        <p:nvSpPr>
          <p:cNvPr id="304" name="Google Shape;304;p4"/>
          <p:cNvSpPr>
            <a:spLocks noGrp="1"/>
          </p:cNvSpPr>
          <p:nvPr/>
        </p:nvSpPr>
        <p:spPr>
          <a:xfrm>
            <a:off x="869994" y="3869778"/>
            <a:ext cx="1287143" cy="537848"/>
          </a:xfrm>
          <a:prstGeom prst="ellipse">
            <a:avLst/>
          </a:prstGeom>
          <a:solidFill>
            <a:srgbClr val="D8D8D8"/>
          </a:solidFill>
          <a:ln w="349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317500" algn="ctr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6" name="Google Shape;306;p4"/>
          <p:cNvSpPr>
            <a:spLocks noGrp="1"/>
          </p:cNvSpPr>
          <p:nvPr/>
        </p:nvSpPr>
        <p:spPr>
          <a:xfrm>
            <a:off x="1042796" y="3951639"/>
            <a:ext cx="241273" cy="200994"/>
          </a:xfrm>
          <a:prstGeom prst="ellipse">
            <a:avLst/>
          </a:prstGeom>
          <a:solidFill>
            <a:srgbClr val="CF5D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7" name="Google Shape;307;p4"/>
          <p:cNvSpPr>
            <a:spLocks noGrp="1"/>
          </p:cNvSpPr>
          <p:nvPr/>
        </p:nvSpPr>
        <p:spPr>
          <a:xfrm rot="5400000">
            <a:off x="1097194" y="3993002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8" name="Google Shape;308;p4"/>
          <p:cNvSpPr>
            <a:spLocks noGrp="1"/>
          </p:cNvSpPr>
          <p:nvPr/>
        </p:nvSpPr>
        <p:spPr>
          <a:xfrm>
            <a:off x="1034175" y="3952496"/>
            <a:ext cx="284946" cy="2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0" name="Google Shape;310;p4"/>
          <p:cNvSpPr>
            <a:spLocks noGrp="1"/>
          </p:cNvSpPr>
          <p:nvPr/>
        </p:nvSpPr>
        <p:spPr>
          <a:xfrm>
            <a:off x="1350236" y="3922048"/>
            <a:ext cx="241273" cy="200994"/>
          </a:xfrm>
          <a:prstGeom prst="ellipse">
            <a:avLst/>
          </a:prstGeom>
          <a:solidFill>
            <a:srgbClr val="CF5D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1" name="Google Shape;311;p4"/>
          <p:cNvSpPr>
            <a:spLocks noGrp="1"/>
          </p:cNvSpPr>
          <p:nvPr/>
        </p:nvSpPr>
        <p:spPr>
          <a:xfrm rot="5400000">
            <a:off x="1404634" y="3963411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2" name="Google Shape;312;p4"/>
          <p:cNvSpPr>
            <a:spLocks noGrp="1"/>
          </p:cNvSpPr>
          <p:nvPr/>
        </p:nvSpPr>
        <p:spPr>
          <a:xfrm>
            <a:off x="1341615" y="3922905"/>
            <a:ext cx="284946" cy="2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4" name="Google Shape;314;p4"/>
          <p:cNvSpPr>
            <a:spLocks noGrp="1"/>
          </p:cNvSpPr>
          <p:nvPr/>
        </p:nvSpPr>
        <p:spPr>
          <a:xfrm>
            <a:off x="1652162" y="3952592"/>
            <a:ext cx="241272" cy="200995"/>
          </a:xfrm>
          <a:prstGeom prst="ellipse">
            <a:avLst/>
          </a:prstGeom>
          <a:solidFill>
            <a:srgbClr val="23447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5" name="Google Shape;315;p4"/>
          <p:cNvSpPr>
            <a:spLocks noGrp="1"/>
          </p:cNvSpPr>
          <p:nvPr/>
        </p:nvSpPr>
        <p:spPr>
          <a:xfrm rot="5400000">
            <a:off x="1706560" y="3993955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6" name="Google Shape;316;p4"/>
          <p:cNvSpPr>
            <a:spLocks noGrp="1"/>
          </p:cNvSpPr>
          <p:nvPr/>
        </p:nvSpPr>
        <p:spPr>
          <a:xfrm>
            <a:off x="1652546" y="3956122"/>
            <a:ext cx="28494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8" name="Google Shape;318;p4"/>
          <p:cNvSpPr>
            <a:spLocks noGrp="1"/>
          </p:cNvSpPr>
          <p:nvPr/>
        </p:nvSpPr>
        <p:spPr>
          <a:xfrm>
            <a:off x="1165449" y="4164744"/>
            <a:ext cx="241272" cy="200995"/>
          </a:xfrm>
          <a:prstGeom prst="ellipse">
            <a:avLst/>
          </a:prstGeom>
          <a:solidFill>
            <a:srgbClr val="23447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9" name="Google Shape;319;p4"/>
          <p:cNvSpPr>
            <a:spLocks noGrp="1"/>
          </p:cNvSpPr>
          <p:nvPr/>
        </p:nvSpPr>
        <p:spPr>
          <a:xfrm rot="5400000">
            <a:off x="1219847" y="4206107"/>
            <a:ext cx="134040" cy="111663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0" name="Google Shape;320;p4"/>
          <p:cNvSpPr>
            <a:spLocks noGrp="1"/>
          </p:cNvSpPr>
          <p:nvPr/>
        </p:nvSpPr>
        <p:spPr>
          <a:xfrm>
            <a:off x="1165833" y="4168274"/>
            <a:ext cx="28494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2" name="Google Shape;322;p4"/>
          <p:cNvSpPr>
            <a:spLocks noGrp="1"/>
          </p:cNvSpPr>
          <p:nvPr/>
        </p:nvSpPr>
        <p:spPr>
          <a:xfrm>
            <a:off x="1531525" y="4156323"/>
            <a:ext cx="241272" cy="200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3" name="Google Shape;323;p4"/>
          <p:cNvSpPr>
            <a:spLocks noGrp="1"/>
          </p:cNvSpPr>
          <p:nvPr/>
        </p:nvSpPr>
        <p:spPr>
          <a:xfrm rot="5400000">
            <a:off x="1585140" y="4204758"/>
            <a:ext cx="134040" cy="111664"/>
          </a:xfrm>
          <a:prstGeom prst="hexagon">
            <a:avLst>
              <a:gd name="adj" fmla="val 25000"/>
              <a:gd name="vf" fmla="val 115470"/>
            </a:avLst>
          </a:prstGeom>
          <a:noFill/>
          <a:ln w="222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4" name="Google Shape;324;p4"/>
          <p:cNvSpPr>
            <a:spLocks noGrp="1"/>
          </p:cNvSpPr>
          <p:nvPr/>
        </p:nvSpPr>
        <p:spPr>
          <a:xfrm>
            <a:off x="1522041" y="4166926"/>
            <a:ext cx="194257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</a:t>
            </a:r>
            <a:endParaRPr sz="8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5" name="Google Shape;325;p4"/>
          <p:cNvSpPr>
            <a:spLocks noGrp="1"/>
          </p:cNvSpPr>
          <p:nvPr/>
        </p:nvSpPr>
        <p:spPr>
          <a:xfrm>
            <a:off x="3876675" y="3596640"/>
            <a:ext cx="767715" cy="197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Cluster B</a:t>
            </a:r>
            <a:endParaRPr sz="800" b="1" i="0" u="non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94" name="Google Shape;326;p4"/>
          <p:cNvPicPr>
            <a:picLocks noChangeAspect="1"/>
          </p:cNvPicPr>
          <p:nvPr/>
        </p:nvPicPr>
        <p:blipFill rotWithShape="1">
          <a:blip r:embed="rId19"/>
          <a:srcRect/>
          <a:stretch>
            <a:fillRect/>
          </a:stretch>
        </p:blipFill>
        <p:spPr>
          <a:xfrm flipH="1">
            <a:off x="4123055" y="2213610"/>
            <a:ext cx="597535" cy="539115"/>
          </a:xfrm>
          <a:prstGeom prst="rect">
            <a:avLst/>
          </a:prstGeom>
          <a:ln>
            <a:noFill/>
          </a:ln>
        </p:spPr>
      </p:pic>
      <p:sp>
        <p:nvSpPr>
          <p:cNvPr id="327" name="Google Shape;327;p4"/>
          <p:cNvSpPr>
            <a:spLocks noGrp="1"/>
          </p:cNvSpPr>
          <p:nvPr/>
        </p:nvSpPr>
        <p:spPr>
          <a:xfrm>
            <a:off x="4045585" y="2721610"/>
            <a:ext cx="128778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Volcano Global</a:t>
            </a: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96" name="Google Shape;328;p4"/>
          <p:cNvPicPr>
            <a:picLocks noChangeAspect="1"/>
          </p:cNvPicPr>
          <p:nvPr/>
        </p:nvPicPr>
        <p:blipFill rotWithShape="1">
          <a:blip r:embed="rId19"/>
          <a:srcRect/>
          <a:stretch>
            <a:fillRect/>
          </a:stretch>
        </p:blipFill>
        <p:spPr>
          <a:xfrm flipH="1">
            <a:off x="1838325" y="3988435"/>
            <a:ext cx="504825" cy="520065"/>
          </a:xfrm>
          <a:prstGeom prst="rect">
            <a:avLst/>
          </a:prstGeom>
          <a:ln>
            <a:noFill/>
          </a:ln>
        </p:spPr>
      </p:pic>
      <p:sp>
        <p:nvSpPr>
          <p:cNvPr id="329" name="Google Shape;329;p4"/>
          <p:cNvSpPr>
            <a:spLocks noGrp="1"/>
          </p:cNvSpPr>
          <p:nvPr/>
        </p:nvSpPr>
        <p:spPr>
          <a:xfrm>
            <a:off x="1682750" y="4444365"/>
            <a:ext cx="859790" cy="17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Volcano Agent</a:t>
            </a: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98" name="Google Shape;330;p4"/>
          <p:cNvPicPr>
            <a:picLocks noChangeAspect="1"/>
          </p:cNvPicPr>
          <p:nvPr/>
        </p:nvPicPr>
        <p:blipFill rotWithShape="1">
          <a:blip r:embed="rId19"/>
          <a:srcRect/>
          <a:stretch>
            <a:fillRect/>
          </a:stretch>
        </p:blipFill>
        <p:spPr>
          <a:xfrm flipH="1">
            <a:off x="4605020" y="3984625"/>
            <a:ext cx="504825" cy="520065"/>
          </a:xfrm>
          <a:prstGeom prst="rect">
            <a:avLst/>
          </a:prstGeom>
          <a:ln>
            <a:noFill/>
          </a:ln>
        </p:spPr>
      </p:pic>
      <p:sp>
        <p:nvSpPr>
          <p:cNvPr id="331" name="Google Shape;331;p4"/>
          <p:cNvSpPr>
            <a:spLocks noGrp="1"/>
          </p:cNvSpPr>
          <p:nvPr/>
        </p:nvSpPr>
        <p:spPr>
          <a:xfrm>
            <a:off x="4468495" y="4465320"/>
            <a:ext cx="859790" cy="17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Volcano Agent</a:t>
            </a: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Unified Scheduling Architecture</a:t>
            </a:r>
          </a:p>
        </p:txBody>
      </p:sp>
      <p:pic>
        <p:nvPicPr>
          <p:cNvPr id="643" name="Image 1"/>
          <p:cNvPicPr>
            <a:picLocks noChangeAspect="1"/>
          </p:cNvPicPr>
          <p:nvPr/>
        </p:nvPicPr>
        <p:blipFill>
          <a:blip r:embed="rId1"/>
          <a:srcRect t="5500"/>
          <a:stretch>
            <a:fillRect/>
          </a:stretch>
        </p:blipFill>
        <p:spPr>
          <a:xfrm>
            <a:off x="2009775" y="1181100"/>
            <a:ext cx="5124450" cy="3352800"/>
          </a:xfrm>
          <a:prstGeom prst="rect">
            <a:avLst/>
          </a:prstGeom>
        </p:spPr>
      </p:pic>
      <p:sp>
        <p:nvSpPr>
          <p:cNvPr id="640" name="Text 30"/>
          <p:cNvSpPr>
            <a:spLocks noGrp="1"/>
          </p:cNvSpPr>
          <p:nvPr/>
        </p:nvSpPr>
        <p:spPr>
          <a:xfrm>
            <a:off x="762000" y="4657725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75" b="0">
                <a:solidFill>
                  <a:srgbClr val="304F6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Specialized schedulers share one Kubernetes cluster through dynamic NodeShard boundaries.</a:t>
            </a:r>
            <a:endParaRPr sz="890" b="1">
              <a:solidFill>
                <a:schemeClr val="accent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Fast-Path Agent Scheduling</a:t>
            </a:r>
          </a:p>
        </p:txBody>
      </p:sp>
      <p:sp>
        <p:nvSpPr>
          <p:cNvPr id="615" name="Google Shape;455;p8"/>
          <p:cNvSpPr>
            <a:spLocks noGrp="1"/>
          </p:cNvSpPr>
          <p:nvPr>
            <p:ph type="body" idx="4294967295"/>
          </p:nvPr>
        </p:nvSpPr>
        <p:spPr>
          <a:xfrm>
            <a:off x="241773" y="1357706"/>
            <a:ext cx="4722279" cy="288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27000" lvl="0" indent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None/>
            </a:pPr>
            <a:r>
              <a:rPr sz="1535" b="1">
                <a:solidFill>
                  <a:schemeClr val="dk1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Dedicated fast path</a:t>
            </a:r>
            <a:endParaRPr sz="1535" b="1">
              <a:solidFill>
                <a:schemeClr val="dk1"/>
              </a:solidFill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  <a:p>
            <a:pPr marL="457200" lvl="0" indent="-33020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Char char="●"/>
            </a:pPr>
            <a:r>
              <a:rPr sz="1535">
                <a:solidFill>
                  <a:schemeClr val="dk1"/>
                </a:solidFill>
              </a:rPr>
              <a:t>Bursty, short-lived agent tasks bypass the batch-oriented scheduling path.</a:t>
            </a:r>
            <a:endParaRPr sz="1535">
              <a:solidFill>
                <a:schemeClr val="dk1"/>
              </a:solidFill>
            </a:endParaRPr>
          </a:p>
          <a:p>
            <a:pPr marL="127000" lvl="0" indent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None/>
            </a:pPr>
            <a:r>
              <a:rPr sz="1535" b="1">
                <a:solidFill>
                  <a:schemeClr val="dk1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Parallel scheduling</a:t>
            </a:r>
            <a:endParaRPr sz="1535" b="1">
              <a:solidFill>
                <a:schemeClr val="dk1"/>
              </a:solidFill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  <a:p>
            <a:pPr marL="457200" lvl="0" indent="-33020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Char char="●"/>
            </a:pPr>
            <a:r>
              <a:rPr sz="1535">
                <a:solidFill>
                  <a:schemeClr val="dk1"/>
                </a:solidFill>
              </a:rPr>
              <a:t>Multiple workers make placement decisions from shared cluster snapshots.</a:t>
            </a:r>
            <a:endParaRPr sz="1535">
              <a:solidFill>
                <a:schemeClr val="dk1"/>
              </a:solidFill>
            </a:endParaRPr>
          </a:p>
          <a:p>
            <a:pPr marL="127000" lvl="0" indent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None/>
            </a:pPr>
            <a:r>
              <a:rPr sz="1535" b="1">
                <a:solidFill>
                  <a:schemeClr val="dk1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Conflict-aware binding</a:t>
            </a:r>
            <a:endParaRPr sz="1535" b="1">
              <a:solidFill>
                <a:schemeClr val="dk1"/>
              </a:solidFill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  <a:p>
            <a:pPr marL="457200" lvl="0" indent="-33020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Char char="●"/>
            </a:pPr>
            <a:r>
              <a:rPr sz="1535">
                <a:solidFill>
                  <a:schemeClr val="dk1"/>
                </a:solidFill>
              </a:rPr>
              <a:t>Optimistic scheduling reduces coordination overhead while preserving correctness.</a:t>
            </a:r>
            <a:endParaRPr sz="1535">
              <a:solidFill>
                <a:schemeClr val="dk1"/>
              </a:solidFill>
            </a:endParaRPr>
          </a:p>
        </p:txBody>
      </p:sp>
      <p:pic>
        <p:nvPicPr>
          <p:cNvPr id="619" name="Google Shape;456;p8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55282" y="1080000"/>
            <a:ext cx="3522296" cy="374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Dynamic Node Sharding</a:t>
            </a:r>
          </a:p>
        </p:txBody>
      </p:sp>
      <p:pic>
        <p:nvPicPr>
          <p:cNvPr id="619" name="Google Shape;462;p9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120617" y="1080000"/>
            <a:ext cx="3684134" cy="3740000"/>
          </a:xfrm>
          <a:prstGeom prst="rect">
            <a:avLst/>
          </a:prstGeom>
          <a:ln>
            <a:noFill/>
          </a:ln>
        </p:spPr>
      </p:pic>
      <p:sp>
        <p:nvSpPr>
          <p:cNvPr id="616" name="Google Shape;463;p9"/>
          <p:cNvSpPr>
            <a:spLocks noGrp="1"/>
          </p:cNvSpPr>
          <p:nvPr>
            <p:ph type="body" idx="4294967295"/>
          </p:nvPr>
        </p:nvSpPr>
        <p:spPr>
          <a:xfrm>
            <a:off x="311754" y="1355727"/>
            <a:ext cx="4556606" cy="287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ctr">
              <a:lnSpc>
                <a:spcPct val="136000"/>
              </a:lnSpc>
              <a:spcBef>
                <a:spcPts val="955"/>
              </a:spcBef>
              <a:spcAft>
                <a:spcPts val="700"/>
              </a:spcAft>
              <a:buSzPts val="1721"/>
              <a:buNone/>
            </a:pPr>
            <a:r>
              <a:rPr sz="1530" b="1">
                <a:solidFill>
                  <a:schemeClr val="dk1"/>
                </a:solidFill>
              </a:rPr>
              <a:t>Specialized Scheduling, Resource Optimization</a:t>
            </a:r>
            <a:endParaRPr sz="1530" b="1">
              <a:solidFill>
                <a:schemeClr val="dk1"/>
              </a:solidFill>
            </a:endParaRPr>
          </a:p>
          <a:p>
            <a:pPr marL="0" lvl="0" indent="0" algn="ctr">
              <a:lnSpc>
                <a:spcPct val="136000"/>
              </a:lnSpc>
              <a:spcBef>
                <a:spcPts val="700"/>
              </a:spcBef>
              <a:spcAft>
                <a:spcPts val="700"/>
              </a:spcAft>
              <a:buSzPts val="1721"/>
              <a:buNone/>
            </a:pPr>
            <a:r>
              <a:rPr sz="1530" b="1">
                <a:solidFill>
                  <a:schemeClr val="dk1"/>
                </a:solidFill>
              </a:rPr>
              <a:t>Scalability, Workload Isolation</a:t>
            </a:r>
            <a:endParaRPr sz="1530">
              <a:solidFill>
                <a:schemeClr val="dk1"/>
              </a:solidFill>
            </a:endParaRPr>
          </a:p>
          <a:p>
            <a:pPr marL="457200" lvl="0" indent="-330200" algn="l">
              <a:lnSpc>
                <a:spcPct val="136000"/>
              </a:lnSpc>
              <a:spcBef>
                <a:spcPts val="955"/>
              </a:spcBef>
              <a:spcAft>
                <a:spcPts val="700"/>
              </a:spcAft>
              <a:buClr>
                <a:schemeClr val="dk1"/>
              </a:buClr>
              <a:buSzPts val="1530"/>
              <a:buChar char="●"/>
            </a:pPr>
            <a:r>
              <a:rPr sz="1530">
                <a:solidFill>
                  <a:schemeClr val="dk1"/>
                </a:solidFill>
              </a:rPr>
              <a:t>Sharding Controller dynamically computes node pools based on extensible policies rather than inefficient static hard partitioning.</a:t>
            </a:r>
            <a:endParaRPr sz="1530">
              <a:solidFill>
                <a:schemeClr val="dk1"/>
              </a:solidFill>
            </a:endParaRPr>
          </a:p>
          <a:p>
            <a:pPr marL="457200" lvl="0" indent="-330200" algn="l">
              <a:lnSpc>
                <a:spcPct val="136000"/>
              </a:lnSpc>
              <a:spcBef>
                <a:spcPts val="955"/>
              </a:spcBef>
              <a:spcAft>
                <a:spcPts val="700"/>
              </a:spcAft>
              <a:buClr>
                <a:schemeClr val="dk1"/>
              </a:buClr>
              <a:buSzPts val="1530"/>
              <a:buChar char="●"/>
            </a:pPr>
            <a:r>
              <a:rPr sz="1530">
                <a:solidFill>
                  <a:schemeClr val="dk1"/>
                </a:solidFill>
              </a:rPr>
              <a:t>Enables flexible scheduler combinations (e.g., multiple Batch Schedulers, or Agent + Batch) coordinating via the NodeShard CRD.</a:t>
            </a:r>
            <a:endParaRPr sz="153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7" name="Google Shape;597;p64"/>
          <p:cNvSpPr>
            <a:spLocks noGrp="1"/>
          </p:cNvSpPr>
          <p:nvPr>
            <p:ph type="title"/>
          </p:nvPr>
        </p:nvSpPr>
        <p:spPr>
          <a:xfrm>
            <a:off x="311785" y="1940560"/>
            <a:ext cx="7853680" cy="84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t>Preserving Workload Structure and Topology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Why Pod-Level Eviction Fails</a:t>
            </a:r>
          </a:p>
        </p:txBody>
      </p:sp>
      <p:sp>
        <p:nvSpPr>
          <p:cNvPr id="619" name="TextBox 111"/>
          <p:cNvSpPr>
            <a:spLocks noGrp="1"/>
          </p:cNvSpPr>
          <p:nvPr/>
        </p:nvSpPr>
        <p:spPr>
          <a:xfrm>
            <a:off x="513095" y="1258416"/>
            <a:ext cx="8106622" cy="5715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3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 Serving PodGroup needs 4 GPUs. What happens if one Pod is evicted from each of four training jobs?</a:t>
            </a:r>
            <a:endParaRPr sz="18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2" name="Rounded Rectangle 114"/>
          <p:cNvSpPr>
            <a:spLocks noGrp="1"/>
          </p:cNvSpPr>
          <p:nvPr/>
        </p:nvSpPr>
        <p:spPr>
          <a:xfrm>
            <a:off x="297494" y="2112747"/>
            <a:ext cx="1983535" cy="11355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3" name="TextBox 115"/>
          <p:cNvSpPr>
            <a:spLocks noGrp="1"/>
          </p:cNvSpPr>
          <p:nvPr/>
        </p:nvSpPr>
        <p:spPr>
          <a:xfrm>
            <a:off x="412481" y="2227734"/>
            <a:ext cx="1753560" cy="1365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Job A</a:t>
            </a:r>
          </a:p>
        </p:txBody>
      </p:sp>
      <p:sp>
        <p:nvSpPr>
          <p:cNvPr id="624" name="Rectangle 116"/>
          <p:cNvSpPr>
            <a:spLocks noGrp="1"/>
          </p:cNvSpPr>
          <p:nvPr/>
        </p:nvSpPr>
        <p:spPr>
          <a:xfrm>
            <a:off x="441227" y="2508017"/>
            <a:ext cx="344963" cy="301842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5" name="TextBox 117"/>
          <p:cNvSpPr>
            <a:spLocks noGrp="1"/>
          </p:cNvSpPr>
          <p:nvPr/>
        </p:nvSpPr>
        <p:spPr>
          <a:xfrm>
            <a:off x="441227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W1</a:t>
            </a:r>
          </a:p>
        </p:txBody>
      </p:sp>
      <p:sp>
        <p:nvSpPr>
          <p:cNvPr id="626" name="Connector 118"/>
          <p:cNvSpPr>
            <a:spLocks noGrp="1"/>
          </p:cNvSpPr>
          <p:nvPr/>
        </p:nvSpPr>
        <p:spPr>
          <a:xfrm>
            <a:off x="505908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27" name="Connector 119"/>
          <p:cNvSpPr>
            <a:spLocks noGrp="1"/>
          </p:cNvSpPr>
          <p:nvPr/>
        </p:nvSpPr>
        <p:spPr>
          <a:xfrm flipH="1">
            <a:off x="505908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28" name="Rectangle 120"/>
          <p:cNvSpPr>
            <a:spLocks noGrp="1"/>
          </p:cNvSpPr>
          <p:nvPr/>
        </p:nvSpPr>
        <p:spPr>
          <a:xfrm>
            <a:off x="879617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9" name="TextBox 121"/>
          <p:cNvSpPr>
            <a:spLocks noGrp="1"/>
          </p:cNvSpPr>
          <p:nvPr/>
        </p:nvSpPr>
        <p:spPr>
          <a:xfrm>
            <a:off x="879617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W2</a:t>
            </a:r>
          </a:p>
        </p:txBody>
      </p:sp>
      <p:sp>
        <p:nvSpPr>
          <p:cNvPr id="630" name="Rectangle 122"/>
          <p:cNvSpPr>
            <a:spLocks noGrp="1"/>
          </p:cNvSpPr>
          <p:nvPr/>
        </p:nvSpPr>
        <p:spPr>
          <a:xfrm>
            <a:off x="131800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1" name="TextBox 123"/>
          <p:cNvSpPr>
            <a:spLocks noGrp="1"/>
          </p:cNvSpPr>
          <p:nvPr/>
        </p:nvSpPr>
        <p:spPr>
          <a:xfrm>
            <a:off x="131800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W3</a:t>
            </a:r>
          </a:p>
        </p:txBody>
      </p:sp>
      <p:sp>
        <p:nvSpPr>
          <p:cNvPr id="632" name="Rectangle 124"/>
          <p:cNvSpPr>
            <a:spLocks noGrp="1"/>
          </p:cNvSpPr>
          <p:nvPr/>
        </p:nvSpPr>
        <p:spPr>
          <a:xfrm>
            <a:off x="175639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3" name="TextBox 125"/>
          <p:cNvSpPr>
            <a:spLocks noGrp="1"/>
          </p:cNvSpPr>
          <p:nvPr/>
        </p:nvSpPr>
        <p:spPr>
          <a:xfrm>
            <a:off x="175639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W4</a:t>
            </a:r>
          </a:p>
        </p:txBody>
      </p:sp>
      <p:sp>
        <p:nvSpPr>
          <p:cNvPr id="634" name="TextBox 126"/>
          <p:cNvSpPr>
            <a:spLocks noGrp="1"/>
          </p:cNvSpPr>
          <p:nvPr/>
        </p:nvSpPr>
        <p:spPr>
          <a:xfrm>
            <a:off x="455601" y="2975154"/>
            <a:ext cx="1667320" cy="1221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 / 4 Worker → Blocked</a:t>
            </a:r>
          </a:p>
        </p:txBody>
      </p:sp>
      <p:sp>
        <p:nvSpPr>
          <p:cNvPr id="635" name="Rounded Rectangle 127"/>
          <p:cNvSpPr>
            <a:spLocks noGrp="1"/>
          </p:cNvSpPr>
          <p:nvPr/>
        </p:nvSpPr>
        <p:spPr>
          <a:xfrm>
            <a:off x="2489444" y="2112747"/>
            <a:ext cx="1983535" cy="11355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6" name="TextBox 128"/>
          <p:cNvSpPr>
            <a:spLocks noGrp="1"/>
          </p:cNvSpPr>
          <p:nvPr/>
        </p:nvSpPr>
        <p:spPr>
          <a:xfrm>
            <a:off x="2604432" y="2227734"/>
            <a:ext cx="1753560" cy="1365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Job B</a:t>
            </a:r>
          </a:p>
        </p:txBody>
      </p:sp>
      <p:sp>
        <p:nvSpPr>
          <p:cNvPr id="637" name="Rectangle 129"/>
          <p:cNvSpPr>
            <a:spLocks noGrp="1"/>
          </p:cNvSpPr>
          <p:nvPr/>
        </p:nvSpPr>
        <p:spPr>
          <a:xfrm>
            <a:off x="263317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8" name="TextBox 130"/>
          <p:cNvSpPr>
            <a:spLocks noGrp="1"/>
          </p:cNvSpPr>
          <p:nvPr/>
        </p:nvSpPr>
        <p:spPr>
          <a:xfrm>
            <a:off x="263317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W1</a:t>
            </a:r>
          </a:p>
        </p:txBody>
      </p:sp>
      <p:sp>
        <p:nvSpPr>
          <p:cNvPr id="639" name="Rectangle 131"/>
          <p:cNvSpPr>
            <a:spLocks noGrp="1"/>
          </p:cNvSpPr>
          <p:nvPr/>
        </p:nvSpPr>
        <p:spPr>
          <a:xfrm>
            <a:off x="3071568" y="2508017"/>
            <a:ext cx="344963" cy="301842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0" name="TextBox 132"/>
          <p:cNvSpPr>
            <a:spLocks noGrp="1"/>
          </p:cNvSpPr>
          <p:nvPr/>
        </p:nvSpPr>
        <p:spPr>
          <a:xfrm>
            <a:off x="307156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W2</a:t>
            </a:r>
          </a:p>
        </p:txBody>
      </p:sp>
      <p:sp>
        <p:nvSpPr>
          <p:cNvPr id="641" name="Connector 133"/>
          <p:cNvSpPr>
            <a:spLocks noGrp="1"/>
          </p:cNvSpPr>
          <p:nvPr/>
        </p:nvSpPr>
        <p:spPr>
          <a:xfrm>
            <a:off x="313624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2" name="Connector 134"/>
          <p:cNvSpPr>
            <a:spLocks noGrp="1"/>
          </p:cNvSpPr>
          <p:nvPr/>
        </p:nvSpPr>
        <p:spPr>
          <a:xfrm flipH="1">
            <a:off x="313624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3" name="Rectangle 135"/>
          <p:cNvSpPr>
            <a:spLocks noGrp="1"/>
          </p:cNvSpPr>
          <p:nvPr/>
        </p:nvSpPr>
        <p:spPr>
          <a:xfrm>
            <a:off x="350995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4" name="TextBox 136"/>
          <p:cNvSpPr>
            <a:spLocks noGrp="1"/>
          </p:cNvSpPr>
          <p:nvPr/>
        </p:nvSpPr>
        <p:spPr>
          <a:xfrm>
            <a:off x="350995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W3</a:t>
            </a:r>
          </a:p>
        </p:txBody>
      </p:sp>
      <p:sp>
        <p:nvSpPr>
          <p:cNvPr id="645" name="Rectangle 137"/>
          <p:cNvSpPr>
            <a:spLocks noGrp="1"/>
          </p:cNvSpPr>
          <p:nvPr/>
        </p:nvSpPr>
        <p:spPr>
          <a:xfrm>
            <a:off x="394834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6" name="TextBox 138"/>
          <p:cNvSpPr>
            <a:spLocks noGrp="1"/>
          </p:cNvSpPr>
          <p:nvPr/>
        </p:nvSpPr>
        <p:spPr>
          <a:xfrm>
            <a:off x="394834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W4</a:t>
            </a:r>
          </a:p>
        </p:txBody>
      </p:sp>
      <p:sp>
        <p:nvSpPr>
          <p:cNvPr id="647" name="TextBox 139"/>
          <p:cNvSpPr>
            <a:spLocks noGrp="1"/>
          </p:cNvSpPr>
          <p:nvPr/>
        </p:nvSpPr>
        <p:spPr>
          <a:xfrm>
            <a:off x="2647552" y="2975154"/>
            <a:ext cx="1667320" cy="1221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 / 4 Worker → Blocked</a:t>
            </a:r>
          </a:p>
        </p:txBody>
      </p:sp>
      <p:sp>
        <p:nvSpPr>
          <p:cNvPr id="648" name="Rounded Rectangle 140"/>
          <p:cNvSpPr>
            <a:spLocks noGrp="1"/>
          </p:cNvSpPr>
          <p:nvPr/>
        </p:nvSpPr>
        <p:spPr>
          <a:xfrm>
            <a:off x="4681394" y="2112747"/>
            <a:ext cx="1983535" cy="11355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9" name="TextBox 141"/>
          <p:cNvSpPr>
            <a:spLocks noGrp="1"/>
          </p:cNvSpPr>
          <p:nvPr/>
        </p:nvSpPr>
        <p:spPr>
          <a:xfrm>
            <a:off x="4796382" y="2227734"/>
            <a:ext cx="1753560" cy="1365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Job C</a:t>
            </a:r>
          </a:p>
        </p:txBody>
      </p:sp>
      <p:sp>
        <p:nvSpPr>
          <p:cNvPr id="650" name="Rectangle 142"/>
          <p:cNvSpPr>
            <a:spLocks noGrp="1"/>
          </p:cNvSpPr>
          <p:nvPr/>
        </p:nvSpPr>
        <p:spPr>
          <a:xfrm>
            <a:off x="482512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1" name="TextBox 143"/>
          <p:cNvSpPr>
            <a:spLocks noGrp="1"/>
          </p:cNvSpPr>
          <p:nvPr/>
        </p:nvSpPr>
        <p:spPr>
          <a:xfrm>
            <a:off x="482512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W1</a:t>
            </a:r>
          </a:p>
        </p:txBody>
      </p:sp>
      <p:sp>
        <p:nvSpPr>
          <p:cNvPr id="652" name="Rectangle 144"/>
          <p:cNvSpPr>
            <a:spLocks noGrp="1"/>
          </p:cNvSpPr>
          <p:nvPr/>
        </p:nvSpPr>
        <p:spPr>
          <a:xfrm>
            <a:off x="526351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3" name="TextBox 145"/>
          <p:cNvSpPr>
            <a:spLocks noGrp="1"/>
          </p:cNvSpPr>
          <p:nvPr/>
        </p:nvSpPr>
        <p:spPr>
          <a:xfrm>
            <a:off x="526351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W2</a:t>
            </a:r>
          </a:p>
        </p:txBody>
      </p:sp>
      <p:sp>
        <p:nvSpPr>
          <p:cNvPr id="654" name="Rectangle 146"/>
          <p:cNvSpPr>
            <a:spLocks noGrp="1"/>
          </p:cNvSpPr>
          <p:nvPr/>
        </p:nvSpPr>
        <p:spPr>
          <a:xfrm>
            <a:off x="5701909" y="2508017"/>
            <a:ext cx="344963" cy="301842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5" name="TextBox 147"/>
          <p:cNvSpPr>
            <a:spLocks noGrp="1"/>
          </p:cNvSpPr>
          <p:nvPr/>
        </p:nvSpPr>
        <p:spPr>
          <a:xfrm>
            <a:off x="570190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W3</a:t>
            </a:r>
          </a:p>
        </p:txBody>
      </p:sp>
      <p:sp>
        <p:nvSpPr>
          <p:cNvPr id="656" name="Connector 148"/>
          <p:cNvSpPr>
            <a:spLocks noGrp="1"/>
          </p:cNvSpPr>
          <p:nvPr/>
        </p:nvSpPr>
        <p:spPr>
          <a:xfrm>
            <a:off x="576658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57" name="Connector 149"/>
          <p:cNvSpPr>
            <a:spLocks noGrp="1"/>
          </p:cNvSpPr>
          <p:nvPr/>
        </p:nvSpPr>
        <p:spPr>
          <a:xfrm flipH="1">
            <a:off x="576658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58" name="Rectangle 150"/>
          <p:cNvSpPr>
            <a:spLocks noGrp="1"/>
          </p:cNvSpPr>
          <p:nvPr/>
        </p:nvSpPr>
        <p:spPr>
          <a:xfrm>
            <a:off x="614029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9" name="TextBox 151"/>
          <p:cNvSpPr>
            <a:spLocks noGrp="1"/>
          </p:cNvSpPr>
          <p:nvPr/>
        </p:nvSpPr>
        <p:spPr>
          <a:xfrm>
            <a:off x="614029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W4</a:t>
            </a:r>
          </a:p>
        </p:txBody>
      </p:sp>
      <p:sp>
        <p:nvSpPr>
          <p:cNvPr id="660" name="TextBox 152"/>
          <p:cNvSpPr>
            <a:spLocks noGrp="1"/>
          </p:cNvSpPr>
          <p:nvPr/>
        </p:nvSpPr>
        <p:spPr>
          <a:xfrm>
            <a:off x="4839502" y="2975154"/>
            <a:ext cx="1667320" cy="1221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 / 4 Worker → Blocked</a:t>
            </a:r>
          </a:p>
        </p:txBody>
      </p:sp>
      <p:sp>
        <p:nvSpPr>
          <p:cNvPr id="661" name="Rounded Rectangle 153"/>
          <p:cNvSpPr>
            <a:spLocks noGrp="1"/>
          </p:cNvSpPr>
          <p:nvPr/>
        </p:nvSpPr>
        <p:spPr>
          <a:xfrm>
            <a:off x="6873344" y="2112747"/>
            <a:ext cx="1983535" cy="11355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2" name="TextBox 154"/>
          <p:cNvSpPr>
            <a:spLocks noGrp="1"/>
          </p:cNvSpPr>
          <p:nvPr/>
        </p:nvSpPr>
        <p:spPr>
          <a:xfrm>
            <a:off x="6988331" y="2227734"/>
            <a:ext cx="1753560" cy="1365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Job D</a:t>
            </a:r>
          </a:p>
        </p:txBody>
      </p:sp>
      <p:sp>
        <p:nvSpPr>
          <p:cNvPr id="663" name="Rectangle 155"/>
          <p:cNvSpPr>
            <a:spLocks noGrp="1"/>
          </p:cNvSpPr>
          <p:nvPr/>
        </p:nvSpPr>
        <p:spPr>
          <a:xfrm>
            <a:off x="701707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4" name="TextBox 156"/>
          <p:cNvSpPr>
            <a:spLocks noGrp="1"/>
          </p:cNvSpPr>
          <p:nvPr/>
        </p:nvSpPr>
        <p:spPr>
          <a:xfrm>
            <a:off x="701707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W1</a:t>
            </a:r>
          </a:p>
        </p:txBody>
      </p:sp>
      <p:sp>
        <p:nvSpPr>
          <p:cNvPr id="665" name="Rectangle 157"/>
          <p:cNvSpPr>
            <a:spLocks noGrp="1"/>
          </p:cNvSpPr>
          <p:nvPr/>
        </p:nvSpPr>
        <p:spPr>
          <a:xfrm>
            <a:off x="745546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6" name="TextBox 158"/>
          <p:cNvSpPr>
            <a:spLocks noGrp="1"/>
          </p:cNvSpPr>
          <p:nvPr/>
        </p:nvSpPr>
        <p:spPr>
          <a:xfrm>
            <a:off x="745546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W2</a:t>
            </a:r>
          </a:p>
        </p:txBody>
      </p:sp>
      <p:sp>
        <p:nvSpPr>
          <p:cNvPr id="667" name="Rectangle 159"/>
          <p:cNvSpPr>
            <a:spLocks noGrp="1"/>
          </p:cNvSpPr>
          <p:nvPr/>
        </p:nvSpPr>
        <p:spPr>
          <a:xfrm>
            <a:off x="789385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8" name="TextBox 160"/>
          <p:cNvSpPr>
            <a:spLocks noGrp="1"/>
          </p:cNvSpPr>
          <p:nvPr/>
        </p:nvSpPr>
        <p:spPr>
          <a:xfrm>
            <a:off x="789385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W3</a:t>
            </a:r>
          </a:p>
        </p:txBody>
      </p:sp>
      <p:sp>
        <p:nvSpPr>
          <p:cNvPr id="669" name="Rectangle 161"/>
          <p:cNvSpPr>
            <a:spLocks noGrp="1"/>
          </p:cNvSpPr>
          <p:nvPr/>
        </p:nvSpPr>
        <p:spPr>
          <a:xfrm>
            <a:off x="8332248" y="2508017"/>
            <a:ext cx="344963" cy="301842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0" name="TextBox 162"/>
          <p:cNvSpPr>
            <a:spLocks noGrp="1"/>
          </p:cNvSpPr>
          <p:nvPr/>
        </p:nvSpPr>
        <p:spPr>
          <a:xfrm>
            <a:off x="833224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W4</a:t>
            </a:r>
          </a:p>
        </p:txBody>
      </p:sp>
      <p:sp>
        <p:nvSpPr>
          <p:cNvPr id="671" name="Connector 163"/>
          <p:cNvSpPr>
            <a:spLocks noGrp="1"/>
          </p:cNvSpPr>
          <p:nvPr/>
        </p:nvSpPr>
        <p:spPr>
          <a:xfrm>
            <a:off x="839692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2" name="Connector 164"/>
          <p:cNvSpPr>
            <a:spLocks noGrp="1"/>
          </p:cNvSpPr>
          <p:nvPr/>
        </p:nvSpPr>
        <p:spPr>
          <a:xfrm flipH="1">
            <a:off x="839692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3" name="TextBox 165"/>
          <p:cNvSpPr>
            <a:spLocks noGrp="1"/>
          </p:cNvSpPr>
          <p:nvPr/>
        </p:nvSpPr>
        <p:spPr>
          <a:xfrm>
            <a:off x="7031451" y="2975154"/>
            <a:ext cx="1667320" cy="1221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 / 4 Worker → Blocked</a:t>
            </a:r>
          </a:p>
        </p:txBody>
      </p:sp>
      <p:sp>
        <p:nvSpPr>
          <p:cNvPr id="674" name="Connector 166"/>
          <p:cNvSpPr>
            <a:spLocks noGrp="1"/>
          </p:cNvSpPr>
          <p:nvPr/>
        </p:nvSpPr>
        <p:spPr>
          <a:xfrm>
            <a:off x="1289261" y="3262622"/>
            <a:ext cx="3277145" cy="330589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5" name="Connector 167"/>
          <p:cNvSpPr>
            <a:spLocks noGrp="1"/>
          </p:cNvSpPr>
          <p:nvPr/>
        </p:nvSpPr>
        <p:spPr>
          <a:xfrm>
            <a:off x="3481212" y="3262622"/>
            <a:ext cx="1085195" cy="330589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6" name="Connector 168"/>
          <p:cNvSpPr>
            <a:spLocks noGrp="1"/>
          </p:cNvSpPr>
          <p:nvPr/>
        </p:nvSpPr>
        <p:spPr>
          <a:xfrm flipH="1">
            <a:off x="4566407" y="3262622"/>
            <a:ext cx="1106755" cy="330589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7" name="Connector 169"/>
          <p:cNvSpPr>
            <a:spLocks noGrp="1"/>
          </p:cNvSpPr>
          <p:nvPr/>
        </p:nvSpPr>
        <p:spPr>
          <a:xfrm flipH="1">
            <a:off x="4566407" y="3262622"/>
            <a:ext cx="3298705" cy="330589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8" name="Down Arrow 170"/>
          <p:cNvSpPr>
            <a:spLocks noGrp="1"/>
          </p:cNvSpPr>
          <p:nvPr/>
        </p:nvSpPr>
        <p:spPr>
          <a:xfrm>
            <a:off x="4429859" y="3521344"/>
            <a:ext cx="273095" cy="244349"/>
          </a:xfrm>
          <a:prstGeom prst="downArrow">
            <a:avLst/>
          </a:prstGeom>
          <a:solidFill>
            <a:srgbClr val="C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9" name="Rounded Rectangle 171"/>
          <p:cNvSpPr>
            <a:spLocks noGrp="1"/>
          </p:cNvSpPr>
          <p:nvPr/>
        </p:nvSpPr>
        <p:spPr>
          <a:xfrm>
            <a:off x="2931160" y="3780155"/>
            <a:ext cx="3209925" cy="40259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0" name="TextBox 172"/>
          <p:cNvSpPr>
            <a:spLocks noGrp="1"/>
          </p:cNvSpPr>
          <p:nvPr/>
        </p:nvSpPr>
        <p:spPr>
          <a:xfrm>
            <a:off x="2931160" y="3895725"/>
            <a:ext cx="3209925" cy="1714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10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Evict one worker from each job to release 4 GPUs</a:t>
            </a:r>
            <a:endParaRPr sz="1000" b="1">
              <a:solidFill>
                <a:srgbClr val="C23A3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1" name="Rounded Rectangle 173"/>
          <p:cNvSpPr>
            <a:spLocks noGrp="1"/>
          </p:cNvSpPr>
          <p:nvPr/>
        </p:nvSpPr>
        <p:spPr>
          <a:xfrm>
            <a:off x="419294" y="4398124"/>
            <a:ext cx="3837710" cy="416830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1016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2" name="TextBox 174"/>
          <p:cNvSpPr>
            <a:spLocks noGrp="1"/>
          </p:cNvSpPr>
          <p:nvPr/>
        </p:nvSpPr>
        <p:spPr>
          <a:xfrm>
            <a:off x="455295" y="4498975"/>
            <a:ext cx="3734435" cy="1714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2D6A5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1">
                <a:solidFill>
                  <a:srgbClr val="2D6A5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Apparent result: the Serving Gang gets 4 GPUs and can start</a:t>
            </a:r>
            <a:endParaRPr sz="1000" b="1">
              <a:solidFill>
                <a:srgbClr val="2D6A5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3" name="Rounded Rectangle 175"/>
          <p:cNvSpPr>
            <a:spLocks noGrp="1"/>
          </p:cNvSpPr>
          <p:nvPr/>
        </p:nvSpPr>
        <p:spPr>
          <a:xfrm>
            <a:off x="4451419" y="4398124"/>
            <a:ext cx="4283286" cy="4168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4" name="TextBox 176"/>
          <p:cNvSpPr>
            <a:spLocks noGrp="1"/>
          </p:cNvSpPr>
          <p:nvPr/>
        </p:nvSpPr>
        <p:spPr>
          <a:xfrm>
            <a:off x="4623900" y="4431310"/>
            <a:ext cx="3938324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Actual cost: four training jobs stall and 12 remaining workers stop making useful progress</a:t>
            </a:r>
            <a:endParaRPr sz="1000" b="1">
              <a:solidFill>
                <a:srgbClr val="C23A3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Gang-Aware Preempt / Reclaim</a:t>
            </a:r>
          </a:p>
        </p:txBody>
      </p:sp>
      <p:pic>
        <p:nvPicPr>
          <p:cNvPr id="61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10" y="1267460"/>
            <a:ext cx="8211820" cy="2839085"/>
          </a:xfrm>
          <a:prstGeom prst="rect">
            <a:avLst/>
          </a:prstGeom>
        </p:spPr>
      </p:pic>
      <p:sp>
        <p:nvSpPr>
          <p:cNvPr id="4" name="TextBox 111"/>
          <p:cNvSpPr>
            <a:spLocks noGrp="1"/>
          </p:cNvSpPr>
          <p:nvPr/>
        </p:nvSpPr>
        <p:spPr>
          <a:xfrm>
            <a:off x="469900" y="4334510"/>
            <a:ext cx="8284210" cy="50990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3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Volcano </a:t>
            </a:r>
            <a:r>
              <a:rPr sz="160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evicts Training Job A as a whole</a:t>
            </a:r>
            <a:r>
              <a:rPr sz="16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, freeing 4 GPUs in HyperNode A so the pending Serving PodGroup can start together, while HyperNode B remains untouched.</a:t>
            </a:r>
            <a:endParaRPr sz="16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85" y="0"/>
            <a:ext cx="500443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From Colocation to Recoverable Reclaim</a:t>
            </a:r>
          </a:p>
        </p:txBody>
      </p:sp>
      <p:sp>
        <p:nvSpPr>
          <p:cNvPr id="4" name="Text Box 3"/>
          <p:cNvSpPr>
            <a:spLocks noGrp="1"/>
          </p:cNvSpPr>
          <p:nvPr/>
        </p:nvSpPr>
        <p:spPr>
          <a:xfrm>
            <a:off x="178435" y="1514475"/>
            <a:ext cx="3268980" cy="19526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1400" b="1">
                <a:latin typeface="Arial Bold" panose="020B0604020202090204"/>
                <a:ea typeface="Arial Bold" panose="020B0604020202090204"/>
                <a:cs typeface="Arial Bold" panose="020B0604020202090204"/>
              </a:rPr>
              <a:t>AVAILABLE TODAY</a:t>
            </a:r>
            <a:endParaRPr sz="1400" b="1"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  <a:p>
            <a:endParaRPr sz="1600"/>
          </a:p>
          <a:p>
            <a:pPr>
              <a:spcAft>
                <a:spcPct val="60000"/>
              </a:spcAft>
              <a:buNone/>
            </a:pPr>
            <a:r>
              <a:rPr sz="1300"/>
              <a:t>CPU &amp; Memory Colocation</a:t>
            </a:r>
            <a:endParaRPr sz="1300" b="1"/>
          </a:p>
          <a:p>
            <a:pPr>
              <a:buFont typeface="Arial" panose="020B0604020202090204"/>
              <a:buChar char="•"/>
            </a:pPr>
            <a:r>
              <a:rPr sz="1300"/>
              <a:t>Portable across </a:t>
            </a:r>
            <a:r>
              <a:rPr sz="1300" b="1">
                <a:solidFill>
                  <a:srgbClr val="FF0000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general-purpose Linux</a:t>
            </a:r>
            <a:endParaRPr sz="1300" b="1">
              <a:solidFill>
                <a:srgbClr val="FF0000"/>
              </a:solidFill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  <a:p>
            <a:pPr>
              <a:buFont typeface="Arial" panose="020B0604020202090204"/>
              <a:buChar char="•"/>
            </a:pPr>
            <a:r>
              <a:rPr sz="1300"/>
              <a:t>Native cgroup v2 CPU and memory controls</a:t>
            </a:r>
            <a:endParaRPr sz="1300"/>
          </a:p>
          <a:p>
            <a:pPr>
              <a:buFont typeface="Arial" panose="020B0604020202090204"/>
              <a:buChar char="•"/>
            </a:pPr>
            <a:r>
              <a:rPr sz="1300"/>
              <a:t>Adaptive CPU throttling and CPU Burst</a:t>
            </a:r>
            <a:endParaRPr sz="1300"/>
          </a:p>
        </p:txBody>
      </p:sp>
      <p:sp>
        <p:nvSpPr>
          <p:cNvPr id="5" name="Text Box 4"/>
          <p:cNvSpPr>
            <a:spLocks noGrp="1"/>
          </p:cNvSpPr>
          <p:nvPr/>
        </p:nvSpPr>
        <p:spPr>
          <a:xfrm>
            <a:off x="178435" y="3543300"/>
            <a:ext cx="5080000" cy="7372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sz="1400" b="1">
                <a:latin typeface="Arial Bold" panose="020B0604020202090204"/>
                <a:ea typeface="Arial Bold" panose="020B0604020202090204"/>
                <a:cs typeface="Arial Bold" panose="020B0604020202090204"/>
              </a:rPr>
              <a:t>FUTURE DIRECTION</a:t>
            </a:r>
            <a:endParaRPr sz="1400" b="1"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  <a:p>
            <a:endParaRPr sz="1400" b="1"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  <a:p>
            <a:pPr>
              <a:spcAft>
                <a:spcPct val="60000"/>
              </a:spcAft>
              <a:buNone/>
            </a:pPr>
            <a:r>
              <a:rPr sz="1400" b="1">
                <a:solidFill>
                  <a:srgbClr val="FF0000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Checkpoint-Aware</a:t>
            </a:r>
            <a:r>
              <a:rPr sz="1400"/>
              <a:t> Gang Reclaim</a:t>
            </a:r>
            <a:endParaRPr sz="1400"/>
          </a:p>
        </p:txBody>
      </p:sp>
      <p:pic>
        <p:nvPicPr>
          <p:cNvPr id="61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060" y="1514475"/>
            <a:ext cx="5559425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PodGroup and SubGroup</a:t>
            </a:r>
          </a:p>
        </p:txBody>
      </p:sp>
      <p:pic>
        <p:nvPicPr>
          <p:cNvPr id="61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198880"/>
            <a:ext cx="7676515" cy="3519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85" y="0"/>
            <a:ext cx="53340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Toward Group-Level Affinity and Anti-Affinity</a:t>
            </a:r>
          </a:p>
        </p:txBody>
      </p:sp>
      <p:pic>
        <p:nvPicPr>
          <p:cNvPr id="61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90" y="1322705"/>
            <a:ext cx="4112260" cy="2812415"/>
          </a:xfrm>
          <a:prstGeom prst="rect">
            <a:avLst/>
          </a:prstGeom>
        </p:spPr>
      </p:pic>
      <p:pic>
        <p:nvPicPr>
          <p:cNvPr id="61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375" y="1322705"/>
            <a:ext cx="4112895" cy="2812415"/>
          </a:xfrm>
          <a:prstGeom prst="rect">
            <a:avLst/>
          </a:prstGeom>
        </p:spPr>
      </p:pic>
      <p:sp>
        <p:nvSpPr>
          <p:cNvPr id="6" name="Text Box 5"/>
          <p:cNvSpPr>
            <a:spLocks noGrp="1"/>
          </p:cNvSpPr>
          <p:nvPr/>
        </p:nvSpPr>
        <p:spPr>
          <a:xfrm>
            <a:off x="2748915" y="4540250"/>
            <a:ext cx="36455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latin typeface="Arial Bold" panose="020B0604020202090204"/>
                <a:ea typeface="Arial Bold" panose="020B0604020202090204"/>
                <a:cs typeface="Arial Bold" panose="020B0604020202090204"/>
              </a:rPr>
              <a:t>Will be released in v1.16 soon!</a:t>
            </a:r>
            <a:endParaRPr b="1"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85" y="0"/>
            <a:ext cx="589851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HyperNode: Topology as a Scheduling API</a:t>
            </a:r>
          </a:p>
        </p:txBody>
      </p:sp>
      <p:pic>
        <p:nvPicPr>
          <p:cNvPr id="617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" y="1326515"/>
            <a:ext cx="8258810" cy="2908935"/>
          </a:xfrm>
          <a:prstGeom prst="rect">
            <a:avLst/>
          </a:prstGeom>
        </p:spPr>
      </p:pic>
      <p:sp>
        <p:nvSpPr>
          <p:cNvPr id="2" name="Text Box 1"/>
          <p:cNvSpPr>
            <a:spLocks noGrp="1"/>
          </p:cNvSpPr>
          <p:nvPr/>
        </p:nvSpPr>
        <p:spPr>
          <a:xfrm>
            <a:off x="543560" y="1326515"/>
            <a:ext cx="2348865" cy="27114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</a:rPr>
              <a:t>Physical Fabric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>
            <a:spLocks noGrp="1"/>
          </p:cNvSpPr>
          <p:nvPr/>
        </p:nvSpPr>
        <p:spPr>
          <a:xfrm>
            <a:off x="2964815" y="1326515"/>
            <a:ext cx="3468370" cy="27114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</a:rPr>
              <a:t>HyperNode Hierarchy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4" name="Text Box 3"/>
          <p:cNvSpPr>
            <a:spLocks noGrp="1"/>
          </p:cNvSpPr>
          <p:nvPr/>
        </p:nvSpPr>
        <p:spPr>
          <a:xfrm>
            <a:off x="6480810" y="1326515"/>
            <a:ext cx="2312670" cy="27114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</a:rPr>
              <a:t>CRD Definition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>
            <a:spLocks noGrp="1"/>
          </p:cNvSpPr>
          <p:nvPr/>
        </p:nvSpPr>
        <p:spPr>
          <a:xfrm>
            <a:off x="619125" y="4602480"/>
            <a:ext cx="81076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0000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HyperNode</a:t>
            </a:r>
            <a:r>
              <a:rPr sz="1600"/>
              <a:t> translates the physical fabric into Kubernetes-native scheduling domains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Multi-Level Network Topology</a:t>
            </a:r>
          </a:p>
        </p:txBody>
      </p:sp>
      <p:pic>
        <p:nvPicPr>
          <p:cNvPr id="663" name="Google Shape;556;p15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1277" y="1300598"/>
            <a:ext cx="5273424" cy="3177446"/>
          </a:xfrm>
          <a:prstGeom prst="rect">
            <a:avLst/>
          </a:prstGeom>
          <a:ln>
            <a:noFill/>
          </a:ln>
        </p:spPr>
      </p:pic>
      <p:pic>
        <p:nvPicPr>
          <p:cNvPr id="664" name="Google Shape;557;p15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83580" y="935355"/>
            <a:ext cx="3016885" cy="2787650"/>
          </a:xfrm>
          <a:prstGeom prst="rect">
            <a:avLst/>
          </a:prstGeom>
          <a:ln>
            <a:noFill/>
          </a:ln>
        </p:spPr>
      </p:pic>
      <p:sp>
        <p:nvSpPr>
          <p:cNvPr id="617" name="Google Shape;558;p15"/>
          <p:cNvSpPr>
            <a:spLocks noGrp="1"/>
          </p:cNvSpPr>
          <p:nvPr/>
        </p:nvSpPr>
        <p:spPr>
          <a:xfrm>
            <a:off x="6210300" y="3611880"/>
            <a:ext cx="1955165" cy="543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mpd="sng">
            <a:solidFill>
              <a:srgbClr val="CF5D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PodGroup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(highestTierAllowed: 3</a:t>
            </a:r>
            <a:b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minMember:8)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8" name="Google Shape;559;p15"/>
          <p:cNvSpPr>
            <a:spLocks noGrp="1"/>
          </p:cNvSpPr>
          <p:nvPr/>
        </p:nvSpPr>
        <p:spPr>
          <a:xfrm>
            <a:off x="5564505" y="4363085"/>
            <a:ext cx="1377950" cy="61849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mpd="sng">
            <a:solidFill>
              <a:srgbClr val="CF5D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SubGroup-prefill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(highestTierAllowed: 1</a:t>
            </a:r>
            <a:b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minMember:4)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9" name="Google Shape;560;p15"/>
          <p:cNvSpPr>
            <a:spLocks noGrp="1"/>
          </p:cNvSpPr>
          <p:nvPr/>
        </p:nvSpPr>
        <p:spPr>
          <a:xfrm>
            <a:off x="7402830" y="4363085"/>
            <a:ext cx="1471295" cy="6191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mpd="sng">
            <a:solidFill>
              <a:srgbClr val="CF5D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SubGroup-Decode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(highestTierAllowed: 2</a:t>
            </a:r>
            <a:b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minMember:4)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668" name="Google Shape;561;p15"/>
          <p:cNvCxnSpPr>
            <a:stCxn id="0" idx="2"/>
            <a:endCxn id="0" idx="0"/>
          </p:cNvCxnSpPr>
          <p:nvPr/>
        </p:nvCxnSpPr>
        <p:spPr>
          <a:xfrm flipH="1">
            <a:off x="6324154" y="4136087"/>
            <a:ext cx="863129" cy="22708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9" name="Google Shape;562;p15"/>
          <p:cNvCxnSpPr>
            <a:stCxn id="0" idx="2"/>
            <a:endCxn id="0" idx="0"/>
          </p:cNvCxnSpPr>
          <p:nvPr/>
        </p:nvCxnSpPr>
        <p:spPr>
          <a:xfrm>
            <a:off x="7187283" y="4136087"/>
            <a:ext cx="868213" cy="22708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HyperNode Auto-Discovery</a:t>
            </a:r>
          </a:p>
        </p:txBody>
      </p:sp>
      <p:sp>
        <p:nvSpPr>
          <p:cNvPr id="634" name="Google Shape;589;p16"/>
          <p:cNvSpPr>
            <a:spLocks noGrp="1"/>
          </p:cNvSpPr>
          <p:nvPr/>
        </p:nvSpPr>
        <p:spPr>
          <a:xfrm>
            <a:off x="5952310" y="2586878"/>
            <a:ext cx="2514690" cy="65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285750" marR="0" lvl="0" indent="-17145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283"/>
              <a:buFont typeface="Arial" panose="020B0604020202090204"/>
              <a:buNone/>
            </a:pPr>
            <a:endParaRPr sz="1285" b="0" i="0" u="non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8" name="Google Shape;568;p16"/>
          <p:cNvSpPr>
            <a:spLocks noGrp="1"/>
          </p:cNvSpPr>
          <p:nvPr/>
        </p:nvSpPr>
        <p:spPr>
          <a:xfrm>
            <a:off x="162560" y="1169035"/>
            <a:ext cx="2459990" cy="3744595"/>
          </a:xfrm>
          <a:prstGeom prst="roundRect">
            <a:avLst>
              <a:gd name="adj" fmla="val 16667"/>
            </a:avLst>
          </a:prstGeom>
          <a:noFill/>
          <a:ln w="254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27" name="Google Shape;569;p16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3045" y="1501775"/>
            <a:ext cx="1188085" cy="763270"/>
          </a:xfrm>
          <a:prstGeom prst="rect">
            <a:avLst/>
          </a:prstGeom>
          <a:ln>
            <a:noFill/>
          </a:ln>
        </p:spPr>
      </p:pic>
      <p:sp>
        <p:nvSpPr>
          <p:cNvPr id="570" name="Google Shape;570;p16"/>
          <p:cNvSpPr>
            <a:spLocks noGrp="1"/>
          </p:cNvSpPr>
          <p:nvPr/>
        </p:nvSpPr>
        <p:spPr>
          <a:xfrm>
            <a:off x="382905" y="1282700"/>
            <a:ext cx="295338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anose="020B0604020202090204"/>
              <a:buNone/>
            </a:pPr>
            <a:r>
              <a:rPr sz="10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 Cluster &amp; Cloud Environment</a:t>
            </a:r>
            <a:endParaRPr sz="1000" b="0" i="0" u="non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29" name="Google Shape;571;p1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10640" y="1654810"/>
            <a:ext cx="1242060" cy="400685"/>
          </a:xfrm>
          <a:prstGeom prst="rect">
            <a:avLst/>
          </a:prstGeom>
          <a:ln>
            <a:noFill/>
          </a:ln>
        </p:spPr>
      </p:pic>
      <p:sp>
        <p:nvSpPr>
          <p:cNvPr id="572" name="Google Shape;572;p16"/>
          <p:cNvSpPr>
            <a:spLocks noGrp="1"/>
          </p:cNvSpPr>
          <p:nvPr/>
        </p:nvSpPr>
        <p:spPr>
          <a:xfrm>
            <a:off x="334010" y="2265045"/>
            <a:ext cx="2218690" cy="83121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1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On-Premise：</a:t>
            </a:r>
            <a:endParaRPr sz="1000" b="1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</a:t>
            </a:r>
            <a:r>
              <a:rPr sz="1000" b="1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NVLink</a:t>
            </a: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Fabric Manager API</a:t>
            </a:r>
            <a:endParaRPr sz="1000" b="0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</a:t>
            </a:r>
            <a:r>
              <a:rPr sz="1000" b="1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IB</a:t>
            </a: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Subnet Manager (OpenSM)</a:t>
            </a:r>
            <a:endParaRPr sz="1000" b="0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</a:t>
            </a:r>
            <a:r>
              <a:rPr sz="1000" b="1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RoCE</a:t>
            </a: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LLDP/CDP</a:t>
            </a: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3" name="Google Shape;573;p16"/>
          <p:cNvSpPr>
            <a:spLocks noGrp="1"/>
          </p:cNvSpPr>
          <p:nvPr/>
        </p:nvSpPr>
        <p:spPr>
          <a:xfrm>
            <a:off x="503555" y="3990975"/>
            <a:ext cx="1804035" cy="692785"/>
          </a:xfrm>
          <a:prstGeom prst="rect">
            <a:avLst/>
          </a:prstGeom>
          <a:solidFill>
            <a:srgbClr val="4472C4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1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Cloud：</a:t>
            </a:r>
            <a:endParaRPr sz="1000" b="1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Cloud Provider APIs</a:t>
            </a:r>
            <a:endParaRPr sz="1000" b="0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DPU/SmartNIC Telemetry</a:t>
            </a: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32" name="Google Shape;574;p16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95275" y="3141980"/>
            <a:ext cx="2257425" cy="913765"/>
          </a:xfrm>
          <a:prstGeom prst="rect">
            <a:avLst/>
          </a:prstGeom>
          <a:ln>
            <a:noFill/>
          </a:ln>
        </p:spPr>
      </p:pic>
      <p:sp>
        <p:nvSpPr>
          <p:cNvPr id="575" name="Google Shape;575;p16"/>
          <p:cNvSpPr>
            <a:spLocks noGrp="1"/>
          </p:cNvSpPr>
          <p:nvPr/>
        </p:nvSpPr>
        <p:spPr>
          <a:xfrm>
            <a:off x="3336290" y="1169035"/>
            <a:ext cx="2526030" cy="3745230"/>
          </a:xfrm>
          <a:prstGeom prst="roundRect">
            <a:avLst>
              <a:gd name="adj" fmla="val 16667"/>
            </a:avLst>
          </a:prstGeom>
          <a:noFill/>
          <a:ln w="254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34" name="Google Shape;576;p16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85310" y="1207770"/>
            <a:ext cx="542925" cy="427355"/>
          </a:xfrm>
          <a:prstGeom prst="rect">
            <a:avLst/>
          </a:prstGeom>
          <a:ln>
            <a:noFill/>
          </a:ln>
        </p:spPr>
      </p:pic>
      <p:sp>
        <p:nvSpPr>
          <p:cNvPr id="577" name="Google Shape;577;p16"/>
          <p:cNvSpPr>
            <a:spLocks noGrp="1"/>
          </p:cNvSpPr>
          <p:nvPr/>
        </p:nvSpPr>
        <p:spPr>
          <a:xfrm>
            <a:off x="3908425" y="1635125"/>
            <a:ext cx="1463040" cy="37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anose="020B0604020202090204"/>
              <a:buNone/>
            </a:pPr>
            <a:r>
              <a:rPr sz="10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Vocano Control Plane</a:t>
            </a:r>
            <a:endParaRPr sz="1000" b="0" i="0" u="non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9" name="Google Shape;579;p16"/>
          <p:cNvSpPr>
            <a:spLocks noGrp="1"/>
          </p:cNvSpPr>
          <p:nvPr/>
        </p:nvSpPr>
        <p:spPr>
          <a:xfrm>
            <a:off x="3535045" y="2055495"/>
            <a:ext cx="850265" cy="2628265"/>
          </a:xfrm>
          <a:prstGeom prst="rect">
            <a:avLst/>
          </a:prstGeom>
          <a:solidFill>
            <a:srgbClr val="4472C4"/>
          </a:solidFill>
          <a:ln w="12700" cmpd="sng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Discovery Manager</a:t>
            </a: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0" name="Google Shape;580;p16"/>
          <p:cNvSpPr>
            <a:spLocks noGrp="1"/>
          </p:cNvSpPr>
          <p:nvPr/>
        </p:nvSpPr>
        <p:spPr>
          <a:xfrm>
            <a:off x="3625850" y="3041649"/>
            <a:ext cx="698500" cy="490219"/>
          </a:xfrm>
          <a:prstGeom prst="rect">
            <a:avLst/>
          </a:prstGeom>
          <a:solidFill>
            <a:srgbClr val="4472C4"/>
          </a:solidFill>
          <a:ln w="12700" cmpd="sng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45700" rIns="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NodeLabels</a:t>
            </a:r>
            <a:endParaRPr sz="1000" b="0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Discoverer</a:t>
            </a: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1" name="Google Shape;581;p16"/>
          <p:cNvSpPr>
            <a:spLocks noGrp="1"/>
          </p:cNvSpPr>
          <p:nvPr/>
        </p:nvSpPr>
        <p:spPr>
          <a:xfrm>
            <a:off x="3623310" y="2435860"/>
            <a:ext cx="679450" cy="490219"/>
          </a:xfrm>
          <a:prstGeom prst="rect">
            <a:avLst/>
          </a:prstGeom>
          <a:solidFill>
            <a:srgbClr val="4472C4"/>
          </a:solidFill>
          <a:ln w="12700" cmpd="sng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45700" rIns="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UFM</a:t>
            </a:r>
            <a:endParaRPr sz="1000" b="0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Discoverer</a:t>
            </a: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2" name="Google Shape;582;p16"/>
          <p:cNvSpPr>
            <a:spLocks noGrp="1"/>
          </p:cNvSpPr>
          <p:nvPr/>
        </p:nvSpPr>
        <p:spPr>
          <a:xfrm>
            <a:off x="3625850" y="3639184"/>
            <a:ext cx="695325" cy="490219"/>
          </a:xfrm>
          <a:prstGeom prst="rect">
            <a:avLst/>
          </a:prstGeom>
          <a:solidFill>
            <a:srgbClr val="4472C4"/>
          </a:solidFill>
          <a:ln w="12700" cmpd="sng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45700" rIns="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RoCE</a:t>
            </a:r>
            <a:endParaRPr sz="1000" b="0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Discoverer</a:t>
            </a: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3" name="Google Shape;583;p16"/>
          <p:cNvSpPr>
            <a:spLocks noGrp="1"/>
          </p:cNvSpPr>
          <p:nvPr/>
        </p:nvSpPr>
        <p:spPr>
          <a:xfrm>
            <a:off x="3625215" y="4236720"/>
            <a:ext cx="699135" cy="336550"/>
          </a:xfrm>
          <a:prstGeom prst="rect">
            <a:avLst/>
          </a:prstGeom>
          <a:solidFill>
            <a:srgbClr val="4472C4"/>
          </a:solidFill>
          <a:ln w="12700" cmpd="sng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45700" rIns="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other</a:t>
            </a:r>
            <a:endParaRPr sz="1000" b="0" i="0" u="non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sz="10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Discoverers</a:t>
            </a: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4" name="Google Shape;584;p16"/>
          <p:cNvSpPr>
            <a:spLocks noGrp="1"/>
          </p:cNvSpPr>
          <p:nvPr/>
        </p:nvSpPr>
        <p:spPr>
          <a:xfrm>
            <a:off x="4991100" y="3066415"/>
            <a:ext cx="791845" cy="572770"/>
          </a:xfrm>
          <a:prstGeom prst="rect">
            <a:avLst/>
          </a:prstGeom>
          <a:solidFill>
            <a:srgbClr val="4472C4"/>
          </a:solidFill>
          <a:ln w="12700" cmpd="sng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sz="9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HyperNode</a:t>
            </a:r>
            <a:br>
              <a:rPr sz="9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900" b="0" i="0" u="non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Controller</a:t>
            </a:r>
            <a:endParaRPr sz="9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742" name="Google Shape;586;p16"/>
          <p:cNvCxnSpPr/>
          <p:nvPr/>
        </p:nvCxnSpPr>
        <p:spPr>
          <a:xfrm>
            <a:off x="2653030" y="3296920"/>
            <a:ext cx="741045" cy="0"/>
          </a:xfrm>
          <a:prstGeom prst="straightConnector1">
            <a:avLst/>
          </a:prstGeom>
          <a:ln w="31750" cap="flat">
            <a:solidFill>
              <a:srgbClr val="44C38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87" name="Google Shape;587;p16"/>
          <p:cNvSpPr>
            <a:spLocks noGrp="1"/>
          </p:cNvSpPr>
          <p:nvPr/>
        </p:nvSpPr>
        <p:spPr>
          <a:xfrm>
            <a:off x="2603500" y="2631440"/>
            <a:ext cx="84010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0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Report Network Topology</a:t>
            </a:r>
            <a:endParaRPr sz="10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744" name="Google Shape;588;p16"/>
          <p:cNvCxnSpPr/>
          <p:nvPr/>
        </p:nvCxnSpPr>
        <p:spPr>
          <a:xfrm>
            <a:off x="4413885" y="3302000"/>
            <a:ext cx="680085" cy="0"/>
          </a:xfrm>
          <a:prstGeom prst="straightConnector1">
            <a:avLst/>
          </a:prstGeom>
          <a:ln w="31750" cap="flat">
            <a:solidFill>
              <a:srgbClr val="44C38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90" name="Google Shape;590;p16"/>
          <p:cNvSpPr>
            <a:spLocks noGrp="1"/>
          </p:cNvSpPr>
          <p:nvPr/>
        </p:nvSpPr>
        <p:spPr>
          <a:xfrm>
            <a:off x="4382770" y="2586990"/>
            <a:ext cx="96837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0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Update HyperNode Hierarchy Tree</a:t>
            </a:r>
            <a:endParaRPr sz="10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746" name="Google Shape;591;p16"/>
          <p:cNvCxnSpPr/>
          <p:nvPr/>
        </p:nvCxnSpPr>
        <p:spPr>
          <a:xfrm>
            <a:off x="5897880" y="3269615"/>
            <a:ext cx="622935" cy="0"/>
          </a:xfrm>
          <a:prstGeom prst="straightConnector1">
            <a:avLst/>
          </a:prstGeom>
          <a:ln w="31750" cap="flat">
            <a:solidFill>
              <a:srgbClr val="44C38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92" name="Google Shape;592;p16"/>
          <p:cNvSpPr>
            <a:spLocks noGrp="1"/>
          </p:cNvSpPr>
          <p:nvPr/>
        </p:nvSpPr>
        <p:spPr>
          <a:xfrm>
            <a:off x="7085965" y="2842895"/>
            <a:ext cx="82613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None/>
            </a:pPr>
            <a:endParaRPr sz="8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3" name="Google Shape;593;p16"/>
          <p:cNvSpPr>
            <a:spLocks noGrp="1"/>
          </p:cNvSpPr>
          <p:nvPr/>
        </p:nvSpPr>
        <p:spPr>
          <a:xfrm>
            <a:off x="5822315" y="2631440"/>
            <a:ext cx="8788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0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Create</a:t>
            </a:r>
            <a:endParaRPr sz="10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0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/Update</a:t>
            </a:r>
            <a:endParaRPr sz="10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00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HyperNode</a:t>
            </a:r>
            <a:endParaRPr sz="10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4" name="Google Shape;594;p16"/>
          <p:cNvSpPr>
            <a:spLocks noGrp="1"/>
          </p:cNvSpPr>
          <p:nvPr/>
        </p:nvSpPr>
        <p:spPr>
          <a:xfrm>
            <a:off x="6576060" y="1169035"/>
            <a:ext cx="2526030" cy="3745230"/>
          </a:xfrm>
          <a:prstGeom prst="roundRect">
            <a:avLst>
              <a:gd name="adj" fmla="val 16667"/>
            </a:avLst>
          </a:prstGeom>
          <a:noFill/>
          <a:ln w="254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endParaRPr sz="1000" b="0" i="0" u="non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5" name="Google Shape;595;p16"/>
          <p:cNvSpPr>
            <a:spLocks noGrp="1"/>
          </p:cNvSpPr>
          <p:nvPr/>
        </p:nvSpPr>
        <p:spPr>
          <a:xfrm>
            <a:off x="6786880" y="1207770"/>
            <a:ext cx="2172335" cy="31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HyerNode API Objects</a:t>
            </a:r>
            <a:endParaRPr sz="1200" b="0" i="0" u="non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51" name="Google Shape;596;p16"/>
          <p:cNvPicPr>
            <a:picLocks noChangeAspect="1"/>
          </p:cNvPicPr>
          <p:nvPr/>
        </p:nvPicPr>
        <p:blipFill rotWithShape="1">
          <a:blip r:embed="rId5"/>
          <a:srcRect l="11276" t="11867" r="11384" b="12254"/>
          <a:stretch>
            <a:fillRect/>
          </a:stretch>
        </p:blipFill>
        <p:spPr>
          <a:xfrm>
            <a:off x="6635750" y="2010412"/>
            <a:ext cx="2412900" cy="22294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HyperNode StandAlone </a:t>
            </a:r>
            <a:br/>
            <a:r>
              <a:t>Deployment</a:t>
            </a:r>
          </a:p>
        </p:txBody>
      </p:sp>
      <p:pic>
        <p:nvPicPr>
          <p:cNvPr id="61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80" y="1511300"/>
            <a:ext cx="8682990" cy="2407920"/>
          </a:xfrm>
          <a:prstGeom prst="rect">
            <a:avLst/>
          </a:prstGeom>
        </p:spPr>
      </p:pic>
      <p:sp>
        <p:nvSpPr>
          <p:cNvPr id="5" name="Text Box 4"/>
          <p:cNvSpPr>
            <a:spLocks noGrp="1"/>
          </p:cNvSpPr>
          <p:nvPr/>
        </p:nvSpPr>
        <p:spPr>
          <a:xfrm>
            <a:off x="1718310" y="4256405"/>
            <a:ext cx="570674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/>
              <a:t>HyperNode is </a:t>
            </a:r>
            <a:r>
              <a:rPr sz="1600" b="1">
                <a:solidFill>
                  <a:srgbClr val="FF0000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now standalone! </a:t>
            </a:r>
            <a:r>
              <a:rPr sz="1600" b="1">
                <a:solidFill>
                  <a:srgbClr val="FF0000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（</a:t>
            </a:r>
            <a:r>
              <a:rPr sz="1600" b="1">
                <a:solidFill>
                  <a:srgbClr val="FF0000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</a:rPr>
              <a:t>will be released in v1.16) </a:t>
            </a:r>
            <a:r>
              <a:rPr sz="16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1600"/>
              <a:t>uto-discover infrastructure topology and integrate it with any custom scheduler!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7" name="Google Shape;597;p64"/>
          <p:cNvSpPr>
            <a:spLocks noGrp="1"/>
          </p:cNvSpPr>
          <p:nvPr>
            <p:ph type="title"/>
          </p:nvPr>
        </p:nvSpPr>
        <p:spPr>
          <a:xfrm>
            <a:off x="311785" y="1940560"/>
            <a:ext cx="7853680" cy="84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t>Kubernetes-Native LLM Serving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85" y="0"/>
            <a:ext cx="508063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Kthena: Kubernetes-Native LLM Serving Platform</a:t>
            </a:r>
          </a:p>
        </p:txBody>
      </p:sp>
      <p:sp>
        <p:nvSpPr>
          <p:cNvPr id="504" name="Google Shape;504;g3d02a72c94b_5_58"/>
          <p:cNvSpPr>
            <a:spLocks noGrp="1"/>
          </p:cNvSpPr>
          <p:nvPr>
            <p:ph type="body" idx="1"/>
          </p:nvPr>
        </p:nvSpPr>
        <p:spPr>
          <a:xfrm>
            <a:off x="4815205" y="1127760"/>
            <a:ext cx="4168800" cy="38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Declarative Control Plane</a:t>
            </a:r>
            <a:endParaRPr sz="1400" b="1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90204"/>
              <a:buChar char="•"/>
            </a:pPr>
            <a:r>
              <a:rPr sz="1100"/>
              <a:t>Supports vLLM, SGLang, Triton, TorchServe, MindIE (Support both standard and prefill-decode disaggregated)</a:t>
            </a:r>
            <a:endParaRPr sz="1100"/>
          </a:p>
          <a:p>
            <a: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90204"/>
              <a:buChar char="•"/>
            </a:pPr>
            <a:r>
              <a:rPr sz="1100"/>
              <a:t>Autoscaling on token throughput, queue depth, CPU/GPU, and budget</a:t>
            </a:r>
            <a:endParaRPr sz="1100"/>
          </a:p>
          <a:p>
            <a: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90204"/>
              <a:buChar char="•"/>
            </a:pPr>
            <a:r>
              <a:rPr sz="1100"/>
              <a:t>Rolling updates, canary, failover, dynamic LoRA management</a:t>
            </a:r>
            <a:endParaRPr sz="1100"/>
          </a:p>
          <a:p>
            <a: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Intelligent </a:t>
            </a:r>
            <a:r>
              <a:rPr sz="1400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Router</a:t>
            </a:r>
            <a:endParaRPr sz="1400" b="1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90204"/>
              <a:buChar char="•"/>
            </a:pPr>
            <a:r>
              <a:rPr sz="1100"/>
              <a:t>KV-cache, prefix-cache, PD-group aware routing via Redis</a:t>
            </a:r>
            <a:endParaRPr sz="1100"/>
          </a:p>
          <a:p>
            <a: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90204"/>
              <a:buChar char="•"/>
            </a:pPr>
            <a:r>
              <a:rPr sz="1100"/>
              <a:t>Pluggable KV connectors (LMCache, NIXL, Mooncake) for PD disaggregation</a:t>
            </a:r>
            <a:endParaRPr sz="1100"/>
          </a:p>
          <a:p>
            <a: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90204"/>
              <a:buChar char="•"/>
            </a:pPr>
            <a:r>
              <a:rPr sz="1100"/>
              <a:t>Token rate limiting, weighted traffic</a:t>
            </a:r>
            <a:endParaRPr sz="1100"/>
          </a:p>
          <a:p>
            <a: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Volcano-Native Scheduling</a:t>
            </a:r>
            <a:endParaRPr sz="1400" b="1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90204"/>
              <a:buChar char="•"/>
            </a:pPr>
            <a:r>
              <a:rPr sz="1100"/>
              <a:t>Gang scheduling for atomic xPyD deployment</a:t>
            </a:r>
            <a:endParaRPr sz="1100"/>
          </a:p>
          <a:p>
            <a: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90204"/>
              <a:buChar char="•"/>
            </a:pPr>
            <a:r>
              <a:rPr sz="1100"/>
              <a:t>Two-level network topology-aware scheduling (ServingGroup and Role)</a:t>
            </a:r>
            <a:endParaRPr sz="1100"/>
          </a:p>
        </p:txBody>
      </p:sp>
      <p:pic>
        <p:nvPicPr>
          <p:cNvPr id="618" name="Google Shape;505;g3d02a72c94b_5_58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20345" y="1047750"/>
            <a:ext cx="4493894" cy="406463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85" y="0"/>
            <a:ext cx="553148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Volcano + Kthena: Hierarchical Gang Scheduling</a:t>
            </a:r>
          </a:p>
        </p:txBody>
      </p:sp>
      <p:pic>
        <p:nvPicPr>
          <p:cNvPr id="62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" y="1350645"/>
            <a:ext cx="6010910" cy="3381375"/>
          </a:xfrm>
          <a:prstGeom prst="rect">
            <a:avLst/>
          </a:prstGeom>
        </p:spPr>
      </p:pic>
      <p:sp>
        <p:nvSpPr>
          <p:cNvPr id="616" name="ModelServing YAML card"/>
          <p:cNvSpPr>
            <a:spLocks noGrp="1"/>
          </p:cNvSpPr>
          <p:nvPr/>
        </p:nvSpPr>
        <p:spPr>
          <a:xfrm>
            <a:off x="6257925" y="1390650"/>
            <a:ext cx="2705100" cy="2628900"/>
          </a:xfrm>
          <a:prstGeom prst="roundRect">
            <a:avLst>
              <a:gd name="adj" fmla="val 3261"/>
            </a:avLst>
          </a:prstGeom>
          <a:solidFill>
            <a:srgbClr val="1E2430"/>
          </a:solidFill>
          <a:ln w="9525">
            <a:solidFill>
              <a:srgbClr val="323A4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17" name="Oval 616"/>
          <p:cNvSpPr>
            <a:spLocks noGrp="1"/>
          </p:cNvSpPr>
          <p:nvPr/>
        </p:nvSpPr>
        <p:spPr>
          <a:xfrm>
            <a:off x="6381750" y="1495425"/>
            <a:ext cx="66675" cy="66675"/>
          </a:xfrm>
          <a:prstGeom prst="ellipse">
            <a:avLst/>
          </a:prstGeom>
          <a:solidFill>
            <a:srgbClr val="FF5F56"/>
          </a:solidFill>
          <a:ln w="0">
            <a:solidFill>
              <a:srgbClr val="FF5F56"/>
            </a:solidFill>
            <a:prstDash val="solid"/>
          </a:ln>
        </p:spPr>
      </p:sp>
      <p:sp>
        <p:nvSpPr>
          <p:cNvPr id="618" name="Oval 617"/>
          <p:cNvSpPr>
            <a:spLocks noGrp="1"/>
          </p:cNvSpPr>
          <p:nvPr/>
        </p:nvSpPr>
        <p:spPr>
          <a:xfrm>
            <a:off x="6515100" y="1495425"/>
            <a:ext cx="66675" cy="66675"/>
          </a:xfrm>
          <a:prstGeom prst="ellipse">
            <a:avLst/>
          </a:prstGeom>
          <a:solidFill>
            <a:srgbClr val="FFBD2E"/>
          </a:solidFill>
          <a:ln w="0">
            <a:solidFill>
              <a:srgbClr val="FFBD2E"/>
            </a:solidFill>
            <a:prstDash val="solid"/>
          </a:ln>
        </p:spPr>
      </p:sp>
      <p:sp>
        <p:nvSpPr>
          <p:cNvPr id="619" name="Oval 618"/>
          <p:cNvSpPr>
            <a:spLocks noGrp="1"/>
          </p:cNvSpPr>
          <p:nvPr/>
        </p:nvSpPr>
        <p:spPr>
          <a:xfrm>
            <a:off x="6648450" y="1495425"/>
            <a:ext cx="66675" cy="66675"/>
          </a:xfrm>
          <a:prstGeom prst="ellipse">
            <a:avLst/>
          </a:prstGeom>
          <a:solidFill>
            <a:srgbClr val="27C93F"/>
          </a:solidFill>
          <a:ln w="0">
            <a:solidFill>
              <a:srgbClr val="27C93F"/>
            </a:solidFill>
            <a:prstDash val="solid"/>
          </a:ln>
        </p:spPr>
      </p:sp>
      <p:sp>
        <p:nvSpPr>
          <p:cNvPr id="620" name="YAML filename"/>
          <p:cNvSpPr>
            <a:spLocks noGrp="1"/>
          </p:cNvSpPr>
          <p:nvPr/>
        </p:nvSpPr>
        <p:spPr>
          <a:xfrm>
            <a:off x="6819900" y="1438275"/>
            <a:ext cx="195262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EA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50">
                <a:solidFill>
                  <a:srgbClr val="9EA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model-serving.yaml</a:t>
            </a:r>
            <a:endParaRPr sz="750">
              <a:solidFill>
                <a:srgbClr val="9EA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1" name="ModelServing CRD YAML"/>
          <p:cNvSpPr>
            <a:spLocks noGrp="1"/>
          </p:cNvSpPr>
          <p:nvPr/>
        </p:nvSpPr>
        <p:spPr>
          <a:xfrm>
            <a:off x="6381750" y="1657350"/>
            <a:ext cx="2447925" cy="2247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kind</a:t>
            </a:r>
            <a:r>
              <a:rPr sz="850" b="1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ModelServing</a:t>
            </a:r>
            <a:endParaRPr sz="850" b="1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spec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schedulerName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volcano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replicas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1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# ServingGroup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template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gangPolicy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minRoleReplicas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prefill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1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decode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3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roles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- name</a:t>
            </a:r>
            <a:r>
              <a:rPr sz="850" b="1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prefill</a:t>
            </a:r>
            <a:endParaRPr sz="850" b="1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replicas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1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workerReplicas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1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- name</a:t>
            </a:r>
            <a:r>
              <a:rPr sz="850" b="1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decode</a:t>
            </a:r>
            <a:endParaRPr sz="850" b="1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replicas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3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>
              <a:lnSpc>
                <a:spcPct val="92000"/>
              </a:lnSpc>
              <a:buNone/>
              <a:defRPr sz="85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workerReplicas</a:t>
            </a:r>
            <a:r>
              <a:rPr sz="850" b="0">
                <a:solidFill>
                  <a:srgbClr val="D7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: 1</a:t>
            </a:r>
            <a:endParaRPr sz="850" b="0">
              <a:solidFill>
                <a:srgbClr val="D7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622" name="Hierarchy mapping"/>
          <p:cNvSpPr>
            <a:spLocks noGrp="1"/>
          </p:cNvSpPr>
          <p:nvPr/>
        </p:nvSpPr>
        <p:spPr>
          <a:xfrm>
            <a:off x="6315075" y="4143375"/>
            <a:ext cx="2590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buNone/>
              <a:defRPr sz="880"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80" b="1">
                <a:solidFill>
                  <a:srgbClr val="123A6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ModelServing</a:t>
            </a:r>
            <a:r>
              <a:rPr sz="880">
                <a:solidFill>
                  <a:srgbClr val="4A55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→  ServingGroup  →  Role replica</a:t>
            </a:r>
            <a:endParaRPr sz="880">
              <a:solidFill>
                <a:srgbClr val="4A556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3" name="Rounded Rectangle 622"/>
          <p:cNvSpPr>
            <a:spLocks noGrp="1"/>
          </p:cNvSpPr>
          <p:nvPr/>
        </p:nvSpPr>
        <p:spPr>
          <a:xfrm>
            <a:off x="6315075" y="4438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35A37A"/>
          </a:solidFill>
          <a:ln w="0">
            <a:solidFill>
              <a:srgbClr val="35A37A"/>
            </a:solidFill>
            <a:prstDash val="solid"/>
          </a:ln>
        </p:spPr>
      </p:sp>
      <p:sp>
        <p:nvSpPr>
          <p:cNvPr id="624" name="Rectangles 623"/>
          <p:cNvSpPr>
            <a:spLocks noGrp="1"/>
          </p:cNvSpPr>
          <p:nvPr/>
        </p:nvSpPr>
        <p:spPr>
          <a:xfrm>
            <a:off x="6419850" y="4429125"/>
            <a:ext cx="24860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9359"/>
          </a:bodyPr>
          <a:lstStyle/>
          <a:p>
            <a:pPr>
              <a:buNone/>
              <a:defRPr sz="975"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23A6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 composition  </a:t>
            </a:r>
            <a:r>
              <a:rPr sz="975">
                <a:solidFill>
                  <a:srgbClr val="4A55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replica is one Entry Pod plus its Workers.</a:t>
            </a:r>
            <a:endParaRPr sz="975">
              <a:solidFill>
                <a:srgbClr val="4A556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5" name="Rounded Rectangle 624"/>
          <p:cNvSpPr>
            <a:spLocks noGrp="1"/>
          </p:cNvSpPr>
          <p:nvPr/>
        </p:nvSpPr>
        <p:spPr>
          <a:xfrm>
            <a:off x="6315075" y="47625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3D73DD"/>
          </a:solidFill>
          <a:ln w="0">
            <a:solidFill>
              <a:srgbClr val="3D73DD"/>
            </a:solidFill>
            <a:prstDash val="solid"/>
          </a:ln>
        </p:spPr>
      </p:sp>
      <p:sp>
        <p:nvSpPr>
          <p:cNvPr id="626" name="Rectangles 625"/>
          <p:cNvSpPr>
            <a:spLocks noGrp="1"/>
          </p:cNvSpPr>
          <p:nvPr/>
        </p:nvSpPr>
        <p:spPr>
          <a:xfrm>
            <a:off x="6419850" y="4752975"/>
            <a:ext cx="24860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9359"/>
          </a:bodyPr>
          <a:lstStyle/>
          <a:p>
            <a:pPr>
              <a:buNone/>
              <a:defRPr sz="975"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23A6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Atomic unit  </a:t>
            </a:r>
            <a:r>
              <a:rPr sz="975">
                <a:solidFill>
                  <a:srgbClr val="4A55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minRoleReplicas defines the complete 1P3D gang.</a:t>
            </a:r>
            <a:endParaRPr sz="975">
              <a:solidFill>
                <a:srgbClr val="4A556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Kthena: Production Inference Coordination</a:t>
            </a:r>
          </a:p>
        </p:txBody>
      </p:sp>
      <p:sp>
        <p:nvSpPr>
          <p:cNvPr id="616" name="v0.4 foundation area"/>
          <p:cNvSpPr>
            <a:spLocks noGrp="1"/>
          </p:cNvSpPr>
          <p:nvPr/>
        </p:nvSpPr>
        <p:spPr>
          <a:xfrm>
            <a:off x="400050" y="1495425"/>
            <a:ext cx="2400300" cy="2886075"/>
          </a:xfrm>
          <a:prstGeom prst="roundRect">
            <a:avLst>
              <a:gd name="adj" fmla="val 3175"/>
            </a:avLst>
          </a:prstGeom>
          <a:solidFill>
            <a:srgbClr val="F3F7FA"/>
          </a:solidFill>
          <a:ln w="9525">
            <a:solidFill>
              <a:srgbClr val="C8D5DF"/>
            </a:solidFill>
            <a:prstDash val="solid"/>
          </a:ln>
        </p:spPr>
      </p:sp>
      <p:sp>
        <p:nvSpPr>
          <p:cNvPr id="617" name="v0.4 label"/>
          <p:cNvSpPr>
            <a:spLocks noGrp="1"/>
          </p:cNvSpPr>
          <p:nvPr/>
        </p:nvSpPr>
        <p:spPr>
          <a:xfrm>
            <a:off x="552450" y="1619250"/>
            <a:ext cx="20955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C53A3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C53A3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v0.4.0  ·  APR 2026</a:t>
            </a:r>
            <a:endParaRPr sz="975" b="1">
              <a:solidFill>
                <a:srgbClr val="C53A3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8" name="v0.4 heading"/>
          <p:cNvSpPr>
            <a:spLocks noGrp="1"/>
          </p:cNvSpPr>
          <p:nvPr/>
        </p:nvSpPr>
        <p:spPr>
          <a:xfrm>
            <a:off x="552450" y="187642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764"/>
          </a:bodyPr>
          <a:lstStyle/>
          <a:p>
            <a:pPr algn="l">
              <a:defRPr sz="1575" b="1">
                <a:solidFill>
                  <a:srgbClr val="083E4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83E4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Role-level foundations</a:t>
            </a:r>
            <a:endParaRPr sz="1575" b="1">
              <a:solidFill>
                <a:srgbClr val="083E4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9" name="Prefill role"/>
          <p:cNvSpPr>
            <a:spLocks noGrp="1"/>
          </p:cNvSpPr>
          <p:nvPr/>
        </p:nvSpPr>
        <p:spPr>
          <a:xfrm>
            <a:off x="561975" y="22955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2B9A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2B9A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Prefill</a:t>
            </a:r>
            <a:endParaRPr sz="1050" b="1">
              <a:solidFill>
                <a:srgbClr val="2B9A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0" name="Prefill replica 1"/>
          <p:cNvSpPr>
            <a:spLocks noGrp="1"/>
          </p:cNvSpPr>
          <p:nvPr/>
        </p:nvSpPr>
        <p:spPr>
          <a:xfrm>
            <a:off x="1257300" y="2324100"/>
            <a:ext cx="295275" cy="228600"/>
          </a:xfrm>
          <a:prstGeom prst="roundRect">
            <a:avLst>
              <a:gd name="adj" fmla="val 20833"/>
            </a:avLst>
          </a:prstGeom>
          <a:solidFill>
            <a:srgbClr val="2B9A73">
              <a:alpha val="9412"/>
            </a:srgbClr>
          </a:solidFill>
          <a:ln w="11430">
            <a:solidFill>
              <a:srgbClr val="2B9A73"/>
            </a:solidFill>
            <a:prstDash val="solid"/>
          </a:ln>
        </p:spPr>
      </p:sp>
      <p:sp>
        <p:nvSpPr>
          <p:cNvPr id="621" name="Prefill replica 2"/>
          <p:cNvSpPr>
            <a:spLocks noGrp="1"/>
          </p:cNvSpPr>
          <p:nvPr/>
        </p:nvSpPr>
        <p:spPr>
          <a:xfrm>
            <a:off x="1657350" y="2324100"/>
            <a:ext cx="295275" cy="228600"/>
          </a:xfrm>
          <a:prstGeom prst="roundRect">
            <a:avLst>
              <a:gd name="adj" fmla="val 20833"/>
            </a:avLst>
          </a:prstGeom>
          <a:solidFill>
            <a:srgbClr val="2B9A73">
              <a:alpha val="9412"/>
            </a:srgbClr>
          </a:solidFill>
          <a:ln w="11430">
            <a:solidFill>
              <a:srgbClr val="2B9A73"/>
            </a:solidFill>
            <a:prstDash val="solid"/>
          </a:ln>
        </p:spPr>
      </p:sp>
      <p:sp>
        <p:nvSpPr>
          <p:cNvPr id="622" name="Prefill replica 3"/>
          <p:cNvSpPr>
            <a:spLocks noGrp="1"/>
          </p:cNvSpPr>
          <p:nvPr/>
        </p:nvSpPr>
        <p:spPr>
          <a:xfrm>
            <a:off x="2057400" y="2324100"/>
            <a:ext cx="295275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1430">
            <a:solidFill>
              <a:srgbClr val="2B9A73"/>
            </a:solidFill>
            <a:prstDash val="dash"/>
          </a:ln>
        </p:spPr>
      </p:sp>
      <p:sp>
        <p:nvSpPr>
          <p:cNvPr id="623" name="Decode role"/>
          <p:cNvSpPr>
            <a:spLocks noGrp="1"/>
          </p:cNvSpPr>
          <p:nvPr/>
        </p:nvSpPr>
        <p:spPr>
          <a:xfrm>
            <a:off x="561975" y="26765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56F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356FD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Decode</a:t>
            </a:r>
            <a:endParaRPr sz="1050" b="1">
              <a:solidFill>
                <a:srgbClr val="356FD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4" name="Decode replica 1"/>
          <p:cNvSpPr>
            <a:spLocks noGrp="1"/>
          </p:cNvSpPr>
          <p:nvPr/>
        </p:nvSpPr>
        <p:spPr>
          <a:xfrm>
            <a:off x="1257300" y="2705100"/>
            <a:ext cx="295275" cy="228600"/>
          </a:xfrm>
          <a:prstGeom prst="roundRect">
            <a:avLst>
              <a:gd name="adj" fmla="val 20833"/>
            </a:avLst>
          </a:prstGeom>
          <a:solidFill>
            <a:srgbClr val="356FD3">
              <a:alpha val="9412"/>
            </a:srgbClr>
          </a:solidFill>
          <a:ln w="11430">
            <a:solidFill>
              <a:srgbClr val="356FD3"/>
            </a:solidFill>
            <a:prstDash val="solid"/>
          </a:ln>
        </p:spPr>
      </p:sp>
      <p:sp>
        <p:nvSpPr>
          <p:cNvPr id="625" name="Decode replica 2"/>
          <p:cNvSpPr>
            <a:spLocks noGrp="1"/>
          </p:cNvSpPr>
          <p:nvPr/>
        </p:nvSpPr>
        <p:spPr>
          <a:xfrm>
            <a:off x="1657350" y="2705100"/>
            <a:ext cx="295275" cy="228600"/>
          </a:xfrm>
          <a:prstGeom prst="roundRect">
            <a:avLst>
              <a:gd name="adj" fmla="val 20833"/>
            </a:avLst>
          </a:prstGeom>
          <a:solidFill>
            <a:srgbClr val="356FD3">
              <a:alpha val="9412"/>
            </a:srgbClr>
          </a:solidFill>
          <a:ln w="11430">
            <a:solidFill>
              <a:srgbClr val="356FD3"/>
            </a:solidFill>
            <a:prstDash val="solid"/>
          </a:ln>
        </p:spPr>
      </p:sp>
      <p:sp>
        <p:nvSpPr>
          <p:cNvPr id="626" name="Decode replica 3"/>
          <p:cNvSpPr>
            <a:spLocks noGrp="1"/>
          </p:cNvSpPr>
          <p:nvPr/>
        </p:nvSpPr>
        <p:spPr>
          <a:xfrm>
            <a:off x="2057400" y="2705100"/>
            <a:ext cx="295275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1430">
            <a:solidFill>
              <a:srgbClr val="356FD3"/>
            </a:solidFill>
            <a:prstDash val="dash"/>
          </a:ln>
        </p:spPr>
      </p:sp>
      <p:sp>
        <p:nvSpPr>
          <p:cNvPr id="627" name="v0.4 capability 1"/>
          <p:cNvSpPr>
            <a:spLocks noGrp="1"/>
          </p:cNvSpPr>
          <p:nvPr/>
        </p:nvSpPr>
        <p:spPr>
          <a:xfrm>
            <a:off x="561975" y="3133725"/>
            <a:ext cx="20859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73B6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73B6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RoleRollingUpdate</a:t>
            </a:r>
            <a:endParaRPr sz="1200" b="1">
              <a:solidFill>
                <a:srgbClr val="173B6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8" name="v0.4 capability 2"/>
          <p:cNvSpPr>
            <a:spLocks noGrp="1"/>
          </p:cNvSpPr>
          <p:nvPr/>
        </p:nvSpPr>
        <p:spPr>
          <a:xfrm>
            <a:off x="561975" y="3400425"/>
            <a:ext cx="20859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44546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44546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SGLang P/D disaggregation</a:t>
            </a:r>
            <a:endParaRPr sz="1125" b="0">
              <a:solidFill>
                <a:srgbClr val="44546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9" name="v0.4 capability 3"/>
          <p:cNvSpPr>
            <a:spLocks noGrp="1"/>
          </p:cNvSpPr>
          <p:nvPr/>
        </p:nvSpPr>
        <p:spPr>
          <a:xfrm>
            <a:off x="561975" y="3667125"/>
            <a:ext cx="20859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44546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44546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Router observability</a:t>
            </a:r>
            <a:endParaRPr sz="1125" b="0">
              <a:solidFill>
                <a:srgbClr val="44546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0" name="v0.4 capability 4"/>
          <p:cNvSpPr>
            <a:spLocks noGrp="1"/>
          </p:cNvSpPr>
          <p:nvPr/>
        </p:nvSpPr>
        <p:spPr>
          <a:xfrm>
            <a:off x="561975" y="3914775"/>
            <a:ext cx="20859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44546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44546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ModelScope model downloads</a:t>
            </a:r>
            <a:endParaRPr sz="1125" b="0">
              <a:solidFill>
                <a:srgbClr val="44546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1" name="v0.4 to v1.0"/>
          <p:cNvSpPr>
            <a:spLocks noGrp="1"/>
          </p:cNvSpPr>
          <p:nvPr/>
        </p:nvSpPr>
        <p:spPr>
          <a:xfrm>
            <a:off x="2886075" y="2752725"/>
            <a:ext cx="333375" cy="285750"/>
          </a:xfrm>
          <a:prstGeom prst="rightArrow">
            <a:avLst/>
          </a:prstGeom>
          <a:solidFill>
            <a:srgbClr val="C53A32"/>
          </a:solidFill>
          <a:ln w="0">
            <a:solidFill>
              <a:srgbClr val="C53A32"/>
            </a:solidFill>
            <a:prstDash val="solid"/>
          </a:ln>
        </p:spPr>
      </p:sp>
      <p:sp>
        <p:nvSpPr>
          <p:cNvPr id="632" name="v1.0 label"/>
          <p:cNvSpPr>
            <a:spLocks noGrp="1"/>
          </p:cNvSpPr>
          <p:nvPr/>
        </p:nvSpPr>
        <p:spPr>
          <a:xfrm>
            <a:off x="3333750" y="1504950"/>
            <a:ext cx="5410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C53A3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C53A3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v1.0.0  ·  JUL 2026</a:t>
            </a:r>
            <a:endParaRPr sz="975" b="1">
              <a:solidFill>
                <a:srgbClr val="C53A3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3" name="v1.0 heading"/>
          <p:cNvSpPr>
            <a:spLocks noGrp="1"/>
          </p:cNvSpPr>
          <p:nvPr/>
        </p:nvSpPr>
        <p:spPr>
          <a:xfrm>
            <a:off x="3333750" y="1771650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083E4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83E4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System-level coordination</a:t>
            </a:r>
            <a:endParaRPr sz="1575" b="1">
              <a:solidFill>
                <a:srgbClr val="083E4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4" name="v1.0 capability baseline"/>
          <p:cNvSpPr>
            <a:spLocks noGrp="1"/>
          </p:cNvSpPr>
          <p:nvPr/>
        </p:nvSpPr>
        <p:spPr>
          <a:xfrm>
            <a:off x="3638550" y="2552700"/>
            <a:ext cx="4114800" cy="0"/>
          </a:xfrm>
          <a:prstGeom prst="line">
            <a:avLst/>
          </a:prstGeom>
          <a:noFill/>
          <a:ln w="19050">
            <a:solidFill>
              <a:srgbClr val="B9C6D3"/>
            </a:solidFill>
            <a:prstDash val="solid"/>
          </a:ln>
        </p:spPr>
      </p:sp>
      <p:sp>
        <p:nvSpPr>
          <p:cNvPr id="635" name="Capability node 1"/>
          <p:cNvSpPr>
            <a:spLocks noGrp="1"/>
          </p:cNvSpPr>
          <p:nvPr/>
        </p:nvSpPr>
        <p:spPr>
          <a:xfrm>
            <a:off x="3857625" y="2333625"/>
            <a:ext cx="438150" cy="4381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B9A73"/>
            </a:solidFill>
            <a:prstDash val="solid"/>
          </a:ln>
        </p:spPr>
      </p:sp>
      <p:sp>
        <p:nvSpPr>
          <p:cNvPr id="636" name="Capability glyph 1"/>
          <p:cNvSpPr>
            <a:spLocks noGrp="1"/>
          </p:cNvSpPr>
          <p:nvPr/>
        </p:nvSpPr>
        <p:spPr>
          <a:xfrm>
            <a:off x="3857625" y="23336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2B9A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2B9A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P/D</a:t>
            </a:r>
            <a:endParaRPr sz="1050" b="1">
              <a:solidFill>
                <a:srgbClr val="2B9A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7" name="Capability title 1"/>
          <p:cNvSpPr>
            <a:spLocks noGrp="1"/>
          </p:cNvSpPr>
          <p:nvPr/>
        </p:nvSpPr>
        <p:spPr>
          <a:xfrm>
            <a:off x="3333750" y="2905125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73B6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73B6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Coordinated P/D autoscaling</a:t>
            </a:r>
            <a:endParaRPr sz="1275" b="1">
              <a:solidFill>
                <a:srgbClr val="173B6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8" name="Capability body 1"/>
          <p:cNvSpPr>
            <a:spLocks noGrp="1"/>
          </p:cNvSpPr>
          <p:nvPr/>
        </p:nvSpPr>
        <p:spPr>
          <a:xfrm>
            <a:off x="3333750" y="3333750"/>
            <a:ext cx="16573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15" b="0">
                <a:solidFill>
                  <a:srgbClr val="4A5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15" b="0">
                <a:solidFill>
                  <a:srgbClr val="4A5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Prefill and Decode scale from their own pressure while ratio constraints keep them balanced.</a:t>
            </a:r>
            <a:endParaRPr sz="1015" b="0">
              <a:solidFill>
                <a:srgbClr val="4A5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9" name="Capability node 2"/>
          <p:cNvSpPr>
            <a:spLocks noGrp="1"/>
          </p:cNvSpPr>
          <p:nvPr/>
        </p:nvSpPr>
        <p:spPr>
          <a:xfrm>
            <a:off x="5743575" y="2333625"/>
            <a:ext cx="438150" cy="4381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D58A13"/>
            </a:solidFill>
            <a:prstDash val="solid"/>
          </a:ln>
        </p:spPr>
      </p:sp>
      <p:sp>
        <p:nvSpPr>
          <p:cNvPr id="640" name="Capability glyph 2"/>
          <p:cNvSpPr>
            <a:spLocks noGrp="1"/>
          </p:cNvSpPr>
          <p:nvPr/>
        </p:nvSpPr>
        <p:spPr>
          <a:xfrm>
            <a:off x="5743575" y="23336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D58A1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D58A1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endParaRPr sz="1500" b="1">
              <a:solidFill>
                <a:srgbClr val="D58A1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1" name="Capability title 2"/>
          <p:cNvSpPr>
            <a:spLocks noGrp="1"/>
          </p:cNvSpPr>
          <p:nvPr/>
        </p:nvSpPr>
        <p:spPr>
          <a:xfrm>
            <a:off x="5219700" y="2905125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73B6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73B6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Session Boost</a:t>
            </a:r>
            <a:endParaRPr sz="1275" b="1">
              <a:solidFill>
                <a:srgbClr val="173B6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2" name="Capability body 2"/>
          <p:cNvSpPr>
            <a:spLocks noGrp="1"/>
          </p:cNvSpPr>
          <p:nvPr/>
        </p:nvSpPr>
        <p:spPr>
          <a:xfrm>
            <a:off x="5219700" y="3333750"/>
            <a:ext cx="16573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15" b="0">
                <a:solidFill>
                  <a:srgbClr val="4A5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15" b="0">
                <a:solidFill>
                  <a:srgbClr val="4A5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Recent-session requests move forward in the queue, preserving warm KV cache opportunities.</a:t>
            </a:r>
            <a:endParaRPr sz="1015" b="0">
              <a:solidFill>
                <a:srgbClr val="4A5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3" name="Capability node 3"/>
          <p:cNvSpPr>
            <a:spLocks noGrp="1"/>
          </p:cNvSpPr>
          <p:nvPr/>
        </p:nvSpPr>
        <p:spPr>
          <a:xfrm>
            <a:off x="7629525" y="2333625"/>
            <a:ext cx="438150" cy="4381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356FD3"/>
            </a:solidFill>
            <a:prstDash val="solid"/>
          </a:ln>
        </p:spPr>
      </p:sp>
      <p:sp>
        <p:nvSpPr>
          <p:cNvPr id="644" name="Capability glyph 3"/>
          <p:cNvSpPr>
            <a:spLocks noGrp="1"/>
          </p:cNvSpPr>
          <p:nvPr/>
        </p:nvSpPr>
        <p:spPr>
          <a:xfrm>
            <a:off x="7629525" y="23336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356F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56FD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✓</a:t>
            </a:r>
            <a:endParaRPr sz="1500" b="1">
              <a:solidFill>
                <a:srgbClr val="356FD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5" name="Capability title 3"/>
          <p:cNvSpPr>
            <a:spLocks noGrp="1"/>
          </p:cNvSpPr>
          <p:nvPr/>
        </p:nvSpPr>
        <p:spPr>
          <a:xfrm>
            <a:off x="7105650" y="2905125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73B6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73B6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Safer operations</a:t>
            </a:r>
            <a:endParaRPr sz="1275" b="1">
              <a:solidFill>
                <a:srgbClr val="173B6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6" name="Capability body 3"/>
          <p:cNvSpPr>
            <a:spLocks noGrp="1"/>
          </p:cNvSpPr>
          <p:nvPr/>
        </p:nvSpPr>
        <p:spPr>
          <a:xfrm>
            <a:off x="7105650" y="3333750"/>
            <a:ext cx="16573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15" b="0">
                <a:solidFill>
                  <a:srgbClr val="4A5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15" b="0">
                <a:solidFill>
                  <a:srgbClr val="4A5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Per-role availability control, cache metrics and more accurate Gateway API routing.</a:t>
            </a:r>
            <a:endParaRPr sz="1015" b="0">
              <a:solidFill>
                <a:srgbClr val="4A5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7" name="Slide takeaway"/>
          <p:cNvSpPr>
            <a:spLocks noGrp="1"/>
          </p:cNvSpPr>
          <p:nvPr/>
        </p:nvSpPr>
        <p:spPr>
          <a:xfrm>
            <a:off x="3333750" y="4181475"/>
            <a:ext cx="5410200" cy="438150"/>
          </a:xfrm>
          <a:prstGeom prst="roundRect">
            <a:avLst>
              <a:gd name="adj" fmla="val 13043"/>
            </a:avLst>
          </a:prstGeom>
          <a:solidFill>
            <a:srgbClr val="083E4F"/>
          </a:solidFill>
          <a:ln w="0">
            <a:solidFill>
              <a:srgbClr val="083E4F"/>
            </a:solidFill>
            <a:prstDash val="solid"/>
          </a:ln>
        </p:spPr>
      </p:sp>
      <p:sp>
        <p:nvSpPr>
          <p:cNvPr id="648" name="Slide takeaway text"/>
          <p:cNvSpPr>
            <a:spLocks noGrp="1"/>
          </p:cNvSpPr>
          <p:nvPr/>
        </p:nvSpPr>
        <p:spPr>
          <a:xfrm>
            <a:off x="3486150" y="4219575"/>
            <a:ext cx="5105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v0.4 established role-level operations. v1.0 coordinates scaling, queueing and routing across the serving system.</a:t>
            </a:r>
            <a:endParaRPr sz="11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>
                <a:solidFill>
                  <a:srgbClr val="F6F8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+mn-ea"/>
              </a:rPr>
              <a:t>Kthena Next</a:t>
            </a:r>
          </a:p>
        </p:txBody>
      </p:sp>
      <p:pic>
        <p:nvPicPr>
          <p:cNvPr id="239" name="Picture 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785" y="962660"/>
            <a:ext cx="8446770" cy="4180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8" name="Google Shape;718;p33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r>
              <a:t>Resources and Call for Contribution</a:t>
            </a:r>
            <a:br/>
            <a:br/>
          </a:p>
        </p:txBody>
      </p:sp>
      <p:sp>
        <p:nvSpPr>
          <p:cNvPr id="720" name="Google Shape;720;p33"/>
          <p:cNvSpPr>
            <a:spLocks noGrp="1"/>
          </p:cNvSpPr>
          <p:nvPr/>
        </p:nvSpPr>
        <p:spPr>
          <a:xfrm>
            <a:off x="6650494" y="4497881"/>
            <a:ext cx="1639263" cy="41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r>
              <a:rPr sz="1050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community user</a:t>
            </a:r>
            <a:endParaRPr sz="1050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r>
              <a:rPr sz="1050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60+ Production</a:t>
            </a:r>
            <a:endParaRPr sz="1050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2" name="Google Shape;722;p33"/>
          <p:cNvSpPr>
            <a:spLocks noGrp="1"/>
          </p:cNvSpPr>
          <p:nvPr/>
        </p:nvSpPr>
        <p:spPr>
          <a:xfrm>
            <a:off x="5533471" y="654113"/>
            <a:ext cx="3504277" cy="3781593"/>
          </a:xfrm>
          <a:prstGeom prst="rect">
            <a:avLst/>
          </a:prstGeom>
          <a:gradFill>
            <a:gsLst>
              <a:gs pos="0">
                <a:srgbClr val="FFFFFF"/>
              </a:gs>
              <a:gs pos="90000">
                <a:srgbClr val="FFFFFF"/>
              </a:gs>
              <a:gs pos="100000">
                <a:srgbClr val="F2F2F2">
                  <a:alpha val="70196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mpd="sng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endParaRPr sz="120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3" name="Google Shape;723;p33"/>
          <p:cNvSpPr>
            <a:spLocks noGrp="1"/>
          </p:cNvSpPr>
          <p:nvPr/>
        </p:nvSpPr>
        <p:spPr>
          <a:xfrm>
            <a:off x="8103004" y="807335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4" name="Google Shape;724;p33"/>
          <p:cNvSpPr>
            <a:spLocks noGrp="1"/>
          </p:cNvSpPr>
          <p:nvPr/>
        </p:nvSpPr>
        <p:spPr>
          <a:xfrm>
            <a:off x="5761955" y="1261106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6" name="Google Shape;726;p33"/>
          <p:cNvSpPr>
            <a:spLocks noGrp="1"/>
          </p:cNvSpPr>
          <p:nvPr/>
        </p:nvSpPr>
        <p:spPr>
          <a:xfrm>
            <a:off x="7313926" y="3037913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7" name="Google Shape;727;p33"/>
          <p:cNvSpPr>
            <a:spLocks noGrp="1"/>
          </p:cNvSpPr>
          <p:nvPr/>
        </p:nvSpPr>
        <p:spPr>
          <a:xfrm>
            <a:off x="6549399" y="3045061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8" name="Google Shape;728;p33"/>
          <p:cNvSpPr>
            <a:spLocks noGrp="1"/>
          </p:cNvSpPr>
          <p:nvPr/>
        </p:nvSpPr>
        <p:spPr>
          <a:xfrm>
            <a:off x="5756752" y="3047551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31" name="Google Shape;734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16301" y="1261883"/>
            <a:ext cx="697887" cy="317037"/>
          </a:xfrm>
          <a:prstGeom prst="rect">
            <a:avLst/>
          </a:prstGeom>
          <a:ln>
            <a:noFill/>
          </a:ln>
        </p:spPr>
      </p:pic>
      <p:pic>
        <p:nvPicPr>
          <p:cNvPr id="832" name="Google Shape;735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73629" y="1258906"/>
            <a:ext cx="631687" cy="317038"/>
          </a:xfrm>
          <a:prstGeom prst="rect">
            <a:avLst/>
          </a:prstGeom>
          <a:ln>
            <a:noFill/>
          </a:ln>
        </p:spPr>
      </p:pic>
      <p:pic>
        <p:nvPicPr>
          <p:cNvPr id="833" name="Google Shape;738;p33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314506" y="2593157"/>
            <a:ext cx="697910" cy="317043"/>
          </a:xfrm>
          <a:prstGeom prst="rect">
            <a:avLst/>
          </a:prstGeom>
          <a:ln>
            <a:noFill/>
          </a:ln>
        </p:spPr>
      </p:pic>
      <p:pic>
        <p:nvPicPr>
          <p:cNvPr id="834" name="Google Shape;739;p3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37010" y="2593157"/>
            <a:ext cx="697910" cy="317043"/>
          </a:xfrm>
          <a:prstGeom prst="rect">
            <a:avLst/>
          </a:prstGeom>
          <a:ln>
            <a:noFill/>
          </a:ln>
        </p:spPr>
      </p:pic>
      <p:pic>
        <p:nvPicPr>
          <p:cNvPr id="835" name="Google Shape;740;p33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2885" y="2593156"/>
            <a:ext cx="697910" cy="317044"/>
          </a:xfrm>
          <a:prstGeom prst="rect">
            <a:avLst/>
          </a:prstGeom>
          <a:ln>
            <a:noFill/>
          </a:ln>
        </p:spPr>
      </p:pic>
      <p:pic>
        <p:nvPicPr>
          <p:cNvPr id="836" name="Google Shape;743;p33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314510" y="2149385"/>
            <a:ext cx="697910" cy="317043"/>
          </a:xfrm>
          <a:prstGeom prst="rect">
            <a:avLst/>
          </a:prstGeom>
          <a:ln>
            <a:noFill/>
          </a:ln>
        </p:spPr>
      </p:pic>
      <p:pic>
        <p:nvPicPr>
          <p:cNvPr id="837" name="Google Shape;744;p33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092884" y="2149385"/>
            <a:ext cx="697910" cy="317044"/>
          </a:xfrm>
          <a:prstGeom prst="rect">
            <a:avLst/>
          </a:prstGeom>
          <a:ln>
            <a:noFill/>
          </a:ln>
        </p:spPr>
      </p:pic>
      <p:pic>
        <p:nvPicPr>
          <p:cNvPr id="838" name="Google Shape;746;p33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113783" y="1713075"/>
            <a:ext cx="697885" cy="317038"/>
          </a:xfrm>
          <a:prstGeom prst="rect">
            <a:avLst/>
          </a:prstGeom>
          <a:ln>
            <a:noFill/>
          </a:ln>
        </p:spPr>
      </p:pic>
      <p:pic>
        <p:nvPicPr>
          <p:cNvPr id="839" name="Google Shape;747;p33"/>
          <p:cNvPicPr>
            <a:picLocks noChangeAspect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5757742" y="805575"/>
            <a:ext cx="697884" cy="317038"/>
          </a:xfrm>
          <a:prstGeom prst="rect">
            <a:avLst/>
          </a:prstGeom>
          <a:ln>
            <a:noFill/>
          </a:ln>
        </p:spPr>
      </p:pic>
      <p:pic>
        <p:nvPicPr>
          <p:cNvPr id="840" name="Google Shape;748;p33"/>
          <p:cNvPicPr>
            <a:picLocks noChangeAspect="1"/>
          </p:cNvPicPr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533024" y="805575"/>
            <a:ext cx="706842" cy="329557"/>
          </a:xfrm>
          <a:prstGeom prst="rect">
            <a:avLst/>
          </a:prstGeom>
          <a:ln>
            <a:noFill/>
          </a:ln>
        </p:spPr>
      </p:pic>
      <p:pic>
        <p:nvPicPr>
          <p:cNvPr id="841" name="Google Shape;750;p33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7322664" y="3518036"/>
            <a:ext cx="697910" cy="317044"/>
          </a:xfrm>
          <a:prstGeom prst="rect">
            <a:avLst/>
          </a:prstGeom>
          <a:ln>
            <a:noFill/>
          </a:ln>
        </p:spPr>
      </p:pic>
      <p:pic>
        <p:nvPicPr>
          <p:cNvPr id="842" name="Google Shape;752;p33"/>
          <p:cNvPicPr>
            <a:picLocks noChangeAspect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7314507" y="1705615"/>
            <a:ext cx="697910" cy="317044"/>
          </a:xfrm>
          <a:prstGeom prst="rect">
            <a:avLst/>
          </a:prstGeom>
          <a:ln>
            <a:noFill/>
          </a:ln>
        </p:spPr>
      </p:pic>
      <p:pic>
        <p:nvPicPr>
          <p:cNvPr id="843" name="Google Shape;753;p33"/>
          <p:cNvPicPr>
            <a:picLocks noChangeAspect="1"/>
          </p:cNvPicPr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5757757" y="1705615"/>
            <a:ext cx="694758" cy="315612"/>
          </a:xfrm>
          <a:prstGeom prst="rect">
            <a:avLst/>
          </a:prstGeom>
          <a:ln>
            <a:noFill/>
          </a:ln>
        </p:spPr>
      </p:pic>
      <p:pic>
        <p:nvPicPr>
          <p:cNvPr id="844" name="Google Shape;754;p33"/>
          <p:cNvPicPr>
            <a:picLocks noChangeAspect="1"/>
          </p:cNvPicPr>
          <p:nvPr/>
        </p:nvPicPr>
        <p:blipFill rotWithShape="1">
          <a:blip r:embed="rId14"/>
          <a:srcRect l="5053" r="5044"/>
          <a:stretch>
            <a:fillRect/>
          </a:stretch>
        </p:blipFill>
        <p:spPr>
          <a:xfrm>
            <a:off x="5843180" y="3119596"/>
            <a:ext cx="492327" cy="183908"/>
          </a:xfrm>
          <a:prstGeom prst="rect">
            <a:avLst/>
          </a:prstGeom>
          <a:ln>
            <a:noFill/>
          </a:ln>
        </p:spPr>
      </p:pic>
      <p:pic>
        <p:nvPicPr>
          <p:cNvPr id="845" name="Google Shape;755;p33"/>
          <p:cNvPicPr>
            <a:picLocks noChangeAspect="1"/>
          </p:cNvPicPr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418266" y="3095902"/>
            <a:ext cx="481807" cy="166826"/>
          </a:xfrm>
          <a:prstGeom prst="rect">
            <a:avLst/>
          </a:prstGeom>
          <a:ln>
            <a:noFill/>
          </a:ln>
        </p:spPr>
      </p:pic>
      <p:pic>
        <p:nvPicPr>
          <p:cNvPr id="846" name="Google Shape;757;p33"/>
          <p:cNvPicPr>
            <a:picLocks noChangeAspect="1"/>
          </p:cNvPicPr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187435" y="867039"/>
            <a:ext cx="509739" cy="212067"/>
          </a:xfrm>
          <a:prstGeom prst="rect">
            <a:avLst/>
          </a:prstGeom>
          <a:ln>
            <a:noFill/>
          </a:ln>
        </p:spPr>
      </p:pic>
      <p:sp>
        <p:nvSpPr>
          <p:cNvPr id="760" name="Google Shape;760;p33"/>
          <p:cNvSpPr>
            <a:spLocks noGrp="1"/>
          </p:cNvSpPr>
          <p:nvPr/>
        </p:nvSpPr>
        <p:spPr>
          <a:xfrm>
            <a:off x="7342200" y="796716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48" name="Google Shape;761;p33"/>
          <p:cNvPicPr>
            <a:picLocks noChangeAspect="1"/>
          </p:cNvPicPr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7362199" y="834868"/>
            <a:ext cx="612167" cy="243797"/>
          </a:xfrm>
          <a:prstGeom prst="rect">
            <a:avLst/>
          </a:prstGeom>
          <a:ln>
            <a:noFill/>
          </a:ln>
        </p:spPr>
      </p:pic>
      <p:sp>
        <p:nvSpPr>
          <p:cNvPr id="763" name="Google Shape;763;p33"/>
          <p:cNvSpPr>
            <a:spLocks noGrp="1"/>
          </p:cNvSpPr>
          <p:nvPr/>
        </p:nvSpPr>
        <p:spPr>
          <a:xfrm>
            <a:off x="5753474" y="3499579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50" name="Google Shape;764;p33"/>
          <p:cNvPicPr>
            <a:picLocks noChangeAspect="1"/>
          </p:cNvPicPr>
          <p:nvPr/>
        </p:nvPicPr>
        <p:blipFill rotWithShape="1">
          <a:blip r:embed="rId18"/>
          <a:srcRect l="20051" t="21266" r="17737" b="18696"/>
          <a:stretch>
            <a:fillRect/>
          </a:stretch>
        </p:blipFill>
        <p:spPr>
          <a:xfrm>
            <a:off x="5882092" y="3554016"/>
            <a:ext cx="453665" cy="208666"/>
          </a:xfrm>
          <a:prstGeom prst="rect">
            <a:avLst/>
          </a:prstGeom>
          <a:ln>
            <a:noFill/>
          </a:ln>
        </p:spPr>
      </p:pic>
      <p:pic>
        <p:nvPicPr>
          <p:cNvPr id="851" name="Google Shape;765;p33"/>
          <p:cNvPicPr>
            <a:picLocks noChangeAspect="1"/>
          </p:cNvPicPr>
          <p:nvPr/>
        </p:nvPicPr>
        <p:blipFill rotWithShape="1">
          <a:blip r:embed="rId19"/>
          <a:srcRect/>
          <a:stretch>
            <a:fillRect/>
          </a:stretch>
        </p:blipFill>
        <p:spPr>
          <a:xfrm>
            <a:off x="8114110" y="3518180"/>
            <a:ext cx="690486" cy="335141"/>
          </a:xfrm>
          <a:prstGeom prst="rect">
            <a:avLst/>
          </a:prstGeom>
          <a:ln>
            <a:noFill/>
          </a:ln>
        </p:spPr>
      </p:pic>
      <p:sp>
        <p:nvSpPr>
          <p:cNvPr id="767" name="Google Shape;767;p33"/>
          <p:cNvSpPr>
            <a:spLocks noGrp="1"/>
          </p:cNvSpPr>
          <p:nvPr/>
        </p:nvSpPr>
        <p:spPr>
          <a:xfrm>
            <a:off x="5753666" y="3966162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53" name="Google Shape;768;p33"/>
          <p:cNvPicPr>
            <a:picLocks noChangeAspect="1"/>
          </p:cNvPicPr>
          <p:nvPr/>
        </p:nvPicPr>
        <p:blipFill rotWithShape="1">
          <a:blip r:embed="rId20"/>
          <a:srcRect/>
          <a:stretch>
            <a:fillRect/>
          </a:stretch>
        </p:blipFill>
        <p:spPr>
          <a:xfrm>
            <a:off x="5796846" y="3969165"/>
            <a:ext cx="608330" cy="332104"/>
          </a:xfrm>
          <a:prstGeom prst="rect">
            <a:avLst/>
          </a:prstGeom>
          <a:ln>
            <a:noFill/>
          </a:ln>
        </p:spPr>
      </p:pic>
      <p:sp>
        <p:nvSpPr>
          <p:cNvPr id="770" name="Google Shape;770;p33"/>
          <p:cNvSpPr>
            <a:spLocks noGrp="1"/>
          </p:cNvSpPr>
          <p:nvPr/>
        </p:nvSpPr>
        <p:spPr>
          <a:xfrm>
            <a:off x="6529006" y="3966287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55" name="Google Shape;771;p33"/>
          <p:cNvPicPr>
            <a:picLocks noChangeAspect="1"/>
          </p:cNvPicPr>
          <p:nvPr/>
        </p:nvPicPr>
        <p:blipFill rotWithShape="1">
          <a:blip r:embed="rId21"/>
          <a:srcRect/>
          <a:stretch>
            <a:fillRect/>
          </a:stretch>
        </p:blipFill>
        <p:spPr>
          <a:xfrm>
            <a:off x="6548705" y="4047129"/>
            <a:ext cx="633755" cy="174640"/>
          </a:xfrm>
          <a:prstGeom prst="rect">
            <a:avLst/>
          </a:prstGeom>
          <a:ln>
            <a:noFill/>
          </a:ln>
        </p:spPr>
      </p:pic>
      <p:sp>
        <p:nvSpPr>
          <p:cNvPr id="772" name="Google Shape;772;p33"/>
          <p:cNvSpPr>
            <a:spLocks noGrp="1"/>
          </p:cNvSpPr>
          <p:nvPr/>
        </p:nvSpPr>
        <p:spPr>
          <a:xfrm>
            <a:off x="7313926" y="3969289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57" name="Google Shape;773;p33"/>
          <p:cNvPicPr>
            <a:picLocks noChangeAspect="1"/>
          </p:cNvPicPr>
          <p:nvPr/>
        </p:nvPicPr>
        <p:blipFill rotWithShape="1">
          <a:blip r:embed="rId22"/>
          <a:srcRect/>
          <a:stretch>
            <a:fillRect/>
          </a:stretch>
        </p:blipFill>
        <p:spPr>
          <a:xfrm>
            <a:off x="7183029" y="4029682"/>
            <a:ext cx="976871" cy="158047"/>
          </a:xfrm>
          <a:prstGeom prst="rect">
            <a:avLst/>
          </a:prstGeom>
          <a:ln>
            <a:noFill/>
          </a:ln>
        </p:spPr>
      </p:pic>
      <p:pic>
        <p:nvPicPr>
          <p:cNvPr id="858" name="Google Shape;774;p33"/>
          <p:cNvPicPr>
            <a:picLocks noChangeAspect="1"/>
          </p:cNvPicPr>
          <p:nvPr/>
        </p:nvPicPr>
        <p:blipFill rotWithShape="1">
          <a:blip r:embed="rId23"/>
          <a:srcRect/>
          <a:stretch>
            <a:fillRect/>
          </a:stretch>
        </p:blipFill>
        <p:spPr>
          <a:xfrm>
            <a:off x="6546622" y="3106130"/>
            <a:ext cx="677571" cy="215976"/>
          </a:xfrm>
          <a:prstGeom prst="rect">
            <a:avLst/>
          </a:prstGeom>
          <a:ln>
            <a:noFill/>
          </a:ln>
        </p:spPr>
      </p:pic>
      <p:sp>
        <p:nvSpPr>
          <p:cNvPr id="776" name="Google Shape;776;p33"/>
          <p:cNvSpPr>
            <a:spLocks noGrp="1"/>
          </p:cNvSpPr>
          <p:nvPr/>
        </p:nvSpPr>
        <p:spPr>
          <a:xfrm>
            <a:off x="304814" y="2583193"/>
            <a:ext cx="4354964" cy="65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sz="1400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Call For Contribution:</a:t>
            </a:r>
            <a:endParaRPr sz="1400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r>
              <a:rPr sz="105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https://github.com/volcano-sh/volcano/blob/master/contribute.md</a:t>
            </a:r>
            <a:endParaRPr sz="105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8" name="Google Shape;778;p33"/>
          <p:cNvSpPr>
            <a:spLocks noGrp="1"/>
          </p:cNvSpPr>
          <p:nvPr/>
        </p:nvSpPr>
        <p:spPr>
          <a:xfrm>
            <a:off x="304815" y="737941"/>
            <a:ext cx="4354964" cy="65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sz="1400" b="1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Call For Use Case:</a:t>
            </a:r>
            <a:endParaRPr sz="1400" b="1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9" name="Google Shape;779;p33"/>
          <p:cNvSpPr>
            <a:spLocks noGrp="1"/>
          </p:cNvSpPr>
          <p:nvPr/>
        </p:nvSpPr>
        <p:spPr>
          <a:xfrm>
            <a:off x="306212" y="1032189"/>
            <a:ext cx="3434521" cy="33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r>
              <a:rPr sz="1050" b="0" i="0" u="non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https://github.com/volcano-sh/volcano/issues/3855</a:t>
            </a:r>
            <a:endParaRPr sz="105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62" name="Google Shape;780;p33"/>
          <p:cNvPicPr>
            <a:picLocks noChangeAspect="1"/>
          </p:cNvPicPr>
          <p:nvPr/>
        </p:nvPicPr>
        <p:blipFill rotWithShape="1">
          <a:blip r:embed="rId24"/>
          <a:srcRect b="61667"/>
          <a:stretch>
            <a:fillRect/>
          </a:stretch>
        </p:blipFill>
        <p:spPr>
          <a:xfrm>
            <a:off x="339141" y="1392667"/>
            <a:ext cx="4953020" cy="1079009"/>
          </a:xfrm>
          <a:prstGeom prst="rect">
            <a:avLst/>
          </a:prstGeom>
          <a:ln w="9525" cap="flat" cmpd="sng">
            <a:solidFill>
              <a:srgbClr val="7F7F7F"/>
            </a:solidFill>
            <a:prstDash val="solid"/>
            <a:round/>
          </a:ln>
        </p:spPr>
      </p:pic>
      <p:sp>
        <p:nvSpPr>
          <p:cNvPr id="781" name="Google Shape;781;p33"/>
          <p:cNvSpPr>
            <a:spLocks noGrp="1"/>
          </p:cNvSpPr>
          <p:nvPr/>
        </p:nvSpPr>
        <p:spPr>
          <a:xfrm>
            <a:off x="5753958" y="2158547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64" name="Google Shape;782;p33"/>
          <p:cNvPicPr>
            <a:picLocks noChangeAspect="1"/>
          </p:cNvPicPr>
          <p:nvPr/>
        </p:nvPicPr>
        <p:blipFill rotWithShape="1">
          <a:blip r:embed="rId25"/>
          <a:srcRect/>
          <a:stretch>
            <a:fillRect/>
          </a:stretch>
        </p:blipFill>
        <p:spPr>
          <a:xfrm>
            <a:off x="5784825" y="2257414"/>
            <a:ext cx="648737" cy="119321"/>
          </a:xfrm>
          <a:prstGeom prst="rect">
            <a:avLst/>
          </a:prstGeom>
          <a:ln>
            <a:noFill/>
          </a:ln>
        </p:spPr>
      </p:pic>
      <p:sp>
        <p:nvSpPr>
          <p:cNvPr id="787" name="Google Shape;787;p33"/>
          <p:cNvSpPr>
            <a:spLocks noGrp="1"/>
          </p:cNvSpPr>
          <p:nvPr/>
        </p:nvSpPr>
        <p:spPr>
          <a:xfrm>
            <a:off x="7317848" y="1256685"/>
            <a:ext cx="690392" cy="317007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EEEE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90204"/>
              <a:buNone/>
            </a:pPr>
            <a:endParaRPr sz="1050" b="0" i="0" u="none" cap="none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66" name="Google Shape;788;p33"/>
          <p:cNvPicPr>
            <a:picLocks noChangeAspect="1"/>
          </p:cNvPicPr>
          <p:nvPr/>
        </p:nvPicPr>
        <p:blipFill rotWithShape="1">
          <a:blip r:embed="rId26"/>
          <a:srcRect/>
          <a:stretch>
            <a:fillRect/>
          </a:stretch>
        </p:blipFill>
        <p:spPr>
          <a:xfrm>
            <a:off x="7328349" y="1279316"/>
            <a:ext cx="652758" cy="256481"/>
          </a:xfrm>
          <a:prstGeom prst="rect">
            <a:avLst/>
          </a:prstGeom>
          <a:ln>
            <a:noFill/>
          </a:ln>
        </p:spPr>
      </p:pic>
      <p:pic>
        <p:nvPicPr>
          <p:cNvPr id="867" name="Google Shape;789;p3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9120" y="3239510"/>
            <a:ext cx="4252575" cy="1330875"/>
          </a:xfrm>
          <a:prstGeom prst="rect">
            <a:avLst/>
          </a:prstGeom>
          <a:ln>
            <a:noFill/>
          </a:ln>
        </p:spPr>
      </p:pic>
      <p:pic>
        <p:nvPicPr>
          <p:cNvPr id="868" name="Picture 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7325" y="1259205"/>
            <a:ext cx="706120" cy="356870"/>
          </a:xfrm>
          <a:prstGeom prst="rect">
            <a:avLst/>
          </a:prstGeom>
        </p:spPr>
      </p:pic>
      <p:pic>
        <p:nvPicPr>
          <p:cNvPr id="869" name="Picture 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82280" y="1256665"/>
            <a:ext cx="729615" cy="357505"/>
          </a:xfrm>
          <a:prstGeom prst="rect">
            <a:avLst/>
          </a:prstGeom>
        </p:spPr>
      </p:pic>
      <p:pic>
        <p:nvPicPr>
          <p:cNvPr id="870" name="Picture 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17640" y="1705610"/>
            <a:ext cx="746760" cy="335915"/>
          </a:xfrm>
          <a:prstGeom prst="rect">
            <a:avLst/>
          </a:prstGeom>
        </p:spPr>
      </p:pic>
      <p:pic>
        <p:nvPicPr>
          <p:cNvPr id="871" name="Picture 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32245" y="2160905"/>
            <a:ext cx="732155" cy="334010"/>
          </a:xfrm>
          <a:prstGeom prst="rect">
            <a:avLst/>
          </a:prstGeom>
        </p:spPr>
      </p:pic>
      <p:pic>
        <p:nvPicPr>
          <p:cNvPr id="872" name="Picture 5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29070" y="3489960"/>
            <a:ext cx="706755" cy="361315"/>
          </a:xfrm>
          <a:prstGeom prst="rect">
            <a:avLst/>
          </a:prstGeom>
        </p:spPr>
      </p:pic>
      <p:pic>
        <p:nvPicPr>
          <p:cNvPr id="873" name="Picture 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14030" y="3969385"/>
            <a:ext cx="706120" cy="338455"/>
          </a:xfrm>
          <a:prstGeom prst="rect">
            <a:avLst/>
          </a:prstGeom>
        </p:spPr>
      </p:pic>
      <p:pic>
        <p:nvPicPr>
          <p:cNvPr id="874" name="Picture 7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01965" y="3037840"/>
            <a:ext cx="714375" cy="361315"/>
          </a:xfrm>
          <a:prstGeom prst="rect">
            <a:avLst/>
          </a:prstGeom>
        </p:spPr>
      </p:pic>
      <p:pic>
        <p:nvPicPr>
          <p:cNvPr id="875" name="Picture 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62625" y="2582545"/>
            <a:ext cx="681355" cy="3384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191000" y="3229610"/>
            <a:ext cx="1342390" cy="14389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losing title"/>
          <p:cNvSpPr>
            <a:spLocks noGrp="1"/>
          </p:cNvSpPr>
          <p:nvPr/>
        </p:nvSpPr>
        <p:spPr>
          <a:xfrm>
            <a:off x="552450" y="1619250"/>
            <a:ext cx="438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Thank You</a:t>
            </a:r>
            <a:endParaRPr sz="3150" b="1">
              <a:solidFill>
                <a:srgbClr val="FFFFFF"/>
              </a:solidFill>
            </a:endParaRPr>
          </a:p>
          <a:p>
            <a:pPr>
              <a:buNone/>
              <a:defRPr sz="3150" b="1">
                <a:solidFill>
                  <a:srgbClr val="FFFFFF"/>
                </a:solidFill>
              </a:defRPr>
            </a:pPr>
            <a:endParaRPr sz="31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6886</Words>
  <Application>WPS Presentation</Application>
  <PresentationFormat>Converted Presentation</PresentationFormat>
  <Paragraphs>436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Arial</vt:lpstr>
      <vt:lpstr>宋体</vt:lpstr>
      <vt:lpstr>Wingdings</vt:lpstr>
      <vt:lpstr>Arial</vt:lpstr>
      <vt:lpstr>PingFang SC</vt:lpstr>
      <vt:lpstr>Arial Bold</vt:lpstr>
      <vt:lpstr>微软雅黑</vt:lpstr>
      <vt:lpstr>汉仪旗黑</vt:lpstr>
      <vt:lpstr>宋体</vt:lpstr>
      <vt:lpstr>Arial Unicode MS</vt:lpstr>
      <vt:lpstr>PingFang SC Semibold</vt:lpstr>
      <vt:lpstr>Menlo</vt:lpstr>
      <vt:lpstr>Calibri</vt:lpstr>
      <vt:lpstr>Helvetica Neue</vt:lpstr>
      <vt:lpstr>Arial Bold</vt:lpstr>
      <vt:lpstr>Menlo</vt:lpstr>
      <vt:lpstr>汉仪书宋二KW</vt:lpstr>
      <vt:lpstr>Helvetica Neue</vt:lpstr>
      <vt:lpstr>OSSNA24</vt:lpstr>
      <vt:lpstr>1_OSSNA24</vt:lpstr>
      <vt:lpstr>Cloud Native AI</vt:lpstr>
      <vt:lpstr>Speakers</vt:lpstr>
      <vt:lpstr>Agenda</vt:lpstr>
      <vt:lpstr>One Platform, Different Scheduling Paths</vt:lpstr>
      <vt:lpstr>AI Workloads Are Diverging</vt:lpstr>
      <vt:lpstr>Volcano Overview</vt:lpstr>
      <vt:lpstr>Unified Scheduling Architecture</vt:lpstr>
      <vt:lpstr>Fast-Path Agent Scheduling</vt:lpstr>
      <vt:lpstr>Dynamic Node Sharding</vt:lpstr>
      <vt:lpstr>Preserving Workload Structure and Topology</vt:lpstr>
      <vt:lpstr>Why Pod-Level Eviction Fails</vt:lpstr>
      <vt:lpstr>Gang-Aware Preempt / Reclaim</vt:lpstr>
      <vt:lpstr>From Colocation to Recoverable Reclaim</vt:lpstr>
      <vt:lpstr>PodGroup and SubGroup</vt:lpstr>
      <vt:lpstr>Toward Group-Level Affinity and Anti-Affinity</vt:lpstr>
      <vt:lpstr>HyperNode: Topology as a Scheduling API</vt:lpstr>
      <vt:lpstr>Multi-Level Network Topology</vt:lpstr>
      <vt:lpstr>HyperNode Auto-Discovery</vt:lpstr>
      <vt:lpstr>HyperNode StandAlone  Deployment</vt:lpstr>
      <vt:lpstr>Kubernetes-Native LLM Serving</vt:lpstr>
      <vt:lpstr>Kthena: Kubernetes-Native LLM Serving Platform</vt:lpstr>
      <vt:lpstr>Volcano + Kthena: Hierarchical Gang Scheduling</vt:lpstr>
      <vt:lpstr>Kthena: Production Inference Coordination</vt:lpstr>
      <vt:lpstr>Kthena Intelligent Routing</vt:lpstr>
      <vt:lpstr>Resources and Call for Contribution 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Volcano: A UnifiedScheduling Platform forCloud Native AI</dc:title>
  <dc:creator>Walnut Exporter</dc:creator>
  <cp:lastModifiedBy>汪琳</cp:lastModifiedBy>
  <cp:revision>96</cp:revision>
  <dcterms:created xsi:type="dcterms:W3CDTF">2026-09-09T06:15:26Z</dcterms:created>
  <dcterms:modified xsi:type="dcterms:W3CDTF">2026-09-09T06:15:26Z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6ED6D6BBD9B84F6A4ABCA06A575DC95E_43</vt:lpwstr>
  </property>
  <property fmtid="{D5CDD505-2E9C-101B-9397-08002B2CF9AE}" pid="3" name="KSOProductBuildVer">
    <vt:lpwstr>1033-7.2.2.8955</vt:lpwstr>
  </property>
</Properties>
</file>