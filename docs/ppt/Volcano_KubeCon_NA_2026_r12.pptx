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0:20。标题保持不变。Agentic AI 作为基础设施背景，不把每次 agent 调用等同于一个 Pod。讲者姓名以用户指示为准。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0:40。Ricardo：NA 2026 官方会议资料列为 Nunchux AI 的 AI Infrastructure Lead；CNCF TOC 页面列为 TOC Alternate (GB)，不是 Governing Board 成员，不写 Founder 或 CEO。2026-10-29 核查。照片来自 Linux Foundation 公开讲者页。</a:t>
            </a:r>
          </a:p>
          <a:p>
            <a:r>
              <a:t>https://events.linuxfoundation.org/kubecon-cloudnativecon-north-america/program/schedule/?id=1289640</a:t>
            </a:r>
          </a:p>
          <a:p>
            <a:r>
              <a:t>https://www.cncf.io/people/technical-oversight-committee/</a:t>
            </a:r>
          </a:p>
          <a:p>
            <a:r>
              <a:t>https://events.linuxfoundation.org/archive/2026/open-source-summit-north-america/program/program-committee/</a:t>
            </a:r>
          </a:p>
          <a:p>
            <a:r>
              <a:t>https://events.linuxfoundation.org/spinnaker-live/program/featured-speakers/</a:t>
            </a:r>
          </a:p>
          <a:p>
            <a:r>
              <a:t>https://yunikorn.apache.org/community/people/</a:t>
            </a:r>
          </a:p>
          <a:p>
            <a:r>
              <a:t>https://www.linkedin.com/in/rainie-li-71b2b146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0:10。从统一调度框架切入，后面落到工作负载、生态和验证。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1:20。训练图展示两个 PP stage，每个 stage 两个 TP ranks，需要完整子组及通信局部性。推理展示 P/D 分离，不同角色及副本的 gang 与 topology 约束。Agent 路径先命中预热池并复用 ready runtime；池子耗尽时由 runtime/pool controller 请求容量，经快速 Pod 调度补池。请求突发图是需求示意，没有测量值。池管理不是 Volcano 自带能力，也不是每次调用创建 Pod。</a:t>
            </a:r>
          </a:p>
          <a:p>
            <a:r>
              <a:t>移入备注的外围说明：</a:t>
            </a:r>
          </a:p>
          <a:p>
            <a:r>
              <a:t>Schedule complete groups and their locality; keep latency-sensitive capacity ready.</a:t>
            </a:r>
          </a:p>
          <a:p>
            <a:r>
              <a:t>Training, inference, and agent applications put different demands on the same cluster.</a:t>
            </a:r>
          </a:p>
          <a:p>
            <a:r>
              <a:t>Training</a:t>
            </a:r>
          </a:p>
          <a:p>
            <a:r>
              <a:t>Inference</a:t>
            </a:r>
          </a:p>
          <a:p>
            <a:r>
              <a:t>Complete TP / PP gangs + network locality</a:t>
            </a:r>
          </a:p>
          <a:p>
            <a:r>
              <a:t>Role groups + topology-aware placement</a:t>
            </a:r>
          </a:p>
          <a:p>
            <a:r>
              <a:t>Agents</a:t>
            </a:r>
          </a:p>
          <a:p>
            <a:r>
              <a:t>Bursty arrivals</a:t>
            </a:r>
          </a:p>
          <a:p>
            <a:r>
              <a:t>Low startup latency</a:t>
            </a:r>
          </a:p>
          <a:p>
            <a:r>
              <a:t>reuse ready capacity</a:t>
            </a:r>
          </a:p>
          <a:p>
            <a:r>
              <a:t>replenish the pool</a:t>
            </a:r>
          </a:p>
          <a:p>
            <a:r>
              <a:t>Gang size · network locality · startup latency</a:t>
            </a:r>
          </a:p>
          <a:p>
            <a:r>
              <a:t>TP / PP gangs · locality</a:t>
            </a:r>
          </a:p>
          <a:p>
            <a:r>
              <a:t>P/D groups · locality</a:t>
            </a:r>
          </a:p>
          <a:p>
            <a:r>
              <a:t>Warm pool</a:t>
            </a:r>
          </a:p>
          <a:p>
            <a:r>
              <a:t>ready capacity</a:t>
            </a:r>
          </a:p>
          <a:p>
            <a:r>
              <a:t>Capacity request</a:t>
            </a:r>
          </a:p>
          <a:p>
            <a:r>
              <a:t>pool controller</a:t>
            </a:r>
          </a:p>
          <a:p>
            <a:r>
              <a:t>Gang + locality</a:t>
            </a:r>
          </a:p>
          <a:p>
            <a:r>
              <a:t>Gang + locality</a:t>
            </a:r>
          </a:p>
          <a:p/>
          <a:p>
            <a:r>
              <a:t>技术来源：</a:t>
            </a:r>
          </a:p>
          <a:p/>
          <a:p/>
          <a:p>
            <a:r>
              <a:t>本页新版素材与说明：</a:t>
            </a:r>
          </a:p>
          <a:p>
            <a:r>
              <a:t>Visual: na2026/svg/04-workload-demands.svg。PNG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1:30。复用 China 架构图，从左右两条路径讲到中间 NodeShard。worker/Binder 的冲突检查是局部机制；不宣称并行一定带来性能提升。</a:t>
            </a:r>
          </a:p>
          <a:p>
            <a:r>
              <a:t>移入备注的外围说明：</a:t>
            </a:r>
          </a:p>
          <a:p>
            <a:r>
              <a:t>Specialized scheduling paths coordinate through NodeShard.</a:t>
            </a:r>
          </a:p>
          <a:p>
            <a:r>
              <a:t>01</a:t>
            </a:r>
          </a:p>
          <a:p>
            <a:r>
              <a:t>Workload paths</a:t>
            </a:r>
          </a:p>
          <a:p>
            <a:r>
              <a:t>Batch-oriented scheduling and a Pod-oriented fast path.</a:t>
            </a:r>
          </a:p>
          <a:p>
            <a:r>
              <a:t>02</a:t>
            </a:r>
          </a:p>
          <a:p>
            <a:r>
              <a:t>Local coordination</a:t>
            </a:r>
          </a:p>
          <a:p>
            <a:r>
              <a:t>Parallel workers use Binder conflict checks.</a:t>
            </a:r>
          </a:p>
          <a:p>
            <a:r>
              <a:t>03</a:t>
            </a:r>
          </a:p>
          <a:p>
            <a:r>
              <a:t>Shared node access</a:t>
            </a:r>
          </a:p>
          <a:p>
            <a:r>
              <a:t>NodeShard coordinates candidate-node pools.</a:t>
            </a:r>
          </a:p>
          <a:p>
            <a:r>
              <a:t>Batch path · fast path · shared NodeShard</a:t>
            </a:r>
          </a:p>
          <a:p>
            <a:r>
              <a:t>Workload paths</a:t>
            </a:r>
          </a:p>
          <a:p>
            <a:r>
              <a:t>Batch · fast path</a:t>
            </a:r>
          </a:p>
          <a:p>
            <a:r>
              <a:t>Worker coordination</a:t>
            </a:r>
          </a:p>
          <a:p>
            <a:r>
              <a:t>Binder conflict checks</a:t>
            </a:r>
          </a:p>
          <a:p>
            <a:r>
              <a:t>Shared node access</a:t>
            </a:r>
          </a:p>
          <a:p>
            <a:r>
              <a:t>NodeShard</a:t>
            </a:r>
          </a:p>
          <a:p>
            <a:r>
              <a:t>Batch / fast path</a:t>
            </a:r>
          </a:p>
          <a:p>
            <a:r>
              <a:t>Binder checks</a:t>
            </a:r>
          </a:p>
          <a:p>
            <a:r>
              <a:t>Shared node pools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7; same architecture family as EU 2026.</a:t>
            </a:r>
          </a:p>
          <a:p>
            <a:r>
              <a:t>Visual: na2026/svg/05-unified-architecture.svg。PNG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1:40。重点对照 nodesDesired 和 nodesInUse。期望集合变化后需等待协调器交接，不迁移运行中的 Pod。旧图中的资源策略是架构扩展点，不表示所有策略都已完成。</a:t>
            </a:r>
          </a:p>
          <a:p>
            <a:r>
              <a:t>移入备注的外围说明：</a:t>
            </a:r>
          </a:p>
          <a:p>
            <a:r>
              <a:t>Changing a shard coordinates future placement. It does not migrate running Pods.</a:t>
            </a:r>
          </a:p>
          <a:p>
            <a:r>
              <a:t>Desired membership ≠ immediate use</a:t>
            </a:r>
          </a:p>
          <a:p>
            <a:r>
              <a:t>Coordinators reconcile node access.</a:t>
            </a:r>
          </a:p>
          <a:p>
            <a:r>
              <a:t>Desired membership → coordinated handoff</a:t>
            </a:r>
          </a:p>
          <a:p>
            <a:r>
              <a:t>Desired ≠ in use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/>
          <a:p>
            <a:r>
              <a:t>本页新版素材与说明：China 2026 slide 9; docs/design/agent-scheduler.md; shard API types.</a:t>
            </a:r>
          </a:p>
          <a:p>
            <a:r>
              <a:t>Visual: na2026/svg/06-nodeshard.svg。PNG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0:15。转场：拿到可用节点之后，还要保留完整副本以及它们的通信局部性。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2:00。用左边训练和右边 serving 两种结构解释 PodGroup 与 SubGroup，先看完整计算组，再看下面的放置域。一个 policy 可以按 replica label 分出多个实际 SubGroup。</a:t>
            </a:r>
          </a:p>
          <a:p>
            <a:r>
              <a:t>移入备注的外围说明：</a:t>
            </a:r>
          </a:p>
          <a:p>
            <a:r>
              <a:t>Gang requirements apply to the workload and to its complete subgroups.</a:t>
            </a:r>
          </a:p>
          <a:p>
            <a:r>
              <a:t>A SubGroup policy selects Pods. Replica identity can split them into multiple SubGroups.</a:t>
            </a:r>
          </a:p>
          <a:p>
            <a:r>
              <a:t>Workload gang · replica gang</a:t>
            </a:r>
          </a:p>
          <a:p>
            <a:r>
              <a:t>Pod selection + replica identity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14. Figure reused unchanged.</a:t>
            </a:r>
          </a:p>
          <a:p>
            <a:r>
              <a:t>Visual: na2026/svg/08-group-structure.svg。PNG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1:30。从物理网络映射到 HyperNode：非叶节点的成员是 HyperNode，叶节点的成员是 Node。standalone HyperNode 已交付；其他调度器 adapter 是独立的集成工作。</a:t>
            </a:r>
          </a:p>
          <a:p>
            <a:r>
              <a:t>移入备注的外围说明：</a:t>
            </a:r>
          </a:p>
          <a:p>
            <a:r>
              <a:t>A parent HyperNode groups child HyperNodes. A leaf groups Kubernetes Nodes.</a:t>
            </a:r>
          </a:p>
          <a:p>
            <a:r>
              <a:t>Physical fabric</a:t>
            </a:r>
          </a:p>
          <a:p>
            <a:r>
              <a:t>The same hierarchy is available through the standalone HyperNode component.</a:t>
            </a:r>
          </a:p>
          <a:p>
            <a:r>
              <a:t>Physical network → scheduling domains</a:t>
            </a:r>
          </a:p>
          <a:p>
            <a:r>
              <a:t>Physical fabric</a:t>
            </a:r>
          </a:p>
          <a:p>
            <a:r>
              <a:t>Standalone HyperNode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https://github.com/volcano-sh/volcano/releases/tag/v1.16.0</a:t>
            </a:r>
          </a:p>
          <a:p/>
          <a:p>
            <a:r>
              <a:t>本页新版素材与说明：China 2026 slide 16 (physical fabric); benchmark/scripts/create-hypernodes.sh.</a:t>
            </a:r>
          </a:p>
          <a:p>
            <a:r>
              <a:t>Visual: na2026/svg/09-hypernode-api.svg。PNG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2:00。PodGroup 是较大的实例边界，prefill 和 decode 的 locality 约束可以不同。两层约束都显式填写，不假设子组继承 PodGroup 的 topology。</a:t>
            </a:r>
          </a:p>
          <a:p>
            <a:r>
              <a:t>移入备注的外围说明：</a:t>
            </a:r>
          </a:p>
          <a:p>
            <a:r>
              <a:t>An eight-Pod instance spans a larger domain. Prefill and Decode use different locality constraints.</a:t>
            </a:r>
          </a:p>
          <a:p>
            <a:r>
              <a:t>Named tiers: core (3) · spine (2) · leaf (1)</a:t>
            </a:r>
          </a:p>
          <a:p>
            <a:r>
              <a:t>PodGroup: core   ·   Prefill: leaf   ·   Decode: spine</a:t>
            </a:r>
          </a:p>
          <a:p>
            <a:r>
              <a:t>Core (3) / Spine (2) / Leaf (1)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https://github.com/volcano-sh/kthena/blob/main/docs/kthena/versioned_docs/version-v1.0.0/user-guide/network-topology.md</a:t>
            </a:r>
          </a:p>
          <a:p/>
          <a:p>
            <a:r>
              <a:t>本页新版素材与说明：EU 2026 slide 16 / China 2026 slide 17; PodGroup API. Selector and Decode fragment below are explanatory excerpts.</a:t>
            </a:r>
          </a:p>
          <a:p>
            <a:r>
              <a:t>本页三处 networkTopology 均按 mode: hard 讲解，展示片段省略重复字段。图例使用两个固定角色组，各4 Pods。spec 片段省略 labelSelector；实际使用时给两个 policy 配置匹配各自角色的 Pod selector。不是可直接 apply 的完整 manifest。</a:t>
            </a:r>
          </a:p>
          <a:p>
            <a:r>
              <a:t>Visual: na2026/svg/10-multilevel-placement.svg。PNG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1:40。复用第 10 页网络层级及交换机符号，两个 Supernode 共用上层 core fabric。两个完整服务实例各在一个域，避免一次域故障同时影响两份实例。P/D 是简化角色标记，不代表唯一模型结构。Kthena ServingGroup→PodGroup 可作为场景，但 topology affinity 接入截至 2026-10-29 仍是开放 proposal #1478 / issue #645，不能说 Kthena 已交付 anti-affinity。HA 的服务恢复还需 routing/health checks，scheduler 不提供应用故障切换。</a:t>
            </a:r>
          </a:p>
          <a:p>
            <a:r>
              <a:t>移入备注的外围说明：</a:t>
            </a:r>
          </a:p>
          <a:p>
            <a:r>
              <a:t>ServingGroup → PodGroup: a Kthena scenario. Anti-affinity integration in Kthena is proposed.</a:t>
            </a:r>
          </a:p>
          <a:p>
            <a:r>
              <a:t>Each PodGroup: app=model-a</a:t>
            </a:r>
          </a:p>
          <a:p>
            <a:r>
              <a:t>One domain can fail without taking both complete instances with it.</a:t>
            </a:r>
          </a:p>
          <a:p>
            <a:r>
              <a:t>PodGroup anti-affinity · Kthena integration proposed</a:t>
            </a:r>
          </a:p>
          <a:p>
            <a:r>
              <a:t>Separate failure domains</a:t>
            </a:r>
          </a:p>
          <a:p>
            <a:r>
              <a:t>Kthena anti-affinity integration: proposed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https://github.com/volcano-sh/volcano/pull/5349</a:t>
            </a:r>
          </a:p>
          <a:p/>
          <a:p>
            <a:r>
              <a:t>本页新版素材与说明：docs/user-guide/how_to_use_podgroup_anti_affinity.md; group-topology-affinity plugin, v1.16.</a:t>
            </a:r>
          </a:p>
          <a:p>
            <a:r>
              <a:t>https://github.com/volcano-sh/kthena/pull/1478</a:t>
            </a:r>
          </a:p>
          <a:p>
            <a:r>
              <a:t>https://github.com/volcano-sh/kthena/issues/645</a:t>
            </a:r>
          </a:p>
          <a:p>
            <a:r>
              <a:t>启用 group-topology-affinity 与 network-topology-aware；每个 PodGroup 配置相同分离规则。selector 匹配 PodGroup 标签，默认同 namespace。</a:t>
            </a:r>
          </a:p>
          <a:p>
            <a:r>
              <a:t>Visual: na2026/svg/11-instance-isolation.svg。PNG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1:20。放在第二章，以相同 fabric 演进关系语义。同一个 PodGroup 的 Prefill 与两个 Decode SubGroup 都位于 Supernode A，满足上层亲和；两个 Decode 副本分别位于 Leaf 0 与 Leaf 1，满足更细层级的反亲和。每个 SubGroup 都是完整两 Pod 组。Supernode B 和其他空闲 rack 表明这些约束是有选择的放置，而非资源只剩此处。关系 API 为 proposed，不提供伪造的可执行 YAML。</a:t>
            </a:r>
          </a:p>
          <a:p>
            <a:r>
              <a:t>移入备注的外围说明：</a:t>
            </a:r>
          </a:p>
          <a:p>
            <a:r>
              <a:t>Cooperate at one topology level; isolate replicas at a finer level.</a:t>
            </a:r>
          </a:p>
          <a:p>
            <a:r>
              <a:t>Keep cooperating groups local while separating replicas inside the same PodGroup.</a:t>
            </a:r>
          </a:p>
          <a:p>
            <a:r>
              <a:t>Proposed SubGroup relationships</a:t>
            </a:r>
          </a:p>
          <a:p>
            <a:r>
              <a:t>Affinity · supernode</a:t>
            </a:r>
          </a:p>
          <a:p>
            <a:r>
              <a:t>Prefill + Decode</a:t>
            </a:r>
          </a:p>
          <a:p>
            <a:r>
              <a:t>Keep KV exchange inside the same supernode.</a:t>
            </a:r>
          </a:p>
          <a:p>
            <a:r>
              <a:t>Anti-affinity · leaf</a:t>
            </a:r>
          </a:p>
          <a:p>
            <a:r>
              <a:t>Decode replica 0 + replica 1</a:t>
            </a:r>
          </a:p>
          <a:p>
            <a:r>
              <a:t>Keep complete replicas on separate leaf domains.</a:t>
            </a:r>
          </a:p>
          <a:p>
            <a:r>
              <a:t>SubGroup affinity / anti-affinity · proposed</a:t>
            </a:r>
          </a:p>
          <a:p>
            <a:r>
              <a:t>Affinity</a:t>
            </a:r>
          </a:p>
          <a:p>
            <a:r>
              <a:t>Prefill + Decode</a:t>
            </a:r>
          </a:p>
          <a:p>
            <a:r>
              <a:t>Same supernode · KV locality</a:t>
            </a:r>
          </a:p>
          <a:p>
            <a:r>
              <a:t>Anti-affinity</a:t>
            </a:r>
          </a:p>
          <a:p>
            <a:r>
              <a:t>Decode replicas</a:t>
            </a:r>
          </a:p>
          <a:p>
            <a:r>
              <a:t>Separate leaves</a:t>
            </a:r>
          </a:p>
          <a:p>
            <a:r>
              <a:t>Affinity</a:t>
            </a:r>
          </a:p>
          <a:p>
            <a:r>
              <a:t>Supernode · KV locality</a:t>
            </a:r>
          </a:p>
          <a:p>
            <a:r>
              <a:t>Anti-affinity</a:t>
            </a:r>
          </a:p>
          <a:p>
            <a:r>
              <a:t>Leaf · replica isolation</a:t>
            </a:r>
          </a:p>
          <a:p>
            <a:r>
              <a:t>Proposed</a:t>
            </a:r>
          </a:p>
          <a:p/>
          <a:p>
            <a:r>
              <a:t>技术来源：</a:t>
            </a:r>
          </a:p>
          <a:p>
            <a:r>
              <a:t>https://github.com/volcano-sh/volcano/releases/tag/v1.16.0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https://github.com/volcano-sh/volcano/blob/v1.16.0/docs/design/group-topology-affinity.md</a:t>
            </a:r>
          </a:p>
          <a:p/>
          <a:p>
            <a:r>
              <a:t>本页新版素材与说明：docs/design/group-topology-affinity.md (proposed SubGroup relationships); roadmap #6166.</a:t>
            </a:r>
          </a:p>
          <a:p>
            <a:r>
              <a:t>本页为未来方向，不能当作已交付 API。示意同一 PodGroup 内将协作组放近、将副本分开；具体 selector 与亲和关系设计仍需社区讨论。</a:t>
            </a:r>
          </a:p>
          <a:p>
            <a:r>
              <a:t>Visual: na2026/svg/12-subgroup-next.svg。PNG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0:10。转场：这些分组和拓扑语义，最终要由用户真正使用的 controller 传进来。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1:40。沿用 China Kthena 图及关键 YAML，按 ServingGroup→PodGroup、role replica→SubGroup 的顺序讲。一个 Entry 加一个 Worker 组成两 Pod 副本。</a:t>
            </a:r>
          </a:p>
          <a:p>
            <a:r>
              <a:t>移入备注的外围说明：</a:t>
            </a:r>
          </a:p>
          <a:p>
            <a:r>
              <a:t>Pod templates omitted.</a:t>
            </a:r>
          </a:p>
          <a:p>
            <a:r>
              <a:t>One ServingGroup maps to one PodGroup. Each role replica forms a SubGroup.</a:t>
            </a:r>
          </a:p>
          <a:p>
            <a:r>
              <a:t>ServingGroup → PodGroup   ·   Role replica → SubGroup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/>
          <a:p>
            <a:r>
              <a:t>本页新版素材与说明：China 2026 slide 22; Kthena ModelServing gang scheduling guide.</a:t>
            </a:r>
          </a:p>
          <a:p>
            <a:r>
              <a:t>图中每个 role replica 有一个 Entry 和一个 Worker Pod；YAML 保留 gangPolicy、role 副本数与 workerReplicas，省略 entryTemplate、workerTemplate 与 networkTopology。Gang 不表示所有 Pod 原子绑定或同时启动。</a:t>
            </a:r>
          </a:p>
          <a:p>
            <a:r>
              <a:t>Visual: na2026/svg/14-kthena-mapping.svg。PNG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1:30。两个 replica，每个两个 hosts；用 matchLabelKeys 保持副本身份。head 另有分组。本页不把尚在推进的 KubeRay topology PR 当作已合入能力。</a:t>
            </a:r>
          </a:p>
          <a:p>
            <a:r>
              <a:t>移入备注的外围说明：</a:t>
            </a:r>
          </a:p>
          <a:p>
            <a:r>
              <a:t>The replica label separates complete groups inside one WorkerGroup.</a:t>
            </a:r>
          </a:p>
          <a:p>
            <a:r>
              <a:t>worker registration / RPC</a:t>
            </a:r>
          </a:p>
          <a:p>
            <a:r>
              <a:t>One replica label → one complete SubGroup</a:t>
            </a:r>
          </a:p>
          <a:p>
            <a:r>
              <a:t>Two replicas × two hosts = four worker Pods</a:t>
            </a:r>
          </a:p>
          <a:p>
            <a:r>
              <a:t>Gang support is merged. Replica topology is in progress.</a:t>
            </a:r>
          </a:p>
          <a:p>
            <a:r>
              <a:t>Multi-host replicas · label-based grouping</a:t>
            </a:r>
          </a:p>
          <a:p>
            <a:r>
              <a:t>Ray head</a:t>
            </a:r>
          </a:p>
          <a:p>
            <a:r>
              <a:t>separate group</a:t>
            </a:r>
          </a:p>
          <a:p>
            <a:r>
              <a:t>Replica label → SubGroup</a:t>
            </a:r>
          </a:p>
          <a:p>
            <a:r>
              <a:t>Gang: merged · Topology: in progress</a:t>
            </a:r>
          </a:p>
          <a:p/>
          <a:p>
            <a:r>
              <a:t>技术来源：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/>
          <a:p>
            <a:r>
              <a:t>本页新版素材与说明：KubeRay #5249; #5369 open as of 2026-10-29. Volcano SubGroup API.</a:t>
            </a:r>
          </a:p>
          <a:p>
            <a:r>
              <a:t>Visual: na2026/svg/15-ray-replicas.svg。PNG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0:50。根据 Grove main 的实际 Volcano backend：一个 PodGang 生成一个 Volcano PodGroup；PodGang.spec.podGroups 中每一项生成 SubGroup policy，name 和 PodClique label 选中组，subGroupSize=max(minReplicas,1)，minSubGroups=1。图示两个组分别 2 和 4 Pods，总 minMember=6。当前 main 明确拒绝 PodCliqueSet / PodClique / PodCliqueScalingGroup 上的 topologyConstraint。区分已合入的 adapter 与发布版本支持；不要只依据 #516 初始 PR 描述判断后续 main。</a:t>
            </a:r>
          </a:p>
          <a:p>
            <a:r>
              <a:t>https://github.com/NVIDIA/grove/blob/main/operator/internal/scheduler/volcano/backend.go</a:t>
            </a:r>
          </a:p>
          <a:p>
            <a:r>
              <a:t>移入备注的外围说明：</a:t>
            </a:r>
          </a:p>
          <a:p>
            <a:r>
              <a:t>The backend translates Grove PodGroups into Volcano SubGroup policies.</a:t>
            </a:r>
          </a:p>
          <a:p>
            <a:r>
              <a:t>one policy</a:t>
            </a:r>
          </a:p>
          <a:p>
            <a:r>
              <a:t>one policy</a:t>
            </a:r>
          </a:p>
          <a:p>
            <a:r>
              <a:t>PodGang minimum = 2 + 4 = 6 Pods</a:t>
            </a:r>
          </a:p>
          <a:p>
            <a:r>
              <a:t>Gang and SubGroup mapping are available. Topology support is pending.</a:t>
            </a:r>
          </a:p>
          <a:p>
            <a:r>
              <a:t>Gang / SubGroup mapping available · topology unsupported</a:t>
            </a:r>
          </a:p>
          <a:p>
            <a:r>
              <a:t>policy</a:t>
            </a:r>
          </a:p>
          <a:p>
            <a:r>
              <a:t>policy</a:t>
            </a:r>
          </a:p>
          <a:p>
            <a:r>
              <a:t>PodGang: 6 Pods</a:t>
            </a:r>
          </a:p>
          <a:p>
            <a:r>
              <a:t>minMember: 6</a:t>
            </a:r>
          </a:p>
          <a:p>
            <a:r>
              <a:t>Gang mapping available · topology unsupported</a:t>
            </a:r>
          </a:p>
          <a:p/>
          <a:p>
            <a:r>
              <a:t>本页新版素材与说明：https://github.com/NVIDIA/grove/blob/1d8f83b38a3f54d9827bb579a68c0315ed54ce91/operator/internal/scheduler/volcano/backend.go (reviewed 2026-10-29); #516 merged. topologyConstraint is currently rejected.</a:t>
            </a:r>
          </a:p>
          <a:p>
            <a:r>
              <a:t>Visual: na2026/svg/16-grove-mapping.svg。PNG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0:50。具体 Kthena、KubeRay、Grove 案例之后再讲后续社区方向。RBG 推进中，已有 RoleInstance→SubGroup 基础；Kubeflow 计划在现有 Volcano 插件上深化分组及拓扑；LWS 计划 multi-role/multi-group 支持。状态来自 maintainer 的推进计划，不能写作全部已交付。</a:t>
            </a:r>
          </a:p>
          <a:p>
            <a:r>
              <a:t>移入备注的外围说明：</a:t>
            </a:r>
          </a:p>
          <a:p>
            <a:r>
              <a:t>Carry roles, replicas, and placement intent from the controller into Volcano.</a:t>
            </a:r>
          </a:p>
          <a:p>
            <a:r>
              <a:t>Build on current integrations. Carry finer group structure and placement requirements.</a:t>
            </a:r>
          </a:p>
          <a:p>
            <a:r>
              <a:t>In progress</a:t>
            </a:r>
          </a:p>
          <a:p>
            <a:r>
              <a:t>RoleInstance → SubGroup</a:t>
            </a:r>
          </a:p>
          <a:p>
            <a:r>
              <a:t>Extend the existing gang integration.</a:t>
            </a:r>
          </a:p>
          <a:p>
            <a:r>
              <a:t>Planned</a:t>
            </a:r>
          </a:p>
          <a:p>
            <a:r>
              <a:t>Training groups + topology</a:t>
            </a:r>
          </a:p>
          <a:p>
            <a:r>
              <a:t>Build on the Volcano scheduler plugin.</a:t>
            </a:r>
          </a:p>
          <a:p>
            <a:r>
              <a:t>Planned</a:t>
            </a:r>
          </a:p>
          <a:p>
            <a:r>
              <a:t>Multi-role / multi-group support</a:t>
            </a:r>
          </a:p>
          <a:p>
            <a:r>
              <a:t>Connect group relationships to scheduling.</a:t>
            </a:r>
          </a:p>
          <a:p>
            <a:r>
              <a:t>RBG in progress · Kubeflow and LWS planned</a:t>
            </a:r>
          </a:p>
          <a:p>
            <a:r>
              <a:t>Gang integration</a:t>
            </a:r>
          </a:p>
          <a:p>
            <a:r>
              <a:t>Volcano plugin</a:t>
            </a:r>
          </a:p>
          <a:p>
            <a:r>
              <a:t>Cross-group placement</a:t>
            </a:r>
          </a:p>
          <a:p/>
          <a:p>
            <a:r>
              <a:t>技术来源：</a:t>
            </a:r>
          </a:p>
          <a:p>
            <a:r>
              <a:t>https://github.com/volcano-sh/kthena/blob/main/docs/kthena/versioned_docs/version-v1.0.0/user-guide/gang-scheduling.md</a:t>
            </a:r>
          </a:p>
          <a:p>
            <a:r>
              <a:t>https://github.com/volcano-sh/kthena/blob/main/docs/kthena/versioned_docs/version-v1.0.0/user-guide/network-topology.md</a:t>
            </a:r>
          </a:p>
          <a:p>
            <a:r>
              <a:t>https://github.com/kuberay-project/kuberay/pull/5249</a:t>
            </a:r>
          </a:p>
          <a:p>
            <a:r>
              <a:t>https://github.com/kuberay-project/kuberay/pull/5369</a:t>
            </a:r>
          </a:p>
          <a:p>
            <a:r>
              <a:t>https://github.com/ai-dynamo/grove/pull/516</a:t>
            </a:r>
          </a:p>
          <a:p>
            <a:r>
              <a:t>https://trainer.kubeflow.org/en/latest/operator-guides/job-scheduling/volcano.html</a:t>
            </a:r>
          </a:p>
          <a:p>
            <a:r>
              <a:t>https://github.com/kubernetes-sigs/lws/pull/498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/>
          <a:p>
            <a:r>
              <a:t>本页新版素材与说明：Kthena docs; KubeRay #5249 / #5369; Grove #516; RBG gang-scheduling docs; Kubeflow Trainer Volcano plugin; LWS README / DisaggregatedSet. Roadmap intent supplied by maintainers.</a:t>
            </a:r>
          </a:p>
          <a:p>
            <a:r>
              <a:t>https://github.com/sgl-project/rbg/blob/main/doc/features/gang-scheduling.md</a:t>
            </a:r>
          </a:p>
          <a:p>
            <a:r>
              <a:t>https://github.com/kubernetes-sigs/lws/blob/main/README.md</a:t>
            </a:r>
          </a:p>
          <a:p>
            <a:r>
              <a:t>右侧为 maintainer 提供的推进方向；RBG 公开文档已有 RoleInstance→SubGroup 基础。LWS 已有副本组，下一步是跨角色 multi-group 调度集成。</a:t>
            </a:r>
          </a:p>
          <a:p>
            <a:r>
              <a:t>Visual: na2026/svg/17-ecosystem.svg。PNG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0:10。转场：接入的控制器和约束越多，就越需要可重复的 benchmark。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1:30。沿数据路径解释 benchmark：场景输入→API/调度器→audit-exporter 与 Prometheus→报告。KWOK 只验证调度行为，不代表真实 GPU 执行吞吐。</a:t>
            </a:r>
          </a:p>
          <a:p>
            <a:r>
              <a:t>移入备注的外围说明：</a:t>
            </a:r>
          </a:p>
          <a:p>
            <a:r>
              <a:t>The harness controls the scenario and records observations; KWOK does not execute GPU work.</a:t>
            </a:r>
          </a:p>
          <a:p>
            <a:r>
              <a:t>Generate scenarios, observe API events, and retain comparable measurements.</a:t>
            </a:r>
          </a:p>
          <a:p>
            <a:r>
              <a:t>Scenario</a:t>
            </a:r>
          </a:p>
          <a:p>
            <a:r>
              <a:t>Cluster under test</a:t>
            </a:r>
          </a:p>
          <a:p>
            <a:r>
              <a:t>Observation</a:t>
            </a:r>
          </a:p>
          <a:p>
            <a:r>
              <a:t>Gang / Pod generation</a:t>
            </a:r>
          </a:p>
          <a:p>
            <a:r>
              <a:t>Version + resources + topology</a:t>
            </a:r>
          </a:p>
          <a:p>
            <a:r>
              <a:t>audit + scheduler metrics</a:t>
            </a:r>
          </a:p>
          <a:p>
            <a:r>
              <a:t>audit-exporter</a:t>
            </a:r>
          </a:p>
          <a:p>
            <a:r>
              <a:t>Scenario → cluster → measurements</a:t>
            </a:r>
          </a:p>
          <a:p>
            <a:r>
              <a:t>Scenario</a:t>
            </a:r>
          </a:p>
          <a:p>
            <a:r>
              <a:t>Cluster under test</a:t>
            </a:r>
          </a:p>
          <a:p>
            <a:r>
              <a:t>Measurements</a:t>
            </a:r>
          </a:p>
          <a:p>
            <a:r>
              <a:t>Scenario runner</a:t>
            </a:r>
          </a:p>
          <a:p>
            <a:r>
              <a:t>Gangs / Pods</a:t>
            </a:r>
          </a:p>
          <a:p>
            <a:r>
              <a:t>Workload parameters</a:t>
            </a:r>
          </a:p>
          <a:p>
            <a:r>
              <a:t>Prometheus</a:t>
            </a:r>
          </a:p>
          <a:p>
            <a:r>
              <a:t>Scheduler metrics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https://github.com/volcano-sh/volcano/blob/a3d50b503/benchmark/scripts/README.md</a:t>
            </a:r>
          </a:p>
          <a:p/>
          <a:p>
            <a:r>
              <a:t>本页新版素材与说明：benchmark/README.md; benchmark/scripts; benchmark/config; benchmark/testcases.</a:t>
            </a:r>
          </a:p>
          <a:p>
            <a:r>
              <a:t>Visual: na2026/svg/19-benchmark-architecture.svg。PNG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1:20。已有 harness 为重复场景和指标采集打底。后续在同样集群容量、相同 workload arrivals/grouping/resources 下逐个运行不同 scheduler；每次 reset，不能让调度器同时竞争资源。固定每个实现的版本、配置和指标口径；记录各自合理调参后的配置。Kubernetes scheduler 可作为支持场景的 baseline，其他调度器集合待确定。未支持 gang 或 topology 的调度器不强行比较相同语义，须标注差异。比较 tail latency、binding throughput、完整 gang 数及放置正确性，不展示虚构结果。</a:t>
            </a:r>
          </a:p>
          <a:p>
            <a:r>
              <a:t>移入备注的外围说明：</a:t>
            </a:r>
          </a:p>
          <a:p>
            <a:r>
              <a:t>¹ Planned comparison set; match workload semantics and record unsupported constraints.</a:t>
            </a:r>
          </a:p>
          <a:p>
            <a:r>
              <a:t>Harness available. Next: cross-scheduler runs and representative scenarios.</a:t>
            </a:r>
          </a:p>
          <a:p>
            <a:r>
              <a:t>Repeat controlled runs to understand throughput, latency, and placement tradeoffs.</a:t>
            </a:r>
          </a:p>
          <a:p>
            <a:r>
              <a:t>One workload, replayed</a:t>
            </a:r>
          </a:p>
          <a:p>
            <a:r>
              <a:t>Planned comparisons</a:t>
            </a:r>
          </a:p>
          <a:p>
            <a:r>
              <a:t>Same arrivals · groups · resources</a:t>
            </a:r>
          </a:p>
          <a:p>
            <a:r>
              <a:t>one scheduler per run</a:t>
            </a:r>
          </a:p>
          <a:p>
            <a:r>
              <a:t>Same cluster capacity</a:t>
            </a:r>
          </a:p>
          <a:p>
            <a:r>
              <a:t>Pin versions + config</a:t>
            </a:r>
          </a:p>
          <a:p>
            <a:r>
              <a:t>Kubernetes scheduler</a:t>
            </a:r>
          </a:p>
          <a:p>
            <a:r>
              <a:t>Compare latency · binding throughput · completed gangs · placement</a:t>
            </a:r>
          </a:p>
          <a:p>
            <a:r>
              <a:t>Cross-scheduler comparisons · planned</a:t>
            </a:r>
          </a:p>
          <a:p>
            <a:r>
              <a:t>Fixed workload</a:t>
            </a:r>
          </a:p>
          <a:p>
            <a:r>
              <a:t>Schedulers</a:t>
            </a:r>
          </a:p>
          <a:p>
            <a:r>
              <a:t>One per run</a:t>
            </a:r>
          </a:p>
          <a:p>
            <a:r>
              <a:t>Latency · Throughput · Complete gangs · Placement</a:t>
            </a:r>
          </a:p>
          <a:p>
            <a:r>
              <a:t>Planned comparisons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https://github.com/volcano-sh/volcano/blob/a3d50b503/benchmark/scripts/collect-report.sh</a:t>
            </a:r>
          </a:p>
          <a:p>
            <a:r>
              <a:t>https://github.com/volcano-sh/volcano/blob/a3d50b503/benchmark/manifests/monitoring/grafana-dashboard.json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本页新版素材与说明：benchmark/README.md; benchmark/Makefile; benchmark/scripts/collect-report.sh.</a:t>
            </a:r>
          </a:p>
          <a:p>
            <a:r>
              <a:t>Visual: na2026/svg/20-benchmark-progress.svg。PNG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1:20。选择代表性场景，寻找每种 scheduler 的适用边界，不只找有利 Volcano 的配置。第一类改变 arrival rate、预留容量，观察突发的尾延迟和积压恢复；只测试 pool 容量请求的调度，不用 KWOK 宣称完整 agent runtime 延迟。第二类改变 SubGroup 大小和可用资源碎片，观察完整 gangs 和 binding throughput。第三类组合 topology tier limits、可用域、gang/anti-affinity，检查 placement correctness 与完成延迟。KWOK 可以验证调度行为；NCCL/KV 带宽及实际模型吞吐需要真实硬件另测。本页是 ongoing/planned test matrix，没有 benchmark 数字。</a:t>
            </a:r>
          </a:p>
          <a:p>
            <a:r>
              <a:t>移入备注的外围说明：</a:t>
            </a:r>
          </a:p>
          <a:p>
            <a:r>
              <a:t>Expand tests across arrival patterns, group structure, and network topology.</a:t>
            </a:r>
          </a:p>
          <a:p>
            <a:r>
              <a:t>Test shape</a:t>
            </a:r>
          </a:p>
          <a:p>
            <a:r>
              <a:t>What to vary</a:t>
            </a:r>
          </a:p>
          <a:p>
            <a:r>
              <a:t>What to observe</a:t>
            </a:r>
          </a:p>
          <a:p>
            <a:r>
              <a:t>Arrival rate / spare capacity</a:t>
            </a:r>
          </a:p>
          <a:p>
            <a:r>
              <a:t>Warm-pool capacity requests</a:t>
            </a:r>
          </a:p>
          <a:p>
            <a:r>
              <a:t>Tail scheduling latency</a:t>
            </a:r>
          </a:p>
          <a:p>
            <a:r>
              <a:t>Backlog recovery</a:t>
            </a:r>
          </a:p>
          <a:p>
            <a:r>
              <a:t>SubGroup size / fragmentation</a:t>
            </a:r>
          </a:p>
          <a:p>
            <a:r>
              <a:t>Few large vs. many small groups</a:t>
            </a:r>
          </a:p>
          <a:p>
            <a:r>
              <a:t>Complete gangs placed</a:t>
            </a:r>
          </a:p>
          <a:p>
            <a:r>
              <a:t>Binding throughput</a:t>
            </a:r>
          </a:p>
          <a:p>
            <a:r>
              <a:t>Tier limits / available domains</a:t>
            </a:r>
          </a:p>
          <a:p>
            <a:r>
              <a:t>Locality + gang + anti-affinity</a:t>
            </a:r>
          </a:p>
          <a:p>
            <a:r>
              <a:t>Placement correctness</a:t>
            </a:r>
          </a:p>
          <a:p>
            <a:r>
              <a:t>Gang completion + latency</a:t>
            </a:r>
          </a:p>
          <a:p>
            <a:r>
              <a:t>Find the best-fit scenarios and test topology-aware gang placement.</a:t>
            </a:r>
          </a:p>
          <a:p>
            <a:r>
              <a:t>Bursts · group size · topology</a:t>
            </a:r>
          </a:p>
          <a:p>
            <a:r>
              <a:t>Planned test matrix</a:t>
            </a:r>
          </a:p>
          <a:p/>
          <a:p>
            <a:r>
              <a:t>技术来源：</a:t>
            </a:r>
          </a:p>
          <a:p>
            <a:r>
              <a:t>https://github.com/volcano-sh/volcano/blob/a3d50b503/benchmark/README.md</a:t>
            </a:r>
          </a:p>
          <a:p>
            <a:r>
              <a:t>https://github.com/volcano-sh/volcano/blob/a3d50b503/benchmark/scripts/collect-report.sh</a:t>
            </a:r>
          </a:p>
          <a:p/>
          <a:p>
            <a:r>
              <a:t>本页新版素材与说明：benchmark/scripts/collect-report.sh and audit-exporter event definitions. No performance results selected.</a:t>
            </a:r>
          </a:p>
          <a:p>
            <a:r>
              <a:t>口径：scheduledAt−createdAt；binding throughput 为成功 bindings / 首尾成功 bind 时间差。对照时保留原始事件、重复次数与环境配置。命令与完整指标定义见 benchmark/README.md。</a:t>
            </a:r>
          </a:p>
          <a:p>
            <a:r>
              <a:t>Visual: na2026/svg/21-benchmark-measurement.svg。PNG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1:00。收尾强调下一步：SubGroup affinity/anti-affinity 的语义与实现；RBG/Kubeflow/LWS multi-group 的社区工作；多调度器横向对照、代表性场景及 topology-aware gang 测试。</a:t>
            </a:r>
          </a:p>
          <a:p>
            <a:r>
              <a:t>移入备注的外围说明：</a:t>
            </a:r>
          </a:p>
          <a:p>
            <a:r>
              <a:t>Bring a controller mapping, a placement requirement, or a reproducible workload to the community.</a:t>
            </a:r>
          </a:p>
          <a:p>
            <a:r>
              <a:t>Next steps in group placement, controller integration, and benchmarking.</a:t>
            </a:r>
          </a:p>
          <a:p>
            <a:r>
              <a:t>Workstream</a:t>
            </a:r>
          </a:p>
          <a:p>
            <a:r>
              <a:t>Next step</a:t>
            </a:r>
          </a:p>
          <a:p>
            <a:r>
              <a:t>What to validate</a:t>
            </a:r>
          </a:p>
          <a:p>
            <a:r>
              <a:t>Group placement</a:t>
            </a:r>
          </a:p>
          <a:p>
            <a:r>
              <a:t>SubGroup affinity / anti-affinity</a:t>
            </a:r>
          </a:p>
          <a:p>
            <a:r>
              <a:t>Extend the existing gang and topology model.</a:t>
            </a:r>
          </a:p>
          <a:p>
            <a:r>
              <a:t>Cooperating groups stay local. Replicas use separate domains.</a:t>
            </a:r>
          </a:p>
          <a:p>
            <a:r>
              <a:t>Community integration</a:t>
            </a:r>
          </a:p>
          <a:p>
            <a:r>
              <a:t>RBG · Kubeflow · LWS multi-group</a:t>
            </a:r>
          </a:p>
          <a:p>
            <a:r>
              <a:t>Carry roles and replica identity into scheduling.</a:t>
            </a:r>
          </a:p>
          <a:p>
            <a:r>
              <a:t>Controllers preserve complete groups and map placement constraints.</a:t>
            </a:r>
          </a:p>
          <a:p>
            <a:r>
              <a:t>Benchmark validation</a:t>
            </a:r>
          </a:p>
          <a:p>
            <a:r>
              <a:t>Compare schedulers across scenarios</a:t>
            </a:r>
          </a:p>
          <a:p>
            <a:r>
              <a:t>Find best-fit cases. Test topology-aware gangs.</a:t>
            </a:r>
          </a:p>
          <a:p>
            <a:r>
              <a:t>Retain latency distributions, binding throughput, and raw events.</a:t>
            </a:r>
          </a:p>
          <a:p>
            <a:r>
              <a:t>Group placement · ecosystem · benchmarks</a:t>
            </a:r>
          </a:p>
          <a:p/>
          <a:p>
            <a:r>
              <a:t>技术来源：</a:t>
            </a:r>
          </a:p>
          <a:p>
            <a:r>
              <a:t>https://github.com/volcano-sh/volcano/issues/6166</a:t>
            </a:r>
          </a:p>
          <a:p>
            <a:r>
              <a:t>https://github.com/volcano-sh/volcano/blob/a3d50b503/benchmark/README.md</a:t>
            </a:r>
          </a:p>
          <a:p/>
          <a:p>
            <a:r>
              <a:t>本页新版素材与说明：</a:t>
            </a:r>
          </a:p>
          <a:p>
            <a:r>
              <a:t>Visual: na2026/svg/22-takeaways.svg。PNG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0:20。复用 China 第 25 页的 32 个社区用户 logo，保留素材来源，不新增商业伙伴关系或用户数量声明。</a:t>
            </a:r>
          </a:p>
          <a:p/>
          <a:p>
            <a:r>
              <a:t>本页新版素材与说明：China 2026 slide 25. Original user logos, rearranged into eight columns; no new adopter count or partnership claims.</a:t>
            </a:r>
          </a:p>
          <a:p>
            <a:r>
              <a:t>Visual: na2026/svg/23-community-users.svg。PNG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5:00。问答。优先收集工作负载如何分组、需要哪些拓扑关系，以及可重复的测试场景。</a:t>
            </a:r>
          </a:p>
          <a:p>
            <a:r>
              <a:t>移入备注的外围说明：</a:t>
            </a:r>
          </a:p>
          <a:p>
            <a:r>
              <a:t>Workload shapes, integration feedback, and reproducible observations are welcome.</a:t>
            </a:r>
          </a:p>
          <a:p>
            <a:r>
              <a:t>二维码复用 China 第 25 页，分别指向 https://volcano.sh、https://github.com/volcano-sh/volcano、https://cloud-native.slack.com/archives/C011GJDQS0N。</a:t>
            </a:r>
          </a:p>
          <a:p/>
          <a:p>
            <a:r>
              <a:t>技术来源：</a:t>
            </a:r>
          </a:p>
          <a:p>
            <a:r>
              <a:t>https://github.com/volcano-sh/volcano/blob/v1.16.0/docs/design/agent-scheduler.md</a:t>
            </a:r>
          </a:p>
          <a:p>
            <a:r>
              <a:t>https://github.com/volcano-sh/volcano/blob/v1.16.0/docs/user-guide/how_to_use_podgroup_anti_affinity.md</a:t>
            </a:r>
          </a:p>
          <a:p>
            <a:r>
              <a:t>https://github.com/volcano-sh/volcano/issues/6166</a:t>
            </a:r>
          </a:p>
          <a:p/>
          <a:p>
            <a:r>
              <a:t>本页新版素材与说明：</a:t>
            </a:r>
          </a:p>
          <a:p>
            <a:r>
              <a:t>Visual: na2026/svg/24-questions.svg。PNG 固定几何；复用的旧图原本为位图，新增 YAML 和注释为 SVG 文本。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4.jpg"/><Relationship Id="rId5" Type="http://schemas.openxmlformats.org/officeDocument/2006/relationships/image" Target="../media/image5.jpg"/><Relationship Id="rId6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6.png"/><Relationship Id="rId5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7.png"/><Relationship Id="rId5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8.pn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9.png"/><Relationship Id="rId5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0.png"/><Relationship Id="rId5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1.png"/><Relationship Id="rId5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2.png"/><Relationship Id="rId5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4.png"/><Relationship Id="rId5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5.png"/><Relationship Id="rId5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6.png"/><Relationship Id="rId5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7.png"/><Relationship Id="rId5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8.png"/><Relationship Id="rId5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0.png"/><Relationship Id="rId5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1.png"/><Relationship Id="rId5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2.png"/><Relationship Id="rId5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2.png"/><Relationship Id="rId4" Type="http://schemas.openxmlformats.org/officeDocument/2006/relationships/image" Target="../media/image23.png"/><Relationship Id="rId5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66928" y="1234440"/>
            <a:ext cx="10561320" cy="138988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Volcano for the</a:t>
            </a:r>
          </a:p>
          <a:p>
            <a:pPr>
              <a:spcAft>
                <a:spcPts val="500"/>
              </a:spcAft>
              <a:defRPr sz="4300" b="1">
                <a:solidFill>
                  <a:srgbClr val="17283B"/>
                </a:solidFill>
                <a:latin typeface="Liberation Sans"/>
              </a:defRPr>
            </a:pPr>
            <a:r>
              <a:t>Agentic AI Era: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03504" y="2834640"/>
            <a:ext cx="9875520" cy="11887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Unified Scheduling Across Training,</a:t>
            </a:r>
          </a:p>
          <a:p>
            <a:pPr>
              <a:spcAft>
                <a:spcPts val="500"/>
              </a:spcAft>
              <a:defRPr sz="3100" b="0">
                <a:solidFill>
                  <a:srgbClr val="164F89"/>
                </a:solidFill>
                <a:latin typeface="Liberation Sans"/>
              </a:defRPr>
            </a:pPr>
            <a:r>
              <a:t>Inference, and Agents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590288"/>
            <a:ext cx="10607040" cy="4114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500" b="1">
                <a:solidFill>
                  <a:srgbClr val="17283B"/>
                </a:solidFill>
                <a:latin typeface="Liberation Sans"/>
              </a:defRPr>
            </a:pPr>
            <a:r>
              <a:t>Ricardo Aravena  ·  Rainie Li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21792" y="5202936"/>
            <a:ext cx="1078992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KubeCon + CloudNativeCon North America 2026</a:t>
            </a:r>
          </a:p>
          <a:p>
            <a:pPr>
              <a:spcAft>
                <a:spcPts val="500"/>
              </a:spcAft>
              <a:defRPr sz="1800" b="0">
                <a:solidFill>
                  <a:srgbClr val="414F60"/>
                </a:solidFill>
                <a:latin typeface="Liberation Sans"/>
              </a:defRPr>
            </a:pPr>
            <a:r>
              <a:t>Salt Lake City · November 9–12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01 / 24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68680"/>
            <a:ext cx="10972800" cy="5943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300" b="1">
                <a:solidFill>
                  <a:srgbClr val="17283B"/>
                </a:solidFill>
                <a:latin typeface="Liberation Sans"/>
              </a:defRPr>
            </a:pPr>
            <a:r>
              <a:t>Speakers</a:t>
            </a:r>
          </a:p>
        </p:txBody>
      </p:sp>
      <p:pic>
        <p:nvPicPr>
          <p:cNvPr id="5" name="Picture 4" descr="ricardo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1520" y="1828800"/>
            <a:ext cx="1600200" cy="1600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Ricardo Aravena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AI Infrastructure Lead · Nunchux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CNCF TOC Alternate (GB)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Cloud native and AI infrastructure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nunchux.ai · CNCF TOC</a:t>
            </a:r>
          </a:p>
        </p:txBody>
      </p:sp>
      <p:pic>
        <p:nvPicPr>
          <p:cNvPr id="10" name="Picture 9" descr="rainie.jpe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46520" y="1828800"/>
            <a:ext cx="1600200" cy="160020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6446520" y="3675887"/>
            <a:ext cx="4937760" cy="4572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000" b="1">
                <a:solidFill>
                  <a:srgbClr val="17283B"/>
                </a:solidFill>
                <a:latin typeface="Liberation Sans"/>
              </a:defRPr>
            </a:pPr>
            <a:r>
              <a:t>Rainie Li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46520" y="4279392"/>
            <a:ext cx="4846320" cy="3931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200" b="0">
                <a:solidFill>
                  <a:srgbClr val="164F89"/>
                </a:solidFill>
                <a:latin typeface="Liberation Sans"/>
              </a:defRPr>
            </a:pPr>
            <a:r>
              <a:t>Pinterest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46520" y="4818888"/>
            <a:ext cx="4846320" cy="7772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Data processing infrastructure</a:t>
            </a:r>
          </a:p>
          <a:p>
            <a:pPr>
              <a:spcAft>
                <a:spcPts val="500"/>
              </a:spcAft>
              <a:defRPr sz="2000" b="0">
                <a:solidFill>
                  <a:srgbClr val="414F60"/>
                </a:solidFill>
                <a:latin typeface="Liberation Sans"/>
              </a:defRPr>
            </a:pPr>
            <a:r>
              <a:t>Apache YuniKorn PMC member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5806440"/>
            <a:ext cx="4846320" cy="27432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164F89"/>
                </a:solidFill>
                <a:latin typeface="Liberation Sans"/>
              </a:defRPr>
            </a:pPr>
            <a:r>
              <a:t>Apache YuniKorn · rainieli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02 / 24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Unified scheduling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Different paths. Shared infrastructure.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03 / 24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Different Workloads, Shared Infrastructure</a:t>
            </a:r>
          </a:p>
        </p:txBody>
      </p:sp>
      <p:pic>
        <p:nvPicPr>
          <p:cNvPr id="5" name="Picture 4" descr="04-workload-demand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04 / 24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Coordinated Scheduling Framework</a:t>
            </a:r>
          </a:p>
        </p:txBody>
      </p:sp>
      <p:pic>
        <p:nvPicPr>
          <p:cNvPr id="5" name="Picture 4" descr="05-unified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05 / 24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NodeShard: Desired Nodes and Current Use</a:t>
            </a:r>
          </a:p>
        </p:txBody>
      </p:sp>
      <p:pic>
        <p:nvPicPr>
          <p:cNvPr id="5" name="Picture 4" descr="06-nodeshar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06 / 24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Multi-level gang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&amp; network topology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From available nodes to runnable workloads.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07 / 24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PodGroup and SubGroup: Preserve Workload Structure</a:t>
            </a:r>
          </a:p>
        </p:txBody>
      </p:sp>
      <p:pic>
        <p:nvPicPr>
          <p:cNvPr id="5" name="Picture 4" descr="08-group-stru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08 / 24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850" b="1">
                <a:solidFill>
                  <a:srgbClr val="17283B"/>
                </a:solidFill>
                <a:latin typeface="Liberation Sans"/>
              </a:defRPr>
            </a:pPr>
            <a:r>
              <a:t>HyperNode: From Physical Fabric to Scheduling Domains</a:t>
            </a:r>
          </a:p>
        </p:txBody>
      </p:sp>
      <p:pic>
        <p:nvPicPr>
          <p:cNvPr id="5" name="Picture 4" descr="09-hypernode-a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09 / 24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Place Groups at Different Topology Levels</a:t>
            </a:r>
          </a:p>
        </p:txBody>
      </p:sp>
      <p:pic>
        <p:nvPicPr>
          <p:cNvPr id="5" name="Picture 4" descr="10-multilevel-plac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10 / 24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Keep Each Instance Together, Place Instances Apart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Same-label PodGroups → separate supernodes</a:t>
            </a:r>
          </a:p>
        </p:txBody>
      </p:sp>
      <p:pic>
        <p:nvPicPr>
          <p:cNvPr id="6" name="Picture 5" descr="11-instance-isol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11 / 24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Relationships Between SubGroups</a:t>
            </a:r>
          </a:p>
        </p:txBody>
      </p:sp>
      <p:pic>
        <p:nvPicPr>
          <p:cNvPr id="5" name="Picture 4" descr="12-subgroup-nex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12 / 24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Ecosystem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Workload controllers carry scheduling intent.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13 / 24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Kthena: From Serving Roles to Scheduling Groups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75488" y="1371600"/>
            <a:ext cx="11201400" cy="4297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100" b="0">
                <a:solidFill>
                  <a:srgbClr val="164F89"/>
                </a:solidFill>
                <a:latin typeface="Liberation Sans"/>
              </a:defRPr>
            </a:pPr>
            <a:r>
              <a:t>ServingGroup → PodGroup · role replica → SubGroup</a:t>
            </a:r>
          </a:p>
        </p:txBody>
      </p:sp>
      <p:pic>
        <p:nvPicPr>
          <p:cNvPr id="6" name="Picture 5" descr="14-kthena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874519"/>
            <a:ext cx="11277599" cy="42672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14 / 24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KubeRay: A Replica Can Span Multiple Pods</a:t>
            </a:r>
          </a:p>
        </p:txBody>
      </p:sp>
      <p:pic>
        <p:nvPicPr>
          <p:cNvPr id="5" name="Picture 4" descr="15-ray-replica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15 / 24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Grove: Carry PodGang Structure into Volcano</a:t>
            </a:r>
          </a:p>
        </p:txBody>
      </p:sp>
      <p:pic>
        <p:nvPicPr>
          <p:cNvPr id="5" name="Picture 4" descr="16-grove-mapping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16 / 24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RBG, Kubeflow, and LWS</a:t>
            </a:r>
          </a:p>
        </p:txBody>
      </p:sp>
      <p:pic>
        <p:nvPicPr>
          <p:cNvPr id="5" name="Picture 4" descr="17-ecosyste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17 / 24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cover-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94360" y="1298448"/>
            <a:ext cx="182880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800" b="1">
                <a:solidFill>
                  <a:srgbClr val="164F89"/>
                </a:solidFill>
                <a:latin typeface="Liberation Sans"/>
              </a:defRPr>
            </a:pPr>
            <a: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2084831"/>
            <a:ext cx="7863840" cy="15087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Benchmark</a:t>
            </a:r>
          </a:p>
          <a:p>
            <a:pPr>
              <a:spcAft>
                <a:spcPts val="500"/>
              </a:spcAft>
              <a:defRPr sz="4100" b="1">
                <a:solidFill>
                  <a:srgbClr val="17283B"/>
                </a:solidFill>
                <a:latin typeface="Liberation Sans"/>
              </a:defRPr>
            </a:pPr>
            <a:r>
              <a:t>framework &amp; progress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21792" y="4041648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2400" b="0">
                <a:solidFill>
                  <a:srgbClr val="164F89"/>
                </a:solidFill>
                <a:latin typeface="Liberation Sans"/>
              </a:defRPr>
            </a:pPr>
            <a:r>
              <a:t>Measure behavior across workload shapes.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503920" y="1554480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01  Unified scheduling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503920" y="2249424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02  Multi-level gang &amp; network topology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2944368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0">
                <a:solidFill>
                  <a:srgbClr val="414F60"/>
                </a:solidFill>
                <a:latin typeface="Liberation Sans"/>
              </a:defRPr>
            </a:pPr>
            <a:r>
              <a:t>03  Ecosystem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0" y="3639312"/>
            <a:ext cx="3154680" cy="62179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1500" b="1">
                <a:solidFill>
                  <a:srgbClr val="164F89"/>
                </a:solidFill>
                <a:latin typeface="Liberation Sans"/>
              </a:defRPr>
            </a:pPr>
            <a:r>
              <a:t>04  Benchmark framework &amp; progress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18 / 24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A Repeatable Scheduling Benchmark Framework</a:t>
            </a:r>
          </a:p>
        </p:txBody>
      </p:sp>
      <p:pic>
        <p:nvPicPr>
          <p:cNvPr id="5" name="Picture 4" descr="19-benchmark-architectur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19 / 24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Cross-Scheduler Comparisons</a:t>
            </a:r>
          </a:p>
        </p:txBody>
      </p:sp>
      <p:pic>
        <p:nvPicPr>
          <p:cNvPr id="5" name="Picture 4" descr="20-benchmark-progres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20 / 24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Next: Workload and Topology Test Matrix</a:t>
            </a:r>
          </a:p>
        </p:txBody>
      </p:sp>
      <p:pic>
        <p:nvPicPr>
          <p:cNvPr id="5" name="Picture 4" descr="21-benchmark-measure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21 / 24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What We Will Work On Next</a:t>
            </a:r>
          </a:p>
        </p:txBody>
      </p:sp>
      <p:pic>
        <p:nvPicPr>
          <p:cNvPr id="5" name="Picture 4" descr="22-takeaway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22 / 24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Volcano community</a:t>
            </a:r>
          </a:p>
        </p:txBody>
      </p:sp>
      <p:pic>
        <p:nvPicPr>
          <p:cNvPr id="5" name="Picture 4" descr="23-community-user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23 / 24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backgroun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8000"/>
          </a:xfrm>
          <a:prstGeom prst="rect">
            <a:avLst/>
          </a:prstGeom>
        </p:spPr>
      </p:pic>
      <p:pic>
        <p:nvPicPr>
          <p:cNvPr id="3" name="Picture 2" descr="volcano-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21240" y="292608"/>
            <a:ext cx="1737360" cy="2895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804672"/>
            <a:ext cx="11247120" cy="6400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3100" b="1">
                <a:solidFill>
                  <a:srgbClr val="17283B"/>
                </a:solidFill>
                <a:latin typeface="Liberation Sans"/>
              </a:defRPr>
            </a:pPr>
            <a:r>
              <a:t>Thank you</a:t>
            </a:r>
          </a:p>
        </p:txBody>
      </p:sp>
      <p:pic>
        <p:nvPicPr>
          <p:cNvPr id="5" name="Picture 4" descr="24-questions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1645920"/>
            <a:ext cx="11277599" cy="42672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475488" y="6519672"/>
            <a:ext cx="10515600" cy="201168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>
              <a:spcAft>
                <a:spcPts val="500"/>
              </a:spcAft>
              <a:defRPr sz="900" b="0">
                <a:solidFill>
                  <a:srgbClr val="414F60"/>
                </a:solidFill>
                <a:latin typeface="Liberation Sans"/>
              </a:defRPr>
            </a:pPr>
            <a:r>
              <a:t>Volcano  |  KubeCon + CloudNativeCon North America 2026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83096"/>
            <a:ext cx="685800" cy="256032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r">
              <a:spcAft>
                <a:spcPts val="500"/>
              </a:spcAft>
              <a:defRPr sz="1100" b="0">
                <a:solidFill>
                  <a:srgbClr val="414F60"/>
                </a:solidFill>
                <a:latin typeface="Liberation Sans"/>
              </a:defRPr>
            </a:pPr>
            <a:r>
              <a:t>24 / 24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Volcano for the Agentic AI Era: Unified Scheduling Across Training, Inference, and Agents</dc:title>
  <dc:subject>KubeCon NA 2026 — revised technical presentation</dc:subject>
  <dc:creator>Ricardo Aravena; Rainie Li</dc:creator>
  <cp:keywords/>
  <dc:description>2026-10-29. Retained China/EU figures; API excerpts; 4 chapter dividers. No invented benchmark results.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