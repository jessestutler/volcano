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>
            <a:r>
              <a:t>移入备注的外围说明：</a:t>
            </a:r>
          </a:p>
          <a:p>
            <a:r>
              <a:t>Schedule complete groups and their locality; keep latency-sensitive capacity ready.</a:t>
            </a:r>
          </a:p>
          <a:p>
            <a:r>
              <a:t>Training, inference, and agent applications put different demands on the same cluster.</a:t>
            </a:r>
          </a:p>
          <a:p>
            <a:r>
              <a:t>Training</a:t>
            </a:r>
          </a:p>
          <a:p>
            <a:r>
              <a:t>Inference</a:t>
            </a:r>
          </a:p>
          <a:p>
            <a:r>
              <a:t>Complete TP / PP gangs + network locality</a:t>
            </a:r>
          </a:p>
          <a:p>
            <a:r>
              <a:t>Role groups + topology-aware placement</a:t>
            </a:r>
          </a:p>
          <a:p>
            <a:r>
              <a:t>Agents</a:t>
            </a:r>
          </a:p>
          <a:p>
            <a:r>
              <a:t>Bursty arrivals</a:t>
            </a:r>
          </a:p>
          <a:p>
            <a:r>
              <a:t>Low startup latency</a:t>
            </a:r>
          </a:p>
          <a:p>
            <a:r>
              <a:t>reuse ready capacity</a:t>
            </a:r>
          </a:p>
          <a:p>
            <a:r>
              <a:t>replenish the pool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>
            <a:r>
              <a:t>移入备注的外围说明：</a:t>
            </a:r>
          </a:p>
          <a:p>
            <a:r>
              <a:t>Specialized scheduling paths coordinate through NodeShard.</a:t>
            </a:r>
          </a:p>
          <a:p>
            <a:r>
              <a:t>01</a:t>
            </a:r>
          </a:p>
          <a:p>
            <a:r>
              <a:t>Workload paths</a:t>
            </a:r>
          </a:p>
          <a:p>
            <a:r>
              <a:t>Batch-oriented scheduling and a Pod-oriented fast path.</a:t>
            </a:r>
          </a:p>
          <a:p>
            <a:r>
              <a:t>02</a:t>
            </a:r>
          </a:p>
          <a:p>
            <a:r>
              <a:t>Local coordination</a:t>
            </a:r>
          </a:p>
          <a:p>
            <a:r>
              <a:t>Parallel workers use Binder conflict checks.</a:t>
            </a:r>
          </a:p>
          <a:p>
            <a:r>
              <a:t>03</a:t>
            </a:r>
          </a:p>
          <a:p>
            <a:r>
              <a:t>Shared node access</a:t>
            </a:r>
          </a:p>
          <a:p>
            <a:r>
              <a:t>NodeShard coordinates candidate-node pools.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>
            <a:r>
              <a:t>移入备注的外围说明：</a:t>
            </a:r>
          </a:p>
          <a:p>
            <a:r>
              <a:t>Changing a shard coordinates future placement. It does not migrate running Pods.</a:t>
            </a:r>
          </a:p>
          <a:p>
            <a:r>
              <a:t>Desired membership ≠ immediate use</a:t>
            </a:r>
          </a:p>
          <a:p>
            <a:r>
              <a:t>Coordinators reconcile node access.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>
            <a:r>
              <a:t>移入备注的外围说明：</a:t>
            </a:r>
          </a:p>
          <a:p>
            <a:r>
              <a:t>Gang requirements apply to the workload and to its complete subgroups.</a:t>
            </a:r>
          </a:p>
          <a:p>
            <a:r>
              <a:t>A SubGroup policy selects Pods. Replica identity can split them into multiple SubGroups.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>
            <a:r>
              <a:t>移入备注的外围说明：</a:t>
            </a:r>
          </a:p>
          <a:p>
            <a:r>
              <a:t>A parent HyperNode groups child HyperNodes. A leaf groups Kubernetes Nodes.</a:t>
            </a:r>
          </a:p>
          <a:p>
            <a:r>
              <a:t>Physical fabric</a:t>
            </a:r>
          </a:p>
          <a:p>
            <a:r>
              <a:t>The same hierarchy is available through the standalone HyperNode component.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>
            <a:r>
              <a:t>移入备注的外围说明：</a:t>
            </a:r>
          </a:p>
          <a:p>
            <a:r>
              <a:t>An eight-Pod instance spans a larger domain. Prefill and Decode use different locality constraints.</a:t>
            </a:r>
          </a:p>
          <a:p>
            <a:r>
              <a:t>Named tiers: core (3) · spine (2) · leaf (1)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本页三处 networkTopology 均按 mode: hard 讲解，展示片段省略重复字段。图例使用两个固定角色组，各4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>
            <a:r>
              <a:t>移入备注的外围说明：</a:t>
            </a:r>
          </a:p>
          <a:p>
            <a:r>
              <a:t>ServingGroup → PodGroup: a Kthena scenario. Anti-affinity integration in Kthena is proposed.</a:t>
            </a:r>
          </a:p>
          <a:p>
            <a:r>
              <a:t>Each PodGroup: app=model-a</a:t>
            </a:r>
          </a:p>
          <a:p>
            <a:r>
              <a:t>One domain can fail without taking both complete instances with it.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>
            <a:r>
              <a:t>移入备注的外围说明：</a:t>
            </a:r>
          </a:p>
          <a:p>
            <a:r>
              <a:t>Cooperate at one topology level; isolate replicas at a finer level.</a:t>
            </a:r>
          </a:p>
          <a:p>
            <a:r>
              <a:t>Keep cooperating groups local while separating replicas inside the same PodGroup.</a:t>
            </a:r>
          </a:p>
          <a:p>
            <a:r>
              <a:t>Proposed SubGroup relationships</a:t>
            </a:r>
          </a:p>
          <a:p>
            <a:r>
              <a:t>Affinity · supernode</a:t>
            </a:r>
          </a:p>
          <a:p>
            <a:r>
              <a:t>Prefill + Decode</a:t>
            </a:r>
          </a:p>
          <a:p>
            <a:r>
              <a:t>Keep KV exchange inside the same supernode.</a:t>
            </a:r>
          </a:p>
          <a:p>
            <a:r>
              <a:t>Anti-affinity · leaf</a:t>
            </a:r>
          </a:p>
          <a:p>
            <a:r>
              <a:t>Decode replica 0 + replica 1</a:t>
            </a:r>
          </a:p>
          <a:p>
            <a:r>
              <a:t>Keep complete replicas on separate leaf domains.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>
            <a:r>
              <a:t>移入备注的外围说明：</a:t>
            </a:r>
          </a:p>
          <a:p>
            <a:r>
              <a:t>Pod templates omitted.</a:t>
            </a:r>
          </a:p>
          <a:p>
            <a:r>
              <a:t>One ServingGroup maps to one PodGroup. Each role replica forms a SubGroup.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>
            <a:r>
              <a:t>移入备注的外围说明：</a:t>
            </a:r>
          </a:p>
          <a:p>
            <a:r>
              <a:t>The replica label separates complete groups inside one WorkerGroup.</a:t>
            </a:r>
          </a:p>
          <a:p>
            <a:r>
              <a:t>worker registration / RPC</a:t>
            </a:r>
          </a:p>
          <a:p>
            <a:r>
              <a:t>One replica label → one complete SubGroup</a:t>
            </a:r>
          </a:p>
          <a:p>
            <a:r>
              <a:t>Two replicas × two hosts = four worker Pods</a:t>
            </a:r>
          </a:p>
          <a:p>
            <a:r>
              <a:t>Gang support is merged. Replica topology is in progress.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>
            <a:r>
              <a:t>移入备注的外围说明：</a:t>
            </a:r>
          </a:p>
          <a:p>
            <a:r>
              <a:t>The backend translates Grove PodGroups into Volcano SubGroup policies.</a:t>
            </a:r>
          </a:p>
          <a:p>
            <a:r>
              <a:t>one policy</a:t>
            </a:r>
          </a:p>
          <a:p>
            <a:r>
              <a:t>one policy</a:t>
            </a:r>
          </a:p>
          <a:p>
            <a:r>
              <a:t>PodGang minimum = 2 + 4 = 6 Pods</a:t>
            </a:r>
          </a:p>
          <a:p>
            <a:r>
              <a:t>Gang and SubGroup mapping are available. Topology support is pending.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>
            <a:r>
              <a:t>移入备注的外围说明：</a:t>
            </a:r>
          </a:p>
          <a:p>
            <a:r>
              <a:t>Carry roles, replicas, and placement intent from the controller into Volcano.</a:t>
            </a:r>
          </a:p>
          <a:p>
            <a:r>
              <a:t>Build on current integrations. Carry finer group structure and placement requirements.</a:t>
            </a:r>
          </a:p>
          <a:p>
            <a:r>
              <a:t>In progress</a:t>
            </a:r>
          </a:p>
          <a:p>
            <a:r>
              <a:t>RoleInstance → SubGroup</a:t>
            </a:r>
          </a:p>
          <a:p>
            <a:r>
              <a:t>Extend the existing gang integration.</a:t>
            </a:r>
          </a:p>
          <a:p>
            <a:r>
              <a:t>Planned</a:t>
            </a:r>
          </a:p>
          <a:p>
            <a:r>
              <a:t>Training groups + topology</a:t>
            </a:r>
          </a:p>
          <a:p>
            <a:r>
              <a:t>Build on the Volcano scheduler plugin.</a:t>
            </a:r>
          </a:p>
          <a:p>
            <a:r>
              <a:t>Planned</a:t>
            </a:r>
          </a:p>
          <a:p>
            <a:r>
              <a:t>Multi-role / multi-group support</a:t>
            </a:r>
          </a:p>
          <a:p>
            <a:r>
              <a:t>Connect group relationships to scheduling.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>
            <a:r>
              <a:t>移入备注的外围说明：</a:t>
            </a:r>
          </a:p>
          <a:p>
            <a:r>
              <a:t>The harness controls the scenario and records observations; KWOK does not execute GPU work.</a:t>
            </a:r>
          </a:p>
          <a:p>
            <a:r>
              <a:t>Generate scenarios, observe API events, and retain comparable measurements.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Observation</a:t>
            </a:r>
          </a:p>
          <a:p>
            <a:r>
              <a:t>Gang / Pod generation</a:t>
            </a:r>
          </a:p>
          <a:p>
            <a:r>
              <a:t>Version + resources + topology</a:t>
            </a:r>
          </a:p>
          <a:p>
            <a:r>
              <a:t>audit + scheduler metrics</a:t>
            </a:r>
          </a:p>
          <a:p>
            <a:r>
              <a:t>audit-exporter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>
            <a:r>
              <a:t>移入备注的外围说明：</a:t>
            </a:r>
          </a:p>
          <a:p>
            <a:r>
              <a:t>¹ Planned comparison set; match workload semantics and record unsupported constraints.</a:t>
            </a:r>
          </a:p>
          <a:p>
            <a:r>
              <a:t>Harness available. Next: cross-scheduler runs and representative scenarios.</a:t>
            </a:r>
          </a:p>
          <a:p>
            <a:r>
              <a:t>Repeat controlled runs to understand throughput, latency, and placement tradeoffs.</a:t>
            </a:r>
          </a:p>
          <a:p>
            <a:r>
              <a:t>One workload, replayed</a:t>
            </a:r>
          </a:p>
          <a:p>
            <a:r>
              <a:t>Planned comparisons</a:t>
            </a:r>
          </a:p>
          <a:p>
            <a:r>
              <a:t>Same arrivals · groups · resources</a:t>
            </a:r>
          </a:p>
          <a:p>
            <a:r>
              <a:t>one scheduler per run</a:t>
            </a:r>
          </a:p>
          <a:p>
            <a:r>
              <a:t>Same cluster capacity</a:t>
            </a:r>
          </a:p>
          <a:p>
            <a:r>
              <a:t>Pin versions + config</a:t>
            </a:r>
          </a:p>
          <a:p>
            <a:r>
              <a:t>Kubernetes scheduler</a:t>
            </a:r>
          </a:p>
          <a:p>
            <a:r>
              <a:t>Compare latency · binding throughput · completed gangs · placement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>
            <a:r>
              <a:t>移入备注的外围说明：</a:t>
            </a:r>
          </a:p>
          <a:p>
            <a:r>
              <a:t>Expand tests across arrival patterns, group structure, and network topology.</a:t>
            </a:r>
          </a:p>
          <a:p>
            <a:r>
              <a:t>Test shape</a:t>
            </a:r>
          </a:p>
          <a:p>
            <a:r>
              <a:t>What to vary</a:t>
            </a:r>
          </a:p>
          <a:p>
            <a:r>
              <a:t>What to observe</a:t>
            </a:r>
          </a:p>
          <a:p>
            <a:r>
              <a:t>Arrival rate / spare capacity</a:t>
            </a:r>
          </a:p>
          <a:p>
            <a:r>
              <a:t>Warm-pool capacity requests</a:t>
            </a:r>
          </a:p>
          <a:p>
            <a:r>
              <a:t>Tail scheduling latency</a:t>
            </a:r>
          </a:p>
          <a:p>
            <a:r>
              <a:t>Backlog recovery</a:t>
            </a:r>
          </a:p>
          <a:p>
            <a:r>
              <a:t>SubGroup size / fragmentation</a:t>
            </a:r>
          </a:p>
          <a:p>
            <a:r>
              <a:t>Few large vs. many small groups</a:t>
            </a:r>
          </a:p>
          <a:p>
            <a:r>
              <a:t>Complete gangs placed</a:t>
            </a:r>
          </a:p>
          <a:p>
            <a:r>
              <a:t>Binding throughput</a:t>
            </a:r>
          </a:p>
          <a:p>
            <a:r>
              <a:t>Tier limits / available domains</a:t>
            </a:r>
          </a:p>
          <a:p>
            <a:r>
              <a:t>Locality + gang + anti-affinity</a:t>
            </a:r>
          </a:p>
          <a:p>
            <a:r>
              <a:t>Placement correctness</a:t>
            </a:r>
          </a:p>
          <a:p>
            <a:r>
              <a:t>Gang completion + latency</a:t>
            </a:r>
          </a:p>
          <a:p>
            <a:r>
              <a:t>Find the best-fit scenarios and test topology-aware gang placement.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>
            <a:r>
              <a:t>移入备注的外围说明：</a:t>
            </a:r>
          </a:p>
          <a:p>
            <a:r>
              <a:t>Bring a controller mapping, a placement requirement, or a reproducible workload to the community.</a:t>
            </a:r>
          </a:p>
          <a:p>
            <a:r>
              <a:t>Next steps in group placement, controller integration, and benchmarking.</a:t>
            </a:r>
          </a:p>
          <a:p>
            <a:r>
              <a:t>Workstream</a:t>
            </a:r>
          </a:p>
          <a:p>
            <a:r>
              <a:t>Next step</a:t>
            </a:r>
          </a:p>
          <a:p>
            <a:r>
              <a:t>What to validate</a:t>
            </a:r>
          </a:p>
          <a:p>
            <a:r>
              <a:t>Group placement</a:t>
            </a:r>
          </a:p>
          <a:p>
            <a:r>
              <a:t>SubGroup affinity / anti-affinity</a:t>
            </a:r>
          </a:p>
          <a:p>
            <a:r>
              <a:t>Extend the existing gang and topology model.</a:t>
            </a:r>
          </a:p>
          <a:p>
            <a:r>
              <a:t>Cooperating groups stay local. Replicas use separate domains.</a:t>
            </a:r>
          </a:p>
          <a:p>
            <a:r>
              <a:t>Community integration</a:t>
            </a:r>
          </a:p>
          <a:p>
            <a:r>
              <a:t>RBG · Kubeflow · LWS multi-group</a:t>
            </a:r>
          </a:p>
          <a:p>
            <a:r>
              <a:t>Carry roles and replica identity into scheduling.</a:t>
            </a:r>
          </a:p>
          <a:p>
            <a:r>
              <a:t>Controllers preserve complete groups and map placement constraints.</a:t>
            </a:r>
          </a:p>
          <a:p>
            <a:r>
              <a:t>Benchmark validation</a:t>
            </a:r>
          </a:p>
          <a:p>
            <a:r>
              <a:t>Compare schedulers across scenarios</a:t>
            </a:r>
          </a:p>
          <a:p>
            <a:r>
              <a:t>Find best-fit cases. Test topology-aware gangs.</a:t>
            </a:r>
          </a:p>
          <a:p>
            <a:r>
              <a:t>Retain latency distributions, binding throughput, and raw events.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0:20。复用 China 第 25 页的 32 个社区用户 logo，保留素材来源，不新增商业伙伴关系或用户数量声明。</a:t>
            </a:r>
          </a:p>
          <a:p/>
          <a:p>
            <a:r>
              <a:t>本页新版素材与说明：China 2026 slide 25. Original user logos, rearranged into eight columns; no new adopter count or partnership claims.</a:t>
            </a:r>
          </a:p>
          <a:p>
            <a:r>
              <a:t>Visual: na2026/svg/23-community-users.svg。PNG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>
            <a:r>
              <a:t>二维码复用 China 第 25 页，分别指向 https://volcano.sh、https://github.com/volcano-sh/volcano、https://cloud-native.slack.com/archives/C011GJDQS0N。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na2026/svg/24-questions.svg。PNG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5" name="Picture 4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0" name="Picture 9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Gang size · network locality · startup latency</a:t>
            </a:r>
          </a:p>
        </p:txBody>
      </p:sp>
      <p:pic>
        <p:nvPicPr>
          <p:cNvPr id="6" name="Picture 5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Batch path · fast path · shared NodeShard</a:t>
            </a:r>
          </a:p>
        </p:txBody>
      </p:sp>
      <p:pic>
        <p:nvPicPr>
          <p:cNvPr id="6" name="Picture 5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Desired membership → coordinated handoff</a:t>
            </a:r>
          </a:p>
        </p:txBody>
      </p:sp>
      <p:pic>
        <p:nvPicPr>
          <p:cNvPr id="6" name="Picture 5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Workload gang · replica gang</a:t>
            </a:r>
          </a:p>
        </p:txBody>
      </p:sp>
      <p:pic>
        <p:nvPicPr>
          <p:cNvPr id="6" name="Picture 5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Physical network → scheduling domains</a:t>
            </a:r>
          </a:p>
        </p:txBody>
      </p:sp>
      <p:pic>
        <p:nvPicPr>
          <p:cNvPr id="6" name="Picture 5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PodGroup: core   ·   Prefill: leaf   ·   Decode: spine</a:t>
            </a:r>
          </a:p>
        </p:txBody>
      </p:sp>
      <p:pic>
        <p:nvPicPr>
          <p:cNvPr id="6" name="Picture 5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PodGroup anti-affinity · Kthena integration proposed</a:t>
            </a:r>
          </a:p>
        </p:txBody>
      </p:sp>
      <p:pic>
        <p:nvPicPr>
          <p:cNvPr id="6" name="Picture 5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SubGroup affinity / anti-affinity · proposed</a:t>
            </a:r>
          </a:p>
        </p:txBody>
      </p:sp>
      <p:pic>
        <p:nvPicPr>
          <p:cNvPr id="6" name="Picture 5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ServingGroup → PodGroup   ·   Role replica → SubGroup</a:t>
            </a:r>
          </a:p>
        </p:txBody>
      </p:sp>
      <p:pic>
        <p:nvPicPr>
          <p:cNvPr id="6" name="Picture 5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Multi-host replicas · label-based grouping</a:t>
            </a:r>
          </a:p>
        </p:txBody>
      </p:sp>
      <p:pic>
        <p:nvPicPr>
          <p:cNvPr id="6" name="Picture 5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Gang / SubGroup mapping available · topology unsupported</a:t>
            </a:r>
          </a:p>
        </p:txBody>
      </p:sp>
      <p:pic>
        <p:nvPicPr>
          <p:cNvPr id="6" name="Picture 5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RBG in progress · Kubeflow and LWS planned</a:t>
            </a:r>
          </a:p>
        </p:txBody>
      </p:sp>
      <p:pic>
        <p:nvPicPr>
          <p:cNvPr id="6" name="Picture 5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Scenario → cluster → measurements</a:t>
            </a:r>
          </a:p>
        </p:txBody>
      </p:sp>
      <p:pic>
        <p:nvPicPr>
          <p:cNvPr id="6" name="Picture 5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Compare Schedulers on the Same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Cross-scheduler comparisons · planned</a:t>
            </a:r>
          </a:p>
        </p:txBody>
      </p:sp>
      <p:pic>
        <p:nvPicPr>
          <p:cNvPr id="6" name="Picture 5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Which Scenarios Fit Which Scheduler?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Bursts · group size · topology</a:t>
            </a:r>
          </a:p>
        </p:txBody>
      </p:sp>
      <p:pic>
        <p:nvPicPr>
          <p:cNvPr id="6" name="Picture 5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Group placement · ecosystem · benchmarks</a:t>
            </a:r>
          </a:p>
        </p:txBody>
      </p:sp>
      <p:pic>
        <p:nvPicPr>
          <p:cNvPr id="6" name="Picture 5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Volcano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</a:p>
        </p:txBody>
      </p:sp>
      <p:pic>
        <p:nvPicPr>
          <p:cNvPr id="6" name="Picture 5" descr="23-community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</a:p>
        </p:txBody>
      </p:sp>
      <p:pic>
        <p:nvPicPr>
          <p:cNvPr id="6" name="Picture 5" descr="24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