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embeddedFontLst>
    <p:embeddedFont>
      <p:font typeface="Roboto"/>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6" roundtripDataSignature="AMtx7mhLLk0xKS8QVCGzxAagb15RsCDa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Roboto-regular.fntdata"/><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Roboto-italic.fntdata"/><Relationship Id="rId21" Type="http://schemas.openxmlformats.org/officeDocument/2006/relationships/slide" Target="slides/slide16.xml"/><Relationship Id="rId43" Type="http://schemas.openxmlformats.org/officeDocument/2006/relationships/font" Target="fonts/Roboto-bold.fntdata"/><Relationship Id="rId24" Type="http://schemas.openxmlformats.org/officeDocument/2006/relationships/slide" Target="slides/slide19.xml"/><Relationship Id="rId46" Type="http://customschemas.google.com/relationships/presentationmetadata" Target="metadata"/><Relationship Id="rId23" Type="http://schemas.openxmlformats.org/officeDocument/2006/relationships/slide" Target="slides/slide18.xml"/><Relationship Id="rId45"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Hi everyone, thanks for joining us on the Maintainer’s track. We will speak about Volcano how it’s </a:t>
            </a:r>
            <a:r>
              <a:rPr lang="en-GB"/>
              <a:t>orchestrating</a:t>
            </a:r>
            <a:r>
              <a:rPr lang="en-GB"/>
              <a:t> the full AI lifecycle, Our focus here won’t be just one product in isolation. It is the full lifecycle from training, inference, and now highly bursty agent sessions.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d09662ff30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GB">
                <a:solidFill>
                  <a:schemeClr val="dk1"/>
                </a:solidFill>
              </a:rPr>
              <a:t>Before we start, a quick speaker intro. L</a:t>
            </a:r>
            <a:r>
              <a:rPr lang="en-GB">
                <a:solidFill>
                  <a:schemeClr val="dk1"/>
                </a:solidFill>
              </a:rPr>
              <a:t>et us introduce ourselves. M</a:t>
            </a:r>
            <a:r>
              <a:rPr lang="en-GB">
                <a:solidFill>
                  <a:schemeClr val="dk1"/>
                </a:solidFill>
              </a:rPr>
              <a:t>y colleague here is Chen Zicong an R&amp;D Engineer, Volcano Maintainer from Huawei Technologies. I am Máté Hajnal a Senior Machine Learning Operations Engineer at Aumovio, a Volcano Core Contributor.</a:t>
            </a:r>
            <a:endParaRPr>
              <a:solidFill>
                <a:schemeClr val="dk1"/>
              </a:solidFill>
            </a:endParaRPr>
          </a:p>
          <a:p>
            <a:pPr indent="0" lvl="0" marL="0" rtl="0" algn="l">
              <a:spcBef>
                <a:spcPts val="0"/>
              </a:spcBef>
              <a:spcAft>
                <a:spcPts val="0"/>
              </a:spcAft>
              <a:buSzPts val="1100"/>
              <a:buNone/>
            </a:pPr>
            <a:r>
              <a:rPr lang="en-GB">
                <a:solidFill>
                  <a:schemeClr val="dk1"/>
                </a:solidFill>
              </a:rPr>
              <a:t>Let's move to Agenda.</a:t>
            </a:r>
            <a:endParaRPr sz="1050">
              <a:solidFill>
                <a:schemeClr val="dk1"/>
              </a:solidFill>
            </a:endParaRPr>
          </a:p>
          <a:p>
            <a:pPr indent="0" lvl="0" marL="0" rtl="0" algn="l">
              <a:lnSpc>
                <a:spcPct val="115000"/>
              </a:lnSpc>
              <a:spcBef>
                <a:spcPts val="0"/>
              </a:spcBef>
              <a:spcAft>
                <a:spcPts val="0"/>
              </a:spcAft>
              <a:buSzPts val="1100"/>
              <a:buNone/>
            </a:pPr>
            <a:r>
              <a:rPr lang="en-GB" sz="1050">
                <a:solidFill>
                  <a:schemeClr val="dk1"/>
                </a:solidFill>
              </a:rPr>
              <a:t>Timing: 00:00-00:30</a:t>
            </a:r>
            <a:endParaRPr>
              <a:solidFill>
                <a:schemeClr val="dk1"/>
              </a:solidFill>
            </a:endParaRPr>
          </a:p>
        </p:txBody>
      </p:sp>
      <p:sp>
        <p:nvSpPr>
          <p:cNvPr id="120" name="Google Shape;120;g3d09662ff3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Here it is. I will cover the Big Picture, the Volcano evolution. I will try to guide you into the Scalable and Efficient Foundation we laid down in the project, how it serves as a robust core for ALL workloads (Microservices, Batch, AI, HPC) at ultra-large scale. After the extended topology-aware section comes, where I will cover the latest features in Volcano Network Topology Aware Scheduling; Chen will continue with Kthena an Enterprise-Grade LLM Serving </a:t>
            </a:r>
            <a:r>
              <a:rPr lang="en-GB">
                <a:solidFill>
                  <a:schemeClr val="dk1"/>
                </a:solidFill>
              </a:rPr>
              <a:t>Platform</a:t>
            </a:r>
            <a:r>
              <a:rPr lang="en-GB">
                <a:solidFill>
                  <a:schemeClr val="dk1"/>
                </a:solidFill>
              </a:rPr>
              <a:t>, AgentCube which is the Cloud-Native Agent and Code Interpreter Platform and Volcano-Global the component that’s capable of multi-cluster federation.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Timing: 00:30-01:25</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p:txBody>
      </p:sp>
      <p:sp>
        <p:nvSpPr>
          <p:cNvPr id="129" name="Google Shape;129;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Volcano evolved from the kube-batch project, </a:t>
            </a:r>
            <a:r>
              <a:rPr lang="en-GB">
                <a:solidFill>
                  <a:schemeClr val="dk1"/>
                </a:solidFill>
              </a:rPr>
              <a:t>i</a:t>
            </a:r>
            <a:r>
              <a:rPr lang="en-GB">
                <a:solidFill>
                  <a:schemeClr val="dk1"/>
                </a:solidFill>
              </a:rPr>
              <a:t>t was developed throughout the years from being a standard batch system to be a general unified scheduling platform</a:t>
            </a:r>
            <a:r>
              <a:rPr lang="en-GB"/>
              <a:t>. </a:t>
            </a:r>
            <a:r>
              <a:rPr lang="en-GB">
                <a:solidFill>
                  <a:schemeClr val="dk1"/>
                </a:solidFill>
              </a:rPr>
              <a:t>Just a little history, it</a:t>
            </a:r>
            <a:r>
              <a:rPr lang="en-GB"/>
              <a:t> became part of </a:t>
            </a:r>
            <a:r>
              <a:rPr lang="en-GB"/>
              <a:t>CNCF-Volcano was accepted to </a:t>
            </a:r>
            <a:r>
              <a:rPr lang="en-GB"/>
              <a:t>CNCF on April 9, 2020 and moved to the Incubating maturity level on March 21, 2022.  In 2026 we look forward to become a CNCF Graduated project.</a:t>
            </a:r>
            <a:endParaRPr/>
          </a:p>
          <a:p>
            <a:pPr indent="0" lvl="0" marL="0" rtl="0" algn="l">
              <a:lnSpc>
                <a:spcPct val="100000"/>
              </a:lnSpc>
              <a:spcBef>
                <a:spcPts val="0"/>
              </a:spcBef>
              <a:spcAft>
                <a:spcPts val="0"/>
              </a:spcAft>
              <a:buSzPts val="1100"/>
              <a:buNone/>
            </a:pPr>
            <a:r>
              <a:t/>
            </a:r>
            <a:endParaRPr/>
          </a:p>
          <a:p>
            <a:pPr indent="0" lvl="0" marL="0" rtl="0" algn="l">
              <a:lnSpc>
                <a:spcPct val="115000"/>
              </a:lnSpc>
              <a:spcBef>
                <a:spcPts val="0"/>
              </a:spcBef>
              <a:spcAft>
                <a:spcPts val="0"/>
              </a:spcAft>
              <a:buClr>
                <a:schemeClr val="dk1"/>
              </a:buClr>
              <a:buSzPts val="1100"/>
              <a:buFont typeface="Arial"/>
              <a:buNone/>
            </a:pPr>
            <a:r>
              <a:rPr lang="en-GB"/>
              <a:t>Timing: 01:25-02:00</a:t>
            </a:r>
            <a:endParaRPr/>
          </a:p>
          <a:p>
            <a:pPr indent="0" lvl="0" marL="0" rtl="0" algn="l">
              <a:lnSpc>
                <a:spcPct val="115000"/>
              </a:lnSpc>
              <a:spcBef>
                <a:spcPts val="0"/>
              </a:spcBef>
              <a:spcAft>
                <a:spcPts val="0"/>
              </a:spcAft>
              <a:buSzPts val="1100"/>
              <a:buNone/>
            </a:pPr>
            <a:r>
              <a:t/>
            </a:r>
            <a:endParaRPr/>
          </a:p>
        </p:txBody>
      </p:sp>
      <p:sp>
        <p:nvSpPr>
          <p:cNvPr id="135" name="Google Shape;13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sz="1050">
                <a:solidFill>
                  <a:schemeClr val="dk1"/>
                </a:solidFill>
              </a:rPr>
              <a:t>Some of listeners may already be familiar with the Volcano project, while others may not. So let's take a quick look at the Volcano overview. Volcano originated from kube-batch and has been working as a cloud-native batch system. Now it’s a </a:t>
            </a:r>
            <a:r>
              <a:rPr b="1" lang="en-GB" sz="995">
                <a:solidFill>
                  <a:schemeClr val="dk1"/>
                </a:solidFill>
              </a:rPr>
              <a:t>Unified Scheduling </a:t>
            </a:r>
            <a:r>
              <a:rPr lang="en-GB" sz="995">
                <a:solidFill>
                  <a:schemeClr val="dk1"/>
                </a:solidFill>
              </a:rPr>
              <a:t>platform supporting wide variety of native workloads and frameworks. It provides advanced multi-level </a:t>
            </a:r>
            <a:r>
              <a:rPr b="1" lang="en-GB" sz="995">
                <a:solidFill>
                  <a:schemeClr val="dk1"/>
                </a:solidFill>
              </a:rPr>
              <a:t>queue management</a:t>
            </a:r>
            <a:r>
              <a:rPr lang="en-GB" sz="995">
                <a:solidFill>
                  <a:schemeClr val="dk1"/>
                </a:solidFill>
              </a:rPr>
              <a:t> for resource quota control, and priority scheduling. With Volcano Agent it enables </a:t>
            </a:r>
            <a:r>
              <a:rPr b="1" lang="en-GB" sz="995">
                <a:solidFill>
                  <a:schemeClr val="dk1"/>
                </a:solidFill>
              </a:rPr>
              <a:t>workloads colocation</a:t>
            </a:r>
            <a:r>
              <a:rPr lang="en-GB" sz="995">
                <a:solidFill>
                  <a:schemeClr val="dk1"/>
                </a:solidFill>
              </a:rPr>
              <a:t> for online-offline workloads through intelligent scheduling strategies. With volcano-</a:t>
            </a:r>
            <a:r>
              <a:rPr lang="en-GB" sz="1050">
                <a:solidFill>
                  <a:schemeClr val="dk1"/>
                </a:solidFill>
              </a:rPr>
              <a:t>global </a:t>
            </a:r>
            <a:r>
              <a:rPr lang="en-GB" sz="995">
                <a:solidFill>
                  <a:schemeClr val="dk1"/>
                </a:solidFill>
              </a:rPr>
              <a:t>it supports </a:t>
            </a:r>
            <a:r>
              <a:rPr b="1" lang="en-GB" sz="995">
                <a:solidFill>
                  <a:schemeClr val="dk1"/>
                </a:solidFill>
              </a:rPr>
              <a:t>cross cluster Job scheduling</a:t>
            </a:r>
            <a:r>
              <a:rPr lang="en-GB" sz="995">
                <a:solidFill>
                  <a:schemeClr val="dk1"/>
                </a:solidFill>
              </a:rPr>
              <a:t> </a:t>
            </a:r>
            <a:r>
              <a:rPr lang="en-GB" sz="1050">
                <a:solidFill>
                  <a:schemeClr val="dk1"/>
                </a:solidFill>
              </a:rPr>
              <a:t>and by design it supports </a:t>
            </a:r>
            <a:r>
              <a:rPr b="1" lang="en-GB" sz="1050">
                <a:solidFill>
                  <a:schemeClr val="dk1"/>
                </a:solidFill>
              </a:rPr>
              <a:t>heterogeneous devices </a:t>
            </a:r>
            <a:r>
              <a:rPr lang="en-GB" sz="1050">
                <a:solidFill>
                  <a:schemeClr val="dk1"/>
                </a:solidFill>
              </a:rPr>
              <a:t>like GPUs and NPUs or other accelerators. By adding multiple scheduling policies to the picture like Gang-, Network Topology Aware- Scheduling, Fair-Share, Binpack, DeviceShare, NUMA-aware- or Task Topology scheduling) I think we can truly say that Volcano is more than a simple scheduler, it is </a:t>
            </a:r>
            <a:r>
              <a:rPr b="1" lang="en-GB" sz="1050">
                <a:solidFill>
                  <a:schemeClr val="dk1"/>
                </a:solidFill>
              </a:rPr>
              <a:t>Unified Scheduling Platform.</a:t>
            </a:r>
            <a:endParaRPr b="1" sz="1050">
              <a:solidFill>
                <a:schemeClr val="dk1"/>
              </a:solidFill>
            </a:endParaRPr>
          </a:p>
          <a:p>
            <a:pPr indent="0" lvl="0" marL="0" rtl="0" algn="l">
              <a:lnSpc>
                <a:spcPct val="115000"/>
              </a:lnSpc>
              <a:spcBef>
                <a:spcPts val="0"/>
              </a:spcBef>
              <a:spcAft>
                <a:spcPts val="0"/>
              </a:spcAft>
              <a:buSzPts val="1100"/>
              <a:buNone/>
            </a:pPr>
            <a:br>
              <a:rPr lang="en-GB" sz="1050">
                <a:solidFill>
                  <a:schemeClr val="dk1"/>
                </a:solidFill>
              </a:rPr>
            </a:br>
            <a:r>
              <a:rPr lang="en-GB" sz="1050">
                <a:solidFill>
                  <a:schemeClr val="dk1"/>
                </a:solidFill>
              </a:rPr>
              <a:t>Timing: 02:00-02:50</a:t>
            </a:r>
            <a:br>
              <a:rPr lang="en-GB" sz="1050">
                <a:solidFill>
                  <a:schemeClr val="dk1"/>
                </a:solidFill>
              </a:rPr>
            </a:br>
            <a:br>
              <a:rPr lang="en-GB" sz="1050">
                <a:solidFill>
                  <a:schemeClr val="dk1"/>
                </a:solidFill>
              </a:rPr>
            </a:br>
            <a:r>
              <a:rPr lang="en-GB" sz="1050">
                <a:solidFill>
                  <a:schemeClr val="dk1"/>
                </a:solidFill>
              </a:rPr>
              <a:t>Old note:</a:t>
            </a:r>
            <a:br>
              <a:rPr lang="en-GB" sz="1050">
                <a:solidFill>
                  <a:schemeClr val="dk1"/>
                </a:solidFill>
              </a:rPr>
            </a:br>
            <a:r>
              <a:rPr lang="en-GB" sz="1050">
                <a:solidFill>
                  <a:schemeClr val="dk1"/>
                </a:solidFill>
              </a:rPr>
              <a:t> It also perform queue management and gang scheduling, and has rich ecosystem and can support heterogeneous accelerators.</a:t>
            </a:r>
            <a:endParaRPr sz="1050">
              <a:solidFill>
                <a:schemeClr val="dk1"/>
              </a:solidFill>
            </a:endParaRPr>
          </a:p>
        </p:txBody>
      </p:sp>
      <p:sp>
        <p:nvSpPr>
          <p:cNvPr id="140" name="Google Shape;14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GB">
                <a:solidFill>
                  <a:schemeClr val="dk1"/>
                </a:solidFill>
              </a:rPr>
              <a:t>The first message is simple: AI workloads are diverging fast.  </a:t>
            </a:r>
            <a:endParaRPr>
              <a:solidFill>
                <a:schemeClr val="dk1"/>
              </a:solidFill>
            </a:endParaRPr>
          </a:p>
          <a:p>
            <a:pPr indent="0" lvl="0" marL="0" rtl="0" algn="l">
              <a:lnSpc>
                <a:spcPct val="115000"/>
              </a:lnSpc>
              <a:spcBef>
                <a:spcPts val="0"/>
              </a:spcBef>
              <a:spcAft>
                <a:spcPts val="0"/>
              </a:spcAft>
              <a:buSzPts val="1100"/>
              <a:buNone/>
            </a:pPr>
            <a:r>
              <a:rPr lang="en-GB">
                <a:solidFill>
                  <a:schemeClr val="dk1"/>
                </a:solidFill>
              </a:rPr>
              <a:t>A few years ago, most clusters were dominated by batch-style training.  </a:t>
            </a:r>
            <a:endParaRPr>
              <a:solidFill>
                <a:schemeClr val="dk1"/>
              </a:solidFill>
            </a:endParaRPr>
          </a:p>
          <a:p>
            <a:pPr indent="0" lvl="0" marL="0" rtl="0" algn="l">
              <a:lnSpc>
                <a:spcPct val="115000"/>
              </a:lnSpc>
              <a:spcBef>
                <a:spcPts val="0"/>
              </a:spcBef>
              <a:spcAft>
                <a:spcPts val="0"/>
              </a:spcAft>
              <a:buSzPts val="1100"/>
              <a:buNone/>
            </a:pPr>
            <a:r>
              <a:rPr lang="en-GB">
                <a:solidFill>
                  <a:schemeClr val="dk1"/>
                </a:solidFill>
              </a:rPr>
              <a:t>In 2023, more and more LLMs were emerging, and LLM training was experiencing explosive growth.</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GB">
                <a:solidFill>
                  <a:schemeClr val="dk1"/>
                </a:solidFill>
              </a:rPr>
              <a:t>Now we also run disaggregated LLM serving, where prefill and decode have very different runtime behavior.  </a:t>
            </a:r>
            <a:endParaRPr>
              <a:solidFill>
                <a:schemeClr val="dk1"/>
              </a:solidFill>
            </a:endParaRPr>
          </a:p>
          <a:p>
            <a:pPr indent="0" lvl="0" marL="0" rtl="0" algn="l">
              <a:lnSpc>
                <a:spcPct val="115000"/>
              </a:lnSpc>
              <a:spcBef>
                <a:spcPts val="0"/>
              </a:spcBef>
              <a:spcAft>
                <a:spcPts val="0"/>
              </a:spcAft>
              <a:buSzPts val="1100"/>
              <a:buNone/>
            </a:pPr>
            <a:r>
              <a:rPr lang="en-GB">
                <a:solidFill>
                  <a:schemeClr val="dk1"/>
                </a:solidFill>
              </a:rPr>
              <a:t>With the surge in popularity of LLM serving in 2025, agent workloads have also increased, where sessions are short-lived, latency-sensitive, and extremely bursty.</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GB">
                <a:solidFill>
                  <a:schemeClr val="dk1"/>
                </a:solidFill>
              </a:rPr>
              <a:t>Different workload characteristics pose challenges to the scheduler, Volcano has been widely used in AI training since its incubation, so Volcano will continue to evolve, including </a:t>
            </a:r>
            <a:r>
              <a:rPr lang="en-GB">
                <a:solidFill>
                  <a:schemeClr val="dk1"/>
                </a:solidFill>
              </a:rPr>
              <a:t>the</a:t>
            </a:r>
            <a:r>
              <a:rPr lang="en-GB">
                <a:solidFill>
                  <a:schemeClr val="dk1"/>
                </a:solidFill>
              </a:rPr>
              <a:t> support of LLM inference and Agent Workloads, while maintaining the support of existing workloads to become a unified scheduling platform</a:t>
            </a:r>
            <a:endParaRPr>
              <a:solidFill>
                <a:schemeClr val="dk1"/>
              </a:solidFill>
            </a:endParaRPr>
          </a:p>
        </p:txBody>
      </p:sp>
      <p:sp>
        <p:nvSpPr>
          <p:cNvPr id="334" name="Google Shape;33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36000"/>
              </a:lnSpc>
              <a:spcBef>
                <a:spcPts val="0"/>
              </a:spcBef>
              <a:spcAft>
                <a:spcPts val="0"/>
              </a:spcAft>
              <a:buSzPts val="1100"/>
              <a:buNone/>
            </a:pPr>
            <a:r>
              <a:rPr lang="en-GB">
                <a:solidFill>
                  <a:schemeClr val="dk1"/>
                </a:solidFill>
              </a:rPr>
              <a:t>This leads to Volcano Technical Roadmap for 2026 and Beyond. From the top level, not just VCjob, Volcano will support more native workloads to support massive LLM training, LLM inference, and agent workloads. Collaborate with more other communities, such as reinforcement learning areas, inference frameworks, agent frameworks.</a:t>
            </a:r>
            <a:endParaRPr>
              <a:solidFill>
                <a:schemeClr val="dk1"/>
              </a:solidFill>
            </a:endParaRPr>
          </a:p>
          <a:p>
            <a:pPr indent="0" lvl="0" marL="0" rtl="0" algn="l">
              <a:lnSpc>
                <a:spcPct val="136000"/>
              </a:lnSpc>
              <a:spcBef>
                <a:spcPts val="0"/>
              </a:spcBef>
              <a:spcAft>
                <a:spcPts val="0"/>
              </a:spcAft>
              <a:buSzPts val="1100"/>
              <a:buNone/>
            </a:pPr>
            <a:r>
              <a:t/>
            </a:r>
            <a:endParaRPr>
              <a:solidFill>
                <a:schemeClr val="dk1"/>
              </a:solidFill>
            </a:endParaRPr>
          </a:p>
          <a:p>
            <a:pPr indent="0" lvl="0" marL="0" rtl="0" algn="l">
              <a:lnSpc>
                <a:spcPct val="136000"/>
              </a:lnSpc>
              <a:spcBef>
                <a:spcPts val="0"/>
              </a:spcBef>
              <a:spcAft>
                <a:spcPts val="0"/>
              </a:spcAft>
              <a:buSzPts val="1100"/>
              <a:buNone/>
            </a:pPr>
            <a:r>
              <a:rPr lang="en-GB">
                <a:solidFill>
                  <a:schemeClr val="dk1"/>
                </a:solidFill>
              </a:rPr>
              <a:t>At the bottom, Volcano will support more heterogeneous devices as a unified heterogeneous device allocation pool and support more features in network topology-aware scheduling to improve AI workload performance</a:t>
            </a:r>
            <a:endParaRPr>
              <a:solidFill>
                <a:schemeClr val="dk1"/>
              </a:solidFill>
            </a:endParaRPr>
          </a:p>
        </p:txBody>
      </p:sp>
      <p:sp>
        <p:nvSpPr>
          <p:cNvPr id="353" name="Google Shape;353;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This brings to the scalable an efficient foundation we built</a:t>
            </a:r>
            <a:endParaRPr b="0" i="0" sz="1100" u="none" cap="none" strike="noStrike">
              <a:solidFill>
                <a:srgbClr val="000000"/>
              </a:solidFill>
              <a:latin typeface="Arial"/>
              <a:ea typeface="Arial"/>
              <a:cs typeface="Arial"/>
              <a:sym typeface="Arial"/>
            </a:endParaRPr>
          </a:p>
        </p:txBody>
      </p:sp>
      <p:sp>
        <p:nvSpPr>
          <p:cNvPr id="447" name="Google Shape;447;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36000"/>
              </a:lnSpc>
              <a:spcBef>
                <a:spcPts val="0"/>
              </a:spcBef>
              <a:spcAft>
                <a:spcPts val="0"/>
              </a:spcAft>
              <a:buClr>
                <a:schemeClr val="dk1"/>
              </a:buClr>
              <a:buSzPts val="1100"/>
              <a:buFont typeface="Arial"/>
              <a:buNone/>
            </a:pPr>
            <a:r>
              <a:rPr lang="en-GB">
                <a:solidFill>
                  <a:schemeClr val="dk1"/>
                </a:solidFill>
              </a:rPr>
              <a:t>In v1.14, we introduced agent scheduler, as we know, volcano existing batch scheduler has outstanding performance in gang scheduling, However, the session mechanism schedules every </a:t>
            </a:r>
            <a:r>
              <a:rPr lang="en-GB">
                <a:solidFill>
                  <a:schemeClr val="dk1"/>
                </a:solidFill>
              </a:rPr>
              <a:t>second</a:t>
            </a:r>
            <a:r>
              <a:rPr lang="en-GB">
                <a:solidFill>
                  <a:schemeClr val="dk1"/>
                </a:solidFill>
              </a:rPr>
              <a:t> by default, which cannot meet the need bursty, latency-sensitive workloads of agent workloads. </a:t>
            </a:r>
            <a:endParaRPr>
              <a:solidFill>
                <a:schemeClr val="dk1"/>
              </a:solidFill>
            </a:endParaRPr>
          </a:p>
          <a:p>
            <a:pPr indent="0" lvl="0" marL="0" rtl="0" algn="l">
              <a:lnSpc>
                <a:spcPct val="136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36000"/>
              </a:lnSpc>
              <a:spcBef>
                <a:spcPts val="0"/>
              </a:spcBef>
              <a:spcAft>
                <a:spcPts val="0"/>
              </a:spcAft>
              <a:buClr>
                <a:schemeClr val="dk1"/>
              </a:buClr>
              <a:buSzPts val="1100"/>
              <a:buFont typeface="Arial"/>
              <a:buNone/>
            </a:pPr>
            <a:r>
              <a:rPr lang="en-GB">
                <a:solidFill>
                  <a:schemeClr val="dk1"/>
                </a:solidFill>
              </a:rPr>
              <a:t>Agent Scheduler provides a dedicated fast path for latency-sensitive workloads such as AI agents and serverless-like traffic.  </a:t>
            </a:r>
            <a:endParaRPr>
              <a:solidFill>
                <a:schemeClr val="dk1"/>
              </a:solidFill>
            </a:endParaRPr>
          </a:p>
          <a:p>
            <a:pPr indent="0" lvl="0" marL="0" rtl="0" algn="l">
              <a:lnSpc>
                <a:spcPct val="136000"/>
              </a:lnSpc>
              <a:spcBef>
                <a:spcPts val="0"/>
              </a:spcBef>
              <a:spcAft>
                <a:spcPts val="0"/>
              </a:spcAft>
              <a:buSzPts val="1100"/>
              <a:buNone/>
            </a:pPr>
            <a:r>
              <a:rPr lang="en-GB">
                <a:solidFill>
                  <a:schemeClr val="dk1"/>
                </a:solidFill>
              </a:rPr>
              <a:t>The design includes multi-worker parallel scheduling, optimistic concurrency control, and conflict-aware binding, and it can seamless </a:t>
            </a:r>
            <a:r>
              <a:rPr lang="en-GB">
                <a:solidFill>
                  <a:schemeClr val="dk1"/>
                </a:solidFill>
              </a:rPr>
              <a:t>coordination</a:t>
            </a:r>
            <a:r>
              <a:rPr lang="en-GB">
                <a:solidFill>
                  <a:schemeClr val="dk1"/>
                </a:solidFill>
              </a:rPr>
              <a:t> with volcano batch scheduler.</a:t>
            </a:r>
            <a:endParaRPr>
              <a:solidFill>
                <a:schemeClr val="dk1"/>
              </a:solidFill>
            </a:endParaRPr>
          </a:p>
          <a:p>
            <a:pPr indent="0" lvl="0" marL="0" rtl="0" algn="l">
              <a:lnSpc>
                <a:spcPct val="136000"/>
              </a:lnSpc>
              <a:spcBef>
                <a:spcPts val="0"/>
              </a:spcBef>
              <a:spcAft>
                <a:spcPts val="0"/>
              </a:spcAft>
              <a:buSzPts val="1100"/>
              <a:buNone/>
            </a:pPr>
            <a:br>
              <a:rPr lang="en-GB">
                <a:solidFill>
                  <a:schemeClr val="dk1"/>
                </a:solidFill>
              </a:rPr>
            </a:br>
            <a:r>
              <a:rPr lang="en-GB">
                <a:solidFill>
                  <a:schemeClr val="dk1"/>
                </a:solidFill>
              </a:rPr>
              <a:t>But follows the pluggable design of the Volcano Scheduler, leveraging plugins like the predicate, the nodeorder and the binpack:</a:t>
            </a:r>
            <a:br>
              <a:rPr lang="en-GB">
                <a:solidFill>
                  <a:schemeClr val="dk1"/>
                </a:solidFill>
              </a:rPr>
            </a:br>
            <a:br>
              <a:rPr lang="en-GB">
                <a:solidFill>
                  <a:schemeClr val="dk1"/>
                </a:solidFill>
              </a:rPr>
            </a:br>
            <a:r>
              <a:rPr lang="en-GB">
                <a:solidFill>
                  <a:schemeClr val="dk1"/>
                </a:solidFill>
              </a:rPr>
              <a:t>Keep scheduling strategy pluggable and reuse part of Volcano scheduler Plugins to apply scheduling strategy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Predicate plugin: </a:t>
            </a:r>
            <a:r>
              <a:rPr lang="en-GB">
                <a:solidFill>
                  <a:schemeClr val="dk1"/>
                </a:solidFill>
              </a:rPr>
              <a:t>Predicate plugin provides basic checking for Pod allocation on Pod, like affinity, TaintToleration, etc. Agent workload may not care about Pod interpod Affinity or Spread strategy. These strategies are streamlined or removed from the plugin to further improve scheduling efficiency.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NodeOrder plugin: </a:t>
            </a:r>
            <a:r>
              <a:rPr lang="en-GB">
                <a:solidFill>
                  <a:schemeClr val="dk1"/>
                </a:solidFill>
              </a:rPr>
              <a:t>The NodeOrder Plugin scores nodes from various dimensions to find the node that is best suited for the current job.</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Binpack plugin</a:t>
            </a:r>
            <a:r>
              <a:rPr lang="en-GB">
                <a:solidFill>
                  <a:schemeClr val="dk1"/>
                </a:solidFill>
              </a:rPr>
              <a:t>: The scheduling algorithm is to fill as many existing nodes as possible</a:t>
            </a:r>
            <a:endParaRPr>
              <a:solidFill>
                <a:schemeClr val="dk1"/>
              </a:solidFill>
            </a:endParaRPr>
          </a:p>
          <a:p>
            <a:pPr indent="0" lvl="0" marL="0" rtl="0" algn="l">
              <a:lnSpc>
                <a:spcPct val="115000"/>
              </a:lnSpc>
              <a:spcBef>
                <a:spcPts val="0"/>
              </a:spcBef>
              <a:spcAft>
                <a:spcPts val="0"/>
              </a:spcAft>
              <a:buSzPts val="1100"/>
              <a:buNone/>
            </a:pPr>
            <a:br>
              <a:rPr lang="en-GB">
                <a:solidFill>
                  <a:schemeClr val="dk1"/>
                </a:solidFill>
              </a:rPr>
            </a:br>
            <a:r>
              <a:rPr b="1" lang="en-GB">
                <a:solidFill>
                  <a:schemeClr val="dk1"/>
                </a:solidFill>
              </a:rPr>
              <a:t>Nodes Selection:</a:t>
            </a:r>
            <a:endParaRPr b="1">
              <a:solidFill>
                <a:schemeClr val="dk1"/>
              </a:solidFill>
            </a:endParaRPr>
          </a:p>
          <a:p>
            <a:pPr indent="0" lvl="0" marL="0" rtl="0" algn="l">
              <a:lnSpc>
                <a:spcPct val="115000"/>
              </a:lnSpc>
              <a:spcBef>
                <a:spcPts val="0"/>
              </a:spcBef>
              <a:spcAft>
                <a:spcPts val="0"/>
              </a:spcAft>
              <a:buSzPts val="1100"/>
              <a:buNone/>
            </a:pPr>
            <a:r>
              <a:rPr lang="en-GB">
                <a:solidFill>
                  <a:schemeClr val="dk1"/>
                </a:solidFill>
              </a:rPr>
              <a:t>Schedulers can select nodes based on either hard isolation or soft isolation between shards.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Hard Isolation:</a:t>
            </a:r>
            <a:r>
              <a:rPr lang="en-GB">
                <a:solidFill>
                  <a:schemeClr val="dk1"/>
                </a:solidFill>
              </a:rPr>
              <a:t> Workloads can only be scheduled onto nodes within the scheduler’s assigned shard</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Pro: No scheduling conflicts occur between schedulers, each scheduler only needs to perform scheduling calculations within its shard.</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Con: Lack a global cluster view, Scheduling may fail if local resources within a shard are insufficient, potentially reducing overall cluster resource utilization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Soft isolation</a:t>
            </a:r>
            <a:r>
              <a:rPr lang="en-GB">
                <a:solidFill>
                  <a:schemeClr val="dk1"/>
                </a:solidFill>
              </a:rPr>
              <a:t>: The scheduling algorithm is to fill as many existing nodes as possible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Pro: Global cluster view, improved cluster resource utilization</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Con: Under high resource pressure, scheduling conflicts between schedulers may occur, affecting scheduling efficiency. Additionally, maintaining a global view increases scheduling computation cost.</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36000"/>
              </a:lnSpc>
              <a:spcBef>
                <a:spcPts val="0"/>
              </a:spcBef>
              <a:spcAft>
                <a:spcPts val="0"/>
              </a:spcAft>
              <a:buClr>
                <a:schemeClr val="dk1"/>
              </a:buClr>
              <a:buSzPts val="1100"/>
              <a:buFont typeface="Arial"/>
              <a:buNone/>
            </a:pPr>
            <a:r>
              <a:rPr lang="en-GB">
                <a:solidFill>
                  <a:schemeClr val="dk1"/>
                </a:solidFill>
              </a:rPr>
              <a:t>Most importantly, it is integrated with sharding coordination, so we preserve platform-level consistency while improving p99 startup latency for short-lifecycle workloads.</a:t>
            </a:r>
            <a:endParaRPr>
              <a:solidFill>
                <a:schemeClr val="dk1"/>
              </a:solidFill>
            </a:endParaRPr>
          </a:p>
          <a:p>
            <a:pPr indent="0" lvl="0" marL="0" rtl="0" algn="l">
              <a:lnSpc>
                <a:spcPct val="100000"/>
              </a:lnSpc>
              <a:spcBef>
                <a:spcPts val="0"/>
              </a:spcBef>
              <a:spcAft>
                <a:spcPts val="0"/>
              </a:spcAft>
              <a:buSzPts val="1100"/>
              <a:buNone/>
            </a:pPr>
            <a:br>
              <a:rPr lang="en-GB">
                <a:solidFill>
                  <a:schemeClr val="dk1"/>
                </a:solidFill>
              </a:rPr>
            </a:br>
            <a:r>
              <a:rPr lang="en-GB">
                <a:solidFill>
                  <a:schemeClr val="dk1"/>
                </a:solidFill>
              </a:rPr>
              <a:t>A designed system where, batch fairness and low-latency agent scheduling can coexist in one platform.</a:t>
            </a:r>
            <a:endParaRPr>
              <a:solidFill>
                <a:schemeClr val="dk1"/>
              </a:solidFill>
            </a:endParaRPr>
          </a:p>
        </p:txBody>
      </p:sp>
      <p:sp>
        <p:nvSpPr>
          <p:cNvPr id="452" name="Google Shape;45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36000"/>
              </a:lnSpc>
              <a:spcBef>
                <a:spcPts val="0"/>
              </a:spcBef>
              <a:spcAft>
                <a:spcPts val="0"/>
              </a:spcAft>
              <a:buSzPts val="1100"/>
              <a:buNone/>
            </a:pPr>
            <a:r>
              <a:rPr lang="en-GB">
                <a:solidFill>
                  <a:schemeClr val="dk1"/>
                </a:solidFill>
              </a:rPr>
              <a:t>As a unified scheduling platform, volcano needs to schedule AI agent workloads and existing batch workloads at the same time, so it needs to have a dynamic sharding mechanism to allow multiple schedulers to collaborate in the cluster, and at the same time, multiple batch schedulers can also improve the existing volcano scheduling throughput.</a:t>
            </a:r>
            <a:endParaRPr>
              <a:solidFill>
                <a:schemeClr val="dk1"/>
              </a:solidFill>
            </a:endParaRPr>
          </a:p>
          <a:p>
            <a:pPr indent="0" lvl="0" marL="0" rtl="0" algn="l">
              <a:lnSpc>
                <a:spcPct val="136000"/>
              </a:lnSpc>
              <a:spcBef>
                <a:spcPts val="0"/>
              </a:spcBef>
              <a:spcAft>
                <a:spcPts val="0"/>
              </a:spcAft>
              <a:buSzPts val="1100"/>
              <a:buNone/>
            </a:pPr>
            <a:r>
              <a:t/>
            </a:r>
            <a:endParaRPr>
              <a:solidFill>
                <a:schemeClr val="dk1"/>
              </a:solidFill>
            </a:endParaRPr>
          </a:p>
          <a:p>
            <a:pPr indent="0" lvl="0" marL="0" rtl="0" algn="l">
              <a:lnSpc>
                <a:spcPct val="136000"/>
              </a:lnSpc>
              <a:spcBef>
                <a:spcPts val="0"/>
              </a:spcBef>
              <a:spcAft>
                <a:spcPts val="0"/>
              </a:spcAft>
              <a:buSzPts val="1100"/>
              <a:buNone/>
            </a:pPr>
            <a:r>
              <a:rPr lang="en-GB">
                <a:solidFill>
                  <a:schemeClr val="dk1"/>
                </a:solidFill>
              </a:rPr>
              <a:t> In v1.14, Dynamic Node Sharding introduces a Sharding Controller that computes candidate node pools per scheduler dynamically.</a:t>
            </a:r>
            <a:endParaRPr>
              <a:solidFill>
                <a:schemeClr val="dk1"/>
              </a:solidFill>
            </a:endParaRPr>
          </a:p>
          <a:p>
            <a:pPr indent="0" lvl="0" marL="0" rtl="0" algn="l">
              <a:lnSpc>
                <a:spcPct val="136000"/>
              </a:lnSpc>
              <a:spcBef>
                <a:spcPts val="0"/>
              </a:spcBef>
              <a:spcAft>
                <a:spcPts val="0"/>
              </a:spcAft>
              <a:buSzPts val="1100"/>
              <a:buNone/>
            </a:pPr>
            <a:r>
              <a:rPr lang="en-GB">
                <a:solidFill>
                  <a:schemeClr val="dk1"/>
                </a:solidFill>
              </a:rPr>
              <a:t>The Sharding Controller is proposed to addresses these challenges by:</a:t>
            </a:r>
            <a:endParaRPr>
              <a:solidFill>
                <a:schemeClr val="dk1"/>
              </a:solidFill>
            </a:endParaRPr>
          </a:p>
          <a:p>
            <a:pPr indent="0" lvl="0" marL="0" rtl="0" algn="l">
              <a:lnSpc>
                <a:spcPct val="136000"/>
              </a:lnSpc>
              <a:spcBef>
                <a:spcPts val="0"/>
              </a:spcBef>
              <a:spcAft>
                <a:spcPts val="0"/>
              </a:spcAft>
              <a:buSzPts val="1100"/>
              <a:buNone/>
            </a:pPr>
            <a:r>
              <a:rPr lang="en-GB">
                <a:solidFill>
                  <a:schemeClr val="dk1"/>
                </a:solidFill>
              </a:rPr>
              <a:t>- </a:t>
            </a:r>
            <a:r>
              <a:rPr b="1" lang="en-GB">
                <a:solidFill>
                  <a:schemeClr val="dk1"/>
                </a:solidFill>
              </a:rPr>
              <a:t>**Specialized Scheduling**</a:t>
            </a:r>
            <a:r>
              <a:rPr lang="en-GB">
                <a:solidFill>
                  <a:schemeClr val="dk1"/>
                </a:solidFill>
              </a:rPr>
              <a:t>: Enabling dedicated schedulers for different workload types (Agentic AI vs traditional batch)</a:t>
            </a:r>
            <a:endParaRPr>
              <a:solidFill>
                <a:schemeClr val="dk1"/>
              </a:solidFill>
            </a:endParaRPr>
          </a:p>
          <a:p>
            <a:pPr indent="0" lvl="0" marL="0" rtl="0" algn="l">
              <a:lnSpc>
                <a:spcPct val="136000"/>
              </a:lnSpc>
              <a:spcBef>
                <a:spcPts val="0"/>
              </a:spcBef>
              <a:spcAft>
                <a:spcPts val="0"/>
              </a:spcAft>
              <a:buSzPts val="1100"/>
              <a:buNone/>
            </a:pPr>
            <a:r>
              <a:rPr lang="en-GB">
                <a:solidFill>
                  <a:schemeClr val="dk1"/>
                </a:solidFill>
              </a:rPr>
              <a:t>- </a:t>
            </a:r>
            <a:r>
              <a:rPr b="1" lang="en-GB">
                <a:solidFill>
                  <a:schemeClr val="dk1"/>
                </a:solidFill>
              </a:rPr>
              <a:t>**Resource Optimization**</a:t>
            </a:r>
            <a:r>
              <a:rPr lang="en-GB">
                <a:solidFill>
                  <a:schemeClr val="dk1"/>
                </a:solidFill>
              </a:rPr>
              <a:t>: Dynamically partitioning cluster resources based on allocation/utilization patterns; Different workload schedulers have different resource specifications according to the utilization patterns of corresponding workloads</a:t>
            </a:r>
            <a:endParaRPr>
              <a:solidFill>
                <a:schemeClr val="dk1"/>
              </a:solidFill>
            </a:endParaRPr>
          </a:p>
          <a:p>
            <a:pPr indent="0" lvl="0" marL="0" rtl="0" algn="l">
              <a:lnSpc>
                <a:spcPct val="136000"/>
              </a:lnSpc>
              <a:spcBef>
                <a:spcPts val="0"/>
              </a:spcBef>
              <a:spcAft>
                <a:spcPts val="0"/>
              </a:spcAft>
              <a:buSzPts val="1100"/>
              <a:buNone/>
            </a:pPr>
            <a:r>
              <a:rPr lang="en-GB">
                <a:solidFill>
                  <a:schemeClr val="dk1"/>
                </a:solidFill>
              </a:rPr>
              <a:t>- </a:t>
            </a:r>
            <a:r>
              <a:rPr b="1" lang="en-GB">
                <a:solidFill>
                  <a:schemeClr val="dk1"/>
                </a:solidFill>
              </a:rPr>
              <a:t>**Scalability**</a:t>
            </a:r>
            <a:r>
              <a:rPr lang="en-GB">
                <a:solidFill>
                  <a:schemeClr val="dk1"/>
                </a:solidFill>
              </a:rPr>
              <a:t>: Decoupling the resource supply from the resource scheduling; The sharding controller is responsible for dynamically partitioning the cluster resource into different shards according to schedulers' specifications of resource requirements. Finally, it assigns the partitioned resource shards (a group of nodes) to each scheduler. The schedulers can then schedule tasks on selected nodes, thus eliminating the single scheduler bottleneck for large clusters;</a:t>
            </a:r>
            <a:endParaRPr>
              <a:solidFill>
                <a:schemeClr val="dk1"/>
              </a:solidFill>
            </a:endParaRPr>
          </a:p>
          <a:p>
            <a:pPr indent="0" lvl="0" marL="0" rtl="0" algn="l">
              <a:lnSpc>
                <a:spcPct val="136000"/>
              </a:lnSpc>
              <a:spcBef>
                <a:spcPts val="0"/>
              </a:spcBef>
              <a:spcAft>
                <a:spcPts val="0"/>
              </a:spcAft>
              <a:buSzPts val="1100"/>
              <a:buNone/>
            </a:pPr>
            <a:r>
              <a:rPr lang="en-GB">
                <a:solidFill>
                  <a:schemeClr val="dk1"/>
                </a:solidFill>
              </a:rPr>
              <a:t>- </a:t>
            </a:r>
            <a:r>
              <a:rPr b="1" lang="en-GB">
                <a:solidFill>
                  <a:schemeClr val="dk1"/>
                </a:solidFill>
              </a:rPr>
              <a:t>**Workload Isolation**</a:t>
            </a:r>
            <a:r>
              <a:rPr lang="en-GB">
                <a:solidFill>
                  <a:schemeClr val="dk1"/>
                </a:solidFill>
              </a:rPr>
              <a:t>: Preventing resource contention between different workload types; Each scheduler's shard has no shared nodes with other shards, thus avoid scheduling conflicts of different schedulers in the cluster;</a:t>
            </a:r>
            <a:endParaRPr>
              <a:solidFill>
                <a:schemeClr val="dk1"/>
              </a:solidFill>
            </a:endParaRPr>
          </a:p>
          <a:p>
            <a:pPr indent="0" lvl="0" marL="0" rtl="0" algn="l">
              <a:lnSpc>
                <a:spcPct val="136000"/>
              </a:lnSpc>
              <a:spcBef>
                <a:spcPts val="0"/>
              </a:spcBef>
              <a:spcAft>
                <a:spcPts val="0"/>
              </a:spcAft>
              <a:buClr>
                <a:schemeClr val="dk1"/>
              </a:buClr>
              <a:buSzPts val="1100"/>
              <a:buFont typeface="Arial"/>
              <a:buNone/>
            </a:pPr>
            <a:br>
              <a:rPr lang="en-GB">
                <a:solidFill>
                  <a:schemeClr val="dk1"/>
                </a:solidFill>
              </a:rPr>
            </a:br>
            <a:r>
              <a:rPr lang="en-GB">
                <a:solidFill>
                  <a:schemeClr val="dk1"/>
                </a:solidFill>
              </a:rPr>
              <a:t>Operationally, this lets Batch and Agent schedulers coexist and coordinate safely, instead of overloading one global scheduling path with conflicting optimization goals.</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p:txBody>
      </p:sp>
      <p:sp>
        <p:nvSpPr>
          <p:cNvPr id="459" name="Google Shape;45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6" name="Google Shape;46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36000"/>
              </a:lnSpc>
              <a:spcBef>
                <a:spcPts val="0"/>
              </a:spcBef>
              <a:spcAft>
                <a:spcPts val="0"/>
              </a:spcAft>
              <a:buSzPts val="1100"/>
              <a:buNone/>
            </a:pPr>
            <a:r>
              <a:rPr lang="en-GB">
                <a:solidFill>
                  <a:schemeClr val="dk1"/>
                </a:solidFill>
              </a:rPr>
              <a:t>The NodeShard CRD becomes the contract.  </a:t>
            </a:r>
            <a:endParaRPr>
              <a:solidFill>
                <a:schemeClr val="dk1"/>
              </a:solidFill>
            </a:endParaRPr>
          </a:p>
          <a:p>
            <a:pPr indent="0" lvl="0" marL="0" rtl="0" algn="l">
              <a:lnSpc>
                <a:spcPct val="136000"/>
              </a:lnSpc>
              <a:spcBef>
                <a:spcPts val="0"/>
              </a:spcBef>
              <a:spcAft>
                <a:spcPts val="0"/>
              </a:spcAft>
              <a:buSzPts val="1100"/>
              <a:buNone/>
            </a:pPr>
            <a:r>
              <a:rPr lang="en-GB">
                <a:solidFill>
                  <a:schemeClr val="dk1"/>
                </a:solidFill>
              </a:rPr>
              <a:t>This means shard assignment is no longer static infrastructure partitioning; it adapts to cluster state and strategy.  </a:t>
            </a:r>
            <a:endParaRPr>
              <a:solidFill>
                <a:schemeClr val="dk1"/>
              </a:solidFill>
            </a:endParaRPr>
          </a:p>
          <a:p>
            <a:pPr indent="0" lvl="0" marL="0" rtl="0" algn="l">
              <a:lnSpc>
                <a:spcPct val="136000"/>
              </a:lnSpc>
              <a:spcBef>
                <a:spcPts val="0"/>
              </a:spcBef>
              <a:spcAft>
                <a:spcPts val="0"/>
              </a:spcAft>
              <a:buSzPts val="1100"/>
              <a:buNone/>
            </a:pPr>
            <a:r>
              <a:rPr lang="en-GB">
                <a:solidFill>
                  <a:schemeClr val="dk1"/>
                </a:solidFill>
              </a:rPr>
              <a:t>Today one implemented strategy is CPU utilization based assignment, and the architecture is explicitly pluggable for additional strategies.</a:t>
            </a:r>
            <a:endParaRPr>
              <a:solidFill>
                <a:schemeClr val="dk1"/>
              </a:solidFill>
            </a:endParaRPr>
          </a:p>
          <a:p>
            <a:pPr indent="0" lvl="0" marL="0" rtl="0" algn="l">
              <a:lnSpc>
                <a:spcPct val="136000"/>
              </a:lnSpc>
              <a:spcBef>
                <a:spcPts val="0"/>
              </a:spcBef>
              <a:spcAft>
                <a:spcPts val="0"/>
              </a:spcAft>
              <a:buSzPts val="1100"/>
              <a:buNone/>
            </a:pPr>
            <a:r>
              <a:t/>
            </a:r>
            <a:endParaRPr>
              <a:solidFill>
                <a:schemeClr val="dk1"/>
              </a:solidFill>
            </a:endParaRPr>
          </a:p>
          <a:p>
            <a:pPr indent="0" lvl="0" marL="0" rtl="0" algn="l">
              <a:lnSpc>
                <a:spcPct val="136000"/>
              </a:lnSpc>
              <a:spcBef>
                <a:spcPts val="0"/>
              </a:spcBef>
              <a:spcAft>
                <a:spcPts val="0"/>
              </a:spcAft>
              <a:buSzPts val="1100"/>
              <a:buNone/>
            </a:pPr>
            <a:r>
              <a:rPr lang="en-GB">
                <a:solidFill>
                  <a:schemeClr val="dk1"/>
                </a:solidFill>
              </a:rPr>
              <a:t>Operationally, this lets Batch and Agent schedulers coexist and coordinate safely, instead of overloading one global scheduling path with conflicting optimization goals.</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GB" sz="1200">
                <a:solidFill>
                  <a:schemeClr val="dk1"/>
                </a:solidFill>
              </a:rPr>
              <a:t>Volcano's colocation solution significantly improves cluster resource utilization by running online and offline workloads together, while ensuring the Service Level Objectives (SLOs) of high-priority online services. It is non-intrusive to Kubernetes and provides fine-grained, OS-level resource isolation and QoS guarantees.</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sz="1200">
                <a:solidFill>
                  <a:schemeClr val="dk1"/>
                </a:solidFill>
              </a:rPr>
              <a:t>QoS-Based Colocation Model: Defines different QoS levels (e.g., LC, HLS, LS, BE) for various workloads, mapping them to different CPU and memory priorities at the kernel level to ensure high-priority tasks get resource preference.</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sz="1200">
                <a:solidFill>
                  <a:schemeClr val="dk1"/>
                </a:solidFill>
              </a:rPr>
              <a:t>Unified Scheduling: Uses a single Volcano scheduler to manage both online and offline workloads, avoiding resource conflicts that can arise from multiple schedulers.</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sz="1200">
                <a:solidFill>
                  <a:schemeClr val="dk1"/>
                </a:solidFill>
              </a:rPr>
              <a:t>Dynamic Resource Oversubscription: Dynamically calculates and reclaims unused resources (allocated but not used) from online services and makes them available to offline workloads, increasing pod density and overall utilization.</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sz="1200">
                <a:solidFill>
                  <a:schemeClr val="dk1"/>
                </a:solidFill>
              </a:rPr>
              <a:t>Comprehensive QoS Guarantees: Provides multi-dimensional resource isolation at the OS level for CPU, memory, and network. It suppresses offline workloads' resource usage during contention to protect online services, and evicts offline jobs under high node pressure.</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sz="1200">
                <a:solidFill>
                  <a:schemeClr val="dk1"/>
                </a:solidFill>
              </a:rPr>
              <a:t>CPU Burst: Allows containers to temporarily exceed their CPU limits by using accumulated, unused CPU quotas from previous periods. This helps reduce CPU throttling and lowers the tail latency of sensitive applications.</a:t>
            </a:r>
            <a:endParaRPr sz="1200">
              <a:solidFill>
                <a:schemeClr val="dk1"/>
              </a:solidFill>
            </a:endParaRPr>
          </a:p>
          <a:p>
            <a:pPr indent="0" lvl="0" marL="0" rtl="0" algn="l">
              <a:lnSpc>
                <a:spcPct val="100000"/>
              </a:lnSpc>
              <a:spcBef>
                <a:spcPts val="0"/>
              </a:spcBef>
              <a:spcAft>
                <a:spcPts val="0"/>
              </a:spcAft>
              <a:buSzPts val="1100"/>
              <a:buNone/>
            </a:pPr>
            <a:r>
              <a:t/>
            </a:r>
            <a:endParaRPr b="1" sz="1050">
              <a:solidFill>
                <a:srgbClr val="569CD6"/>
              </a:solidFill>
              <a:highlight>
                <a:srgbClr val="1F1F1F"/>
              </a:highlight>
              <a:latin typeface="Consolas"/>
              <a:ea typeface="Consolas"/>
              <a:cs typeface="Consolas"/>
              <a:sym typeface="Consolas"/>
            </a:endParaRPr>
          </a:p>
        </p:txBody>
      </p:sp>
      <p:sp>
        <p:nvSpPr>
          <p:cNvPr id="477" name="Google Shape;47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solidFill>
                  <a:schemeClr val="dk1"/>
                </a:solidFill>
              </a:rPr>
              <a:t>In v1.14, Volcano Colocation expanded a lot of capabilities.</a:t>
            </a:r>
            <a:endParaRPr>
              <a:solidFill>
                <a:schemeClr val="dk1"/>
              </a:solidFill>
            </a:endParaRPr>
          </a:p>
        </p:txBody>
      </p:sp>
      <p:sp>
        <p:nvSpPr>
          <p:cNvPr id="488" name="Google Shape;48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495" name="Google Shape;49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sz="1200">
                <a:solidFill>
                  <a:schemeClr val="dk1"/>
                </a:solidFill>
              </a:rPr>
              <a:t>Let's review Volcano Network Topology Aware Scheduling, which some of you may have already encountered or used. </a:t>
            </a:r>
            <a:endParaRPr sz="1200">
              <a:solidFill>
                <a:schemeClr val="dk1"/>
              </a:solidFill>
            </a:endParaRPr>
          </a:p>
          <a:p>
            <a:pPr indent="0" lvl="0" marL="0" rtl="0" algn="l">
              <a:lnSpc>
                <a:spcPct val="100000"/>
              </a:lnSpc>
              <a:spcBef>
                <a:spcPts val="0"/>
              </a:spcBef>
              <a:spcAft>
                <a:spcPts val="0"/>
              </a:spcAft>
              <a:buSzPts val="1100"/>
              <a:buNone/>
            </a:pPr>
            <a:r>
              <a:rPr lang="en-GB" sz="1200">
                <a:solidFill>
                  <a:schemeClr val="dk1"/>
                </a:solidFill>
              </a:rPr>
              <a:t>What we saw is that Large-scale AI clusters lack unified topology abstraction, which is required for optimized intra- and inter-node configurations for maximum performance.</a:t>
            </a:r>
            <a:endParaRPr sz="1200">
              <a:solidFill>
                <a:schemeClr val="dk1"/>
              </a:solidFill>
            </a:endParaRPr>
          </a:p>
          <a:p>
            <a:pPr indent="0" lvl="0" marL="0" rtl="0" algn="l">
              <a:lnSpc>
                <a:spcPct val="100000"/>
              </a:lnSpc>
              <a:spcBef>
                <a:spcPts val="0"/>
              </a:spcBef>
              <a:spcAft>
                <a:spcPts val="0"/>
              </a:spcAft>
              <a:buSzPts val="1100"/>
              <a:buNone/>
            </a:pPr>
            <a:r>
              <a:rPr lang="en-GB" sz="1200">
                <a:solidFill>
                  <a:schemeClr val="dk1"/>
                </a:solidFill>
              </a:rPr>
              <a:t>This is how HyperNodes were born, which with topology is no longer metadata decoration, it is a first-class scheduling primitive.</a:t>
            </a:r>
            <a:endParaRPr sz="1200">
              <a:solidFill>
                <a:schemeClr val="dk1"/>
              </a:solidFill>
            </a:endParaRPr>
          </a:p>
          <a:p>
            <a:pPr indent="0" lvl="0" marL="0" rtl="0" algn="l">
              <a:lnSpc>
                <a:spcPct val="100000"/>
              </a:lnSpc>
              <a:spcBef>
                <a:spcPts val="0"/>
              </a:spcBef>
              <a:spcAft>
                <a:spcPts val="0"/>
              </a:spcAft>
              <a:buSzPts val="1100"/>
              <a:buNone/>
            </a:pPr>
            <a:r>
              <a:t/>
            </a:r>
            <a:endParaRPr sz="1200">
              <a:solidFill>
                <a:schemeClr val="dk1"/>
              </a:solidFill>
            </a:endParaRPr>
          </a:p>
          <a:p>
            <a:pPr indent="0" lvl="0" marL="0" rtl="0" algn="l">
              <a:lnSpc>
                <a:spcPct val="100000"/>
              </a:lnSpc>
              <a:spcBef>
                <a:spcPts val="0"/>
              </a:spcBef>
              <a:spcAft>
                <a:spcPts val="0"/>
              </a:spcAft>
              <a:buSzPts val="1100"/>
              <a:buNone/>
            </a:pPr>
            <a:r>
              <a:rPr lang="en-GB" sz="1200">
                <a:solidFill>
                  <a:schemeClr val="dk1"/>
                </a:solidFill>
              </a:rPr>
              <a:t>Compare to some schedulers used node labels to specify topologies, we believe that hypernode is the best abstraction to represent the network topology domain with the same performance, and it is also the API that is currently very needed for AI training and inference world.</a:t>
            </a:r>
            <a:endParaRPr sz="1200">
              <a:solidFill>
                <a:schemeClr val="dk1"/>
              </a:solidFill>
            </a:endParaRPr>
          </a:p>
          <a:p>
            <a:pPr indent="0" lvl="0" marL="0" rtl="0" algn="l">
              <a:lnSpc>
                <a:spcPct val="100000"/>
              </a:lnSpc>
              <a:spcBef>
                <a:spcPts val="0"/>
              </a:spcBef>
              <a:spcAft>
                <a:spcPts val="0"/>
              </a:spcAft>
              <a:buSzPts val="1100"/>
              <a:buNone/>
            </a:pPr>
            <a:r>
              <a:rPr lang="en-GB" sz="1200">
                <a:solidFill>
                  <a:schemeClr val="dk1"/>
                </a:solidFill>
              </a:rPr>
              <a:t>Having an entity like HyperNode can represent more network networking architectures, not just spine-leaf architectures, and can do health monitoring, network congestion monitoring, and hypernode-level scheduling strategies</a:t>
            </a:r>
            <a:endParaRPr sz="1200">
              <a:solidFill>
                <a:schemeClr val="dk1"/>
              </a:solidFill>
            </a:endParaRPr>
          </a:p>
          <a:p>
            <a:pPr indent="0" lvl="0" marL="0" rtl="0" algn="l">
              <a:lnSpc>
                <a:spcPct val="100000"/>
              </a:lnSpc>
              <a:spcBef>
                <a:spcPts val="0"/>
              </a:spcBef>
              <a:spcAft>
                <a:spcPts val="0"/>
              </a:spcAft>
              <a:buSzPts val="1100"/>
              <a:buNone/>
            </a:pPr>
            <a:r>
              <a:t/>
            </a:r>
            <a:endParaRPr sz="1200">
              <a:solidFill>
                <a:schemeClr val="dk1"/>
              </a:solidFill>
            </a:endParaRPr>
          </a:p>
        </p:txBody>
      </p:sp>
      <p:sp>
        <p:nvSpPr>
          <p:cNvPr id="500" name="Google Shape;500;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GB" sz="1200">
                <a:solidFill>
                  <a:srgbClr val="374151"/>
                </a:solidFill>
                <a:latin typeface="Roboto"/>
                <a:ea typeface="Roboto"/>
                <a:cs typeface="Roboto"/>
                <a:sym typeface="Roboto"/>
              </a:rPr>
              <a:t>Prefill</a:t>
            </a:r>
            <a:r>
              <a:rPr lang="en-GB" sz="1200">
                <a:solidFill>
                  <a:srgbClr val="374151"/>
                </a:solidFill>
                <a:latin typeface="Roboto"/>
                <a:ea typeface="Roboto"/>
                <a:cs typeface="Roboto"/>
                <a:sym typeface="Roboto"/>
              </a:rPr>
              <a:t>: Processes the entire sequence in parallel and store key and value vectors from the attention layers in a KV cache. Because it’s handling all the tokens at once, prefill is compute-bound, but not too demanding on GPU memory.</a:t>
            </a:r>
            <a:endParaRPr sz="1200">
              <a:solidFill>
                <a:srgbClr val="374151"/>
              </a:solidFill>
              <a:latin typeface="Roboto"/>
              <a:ea typeface="Roboto"/>
              <a:cs typeface="Roboto"/>
              <a:sym typeface="Roboto"/>
            </a:endParaRPr>
          </a:p>
          <a:p>
            <a:pPr indent="0" lvl="0" marL="0" rtl="0" algn="l">
              <a:lnSpc>
                <a:spcPct val="150000"/>
              </a:lnSpc>
              <a:spcBef>
                <a:spcPts val="1500"/>
              </a:spcBef>
              <a:spcAft>
                <a:spcPts val="0"/>
              </a:spcAft>
              <a:buNone/>
            </a:pPr>
            <a:r>
              <a:rPr b="1" lang="en-GB" sz="1200">
                <a:solidFill>
                  <a:srgbClr val="374151"/>
                </a:solidFill>
                <a:latin typeface="Roboto"/>
                <a:ea typeface="Roboto"/>
                <a:cs typeface="Roboto"/>
                <a:sym typeface="Roboto"/>
              </a:rPr>
              <a:t>Decode</a:t>
            </a:r>
            <a:r>
              <a:rPr lang="en-GB" sz="1200">
                <a:solidFill>
                  <a:srgbClr val="374151"/>
                </a:solidFill>
                <a:latin typeface="Roboto"/>
                <a:ea typeface="Roboto"/>
                <a:cs typeface="Roboto"/>
                <a:sym typeface="Roboto"/>
              </a:rPr>
              <a:t>: Generates the output tokens, one at a time, by reusing the KV cache built earlier. Different from prefill, decode requires fast memory access but lower compute.</a:t>
            </a:r>
            <a:br>
              <a:rPr lang="en-GB" sz="1200">
                <a:solidFill>
                  <a:srgbClr val="374151"/>
                </a:solidFill>
                <a:latin typeface="Roboto"/>
                <a:ea typeface="Roboto"/>
                <a:cs typeface="Roboto"/>
                <a:sym typeface="Roboto"/>
              </a:rPr>
            </a:br>
            <a:br>
              <a:rPr lang="en-GB" sz="1200">
                <a:solidFill>
                  <a:srgbClr val="374151"/>
                </a:solidFill>
                <a:latin typeface="Roboto"/>
                <a:ea typeface="Roboto"/>
                <a:cs typeface="Roboto"/>
                <a:sym typeface="Roboto"/>
              </a:rPr>
            </a:br>
            <a:r>
              <a:rPr lang="en-GB" sz="1200">
                <a:solidFill>
                  <a:srgbClr val="374151"/>
                </a:solidFill>
              </a:rPr>
              <a:t>Since prefill primarily determines the TTFT (Time to First Token) and decode impacts ITL (Inter Token Latency), collocating them makes it difficult to optimize both metrics simultaneously.</a:t>
            </a:r>
            <a:endParaRPr sz="1200">
              <a:solidFill>
                <a:srgbClr val="374151"/>
              </a:solidFill>
              <a:latin typeface="Roboto"/>
              <a:ea typeface="Roboto"/>
              <a:cs typeface="Roboto"/>
              <a:sym typeface="Roboto"/>
            </a:endParaRPr>
          </a:p>
          <a:p>
            <a:pPr indent="0" lvl="0" marL="0" rtl="0" algn="l">
              <a:lnSpc>
                <a:spcPct val="136000"/>
              </a:lnSpc>
              <a:spcBef>
                <a:spcPts val="1500"/>
              </a:spcBef>
              <a:spcAft>
                <a:spcPts val="0"/>
              </a:spcAft>
              <a:buSzPts val="1100"/>
              <a:buNone/>
            </a:pPr>
            <a:r>
              <a:t/>
            </a:r>
            <a:endParaRPr>
              <a:solidFill>
                <a:schemeClr val="dk1"/>
              </a:solidFill>
            </a:endParaRPr>
          </a:p>
        </p:txBody>
      </p:sp>
      <p:sp>
        <p:nvSpPr>
          <p:cNvPr id="553" name="Google Shape;553;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36000"/>
              </a:lnSpc>
              <a:spcBef>
                <a:spcPts val="0"/>
              </a:spcBef>
              <a:spcAft>
                <a:spcPts val="0"/>
              </a:spcAft>
              <a:buSzPts val="1100"/>
              <a:buNone/>
            </a:pPr>
            <a:r>
              <a:rPr lang="en-GB">
                <a:solidFill>
                  <a:schemeClr val="dk1"/>
                </a:solidFill>
              </a:rPr>
              <a:t>Managing node Labels is cumbersome, so we already provide auto-discovery mechanisms on the cluster.</a:t>
            </a:r>
            <a:endParaRPr>
              <a:solidFill>
                <a:schemeClr val="dk1"/>
              </a:solidFill>
            </a:endParaRPr>
          </a:p>
          <a:p>
            <a:pPr indent="0" lvl="0" marL="0" rtl="0" algn="l">
              <a:lnSpc>
                <a:spcPct val="136000"/>
              </a:lnSpc>
              <a:spcBef>
                <a:spcPts val="0"/>
              </a:spcBef>
              <a:spcAft>
                <a:spcPts val="0"/>
              </a:spcAft>
              <a:buSzPts val="1100"/>
              <a:buNone/>
            </a:pPr>
            <a:r>
              <a:t/>
            </a:r>
            <a:endParaRPr>
              <a:solidFill>
                <a:schemeClr val="dk1"/>
              </a:solidFill>
            </a:endParaRPr>
          </a:p>
          <a:p>
            <a:pPr indent="0" lvl="0" marL="0" rtl="0" algn="l">
              <a:lnSpc>
                <a:spcPct val="136000"/>
              </a:lnSpc>
              <a:spcBef>
                <a:spcPts val="0"/>
              </a:spcBef>
              <a:spcAft>
                <a:spcPts val="0"/>
              </a:spcAft>
              <a:buSzPts val="1100"/>
              <a:buNone/>
            </a:pPr>
            <a:r>
              <a:t/>
            </a:r>
            <a:endParaRPr>
              <a:solidFill>
                <a:schemeClr val="dk1"/>
              </a:solidFill>
            </a:endParaRPr>
          </a:p>
          <a:p>
            <a:pPr indent="0" lvl="0" marL="0" rtl="0" algn="l">
              <a:lnSpc>
                <a:spcPct val="136000"/>
              </a:lnSpc>
              <a:spcBef>
                <a:spcPts val="0"/>
              </a:spcBef>
              <a:spcAft>
                <a:spcPts val="0"/>
              </a:spcAft>
              <a:buSzPts val="1100"/>
              <a:buNone/>
            </a:pPr>
            <a:r>
              <a:rPr lang="en-GB">
                <a:solidFill>
                  <a:schemeClr val="dk1"/>
                </a:solidFill>
              </a:rPr>
              <a:t>RoCE </a:t>
            </a:r>
            <a:r>
              <a:rPr lang="en-GB">
                <a:solidFill>
                  <a:schemeClr val="dk1"/>
                </a:solidFill>
              </a:rPr>
              <a:t>LLDP/CDP</a:t>
            </a:r>
            <a:br>
              <a:rPr lang="en-GB">
                <a:solidFill>
                  <a:schemeClr val="dk1"/>
                </a:solidFill>
              </a:rPr>
            </a:br>
            <a:r>
              <a:rPr lang="en-GB">
                <a:solidFill>
                  <a:schemeClr val="dk1"/>
                </a:solidFill>
              </a:rPr>
              <a:t>RDMA over Converged Ethernet (RoCE) is a network protocol which allows remote direct memory access (RDMA) over an Ethernet network</a:t>
            </a:r>
            <a:br>
              <a:rPr lang="en-GB">
                <a:solidFill>
                  <a:schemeClr val="dk1"/>
                </a:solidFill>
              </a:rPr>
            </a:br>
            <a:r>
              <a:rPr lang="en-GB">
                <a:solidFill>
                  <a:schemeClr val="dk1"/>
                </a:solidFill>
              </a:rPr>
              <a:t>Link Layer Discovery Protocol (LLDP) is a vendor-neutral, Layer 2 protocol (IEEE 802.1AB) that enables network devices to advertise their identity, capabilities, and neighbors.</a:t>
            </a:r>
            <a:br>
              <a:rPr lang="en-GB">
                <a:solidFill>
                  <a:schemeClr val="dk1"/>
                </a:solidFill>
              </a:rPr>
            </a:br>
            <a:r>
              <a:rPr lang="en-GB">
                <a:solidFill>
                  <a:schemeClr val="dk1"/>
                </a:solidFill>
              </a:rPr>
              <a:t>Cisco Discovery Protocol (CDP) is a proprietary Layer 2 network protocol that operates on Cisco devices. It enables devices to discover directly connected Cisco equipment and gather vital information about neighboring devices, facilitating network management and troubleshooting.</a:t>
            </a:r>
            <a:endParaRPr>
              <a:solidFill>
                <a:schemeClr val="dk1"/>
              </a:solidFill>
            </a:endParaRPr>
          </a:p>
        </p:txBody>
      </p:sp>
      <p:sp>
        <p:nvSpPr>
          <p:cNvPr id="565" name="Google Shape;565;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36000"/>
              </a:lnSpc>
              <a:spcBef>
                <a:spcPts val="0"/>
              </a:spcBef>
              <a:spcAft>
                <a:spcPts val="0"/>
              </a:spcAft>
              <a:buClr>
                <a:schemeClr val="dk1"/>
              </a:buClr>
              <a:buSzPts val="1100"/>
              <a:buFont typeface="Arial"/>
              <a:buNone/>
            </a:pPr>
            <a:r>
              <a:rPr lang="en-GB">
                <a:solidFill>
                  <a:schemeClr val="dk1"/>
                </a:solidFill>
              </a:rPr>
              <a:t>Currently, HyperNode only extends to support hypernodes or nodes for members, but it does not cover multi-rail architectures where GPUs are directly connected in the node through NVLink and NVSwitches, or 3D torus-like TPU networks. These can be handled by DRA, and we need to collaborate with that. We wish to expand .....</a:t>
            </a:r>
            <a:endParaRPr>
              <a:solidFill>
                <a:schemeClr val="dk1"/>
              </a:solidFill>
            </a:endParaRPr>
          </a:p>
          <a:p>
            <a:pPr indent="0" lvl="0" marL="0" rtl="0" algn="l">
              <a:lnSpc>
                <a:spcPct val="136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36000"/>
              </a:lnSpc>
              <a:spcBef>
                <a:spcPts val="0"/>
              </a:spcBef>
              <a:spcAft>
                <a:spcPts val="0"/>
              </a:spcAft>
              <a:buClr>
                <a:schemeClr val="dk1"/>
              </a:buClr>
              <a:buSzPts val="1100"/>
              <a:buFont typeface="Arial"/>
              <a:buNone/>
            </a:pPr>
            <a:r>
              <a:rPr lang="en-GB">
                <a:solidFill>
                  <a:schemeClr val="dk1"/>
                </a:solidFill>
              </a:rPr>
              <a:t>DRA handles the microscopic PCIe/NVLink alignment the internode topology handling, HyperNode provides the macroscopic network boundaries, the intranode topology.</a:t>
            </a:r>
            <a:endParaRPr>
              <a:solidFill>
                <a:schemeClr val="dk1"/>
              </a:solidFill>
            </a:endParaRPr>
          </a:p>
          <a:p>
            <a:pPr indent="0" lvl="0" marL="0" rtl="0" algn="l">
              <a:lnSpc>
                <a:spcPct val="136000"/>
              </a:lnSpc>
              <a:spcBef>
                <a:spcPts val="0"/>
              </a:spcBef>
              <a:spcAft>
                <a:spcPts val="0"/>
              </a:spcAft>
              <a:buSzPts val="1100"/>
              <a:buNone/>
            </a:pPr>
            <a:r>
              <a:t/>
            </a:r>
            <a:endParaRPr>
              <a:solidFill>
                <a:schemeClr val="dk1"/>
              </a:solidFill>
            </a:endParaRPr>
          </a:p>
          <a:p>
            <a:pPr indent="0" lvl="0" marL="0" rtl="0" algn="l">
              <a:lnSpc>
                <a:spcPct val="136000"/>
              </a:lnSpc>
              <a:spcBef>
                <a:spcPts val="0"/>
              </a:spcBef>
              <a:spcAft>
                <a:spcPts val="0"/>
              </a:spcAft>
              <a:buSzPts val="1100"/>
              <a:buNone/>
            </a:pPr>
            <a:r>
              <a:t/>
            </a:r>
            <a:endParaRPr>
              <a:solidFill>
                <a:schemeClr val="dk1"/>
              </a:solidFill>
            </a:endParaRPr>
          </a:p>
        </p:txBody>
      </p:sp>
      <p:sp>
        <p:nvSpPr>
          <p:cNvPr id="599" name="Google Shape;59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36000"/>
              </a:lnSpc>
              <a:spcBef>
                <a:spcPts val="0"/>
              </a:spcBef>
              <a:spcAft>
                <a:spcPts val="0"/>
              </a:spcAft>
              <a:buSzPts val="1100"/>
              <a:buNone/>
            </a:pPr>
            <a:r>
              <a:rPr lang="en-GB">
                <a:solidFill>
                  <a:schemeClr val="dk1"/>
                </a:solidFill>
              </a:rPr>
              <a:t>Currently Volcano has already supported Nvidia Unified Fabric Manager( UFM ) to support IB network auto discovery and label based hypernode discovery ( which is the most common solution for other schedulers), but Volcano will also look forward to integrating more network topology autodiscovery solutions</a:t>
            </a:r>
            <a:endParaRPr>
              <a:solidFill>
                <a:schemeClr val="dk1"/>
              </a:solidFill>
            </a:endParaRPr>
          </a:p>
        </p:txBody>
      </p:sp>
      <p:sp>
        <p:nvSpPr>
          <p:cNvPr id="607" name="Google Shape;607;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36000"/>
              </a:lnSpc>
              <a:spcBef>
                <a:spcPts val="0"/>
              </a:spcBef>
              <a:spcAft>
                <a:spcPts val="0"/>
              </a:spcAft>
              <a:buSzPts val="1100"/>
              <a:buNone/>
            </a:pPr>
            <a:r>
              <a:rPr lang="en-GB">
                <a:solidFill>
                  <a:schemeClr val="dk1"/>
                </a:solidFill>
              </a:rPr>
              <a:t>Currently, most schedulers use node labels to represent network topology and comine their own CRD to specify which label belongs to which hierarchy. This is a common practice in k8s, after all, there's no entity to represent a switch or network domain. But it has a fatal flaw: Labels are just static strings. They are stateless and flat. When we use a label like spine=switch-1, the scheduler only knows that a group of nodes share the same string. It knows absolutely nothing about the switch itself. What is the total bandwidth of switch-1? Is it currently congested? Is a port down? Labels cannot answer these questions because, in the current Kubernetes ecosystem, the switch or network domain simply does not exist as an entity. </a:t>
            </a:r>
            <a:endParaRPr>
              <a:solidFill>
                <a:schemeClr val="dk1"/>
              </a:solidFill>
            </a:endParaRPr>
          </a:p>
          <a:p>
            <a:pPr indent="0" lvl="0" marL="0" rtl="0" algn="l">
              <a:lnSpc>
                <a:spcPct val="136000"/>
              </a:lnSpc>
              <a:spcBef>
                <a:spcPts val="0"/>
              </a:spcBef>
              <a:spcAft>
                <a:spcPts val="0"/>
              </a:spcAft>
              <a:buSzPts val="1100"/>
              <a:buNone/>
            </a:pPr>
            <a:r>
              <a:t/>
            </a:r>
            <a:endParaRPr>
              <a:solidFill>
                <a:schemeClr val="dk1"/>
              </a:solidFill>
            </a:endParaRPr>
          </a:p>
          <a:p>
            <a:pPr indent="0" lvl="0" marL="0" rtl="0" algn="l">
              <a:lnSpc>
                <a:spcPct val="136000"/>
              </a:lnSpc>
              <a:spcBef>
                <a:spcPts val="0"/>
              </a:spcBef>
              <a:spcAft>
                <a:spcPts val="0"/>
              </a:spcAft>
              <a:buSzPts val="1100"/>
              <a:buNone/>
            </a:pPr>
            <a:r>
              <a:rPr lang="en-GB">
                <a:solidFill>
                  <a:schemeClr val="dk1"/>
                </a:solidFill>
              </a:rPr>
              <a:t>This was fine for traditional workloads, but Large Language Model (LLM) training even inference changes everything. Modern AI clusters use highly complex network architectures, from spine-leaf to multi-Rail (Rail-Optimized) or 3D-Torus and even more complex architectures in the future. </a:t>
            </a:r>
            <a:endParaRPr>
              <a:solidFill>
                <a:schemeClr val="dk1"/>
              </a:solidFill>
            </a:endParaRPr>
          </a:p>
          <a:p>
            <a:pPr indent="0" lvl="0" marL="0" rtl="0" algn="l">
              <a:lnSpc>
                <a:spcPct val="136000"/>
              </a:lnSpc>
              <a:spcBef>
                <a:spcPts val="0"/>
              </a:spcBef>
              <a:spcAft>
                <a:spcPts val="0"/>
              </a:spcAft>
              <a:buSzPts val="1100"/>
              <a:buNone/>
            </a:pPr>
            <a:r>
              <a:rPr lang="en-GB">
                <a:solidFill>
                  <a:schemeClr val="dk1"/>
                </a:solidFill>
              </a:rPr>
              <a:t>But for hypernode</a:t>
            </a:r>
            <a:endParaRPr>
              <a:solidFill>
                <a:schemeClr val="dk1"/>
              </a:solidFill>
            </a:endParaRPr>
          </a:p>
          <a:p>
            <a:pPr indent="0" lvl="0" marL="0" rtl="0" algn="l">
              <a:lnSpc>
                <a:spcPct val="136000"/>
              </a:lnSpc>
              <a:spcBef>
                <a:spcPts val="0"/>
              </a:spcBef>
              <a:spcAft>
                <a:spcPts val="0"/>
              </a:spcAft>
              <a:buSzPts val="1100"/>
              <a:buNone/>
            </a:pPr>
            <a:r>
              <a:rPr lang="en-GB">
                <a:solidFill>
                  <a:schemeClr val="dk1"/>
                </a:solidFill>
              </a:rPr>
              <a:t>The reasons are as follows:</a:t>
            </a:r>
            <a:endParaRPr>
              <a:solidFill>
                <a:schemeClr val="dk1"/>
              </a:solidFill>
            </a:endParaRPr>
          </a:p>
          <a:p>
            <a:pPr indent="0" lvl="0" marL="0" rtl="0" algn="l">
              <a:lnSpc>
                <a:spcPct val="136000"/>
              </a:lnSpc>
              <a:spcBef>
                <a:spcPts val="0"/>
              </a:spcBef>
              <a:spcAft>
                <a:spcPts val="0"/>
              </a:spcAft>
              <a:buSzPts val="1100"/>
              <a:buNone/>
            </a:pPr>
            <a:r>
              <a:rPr lang="en-GB">
                <a:solidFill>
                  <a:schemeClr val="dk1"/>
                </a:solidFill>
              </a:rPr>
              <a:t>First: Stateful and Dynamic Scheduling.</a:t>
            </a:r>
            <a:endParaRPr>
              <a:solidFill>
                <a:schemeClr val="dk1"/>
              </a:solidFill>
            </a:endParaRPr>
          </a:p>
          <a:p>
            <a:pPr indent="-171450" lvl="0" marL="171450" rtl="0" algn="l">
              <a:lnSpc>
                <a:spcPct val="136000"/>
              </a:lnSpc>
              <a:spcBef>
                <a:spcPts val="0"/>
              </a:spcBef>
              <a:spcAft>
                <a:spcPts val="0"/>
              </a:spcAft>
              <a:buSzPts val="1100"/>
              <a:buFont typeface="Arial"/>
              <a:buChar char="•"/>
            </a:pPr>
            <a:r>
              <a:rPr lang="en-GB">
                <a:solidFill>
                  <a:schemeClr val="dk1"/>
                </a:solidFill>
              </a:rPr>
              <a:t>Because HyperNode is an object, it has a Status field. We can continuously inject real-time telemetry data—like available bandwidth, packet loss rates, or link health—directly into the HyperNode. The scheduler can finally make decisions based on real-time network load.</a:t>
            </a:r>
            <a:endParaRPr>
              <a:solidFill>
                <a:schemeClr val="dk1"/>
              </a:solidFill>
            </a:endParaRPr>
          </a:p>
          <a:p>
            <a:pPr indent="0" lvl="0" marL="0" rtl="0" algn="l">
              <a:lnSpc>
                <a:spcPct val="136000"/>
              </a:lnSpc>
              <a:spcBef>
                <a:spcPts val="0"/>
              </a:spcBef>
              <a:spcAft>
                <a:spcPts val="0"/>
              </a:spcAft>
              <a:buSzPts val="1100"/>
              <a:buNone/>
            </a:pPr>
            <a:r>
              <a:rPr lang="en-GB">
                <a:solidFill>
                  <a:schemeClr val="dk1"/>
                </a:solidFill>
              </a:rPr>
              <a:t>Second: Native Support for Complex Topologies.</a:t>
            </a:r>
            <a:endParaRPr>
              <a:solidFill>
                <a:schemeClr val="dk1"/>
              </a:solidFill>
            </a:endParaRPr>
          </a:p>
          <a:p>
            <a:pPr indent="-171450" lvl="0" marL="171450" rtl="0" algn="l">
              <a:lnSpc>
                <a:spcPct val="136000"/>
              </a:lnSpc>
              <a:spcBef>
                <a:spcPts val="0"/>
              </a:spcBef>
              <a:spcAft>
                <a:spcPts val="0"/>
              </a:spcAft>
              <a:buSzPts val="1100"/>
              <a:buFont typeface="Arial"/>
              <a:buChar char="•"/>
            </a:pPr>
            <a:r>
              <a:rPr lang="en-GB">
                <a:solidFill>
                  <a:schemeClr val="dk1"/>
                </a:solidFill>
              </a:rPr>
              <a:t>HyperNodes can easily express Many-to-Many relationships. Is can extend and support more complex network architecture, not just includes spine-leaf architectures  </a:t>
            </a:r>
            <a:endParaRPr>
              <a:solidFill>
                <a:schemeClr val="dk1"/>
              </a:solidFill>
            </a:endParaRPr>
          </a:p>
          <a:p>
            <a:pPr indent="0" lvl="0" marL="0" rtl="0" algn="l">
              <a:lnSpc>
                <a:spcPct val="136000"/>
              </a:lnSpc>
              <a:spcBef>
                <a:spcPts val="0"/>
              </a:spcBef>
              <a:spcAft>
                <a:spcPts val="0"/>
              </a:spcAft>
              <a:buSzPts val="1100"/>
              <a:buFont typeface="Arial"/>
              <a:buNone/>
            </a:pPr>
            <a:r>
              <a:rPr lang="en-GB">
                <a:solidFill>
                  <a:schemeClr val="dk1"/>
                </a:solidFill>
              </a:rPr>
              <a:t>Third: Unified Hardware-Network Co-design.</a:t>
            </a:r>
            <a:endParaRPr>
              <a:solidFill>
                <a:schemeClr val="dk1"/>
              </a:solidFill>
            </a:endParaRPr>
          </a:p>
          <a:p>
            <a:pPr indent="-171450" lvl="0" marL="171450" rtl="0" algn="l">
              <a:lnSpc>
                <a:spcPct val="136000"/>
              </a:lnSpc>
              <a:spcBef>
                <a:spcPts val="0"/>
              </a:spcBef>
              <a:spcAft>
                <a:spcPts val="0"/>
              </a:spcAft>
              <a:buSzPts val="1100"/>
              <a:buFont typeface="Arial"/>
              <a:buChar char="•"/>
            </a:pPr>
            <a:r>
              <a:rPr lang="en-GB">
                <a:solidFill>
                  <a:schemeClr val="dk1"/>
                </a:solidFill>
              </a:rPr>
              <a:t>In the long run, as we integrate other resources like DRA,  HyperNode provides the macroscopic network boundaries, while DRA handles the microscopic PCIe/NVLink alignment. Together, they form the ultimate scheduling engine for next-generation AI infrastructure.</a:t>
            </a:r>
            <a:endParaRPr>
              <a:solidFill>
                <a:schemeClr val="dk1"/>
              </a:solidFill>
            </a:endParaRPr>
          </a:p>
          <a:p>
            <a:pPr indent="0" lvl="0" marL="0" rtl="0" algn="l">
              <a:lnSpc>
                <a:spcPct val="136000"/>
              </a:lnSpc>
              <a:spcBef>
                <a:spcPts val="0"/>
              </a:spcBef>
              <a:spcAft>
                <a:spcPts val="0"/>
              </a:spcAft>
              <a:buSzPts val="1100"/>
              <a:buNone/>
            </a:pPr>
            <a:r>
              <a:t/>
            </a:r>
            <a:endParaRPr>
              <a:solidFill>
                <a:schemeClr val="dk1"/>
              </a:solidFill>
            </a:endParaRPr>
          </a:p>
          <a:p>
            <a:pPr indent="0" lvl="0" marL="0" rtl="0" algn="l">
              <a:lnSpc>
                <a:spcPct val="136000"/>
              </a:lnSpc>
              <a:spcBef>
                <a:spcPts val="0"/>
              </a:spcBef>
              <a:spcAft>
                <a:spcPts val="0"/>
              </a:spcAft>
              <a:buSzPts val="1100"/>
              <a:buNone/>
            </a:pPr>
            <a:r>
              <a:rPr lang="en-GB">
                <a:solidFill>
                  <a:schemeClr val="dk1"/>
                </a:solidFill>
              </a:rPr>
              <a:t>So We wish to promote hypernode as a kubernets first-class citizen, we will </a:t>
            </a:r>
            <a:endParaRPr>
              <a:solidFill>
                <a:schemeClr val="dk1"/>
              </a:solidFill>
            </a:endParaRPr>
          </a:p>
          <a:p>
            <a:pPr indent="-171450" lvl="0" marL="171450" rtl="0" algn="l">
              <a:lnSpc>
                <a:spcPct val="136000"/>
              </a:lnSpc>
              <a:spcBef>
                <a:spcPts val="0"/>
              </a:spcBef>
              <a:spcAft>
                <a:spcPts val="0"/>
              </a:spcAft>
              <a:buSzPts val="1100"/>
              <a:buFont typeface="Arial"/>
              <a:buChar char="•"/>
            </a:pPr>
            <a:r>
              <a:rPr lang="en-GB"/>
              <a:t>Extract HyperNode:</a:t>
            </a:r>
            <a:endParaRPr/>
          </a:p>
          <a:p>
            <a:pPr indent="0" lvl="0" marL="0" rtl="0" algn="l">
              <a:lnSpc>
                <a:spcPct val="136000"/>
              </a:lnSpc>
              <a:spcBef>
                <a:spcPts val="0"/>
              </a:spcBef>
              <a:spcAft>
                <a:spcPts val="0"/>
              </a:spcAft>
              <a:buSzPts val="1100"/>
              <a:buNone/>
            </a:pPr>
            <a:r>
              <a:rPr lang="en-GB"/>
              <a:t>Decouple Volcano's HyperNode into an independent, vendor-neutral API standard.</a:t>
            </a:r>
            <a:endParaRPr/>
          </a:p>
          <a:p>
            <a:pPr indent="-171450" lvl="0" marL="171450" rtl="0" algn="l">
              <a:lnSpc>
                <a:spcPct val="136000"/>
              </a:lnSpc>
              <a:spcBef>
                <a:spcPts val="0"/>
              </a:spcBef>
              <a:spcAft>
                <a:spcPts val="0"/>
              </a:spcAft>
              <a:buSzPts val="1100"/>
              <a:buFont typeface="Arial"/>
              <a:buChar char="•"/>
            </a:pPr>
            <a:r>
              <a:rPr lang="en-GB"/>
              <a:t>Call for Co-creation HyperNode Initiative</a:t>
            </a:r>
            <a:endParaRPr/>
          </a:p>
          <a:p>
            <a:pPr indent="0" lvl="0" marL="0" rtl="0" algn="l">
              <a:lnSpc>
                <a:spcPct val="136000"/>
              </a:lnSpc>
              <a:spcBef>
                <a:spcPts val="0"/>
              </a:spcBef>
              <a:spcAft>
                <a:spcPts val="0"/>
              </a:spcAft>
              <a:buSzPts val="1100"/>
              <a:buFont typeface="Arial"/>
              <a:buNone/>
            </a:pPr>
            <a:r>
              <a:rPr lang="en-GB"/>
              <a:t>Co-create HyperNode initiatives (e.g., via CNCF TOC) to jointly define and manage HyperNode standards.</a:t>
            </a:r>
            <a:endParaRPr/>
          </a:p>
          <a:p>
            <a:pPr indent="0" lvl="0" marL="228600" rtl="0" algn="l">
              <a:lnSpc>
                <a:spcPct val="150000"/>
              </a:lnSpc>
              <a:spcBef>
                <a:spcPts val="0"/>
              </a:spcBef>
              <a:spcAft>
                <a:spcPts val="0"/>
              </a:spcAft>
              <a:buSzPts val="1800"/>
              <a:buFont typeface="Arial"/>
              <a:buNone/>
            </a:pPr>
            <a:r>
              <a:t/>
            </a:r>
            <a:endParaRPr/>
          </a:p>
          <a:p>
            <a:pPr indent="0" lvl="0" marL="0" rtl="0" algn="l">
              <a:lnSpc>
                <a:spcPct val="136000"/>
              </a:lnSpc>
              <a:spcBef>
                <a:spcPts val="0"/>
              </a:spcBef>
              <a:spcAft>
                <a:spcPts val="0"/>
              </a:spcAft>
              <a:buSzPts val="1100"/>
              <a:buNone/>
            </a:pPr>
            <a:r>
              <a:t/>
            </a:r>
            <a:endParaRPr>
              <a:solidFill>
                <a:schemeClr val="dk1"/>
              </a:solidFill>
            </a:endParaRPr>
          </a:p>
        </p:txBody>
      </p:sp>
      <p:sp>
        <p:nvSpPr>
          <p:cNvPr id="614" name="Google Shape;614;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GB"/>
              <a:t>Hi Im Zicong Chen, You can also call me Jesse, I’d like to introduce to you the latest update for the 3 volcano sub-project</a:t>
            </a:r>
            <a:endParaRPr/>
          </a:p>
        </p:txBody>
      </p:sp>
      <p:sp>
        <p:nvSpPr>
          <p:cNvPr id="631" name="Google Shape;631;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GB"/>
              <a:t>It supports wide ecosystem, it supports vLLM, sglang... Both support standard and prefiil-decode disaggrated mode, it can autoscale on token throughput, budget, request queue depth, it also has a intelligent router, which can do kv-cache, prefix-cache aware routing, it has a lot of pluggable kv conncetors suppported, such as LMCache, Mooncake and on, it can integrate natively with volcano, to do gang scheduling for xPyD deployment and topology aware scheduling</a:t>
            </a:r>
            <a:endParaRPr/>
          </a:p>
        </p:txBody>
      </p:sp>
      <p:sp>
        <p:nvSpPr>
          <p:cNvPr id="636" name="Google Shape;636;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Kthena natively supports Prefill-Decode disaggregation for LLM serving.</a:t>
            </a:r>
            <a:endParaRPr/>
          </a:p>
          <a:p>
            <a:pPr indent="0" lvl="0" marL="0" rtl="0" algn="l">
              <a:spcBef>
                <a:spcPts val="0"/>
              </a:spcBef>
              <a:spcAft>
                <a:spcPts val="0"/>
              </a:spcAft>
              <a:buClr>
                <a:schemeClr val="dk1"/>
              </a:buClr>
              <a:buSzPts val="1100"/>
              <a:buFont typeface="Arial"/>
              <a:buNone/>
            </a:pPr>
            <a:r>
              <a:rPr lang="en-GB"/>
              <a:t>Since Prefill and Decode have very different resource and runtime characteristics. Prefill is compute-heavy and generates KV cache, while Decode is more latency-sensitive and continuously consumes that KV cache. Treating them as a single flat workload is inefficient.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What Volcano provides here is a scheduling model that understands this structure natively.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A ServingGroup becomes the atomic scheduling unit, so all related pods can be scheduled together with gang semantics. On top of that, Volcano supports multi-level network topology-aware scheduling, which lets us co-locate the full PD group at one level, and further optimize placement inside each role at a finer level. E.g., prefill and decode have different topology aware requirement. And even Prefill and Decode roles can do auto scale seperately. And it already support lots of pluggable kv conncectors</a:t>
            </a:r>
            <a:endParaRPr/>
          </a:p>
          <a:p>
            <a:pPr indent="0" lvl="0" marL="0" rtl="0" algn="l">
              <a:lnSpc>
                <a:spcPct val="100000"/>
              </a:lnSpc>
              <a:spcBef>
                <a:spcPts val="0"/>
              </a:spcBef>
              <a:spcAft>
                <a:spcPts val="0"/>
              </a:spcAft>
              <a:buSzPts val="1100"/>
              <a:buNone/>
            </a:pPr>
            <a:r>
              <a:t/>
            </a:r>
            <a:endParaRPr/>
          </a:p>
        </p:txBody>
      </p:sp>
      <p:sp>
        <p:nvSpPr>
          <p:cNvPr id="643" name="Google Shape;643;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Kthena Router is not a traditional load balancer. It is an LLM-native routing engine designed specifically for LLM serving workloads.</a:t>
            </a:r>
            <a:endParaRPr/>
          </a:p>
          <a:p>
            <a:pPr indent="0" lvl="0" marL="0" rtl="0" algn="l">
              <a:spcBef>
                <a:spcPts val="0"/>
              </a:spcBef>
              <a:spcAft>
                <a:spcPts val="0"/>
              </a:spcAft>
              <a:buClr>
                <a:schemeClr val="dk1"/>
              </a:buClr>
              <a:buSzPts val="1100"/>
              <a:buFont typeface="Arial"/>
              <a:buNone/>
            </a:pPr>
            <a:r>
              <a:rPr lang="en-GB"/>
              <a:t>Instead of routing requests only by round-robin or simple queue length, it can make decisions based on model-serving semantics.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For example, it can route by prompt prefix, KV cache locality, LoRA affinity, queue status. It also introduces token-level traffic management, including token-based rate limiting, per-user fairness, and weighted routing for canary or multi-LoRA scenarios.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Most importantly, it works natively with Prefill-Decode disaggregation. The router understands that Prefill and Decode are different stages with different optimization goals, so it can split and score requests accordingly, while coordinating KV cache transfer between phases.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So the key message here is that Kthena Router brings application-level intelligence into the serving path, and that is essential for efficient large-scale LLM serving.</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
        <p:nvSpPr>
          <p:cNvPr id="650" name="Google Shape;650;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657" name="Google Shape;657;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On the left is the status quo in standard Kubernetes.</a:t>
            </a:r>
            <a:endParaRPr/>
          </a:p>
          <a:p>
            <a:pPr indent="0" lvl="0" marL="0" rtl="0" algn="l">
              <a:spcBef>
                <a:spcPts val="0"/>
              </a:spcBef>
              <a:spcAft>
                <a:spcPts val="0"/>
              </a:spcAft>
              <a:buClr>
                <a:schemeClr val="dk1"/>
              </a:buClr>
              <a:buSzPts val="1100"/>
              <a:buFont typeface="Arial"/>
              <a:buNone/>
            </a:pPr>
            <a:r>
              <a:rPr lang="en-GB"/>
              <a:t>If you build AI agents directly on top of regular pods, the agent logic is embedded inside each workload. That creates several problems: startup latency is high, session state is hard to preserve across interactions, and frequent create-and-destroy cycles introduce significant overhead.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On the right is Volcano AgentCube.</a:t>
            </a:r>
            <a:endParaRPr/>
          </a:p>
          <a:p>
            <a:pPr indent="0" lvl="0" marL="0" rtl="0" algn="l">
              <a:spcBef>
                <a:spcPts val="0"/>
              </a:spcBef>
              <a:spcAft>
                <a:spcPts val="0"/>
              </a:spcAft>
              <a:buSzPts val="1100"/>
              <a:buNone/>
            </a:pPr>
            <a:r>
              <a:rPr lang="en-GB"/>
              <a:t>Instead of treating every agent request as a brand-new pod lifecycle, AgentCube introduces a layered runtime model. It has a session and warm-pool manager to preserve context, and pre-provisioned sandboxes to achieve much faster startup.</a:t>
            </a:r>
            <a:endParaRPr/>
          </a:p>
        </p:txBody>
      </p:sp>
      <p:sp>
        <p:nvSpPr>
          <p:cNvPr id="662" name="Google Shape;662;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AgentCube builds on sigs/sandbox today, and will introduce native agent primitives and broader integrations with frameworks such as Dify and more frameworks</a:t>
            </a:r>
            <a:endParaRPr/>
          </a:p>
        </p:txBody>
      </p:sp>
      <p:sp>
        <p:nvSpPr>
          <p:cNvPr id="668" name="Google Shape;668;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You can directly use the python SDK to create reusable sandboxes, and send the prompt to the sandbox to handle, and if you’re willing to reuse the previous sandbox, the sdk provides you a way that you can reuse the previous session id and send to the same sandbox, it will hold the warm pool for the agents</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
        <p:nvSpPr>
          <p:cNvPr id="675" name="Google Shape;675;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682" name="Google Shape;682;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Volcano global is a project can do multi-cluster dispatching, it currently build on karmada</a:t>
            </a:r>
            <a:endParaRPr b="0" i="0" sz="1100" u="none" cap="none" strike="noStrike">
              <a:solidFill>
                <a:srgbClr val="000000"/>
              </a:solidFill>
              <a:latin typeface="Arial"/>
              <a:ea typeface="Arial"/>
              <a:cs typeface="Arial"/>
              <a:sym typeface="Arial"/>
            </a:endParaRPr>
          </a:p>
        </p:txBody>
      </p:sp>
      <p:sp>
        <p:nvSpPr>
          <p:cNvPr id="687" name="Google Shape;687;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Why do we need HyperJob? Because LLMs are getting too big for one cluster. And event clusters are heterogenous. HyperJob automatically splits your massive training job across multiple heterogeneous clusters, while giving you a single, unified view of the entire process.</a:t>
            </a:r>
            <a:endParaRPr/>
          </a:p>
        </p:txBody>
      </p:sp>
      <p:sp>
        <p:nvSpPr>
          <p:cNvPr id="693" name="Google Shape;693;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700" name="Google Shape;700;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Volcano Global extends scheduling beyond a single cluster and makes data locality a first-class decision factor.</a:t>
            </a:r>
            <a:endParaRPr/>
          </a:p>
          <a:p>
            <a:pPr indent="0" lvl="0" marL="0" rtl="0" algn="l">
              <a:spcBef>
                <a:spcPts val="0"/>
              </a:spcBef>
              <a:spcAft>
                <a:spcPts val="0"/>
              </a:spcAft>
              <a:buClr>
                <a:schemeClr val="dk1"/>
              </a:buClr>
              <a:buSzPts val="1100"/>
              <a:buFont typeface="Arial"/>
              <a:buNone/>
            </a:pPr>
            <a:r>
              <a:rPr lang="en-GB"/>
              <a:t>In many real-world AI and analytics workloads, moving data is often more expensive than moving compute. If a job is scheduled in the wrong cluster, it may trigger cross-region or cross-zone data access, which significantly increases both latency and cost.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What Volcano Global does here is connect to external data systems through pluggable integrations. It can query metadata from systems such as data lakes or catalog services, discover where the target data physically resides, and cache that locality information.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Based on this, the scheduler can automatically inject affinity into placement decisions, so workloads are dispatched to the cluster closest to the data. </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
        <p:nvSpPr>
          <p:cNvPr id="709" name="Google Shape;709;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6" name="Google Shape;71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2" name="Google Shape;79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797" name="Google Shape;797;p3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1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1"/>
        </a:solidFill>
      </p:bgPr>
    </p:bg>
    <p:spTree>
      <p:nvGrpSpPr>
        <p:cNvPr id="9" name="Shape 9"/>
        <p:cNvGrpSpPr/>
        <p:nvPr/>
      </p:nvGrpSpPr>
      <p:grpSpPr>
        <a:xfrm>
          <a:off x="0" y="0"/>
          <a:ext cx="0" cy="0"/>
          <a:chOff x="0" y="0"/>
          <a:chExt cx="0" cy="0"/>
        </a:xfrm>
      </p:grpSpPr>
      <p:pic>
        <p:nvPicPr>
          <p:cNvPr id="10" name="Google Shape;10;p37"/>
          <p:cNvPicPr preferRelativeResize="0"/>
          <p:nvPr/>
        </p:nvPicPr>
        <p:blipFill rotWithShape="1">
          <a:blip r:embed="rId2">
            <a:alphaModFix/>
          </a:blip>
          <a:srcRect b="11319" l="1202" r="8657" t="-11993"/>
          <a:stretch/>
        </p:blipFill>
        <p:spPr>
          <a:xfrm>
            <a:off x="0" y="1137432"/>
            <a:ext cx="9144000" cy="4012125"/>
          </a:xfrm>
          <a:prstGeom prst="rect">
            <a:avLst/>
          </a:prstGeom>
          <a:noFill/>
          <a:ln>
            <a:noFill/>
          </a:ln>
        </p:spPr>
      </p:pic>
      <p:sp>
        <p:nvSpPr>
          <p:cNvPr id="11" name="Google Shape;11;p37"/>
          <p:cNvSpPr txBox="1"/>
          <p:nvPr>
            <p:ph type="ctrTitle"/>
          </p:nvPr>
        </p:nvSpPr>
        <p:spPr>
          <a:xfrm>
            <a:off x="311215" y="1251446"/>
            <a:ext cx="8010201" cy="1455178"/>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800"/>
              <a:buNone/>
              <a:defRPr b="1" i="0" sz="4800">
                <a:solidFill>
                  <a:schemeClr val="lt1"/>
                </a:solidFill>
                <a:latin typeface="Arial"/>
                <a:ea typeface="Arial"/>
                <a:cs typeface="Arial"/>
                <a:sym typeface="Aria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12" name="Google Shape;12;p37"/>
          <p:cNvSpPr txBox="1"/>
          <p:nvPr>
            <p:ph idx="1" type="subTitle"/>
          </p:nvPr>
        </p:nvSpPr>
        <p:spPr>
          <a:xfrm>
            <a:off x="311214" y="2706624"/>
            <a:ext cx="8010201" cy="609254"/>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800"/>
              <a:buNone/>
              <a:defRPr b="1" i="0" sz="2800">
                <a:solidFill>
                  <a:schemeClr val="accent2"/>
                </a:solidFill>
                <a:latin typeface="Arial"/>
                <a:ea typeface="Arial"/>
                <a:cs typeface="Arial"/>
                <a:sym typeface="Aria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13" name="Google Shape;13;p37"/>
          <p:cNvSpPr txBox="1"/>
          <p:nvPr/>
        </p:nvSpPr>
        <p:spPr>
          <a:xfrm>
            <a:off x="5715812" y="178532"/>
            <a:ext cx="3111253"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GB" sz="1400" u="none" cap="none" strike="noStrike">
                <a:solidFill>
                  <a:schemeClr val="lt1"/>
                </a:solidFill>
                <a:latin typeface="Arial"/>
                <a:ea typeface="Arial"/>
                <a:cs typeface="Arial"/>
                <a:sym typeface="Arial"/>
              </a:rPr>
              <a:t>#KubeCon #CloudNativeCon</a:t>
            </a:r>
            <a:endParaRPr b="0" i="0" sz="1400" u="none" cap="none" strike="noStrike">
              <a:solidFill>
                <a:schemeClr val="lt1"/>
              </a:solidFill>
              <a:latin typeface="Arial"/>
              <a:ea typeface="Arial"/>
              <a:cs typeface="Arial"/>
              <a:sym typeface="Arial"/>
            </a:endParaRPr>
          </a:p>
        </p:txBody>
      </p:sp>
      <p:pic>
        <p:nvPicPr>
          <p:cNvPr id="14" name="Google Shape;14;p37"/>
          <p:cNvPicPr preferRelativeResize="0"/>
          <p:nvPr/>
        </p:nvPicPr>
        <p:blipFill rotWithShape="1">
          <a:blip r:embed="rId3">
            <a:alphaModFix/>
          </a:blip>
          <a:srcRect b="0" l="0" r="0" t="0"/>
          <a:stretch/>
        </p:blipFill>
        <p:spPr>
          <a:xfrm>
            <a:off x="311214" y="178532"/>
            <a:ext cx="2007964" cy="87302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1_Title and body">
    <p:bg>
      <p:bgPr>
        <a:solidFill>
          <a:schemeClr val="lt1"/>
        </a:solidFill>
      </p:bgPr>
    </p:bg>
    <p:spTree>
      <p:nvGrpSpPr>
        <p:cNvPr id="15" name="Shape 15"/>
        <p:cNvGrpSpPr/>
        <p:nvPr/>
      </p:nvGrpSpPr>
      <p:grpSpPr>
        <a:xfrm>
          <a:off x="0" y="0"/>
          <a:ext cx="0" cy="0"/>
          <a:chOff x="0" y="0"/>
          <a:chExt cx="0" cy="0"/>
        </a:xfrm>
      </p:grpSpPr>
      <p:sp>
        <p:nvSpPr>
          <p:cNvPr id="16" name="Google Shape;16;p38"/>
          <p:cNvSpPr/>
          <p:nvPr/>
        </p:nvSpPr>
        <p:spPr>
          <a:xfrm>
            <a:off x="7100" y="5625"/>
            <a:ext cx="9136900" cy="10479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38"/>
          <p:cNvSpPr txBox="1"/>
          <p:nvPr>
            <p:ph type="title"/>
          </p:nvPr>
        </p:nvSpPr>
        <p:spPr>
          <a:xfrm>
            <a:off x="311700" y="0"/>
            <a:ext cx="6949739" cy="10479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38"/>
          <p:cNvSpPr txBox="1"/>
          <p:nvPr>
            <p:ph idx="1" type="body"/>
          </p:nvPr>
        </p:nvSpPr>
        <p:spPr>
          <a:xfrm>
            <a:off x="311700" y="1152475"/>
            <a:ext cx="8520600" cy="3317400"/>
          </a:xfrm>
          <a:prstGeom prst="rect">
            <a:avLst/>
          </a:prstGeom>
          <a:noFill/>
          <a:ln>
            <a:noFill/>
          </a:ln>
        </p:spPr>
        <p:txBody>
          <a:bodyPr anchorCtr="0" anchor="t" bIns="0" lIns="0" spcFirstLastPara="1" rIns="0" wrap="square" tIns="0">
            <a:noAutofit/>
          </a:bodyPr>
          <a:lstStyle>
            <a:lvl1pPr indent="-342900" lvl="0" marL="457200" algn="l">
              <a:lnSpc>
                <a:spcPct val="115000"/>
              </a:lnSpc>
              <a:spcBef>
                <a:spcPts val="0"/>
              </a:spcBef>
              <a:spcAft>
                <a:spcPts val="0"/>
              </a:spcAft>
              <a:buSzPts val="1800"/>
              <a:buChar char="●"/>
              <a:defRPr sz="12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38"/>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20" name="Google Shape;20;p38"/>
          <p:cNvPicPr preferRelativeResize="0"/>
          <p:nvPr/>
        </p:nvPicPr>
        <p:blipFill rotWithShape="1">
          <a:blip r:embed="rId2">
            <a:alphaModFix/>
          </a:blip>
          <a:srcRect b="0" l="0" r="0" t="0"/>
          <a:stretch/>
        </p:blipFill>
        <p:spPr>
          <a:xfrm>
            <a:off x="7586496" y="263744"/>
            <a:ext cx="1245804" cy="54165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41"/>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23" name="Google Shape;23;p41"/>
          <p:cNvPicPr preferRelativeResize="0"/>
          <p:nvPr/>
        </p:nvPicPr>
        <p:blipFill rotWithShape="1">
          <a:blip r:embed="rId2">
            <a:alphaModFix/>
          </a:blip>
          <a:srcRect b="0" l="0" r="0" t="0"/>
          <a:stretch/>
        </p:blipFill>
        <p:spPr>
          <a:xfrm>
            <a:off x="313168" y="4590949"/>
            <a:ext cx="1079628" cy="46940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1"/>
        </a:solidFill>
      </p:bgPr>
    </p:bg>
    <p:spTree>
      <p:nvGrpSpPr>
        <p:cNvPr id="24" name="Shape 24"/>
        <p:cNvGrpSpPr/>
        <p:nvPr/>
      </p:nvGrpSpPr>
      <p:grpSpPr>
        <a:xfrm>
          <a:off x="0" y="0"/>
          <a:ext cx="0" cy="0"/>
          <a:chOff x="0" y="0"/>
          <a:chExt cx="0" cy="0"/>
        </a:xfrm>
      </p:grpSpPr>
      <p:sp>
        <p:nvSpPr>
          <p:cNvPr id="25" name="Google Shape;25;p44"/>
          <p:cNvSpPr txBox="1"/>
          <p:nvPr>
            <p:ph type="title"/>
          </p:nvPr>
        </p:nvSpPr>
        <p:spPr>
          <a:xfrm>
            <a:off x="311700" y="1940538"/>
            <a:ext cx="8520600" cy="841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pic>
        <p:nvPicPr>
          <p:cNvPr id="26" name="Google Shape;26;p44"/>
          <p:cNvPicPr preferRelativeResize="0"/>
          <p:nvPr/>
        </p:nvPicPr>
        <p:blipFill rotWithShape="1">
          <a:blip r:embed="rId2">
            <a:alphaModFix/>
          </a:blip>
          <a:srcRect b="0" l="0" r="0" t="0"/>
          <a:stretch/>
        </p:blipFill>
        <p:spPr>
          <a:xfrm>
            <a:off x="311214" y="178532"/>
            <a:ext cx="2007964" cy="873028"/>
          </a:xfrm>
          <a:prstGeom prst="rect">
            <a:avLst/>
          </a:prstGeom>
          <a:noFill/>
          <a:ln>
            <a:noFill/>
          </a:ln>
        </p:spPr>
      </p:pic>
      <p:pic>
        <p:nvPicPr>
          <p:cNvPr id="27" name="Google Shape;27;p44"/>
          <p:cNvPicPr preferRelativeResize="0"/>
          <p:nvPr/>
        </p:nvPicPr>
        <p:blipFill rotWithShape="1">
          <a:blip r:embed="rId3">
            <a:alphaModFix/>
          </a:blip>
          <a:srcRect b="11319" l="1202" r="8657" t="-11993"/>
          <a:stretch/>
        </p:blipFill>
        <p:spPr>
          <a:xfrm>
            <a:off x="0" y="1137432"/>
            <a:ext cx="9144000" cy="401212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Logo">
    <p:bg>
      <p:bgPr>
        <a:solidFill>
          <a:schemeClr val="accent1"/>
        </a:solidFill>
      </p:bgPr>
    </p:bg>
    <p:spTree>
      <p:nvGrpSpPr>
        <p:cNvPr id="28" name="Shape 28"/>
        <p:cNvGrpSpPr/>
        <p:nvPr/>
      </p:nvGrpSpPr>
      <p:grpSpPr>
        <a:xfrm>
          <a:off x="0" y="0"/>
          <a:ext cx="0" cy="0"/>
          <a:chOff x="0" y="0"/>
          <a:chExt cx="0" cy="0"/>
        </a:xfrm>
      </p:grpSpPr>
      <p:pic>
        <p:nvPicPr>
          <p:cNvPr id="29" name="Google Shape;29;p45"/>
          <p:cNvPicPr preferRelativeResize="0"/>
          <p:nvPr/>
        </p:nvPicPr>
        <p:blipFill rotWithShape="1">
          <a:blip r:embed="rId2">
            <a:alphaModFix/>
          </a:blip>
          <a:srcRect b="0" l="0" r="0" t="0"/>
          <a:stretch/>
        </p:blipFill>
        <p:spPr>
          <a:xfrm>
            <a:off x="311214" y="178532"/>
            <a:ext cx="2007964" cy="873028"/>
          </a:xfrm>
          <a:prstGeom prst="rect">
            <a:avLst/>
          </a:prstGeom>
          <a:noFill/>
          <a:ln>
            <a:noFill/>
          </a:ln>
        </p:spPr>
      </p:pic>
      <p:pic>
        <p:nvPicPr>
          <p:cNvPr id="30" name="Google Shape;30;p45"/>
          <p:cNvPicPr preferRelativeResize="0"/>
          <p:nvPr/>
        </p:nvPicPr>
        <p:blipFill rotWithShape="1">
          <a:blip r:embed="rId3">
            <a:alphaModFix/>
          </a:blip>
          <a:srcRect b="6684" l="0" r="0" t="21794"/>
          <a:stretch/>
        </p:blipFill>
        <p:spPr>
          <a:xfrm>
            <a:off x="0" y="0"/>
            <a:ext cx="9144000" cy="51435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1_Section header">
    <p:bg>
      <p:bgPr>
        <a:solidFill>
          <a:schemeClr val="accent1"/>
        </a:solidFill>
      </p:bgPr>
    </p:bg>
    <p:spTree>
      <p:nvGrpSpPr>
        <p:cNvPr id="31" name="Shape 31"/>
        <p:cNvGrpSpPr/>
        <p:nvPr/>
      </p:nvGrpSpPr>
      <p:grpSpPr>
        <a:xfrm>
          <a:off x="0" y="0"/>
          <a:ext cx="0" cy="0"/>
          <a:chOff x="0" y="0"/>
          <a:chExt cx="0" cy="0"/>
        </a:xfrm>
      </p:grpSpPr>
      <p:pic>
        <p:nvPicPr>
          <p:cNvPr id="32" name="Google Shape;32;p46"/>
          <p:cNvPicPr preferRelativeResize="0"/>
          <p:nvPr/>
        </p:nvPicPr>
        <p:blipFill rotWithShape="1">
          <a:blip r:embed="rId2">
            <a:alphaModFix/>
          </a:blip>
          <a:srcRect b="0" l="0" r="35164" t="4325"/>
          <a:stretch/>
        </p:blipFill>
        <p:spPr>
          <a:xfrm>
            <a:off x="6605328" y="0"/>
            <a:ext cx="2538672" cy="5143500"/>
          </a:xfrm>
          <a:prstGeom prst="rect">
            <a:avLst/>
          </a:prstGeom>
          <a:noFill/>
          <a:ln>
            <a:noFill/>
          </a:ln>
        </p:spPr>
      </p:pic>
      <p:sp>
        <p:nvSpPr>
          <p:cNvPr id="33" name="Google Shape;33;p46"/>
          <p:cNvSpPr txBox="1"/>
          <p:nvPr>
            <p:ph type="title"/>
          </p:nvPr>
        </p:nvSpPr>
        <p:spPr>
          <a:xfrm>
            <a:off x="311700" y="1940538"/>
            <a:ext cx="8520600" cy="841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pic>
        <p:nvPicPr>
          <p:cNvPr id="34" name="Google Shape;34;p46"/>
          <p:cNvPicPr preferRelativeResize="0"/>
          <p:nvPr/>
        </p:nvPicPr>
        <p:blipFill rotWithShape="1">
          <a:blip r:embed="rId3">
            <a:alphaModFix/>
          </a:blip>
          <a:srcRect b="0" l="0" r="0" t="0"/>
          <a:stretch/>
        </p:blipFill>
        <p:spPr>
          <a:xfrm>
            <a:off x="311214" y="178532"/>
            <a:ext cx="2007964" cy="873028"/>
          </a:xfrm>
          <a:prstGeom prst="rect">
            <a:avLst/>
          </a:prstGeom>
          <a:noFill/>
          <a:ln>
            <a:noFill/>
          </a:ln>
        </p:spPr>
      </p:pic>
      <p:pic>
        <p:nvPicPr>
          <p:cNvPr id="35" name="Google Shape;35;p46"/>
          <p:cNvPicPr preferRelativeResize="0"/>
          <p:nvPr/>
        </p:nvPicPr>
        <p:blipFill rotWithShape="1">
          <a:blip r:embed="rId4">
            <a:alphaModFix/>
          </a:blip>
          <a:srcRect b="26306" l="1401" r="1402" t="0"/>
          <a:stretch/>
        </p:blipFill>
        <p:spPr>
          <a:xfrm>
            <a:off x="0" y="3898365"/>
            <a:ext cx="9144000" cy="124513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1_Section header 2">
    <p:bg>
      <p:bgPr>
        <a:solidFill>
          <a:schemeClr val="accent1"/>
        </a:solidFill>
      </p:bgPr>
    </p:bg>
    <p:spTree>
      <p:nvGrpSpPr>
        <p:cNvPr id="36" name="Shape 36"/>
        <p:cNvGrpSpPr/>
        <p:nvPr/>
      </p:nvGrpSpPr>
      <p:grpSpPr>
        <a:xfrm>
          <a:off x="0" y="0"/>
          <a:ext cx="0" cy="0"/>
          <a:chOff x="0" y="0"/>
          <a:chExt cx="0" cy="0"/>
        </a:xfrm>
      </p:grpSpPr>
      <p:pic>
        <p:nvPicPr>
          <p:cNvPr id="37" name="Google Shape;37;p47"/>
          <p:cNvPicPr preferRelativeResize="0"/>
          <p:nvPr/>
        </p:nvPicPr>
        <p:blipFill rotWithShape="1">
          <a:blip r:embed="rId2">
            <a:alphaModFix/>
          </a:blip>
          <a:srcRect b="46797" l="0" r="50000" t="0"/>
          <a:stretch/>
        </p:blipFill>
        <p:spPr>
          <a:xfrm>
            <a:off x="5040823" y="874513"/>
            <a:ext cx="4103177" cy="4268987"/>
          </a:xfrm>
          <a:prstGeom prst="rect">
            <a:avLst/>
          </a:prstGeom>
          <a:noFill/>
          <a:ln>
            <a:noFill/>
          </a:ln>
        </p:spPr>
      </p:pic>
      <p:sp>
        <p:nvSpPr>
          <p:cNvPr id="38" name="Google Shape;38;p47"/>
          <p:cNvSpPr txBox="1"/>
          <p:nvPr>
            <p:ph type="ctrTitle"/>
          </p:nvPr>
        </p:nvSpPr>
        <p:spPr>
          <a:xfrm>
            <a:off x="398302" y="1373367"/>
            <a:ext cx="8010201" cy="2024438"/>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39" name="Google Shape;39;p47"/>
          <p:cNvSpPr txBox="1"/>
          <p:nvPr>
            <p:ph idx="1" type="subTitle"/>
          </p:nvPr>
        </p:nvSpPr>
        <p:spPr>
          <a:xfrm>
            <a:off x="398301" y="3397805"/>
            <a:ext cx="8010201" cy="670179"/>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800"/>
              <a:buNone/>
              <a:defRPr b="1" sz="2800">
                <a:solidFill>
                  <a:schemeClr val="accent2"/>
                </a:solidFil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pic>
        <p:nvPicPr>
          <p:cNvPr id="40" name="Google Shape;40;p47"/>
          <p:cNvPicPr preferRelativeResize="0"/>
          <p:nvPr/>
        </p:nvPicPr>
        <p:blipFill rotWithShape="1">
          <a:blip r:embed="rId3">
            <a:alphaModFix/>
          </a:blip>
          <a:srcRect b="0" l="0" r="0" t="0"/>
          <a:stretch/>
        </p:blipFill>
        <p:spPr>
          <a:xfrm>
            <a:off x="311214" y="178532"/>
            <a:ext cx="2007964" cy="873028"/>
          </a:xfrm>
          <a:prstGeom prst="rect">
            <a:avLst/>
          </a:prstGeom>
          <a:noFill/>
          <a:ln>
            <a:noFill/>
          </a:ln>
        </p:spPr>
      </p:pic>
      <p:pic>
        <p:nvPicPr>
          <p:cNvPr id="41" name="Google Shape;41;p47"/>
          <p:cNvPicPr preferRelativeResize="0"/>
          <p:nvPr/>
        </p:nvPicPr>
        <p:blipFill rotWithShape="1">
          <a:blip r:embed="rId4">
            <a:alphaModFix/>
          </a:blip>
          <a:srcRect b="0" l="0" r="0" t="0"/>
          <a:stretch/>
        </p:blipFill>
        <p:spPr>
          <a:xfrm>
            <a:off x="5040823" y="453033"/>
            <a:ext cx="2590800" cy="1181100"/>
          </a:xfrm>
          <a:prstGeom prst="rect">
            <a:avLst/>
          </a:prstGeom>
          <a:noFill/>
          <a:ln>
            <a:noFill/>
          </a:ln>
        </p:spPr>
      </p:pic>
      <p:pic>
        <p:nvPicPr>
          <p:cNvPr id="42" name="Google Shape;42;p47"/>
          <p:cNvPicPr preferRelativeResize="0"/>
          <p:nvPr/>
        </p:nvPicPr>
        <p:blipFill rotWithShape="1">
          <a:blip r:embed="rId4">
            <a:alphaModFix/>
          </a:blip>
          <a:srcRect b="9974" l="41002" r="0" t="0"/>
          <a:stretch/>
        </p:blipFill>
        <p:spPr>
          <a:xfrm>
            <a:off x="-1" y="4080209"/>
            <a:ext cx="1528535" cy="1063291"/>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43" name="Shape 43"/>
        <p:cNvGrpSpPr/>
        <p:nvPr/>
      </p:nvGrpSpPr>
      <p:grpSpPr>
        <a:xfrm>
          <a:off x="0" y="0"/>
          <a:ext cx="0" cy="0"/>
          <a:chOff x="0" y="0"/>
          <a:chExt cx="0" cy="0"/>
        </a:xfrm>
      </p:grpSpPr>
      <p:sp>
        <p:nvSpPr>
          <p:cNvPr id="44" name="Google Shape;44;p48"/>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5" name="Google Shape;45;p48"/>
          <p:cNvSpPr txBox="1"/>
          <p:nvPr>
            <p:ph idx="1" type="body"/>
          </p:nvPr>
        </p:nvSpPr>
        <p:spPr>
          <a:xfrm>
            <a:off x="311700" y="1152475"/>
            <a:ext cx="8520600" cy="3317400"/>
          </a:xfrm>
          <a:prstGeom prst="rect">
            <a:avLst/>
          </a:prstGeom>
          <a:noFill/>
          <a:ln>
            <a:noFill/>
          </a:ln>
        </p:spPr>
        <p:txBody>
          <a:bodyPr anchorCtr="0" anchor="t" bIns="0" lIns="0" spcFirstLastPara="1" rIns="0" wrap="square" tIns="0">
            <a:noAutofit/>
          </a:bodyPr>
          <a:lstStyle>
            <a:lvl1pPr indent="-342900" lvl="0" marL="457200" algn="l">
              <a:lnSpc>
                <a:spcPct val="115000"/>
              </a:lnSpc>
              <a:spcBef>
                <a:spcPts val="0"/>
              </a:spcBef>
              <a:spcAft>
                <a:spcPts val="0"/>
              </a:spcAft>
              <a:buSzPts val="1800"/>
              <a:buChar char="●"/>
              <a:defRPr sz="12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6" name="Google Shape;46;p48"/>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47" name="Google Shape;47;p48"/>
          <p:cNvPicPr preferRelativeResize="0"/>
          <p:nvPr/>
        </p:nvPicPr>
        <p:blipFill rotWithShape="1">
          <a:blip r:embed="rId2">
            <a:alphaModFix/>
          </a:blip>
          <a:srcRect b="0" l="0" r="0" t="0"/>
          <a:stretch/>
        </p:blipFill>
        <p:spPr>
          <a:xfrm>
            <a:off x="313168" y="4590949"/>
            <a:ext cx="1079628" cy="469403"/>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lt1"/>
        </a:solidFill>
      </p:bgPr>
    </p:bg>
    <p:spTree>
      <p:nvGrpSpPr>
        <p:cNvPr id="48" name="Shape 48"/>
        <p:cNvGrpSpPr/>
        <p:nvPr/>
      </p:nvGrpSpPr>
      <p:grpSpPr>
        <a:xfrm>
          <a:off x="0" y="0"/>
          <a:ext cx="0" cy="0"/>
          <a:chOff x="0" y="0"/>
          <a:chExt cx="0" cy="0"/>
        </a:xfrm>
      </p:grpSpPr>
      <p:sp>
        <p:nvSpPr>
          <p:cNvPr id="49" name="Google Shape;49;p49"/>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0" name="Google Shape;50;p49"/>
          <p:cNvSpPr txBox="1"/>
          <p:nvPr>
            <p:ph idx="1" type="body"/>
          </p:nvPr>
        </p:nvSpPr>
        <p:spPr>
          <a:xfrm>
            <a:off x="311700" y="1152475"/>
            <a:ext cx="3999900" cy="33174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1" name="Google Shape;51;p49"/>
          <p:cNvSpPr txBox="1"/>
          <p:nvPr>
            <p:ph idx="2" type="body"/>
          </p:nvPr>
        </p:nvSpPr>
        <p:spPr>
          <a:xfrm>
            <a:off x="4832400" y="1152475"/>
            <a:ext cx="3999900" cy="33174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2" name="Google Shape;52;p49"/>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53" name="Google Shape;53;p49"/>
          <p:cNvPicPr preferRelativeResize="0"/>
          <p:nvPr/>
        </p:nvPicPr>
        <p:blipFill rotWithShape="1">
          <a:blip r:embed="rId2">
            <a:alphaModFix/>
          </a:blip>
          <a:srcRect b="0" l="0" r="0" t="0"/>
          <a:stretch/>
        </p:blipFill>
        <p:spPr>
          <a:xfrm>
            <a:off x="313168" y="4590949"/>
            <a:ext cx="1079628" cy="469403"/>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54" name="Shape 54"/>
        <p:cNvGrpSpPr/>
        <p:nvPr/>
      </p:nvGrpSpPr>
      <p:grpSpPr>
        <a:xfrm>
          <a:off x="0" y="0"/>
          <a:ext cx="0" cy="0"/>
          <a:chOff x="0" y="0"/>
          <a:chExt cx="0" cy="0"/>
        </a:xfrm>
      </p:grpSpPr>
      <p:sp>
        <p:nvSpPr>
          <p:cNvPr id="55" name="Google Shape;55;p50"/>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6" name="Google Shape;56;p50"/>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57" name="Google Shape;57;p50"/>
          <p:cNvPicPr preferRelativeResize="0"/>
          <p:nvPr/>
        </p:nvPicPr>
        <p:blipFill rotWithShape="1">
          <a:blip r:embed="rId2">
            <a:alphaModFix/>
          </a:blip>
          <a:srcRect b="0" l="0" r="0" t="0"/>
          <a:stretch/>
        </p:blipFill>
        <p:spPr>
          <a:xfrm>
            <a:off x="313168" y="4590949"/>
            <a:ext cx="1079628" cy="469403"/>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1_Section header">
    <p:bg>
      <p:bgPr>
        <a:solidFill>
          <a:schemeClr val="accent1"/>
        </a:solidFill>
      </p:bgPr>
    </p:bg>
    <p:spTree>
      <p:nvGrpSpPr>
        <p:cNvPr id="62" name="Shape 62"/>
        <p:cNvGrpSpPr/>
        <p:nvPr/>
      </p:nvGrpSpPr>
      <p:grpSpPr>
        <a:xfrm>
          <a:off x="0" y="0"/>
          <a:ext cx="0" cy="0"/>
          <a:chOff x="0" y="0"/>
          <a:chExt cx="0" cy="0"/>
        </a:xfrm>
      </p:grpSpPr>
      <p:pic>
        <p:nvPicPr>
          <p:cNvPr id="63" name="Google Shape;63;p40"/>
          <p:cNvPicPr preferRelativeResize="0"/>
          <p:nvPr/>
        </p:nvPicPr>
        <p:blipFill rotWithShape="1">
          <a:blip r:embed="rId2">
            <a:alphaModFix/>
          </a:blip>
          <a:srcRect b="0" l="0" r="35166" t="4325"/>
          <a:stretch/>
        </p:blipFill>
        <p:spPr>
          <a:xfrm>
            <a:off x="6605328" y="0"/>
            <a:ext cx="2538672" cy="5143500"/>
          </a:xfrm>
          <a:prstGeom prst="rect">
            <a:avLst/>
          </a:prstGeom>
          <a:noFill/>
          <a:ln>
            <a:noFill/>
          </a:ln>
        </p:spPr>
      </p:pic>
      <p:sp>
        <p:nvSpPr>
          <p:cNvPr id="64" name="Google Shape;64;p40"/>
          <p:cNvSpPr txBox="1"/>
          <p:nvPr>
            <p:ph type="title"/>
          </p:nvPr>
        </p:nvSpPr>
        <p:spPr>
          <a:xfrm>
            <a:off x="311700" y="1940538"/>
            <a:ext cx="8520600" cy="841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pic>
        <p:nvPicPr>
          <p:cNvPr id="65" name="Google Shape;65;p40"/>
          <p:cNvPicPr preferRelativeResize="0"/>
          <p:nvPr/>
        </p:nvPicPr>
        <p:blipFill rotWithShape="1">
          <a:blip r:embed="rId3">
            <a:alphaModFix/>
          </a:blip>
          <a:srcRect b="0" l="0" r="0" t="0"/>
          <a:stretch/>
        </p:blipFill>
        <p:spPr>
          <a:xfrm>
            <a:off x="311214" y="178532"/>
            <a:ext cx="2007964" cy="873028"/>
          </a:xfrm>
          <a:prstGeom prst="rect">
            <a:avLst/>
          </a:prstGeom>
          <a:noFill/>
          <a:ln>
            <a:noFill/>
          </a:ln>
        </p:spPr>
      </p:pic>
      <p:pic>
        <p:nvPicPr>
          <p:cNvPr id="66" name="Google Shape;66;p40"/>
          <p:cNvPicPr preferRelativeResize="0"/>
          <p:nvPr/>
        </p:nvPicPr>
        <p:blipFill rotWithShape="1">
          <a:blip r:embed="rId4">
            <a:alphaModFix/>
          </a:blip>
          <a:srcRect b="26308" l="1400" r="1400" t="0"/>
          <a:stretch/>
        </p:blipFill>
        <p:spPr>
          <a:xfrm>
            <a:off x="0" y="3898365"/>
            <a:ext cx="9144001" cy="124513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1_Title and body">
    <p:bg>
      <p:bgPr>
        <a:solidFill>
          <a:schemeClr val="lt1"/>
        </a:solidFill>
      </p:bgPr>
    </p:bg>
    <p:spTree>
      <p:nvGrpSpPr>
        <p:cNvPr id="67" name="Shape 67"/>
        <p:cNvGrpSpPr/>
        <p:nvPr/>
      </p:nvGrpSpPr>
      <p:grpSpPr>
        <a:xfrm>
          <a:off x="0" y="0"/>
          <a:ext cx="0" cy="0"/>
          <a:chOff x="0" y="0"/>
          <a:chExt cx="0" cy="0"/>
        </a:xfrm>
      </p:grpSpPr>
      <p:sp>
        <p:nvSpPr>
          <p:cNvPr id="68" name="Google Shape;68;p42"/>
          <p:cNvSpPr/>
          <p:nvPr/>
        </p:nvSpPr>
        <p:spPr>
          <a:xfrm>
            <a:off x="7100" y="5625"/>
            <a:ext cx="9136800" cy="10479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42"/>
          <p:cNvSpPr txBox="1"/>
          <p:nvPr>
            <p:ph type="title"/>
          </p:nvPr>
        </p:nvSpPr>
        <p:spPr>
          <a:xfrm>
            <a:off x="311700" y="0"/>
            <a:ext cx="6949800" cy="10479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0" name="Google Shape;70;p42"/>
          <p:cNvSpPr txBox="1"/>
          <p:nvPr>
            <p:ph idx="1" type="body"/>
          </p:nvPr>
        </p:nvSpPr>
        <p:spPr>
          <a:xfrm>
            <a:off x="311700" y="1152475"/>
            <a:ext cx="8520600" cy="3317400"/>
          </a:xfrm>
          <a:prstGeom prst="rect">
            <a:avLst/>
          </a:prstGeom>
          <a:noFill/>
          <a:ln>
            <a:noFill/>
          </a:ln>
        </p:spPr>
        <p:txBody>
          <a:bodyPr anchorCtr="0" anchor="t" bIns="0" lIns="0" spcFirstLastPara="1" rIns="0" wrap="square" tIns="0">
            <a:noAutofit/>
          </a:bodyPr>
          <a:lstStyle>
            <a:lvl1pPr indent="-342900" lvl="0" marL="457200" algn="l">
              <a:lnSpc>
                <a:spcPct val="115000"/>
              </a:lnSpc>
              <a:spcBef>
                <a:spcPts val="0"/>
              </a:spcBef>
              <a:spcAft>
                <a:spcPts val="0"/>
              </a:spcAft>
              <a:buSzPts val="1800"/>
              <a:buChar char="●"/>
              <a:defRPr sz="12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71" name="Google Shape;71;p42"/>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72" name="Google Shape;72;p42"/>
          <p:cNvPicPr preferRelativeResize="0"/>
          <p:nvPr/>
        </p:nvPicPr>
        <p:blipFill rotWithShape="1">
          <a:blip r:embed="rId2">
            <a:alphaModFix/>
          </a:blip>
          <a:srcRect b="0" l="0" r="0" t="0"/>
          <a:stretch/>
        </p:blipFill>
        <p:spPr>
          <a:xfrm>
            <a:off x="7586496" y="263744"/>
            <a:ext cx="1245804" cy="541654"/>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lt1"/>
        </a:solidFill>
      </p:bgPr>
    </p:bg>
    <p:spTree>
      <p:nvGrpSpPr>
        <p:cNvPr id="73" name="Shape 73"/>
        <p:cNvGrpSpPr/>
        <p:nvPr/>
      </p:nvGrpSpPr>
      <p:grpSpPr>
        <a:xfrm>
          <a:off x="0" y="0"/>
          <a:ext cx="0" cy="0"/>
          <a:chOff x="0" y="0"/>
          <a:chExt cx="0" cy="0"/>
        </a:xfrm>
      </p:grpSpPr>
      <p:sp>
        <p:nvSpPr>
          <p:cNvPr id="74" name="Google Shape;74;p43"/>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5" name="Google Shape;75;p43"/>
          <p:cNvSpPr txBox="1"/>
          <p:nvPr>
            <p:ph idx="1" type="body"/>
          </p:nvPr>
        </p:nvSpPr>
        <p:spPr>
          <a:xfrm>
            <a:off x="311700" y="1152475"/>
            <a:ext cx="3999900" cy="33174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6" name="Google Shape;76;p43"/>
          <p:cNvSpPr txBox="1"/>
          <p:nvPr>
            <p:ph idx="2" type="body"/>
          </p:nvPr>
        </p:nvSpPr>
        <p:spPr>
          <a:xfrm>
            <a:off x="4832400" y="1152475"/>
            <a:ext cx="3999900" cy="33174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7" name="Google Shape;77;p43"/>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78" name="Google Shape;78;p43"/>
          <p:cNvPicPr preferRelativeResize="0"/>
          <p:nvPr/>
        </p:nvPicPr>
        <p:blipFill rotWithShape="1">
          <a:blip r:embed="rId2">
            <a:alphaModFix/>
          </a:blip>
          <a:srcRect b="0" l="0" r="0" t="0"/>
          <a:stretch/>
        </p:blipFill>
        <p:spPr>
          <a:xfrm>
            <a:off x="313168" y="4590949"/>
            <a:ext cx="1079628" cy="469403"/>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1"/>
        </a:solidFill>
      </p:bgPr>
    </p:bg>
    <p:spTree>
      <p:nvGrpSpPr>
        <p:cNvPr id="79" name="Shape 79"/>
        <p:cNvGrpSpPr/>
        <p:nvPr/>
      </p:nvGrpSpPr>
      <p:grpSpPr>
        <a:xfrm>
          <a:off x="0" y="0"/>
          <a:ext cx="0" cy="0"/>
          <a:chOff x="0" y="0"/>
          <a:chExt cx="0" cy="0"/>
        </a:xfrm>
      </p:grpSpPr>
      <p:pic>
        <p:nvPicPr>
          <p:cNvPr id="80" name="Google Shape;80;p51"/>
          <p:cNvPicPr preferRelativeResize="0"/>
          <p:nvPr/>
        </p:nvPicPr>
        <p:blipFill rotWithShape="1">
          <a:blip r:embed="rId2">
            <a:alphaModFix/>
          </a:blip>
          <a:srcRect b="11316" l="1199" r="8662" t="-11990"/>
          <a:stretch/>
        </p:blipFill>
        <p:spPr>
          <a:xfrm>
            <a:off x="0" y="1137432"/>
            <a:ext cx="9144000" cy="4012125"/>
          </a:xfrm>
          <a:prstGeom prst="rect">
            <a:avLst/>
          </a:prstGeom>
          <a:noFill/>
          <a:ln>
            <a:noFill/>
          </a:ln>
        </p:spPr>
      </p:pic>
      <p:sp>
        <p:nvSpPr>
          <p:cNvPr id="81" name="Google Shape;81;p51"/>
          <p:cNvSpPr txBox="1"/>
          <p:nvPr>
            <p:ph type="ctrTitle"/>
          </p:nvPr>
        </p:nvSpPr>
        <p:spPr>
          <a:xfrm>
            <a:off x="311215" y="1251446"/>
            <a:ext cx="8010300" cy="14553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800"/>
              <a:buNone/>
              <a:defRPr b="1" i="0" sz="4800">
                <a:solidFill>
                  <a:schemeClr val="lt1"/>
                </a:solidFill>
                <a:latin typeface="Arial"/>
                <a:ea typeface="Arial"/>
                <a:cs typeface="Arial"/>
                <a:sym typeface="Aria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82" name="Google Shape;82;p51"/>
          <p:cNvSpPr txBox="1"/>
          <p:nvPr>
            <p:ph idx="1" type="subTitle"/>
          </p:nvPr>
        </p:nvSpPr>
        <p:spPr>
          <a:xfrm>
            <a:off x="311214" y="2706624"/>
            <a:ext cx="8010300" cy="6093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800"/>
              <a:buNone/>
              <a:defRPr b="1" i="0" sz="2800">
                <a:solidFill>
                  <a:schemeClr val="accent2"/>
                </a:solidFill>
                <a:latin typeface="Arial"/>
                <a:ea typeface="Arial"/>
                <a:cs typeface="Arial"/>
                <a:sym typeface="Aria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83" name="Google Shape;83;p51"/>
          <p:cNvSpPr txBox="1"/>
          <p:nvPr/>
        </p:nvSpPr>
        <p:spPr>
          <a:xfrm>
            <a:off x="5715812" y="178532"/>
            <a:ext cx="31113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GB" sz="1400" u="none" cap="none" strike="noStrike">
                <a:solidFill>
                  <a:schemeClr val="lt1"/>
                </a:solidFill>
                <a:latin typeface="Arial"/>
                <a:ea typeface="Arial"/>
                <a:cs typeface="Arial"/>
                <a:sym typeface="Arial"/>
              </a:rPr>
              <a:t>#KubeCon #CloudNativeCon</a:t>
            </a:r>
            <a:endParaRPr b="0" i="0" sz="1400" u="none" cap="none" strike="noStrike">
              <a:solidFill>
                <a:schemeClr val="lt1"/>
              </a:solidFill>
              <a:latin typeface="Arial"/>
              <a:ea typeface="Arial"/>
              <a:cs typeface="Arial"/>
              <a:sym typeface="Arial"/>
            </a:endParaRPr>
          </a:p>
        </p:txBody>
      </p:sp>
      <p:pic>
        <p:nvPicPr>
          <p:cNvPr id="84" name="Google Shape;84;p51"/>
          <p:cNvPicPr preferRelativeResize="0"/>
          <p:nvPr/>
        </p:nvPicPr>
        <p:blipFill rotWithShape="1">
          <a:blip r:embed="rId3">
            <a:alphaModFix/>
          </a:blip>
          <a:srcRect b="0" l="0" r="0" t="0"/>
          <a:stretch/>
        </p:blipFill>
        <p:spPr>
          <a:xfrm>
            <a:off x="311214" y="178532"/>
            <a:ext cx="2007964" cy="873028"/>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5" name="Shape 85"/>
        <p:cNvGrpSpPr/>
        <p:nvPr/>
      </p:nvGrpSpPr>
      <p:grpSpPr>
        <a:xfrm>
          <a:off x="0" y="0"/>
          <a:ext cx="0" cy="0"/>
          <a:chOff x="0" y="0"/>
          <a:chExt cx="0" cy="0"/>
        </a:xfrm>
      </p:grpSpPr>
      <p:sp>
        <p:nvSpPr>
          <p:cNvPr id="86" name="Google Shape;86;p52"/>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87" name="Google Shape;87;p52"/>
          <p:cNvPicPr preferRelativeResize="0"/>
          <p:nvPr/>
        </p:nvPicPr>
        <p:blipFill rotWithShape="1">
          <a:blip r:embed="rId2">
            <a:alphaModFix/>
          </a:blip>
          <a:srcRect b="0" l="0" r="0" t="0"/>
          <a:stretch/>
        </p:blipFill>
        <p:spPr>
          <a:xfrm>
            <a:off x="313168" y="4590949"/>
            <a:ext cx="1079628" cy="469403"/>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1_Section header 2">
    <p:bg>
      <p:bgPr>
        <a:solidFill>
          <a:schemeClr val="accent1"/>
        </a:solidFill>
      </p:bgPr>
    </p:bg>
    <p:spTree>
      <p:nvGrpSpPr>
        <p:cNvPr id="88" name="Shape 88"/>
        <p:cNvGrpSpPr/>
        <p:nvPr/>
      </p:nvGrpSpPr>
      <p:grpSpPr>
        <a:xfrm>
          <a:off x="0" y="0"/>
          <a:ext cx="0" cy="0"/>
          <a:chOff x="0" y="0"/>
          <a:chExt cx="0" cy="0"/>
        </a:xfrm>
      </p:grpSpPr>
      <p:pic>
        <p:nvPicPr>
          <p:cNvPr id="89" name="Google Shape;89;p53"/>
          <p:cNvPicPr preferRelativeResize="0"/>
          <p:nvPr/>
        </p:nvPicPr>
        <p:blipFill rotWithShape="1">
          <a:blip r:embed="rId2">
            <a:alphaModFix/>
          </a:blip>
          <a:srcRect b="46797" l="0" r="50000" t="0"/>
          <a:stretch/>
        </p:blipFill>
        <p:spPr>
          <a:xfrm>
            <a:off x="5040823" y="874513"/>
            <a:ext cx="4103178" cy="4268987"/>
          </a:xfrm>
          <a:prstGeom prst="rect">
            <a:avLst/>
          </a:prstGeom>
          <a:noFill/>
          <a:ln>
            <a:noFill/>
          </a:ln>
        </p:spPr>
      </p:pic>
      <p:sp>
        <p:nvSpPr>
          <p:cNvPr id="90" name="Google Shape;90;p53"/>
          <p:cNvSpPr txBox="1"/>
          <p:nvPr>
            <p:ph type="ctrTitle"/>
          </p:nvPr>
        </p:nvSpPr>
        <p:spPr>
          <a:xfrm>
            <a:off x="398302" y="1373367"/>
            <a:ext cx="8010300" cy="2024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91" name="Google Shape;91;p53"/>
          <p:cNvSpPr txBox="1"/>
          <p:nvPr>
            <p:ph idx="1" type="subTitle"/>
          </p:nvPr>
        </p:nvSpPr>
        <p:spPr>
          <a:xfrm>
            <a:off x="398301" y="3397805"/>
            <a:ext cx="8010300" cy="670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800"/>
              <a:buNone/>
              <a:defRPr b="1" sz="2800">
                <a:solidFill>
                  <a:schemeClr val="accent2"/>
                </a:solidFil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pic>
        <p:nvPicPr>
          <p:cNvPr id="92" name="Google Shape;92;p53"/>
          <p:cNvPicPr preferRelativeResize="0"/>
          <p:nvPr/>
        </p:nvPicPr>
        <p:blipFill rotWithShape="1">
          <a:blip r:embed="rId3">
            <a:alphaModFix/>
          </a:blip>
          <a:srcRect b="0" l="0" r="0" t="0"/>
          <a:stretch/>
        </p:blipFill>
        <p:spPr>
          <a:xfrm>
            <a:off x="311214" y="178532"/>
            <a:ext cx="2007964" cy="873028"/>
          </a:xfrm>
          <a:prstGeom prst="rect">
            <a:avLst/>
          </a:prstGeom>
          <a:noFill/>
          <a:ln>
            <a:noFill/>
          </a:ln>
        </p:spPr>
      </p:pic>
      <p:pic>
        <p:nvPicPr>
          <p:cNvPr id="93" name="Google Shape;93;p53"/>
          <p:cNvPicPr preferRelativeResize="0"/>
          <p:nvPr/>
        </p:nvPicPr>
        <p:blipFill rotWithShape="1">
          <a:blip r:embed="rId4">
            <a:alphaModFix/>
          </a:blip>
          <a:srcRect b="0" l="0" r="0" t="0"/>
          <a:stretch/>
        </p:blipFill>
        <p:spPr>
          <a:xfrm>
            <a:off x="5040823" y="453033"/>
            <a:ext cx="2590800" cy="1181100"/>
          </a:xfrm>
          <a:prstGeom prst="rect">
            <a:avLst/>
          </a:prstGeom>
          <a:noFill/>
          <a:ln>
            <a:noFill/>
          </a:ln>
        </p:spPr>
      </p:pic>
      <p:pic>
        <p:nvPicPr>
          <p:cNvPr id="94" name="Google Shape;94;p53"/>
          <p:cNvPicPr preferRelativeResize="0"/>
          <p:nvPr/>
        </p:nvPicPr>
        <p:blipFill rotWithShape="1">
          <a:blip r:embed="rId4">
            <a:alphaModFix/>
          </a:blip>
          <a:srcRect b="9975" l="41003" r="0" t="0"/>
          <a:stretch/>
        </p:blipFill>
        <p:spPr>
          <a:xfrm>
            <a:off x="-1" y="4080209"/>
            <a:ext cx="1528535" cy="106329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1"/>
        </a:solidFill>
      </p:bgPr>
    </p:bg>
    <p:spTree>
      <p:nvGrpSpPr>
        <p:cNvPr id="95" name="Shape 95"/>
        <p:cNvGrpSpPr/>
        <p:nvPr/>
      </p:nvGrpSpPr>
      <p:grpSpPr>
        <a:xfrm>
          <a:off x="0" y="0"/>
          <a:ext cx="0" cy="0"/>
          <a:chOff x="0" y="0"/>
          <a:chExt cx="0" cy="0"/>
        </a:xfrm>
      </p:grpSpPr>
      <p:sp>
        <p:nvSpPr>
          <p:cNvPr id="96" name="Google Shape;96;p54"/>
          <p:cNvSpPr txBox="1"/>
          <p:nvPr>
            <p:ph type="title"/>
          </p:nvPr>
        </p:nvSpPr>
        <p:spPr>
          <a:xfrm>
            <a:off x="311700" y="1940538"/>
            <a:ext cx="8520600" cy="841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pic>
        <p:nvPicPr>
          <p:cNvPr id="97" name="Google Shape;97;p54"/>
          <p:cNvPicPr preferRelativeResize="0"/>
          <p:nvPr/>
        </p:nvPicPr>
        <p:blipFill rotWithShape="1">
          <a:blip r:embed="rId2">
            <a:alphaModFix/>
          </a:blip>
          <a:srcRect b="0" l="0" r="0" t="0"/>
          <a:stretch/>
        </p:blipFill>
        <p:spPr>
          <a:xfrm>
            <a:off x="311214" y="178532"/>
            <a:ext cx="2007964" cy="873028"/>
          </a:xfrm>
          <a:prstGeom prst="rect">
            <a:avLst/>
          </a:prstGeom>
          <a:noFill/>
          <a:ln>
            <a:noFill/>
          </a:ln>
        </p:spPr>
      </p:pic>
      <p:pic>
        <p:nvPicPr>
          <p:cNvPr id="98" name="Google Shape;98;p54"/>
          <p:cNvPicPr preferRelativeResize="0"/>
          <p:nvPr/>
        </p:nvPicPr>
        <p:blipFill rotWithShape="1">
          <a:blip r:embed="rId3">
            <a:alphaModFix/>
          </a:blip>
          <a:srcRect b="11316" l="1199" r="8662" t="-11990"/>
          <a:stretch/>
        </p:blipFill>
        <p:spPr>
          <a:xfrm>
            <a:off x="0" y="1137432"/>
            <a:ext cx="9144000" cy="40121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99" name="Shape 99"/>
        <p:cNvGrpSpPr/>
        <p:nvPr/>
      </p:nvGrpSpPr>
      <p:grpSpPr>
        <a:xfrm>
          <a:off x="0" y="0"/>
          <a:ext cx="0" cy="0"/>
          <a:chOff x="0" y="0"/>
          <a:chExt cx="0" cy="0"/>
        </a:xfrm>
      </p:grpSpPr>
      <p:sp>
        <p:nvSpPr>
          <p:cNvPr id="100" name="Google Shape;100;p55"/>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1" name="Google Shape;101;p55"/>
          <p:cNvSpPr txBox="1"/>
          <p:nvPr>
            <p:ph idx="1" type="body"/>
          </p:nvPr>
        </p:nvSpPr>
        <p:spPr>
          <a:xfrm>
            <a:off x="311700" y="1152475"/>
            <a:ext cx="8520600" cy="3317400"/>
          </a:xfrm>
          <a:prstGeom prst="rect">
            <a:avLst/>
          </a:prstGeom>
          <a:noFill/>
          <a:ln>
            <a:noFill/>
          </a:ln>
        </p:spPr>
        <p:txBody>
          <a:bodyPr anchorCtr="0" anchor="t" bIns="0" lIns="0" spcFirstLastPara="1" rIns="0" wrap="square" tIns="0">
            <a:noAutofit/>
          </a:bodyPr>
          <a:lstStyle>
            <a:lvl1pPr indent="-342900" lvl="0" marL="457200" algn="l">
              <a:lnSpc>
                <a:spcPct val="115000"/>
              </a:lnSpc>
              <a:spcBef>
                <a:spcPts val="0"/>
              </a:spcBef>
              <a:spcAft>
                <a:spcPts val="0"/>
              </a:spcAft>
              <a:buSzPts val="1800"/>
              <a:buChar char="●"/>
              <a:defRPr sz="12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02" name="Google Shape;102;p55"/>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103" name="Google Shape;103;p55"/>
          <p:cNvPicPr preferRelativeResize="0"/>
          <p:nvPr/>
        </p:nvPicPr>
        <p:blipFill rotWithShape="1">
          <a:blip r:embed="rId2">
            <a:alphaModFix/>
          </a:blip>
          <a:srcRect b="0" l="0" r="0" t="0"/>
          <a:stretch/>
        </p:blipFill>
        <p:spPr>
          <a:xfrm>
            <a:off x="313168" y="4590949"/>
            <a:ext cx="1079628" cy="469403"/>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Logo">
    <p:bg>
      <p:bgPr>
        <a:solidFill>
          <a:schemeClr val="accent1"/>
        </a:solidFill>
      </p:bgPr>
    </p:bg>
    <p:spTree>
      <p:nvGrpSpPr>
        <p:cNvPr id="104" name="Shape 104"/>
        <p:cNvGrpSpPr/>
        <p:nvPr/>
      </p:nvGrpSpPr>
      <p:grpSpPr>
        <a:xfrm>
          <a:off x="0" y="0"/>
          <a:ext cx="0" cy="0"/>
          <a:chOff x="0" y="0"/>
          <a:chExt cx="0" cy="0"/>
        </a:xfrm>
      </p:grpSpPr>
      <p:pic>
        <p:nvPicPr>
          <p:cNvPr id="105" name="Google Shape;105;p56"/>
          <p:cNvPicPr preferRelativeResize="0"/>
          <p:nvPr/>
        </p:nvPicPr>
        <p:blipFill rotWithShape="1">
          <a:blip r:embed="rId2">
            <a:alphaModFix/>
          </a:blip>
          <a:srcRect b="0" l="0" r="0" t="0"/>
          <a:stretch/>
        </p:blipFill>
        <p:spPr>
          <a:xfrm>
            <a:off x="311214" y="178532"/>
            <a:ext cx="2007964" cy="873028"/>
          </a:xfrm>
          <a:prstGeom prst="rect">
            <a:avLst/>
          </a:prstGeom>
          <a:noFill/>
          <a:ln>
            <a:noFill/>
          </a:ln>
        </p:spPr>
      </p:pic>
      <p:pic>
        <p:nvPicPr>
          <p:cNvPr id="106" name="Google Shape;106;p56"/>
          <p:cNvPicPr preferRelativeResize="0"/>
          <p:nvPr/>
        </p:nvPicPr>
        <p:blipFill rotWithShape="1">
          <a:blip r:embed="rId3">
            <a:alphaModFix/>
          </a:blip>
          <a:srcRect b="6687" l="0" r="0" t="21792"/>
          <a:stretch/>
        </p:blipFill>
        <p:spPr>
          <a:xfrm>
            <a:off x="0" y="0"/>
            <a:ext cx="9144001" cy="5143499"/>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107" name="Shape 107"/>
        <p:cNvGrpSpPr/>
        <p:nvPr/>
      </p:nvGrpSpPr>
      <p:grpSpPr>
        <a:xfrm>
          <a:off x="0" y="0"/>
          <a:ext cx="0" cy="0"/>
          <a:chOff x="0" y="0"/>
          <a:chExt cx="0" cy="0"/>
        </a:xfrm>
      </p:grpSpPr>
      <p:sp>
        <p:nvSpPr>
          <p:cNvPr id="108" name="Google Shape;108;p57"/>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9" name="Google Shape;109;p57"/>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110" name="Google Shape;110;p57"/>
          <p:cNvPicPr preferRelativeResize="0"/>
          <p:nvPr/>
        </p:nvPicPr>
        <p:blipFill rotWithShape="1">
          <a:blip r:embed="rId2">
            <a:alphaModFix/>
          </a:blip>
          <a:srcRect b="0" l="0" r="0" t="0"/>
          <a:stretch/>
        </p:blipFill>
        <p:spPr>
          <a:xfrm>
            <a:off x="313168" y="4590949"/>
            <a:ext cx="1079628" cy="469403"/>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11" Type="http://schemas.openxmlformats.org/officeDocument/2006/relationships/theme" Target="../theme/theme2.xml"/><Relationship Id="rId10" Type="http://schemas.openxmlformats.org/officeDocument/2006/relationships/slideLayout" Target="../slideLayouts/slideLayout20.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chemeClr val="accent1"/>
              </a:buClr>
              <a:buSzPts val="2800"/>
              <a:buFont typeface="Arial"/>
              <a:buNone/>
              <a:defRPr b="1" i="0" sz="2800" u="none" cap="none" strike="noStrike">
                <a:solidFill>
                  <a:schemeClr val="accent1"/>
                </a:solidFill>
                <a:latin typeface="Arial"/>
                <a:ea typeface="Arial"/>
                <a:cs typeface="Arial"/>
                <a:sym typeface="Arial"/>
              </a:defRPr>
            </a:lvl1pPr>
            <a:lvl2pPr lvl="1"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9pPr>
          </a:lstStyle>
          <a:p/>
        </p:txBody>
      </p:sp>
      <p:sp>
        <p:nvSpPr>
          <p:cNvPr id="7" name="Google Shape;7;p36"/>
          <p:cNvSpPr txBox="1"/>
          <p:nvPr>
            <p:ph idx="1" type="body"/>
          </p:nvPr>
        </p:nvSpPr>
        <p:spPr>
          <a:xfrm>
            <a:off x="311700" y="1152475"/>
            <a:ext cx="8520600" cy="3416400"/>
          </a:xfrm>
          <a:prstGeom prst="rect">
            <a:avLst/>
          </a:prstGeom>
          <a:noFill/>
          <a:ln>
            <a:noFill/>
          </a:ln>
        </p:spPr>
        <p:txBody>
          <a:bodyPr anchorCtr="0" anchor="t" bIns="0" lIns="0" spcFirstLastPara="1" rIns="0" wrap="square" tIns="0">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6"/>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sp>
        <p:nvSpPr>
          <p:cNvPr id="59" name="Google Shape;59;p39"/>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chemeClr val="accent1"/>
              </a:buClr>
              <a:buSzPts val="2800"/>
              <a:buFont typeface="Arial"/>
              <a:buNone/>
              <a:defRPr b="1" i="0" sz="2800" u="none" cap="none" strike="noStrike">
                <a:solidFill>
                  <a:schemeClr val="accent1"/>
                </a:solidFill>
                <a:latin typeface="Arial"/>
                <a:ea typeface="Arial"/>
                <a:cs typeface="Arial"/>
                <a:sym typeface="Arial"/>
              </a:defRPr>
            </a:lvl1pPr>
            <a:lvl2pPr lvl="1"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9pPr>
          </a:lstStyle>
          <a:p/>
        </p:txBody>
      </p:sp>
      <p:sp>
        <p:nvSpPr>
          <p:cNvPr id="60" name="Google Shape;60;p39"/>
          <p:cNvSpPr txBox="1"/>
          <p:nvPr>
            <p:ph idx="1" type="body"/>
          </p:nvPr>
        </p:nvSpPr>
        <p:spPr>
          <a:xfrm>
            <a:off x="311700" y="1152475"/>
            <a:ext cx="8520600" cy="3416400"/>
          </a:xfrm>
          <a:prstGeom prst="rect">
            <a:avLst/>
          </a:prstGeom>
          <a:noFill/>
          <a:ln>
            <a:noFill/>
          </a:ln>
        </p:spPr>
        <p:txBody>
          <a:bodyPr anchorCtr="0" anchor="t" bIns="0" lIns="0" spcFirstLastPara="1" rIns="0" wrap="square" tIns="0">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61" name="Google Shape;61;p39"/>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2.jpg"/><Relationship Id="rId4"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0" Type="http://schemas.openxmlformats.org/officeDocument/2006/relationships/image" Target="../media/image42.png"/><Relationship Id="rId11" Type="http://schemas.openxmlformats.org/officeDocument/2006/relationships/image" Target="../media/image29.png"/><Relationship Id="rId10" Type="http://schemas.openxmlformats.org/officeDocument/2006/relationships/image" Target="../media/image27.png"/><Relationship Id="rId21" Type="http://schemas.openxmlformats.org/officeDocument/2006/relationships/image" Target="../media/image35.png"/><Relationship Id="rId13" Type="http://schemas.openxmlformats.org/officeDocument/2006/relationships/image" Target="../media/image36.png"/><Relationship Id="rId12" Type="http://schemas.openxmlformats.org/officeDocument/2006/relationships/image" Target="../media/image26.png"/><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6.png"/><Relationship Id="rId9" Type="http://schemas.openxmlformats.org/officeDocument/2006/relationships/image" Target="../media/image25.png"/><Relationship Id="rId15" Type="http://schemas.openxmlformats.org/officeDocument/2006/relationships/image" Target="../media/image33.png"/><Relationship Id="rId14" Type="http://schemas.openxmlformats.org/officeDocument/2006/relationships/image" Target="../media/image24.png"/><Relationship Id="rId17" Type="http://schemas.openxmlformats.org/officeDocument/2006/relationships/image" Target="../media/image28.png"/><Relationship Id="rId16" Type="http://schemas.openxmlformats.org/officeDocument/2006/relationships/image" Target="../media/image47.png"/><Relationship Id="rId5" Type="http://schemas.openxmlformats.org/officeDocument/2006/relationships/image" Target="../media/image23.png"/><Relationship Id="rId19" Type="http://schemas.openxmlformats.org/officeDocument/2006/relationships/image" Target="../media/image30.png"/><Relationship Id="rId6" Type="http://schemas.openxmlformats.org/officeDocument/2006/relationships/image" Target="../media/image18.png"/><Relationship Id="rId18" Type="http://schemas.openxmlformats.org/officeDocument/2006/relationships/image" Target="../media/image31.png"/><Relationship Id="rId7" Type="http://schemas.openxmlformats.org/officeDocument/2006/relationships/image" Target="../media/image21.png"/><Relationship Id="rId8"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0" Type="http://schemas.openxmlformats.org/officeDocument/2006/relationships/image" Target="../media/image53.png"/><Relationship Id="rId22" Type="http://schemas.openxmlformats.org/officeDocument/2006/relationships/image" Target="../media/image68.png"/><Relationship Id="rId21" Type="http://schemas.openxmlformats.org/officeDocument/2006/relationships/image" Target="../media/image52.png"/><Relationship Id="rId24" Type="http://schemas.openxmlformats.org/officeDocument/2006/relationships/image" Target="../media/image69.png"/><Relationship Id="rId23" Type="http://schemas.openxmlformats.org/officeDocument/2006/relationships/image" Target="../media/image61.png"/><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4.png"/><Relationship Id="rId4" Type="http://schemas.openxmlformats.org/officeDocument/2006/relationships/image" Target="../media/image37.png"/><Relationship Id="rId9" Type="http://schemas.openxmlformats.org/officeDocument/2006/relationships/image" Target="../media/image44.png"/><Relationship Id="rId25" Type="http://schemas.openxmlformats.org/officeDocument/2006/relationships/image" Target="../media/image57.png"/><Relationship Id="rId5" Type="http://schemas.openxmlformats.org/officeDocument/2006/relationships/image" Target="../media/image40.png"/><Relationship Id="rId6" Type="http://schemas.openxmlformats.org/officeDocument/2006/relationships/image" Target="../media/image39.png"/><Relationship Id="rId7" Type="http://schemas.openxmlformats.org/officeDocument/2006/relationships/image" Target="../media/image41.png"/><Relationship Id="rId8" Type="http://schemas.openxmlformats.org/officeDocument/2006/relationships/image" Target="../media/image56.png"/><Relationship Id="rId11" Type="http://schemas.openxmlformats.org/officeDocument/2006/relationships/image" Target="../media/image43.png"/><Relationship Id="rId10" Type="http://schemas.openxmlformats.org/officeDocument/2006/relationships/image" Target="../media/image58.png"/><Relationship Id="rId13" Type="http://schemas.openxmlformats.org/officeDocument/2006/relationships/image" Target="../media/image49.png"/><Relationship Id="rId12" Type="http://schemas.openxmlformats.org/officeDocument/2006/relationships/image" Target="../media/image50.png"/><Relationship Id="rId15" Type="http://schemas.openxmlformats.org/officeDocument/2006/relationships/image" Target="../media/image51.png"/><Relationship Id="rId14" Type="http://schemas.openxmlformats.org/officeDocument/2006/relationships/image" Target="../media/image54.png"/><Relationship Id="rId17" Type="http://schemas.openxmlformats.org/officeDocument/2006/relationships/image" Target="../media/image55.png"/><Relationship Id="rId16" Type="http://schemas.openxmlformats.org/officeDocument/2006/relationships/image" Target="../media/image45.png"/><Relationship Id="rId19" Type="http://schemas.openxmlformats.org/officeDocument/2006/relationships/image" Target="../media/image48.png"/><Relationship Id="rId18" Type="http://schemas.openxmlformats.org/officeDocument/2006/relationships/image" Target="../media/image4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9.png"/><Relationship Id="rId4" Type="http://schemas.openxmlformats.org/officeDocument/2006/relationships/image" Target="../media/image63.png"/><Relationship Id="rId5" Type="http://schemas.openxmlformats.org/officeDocument/2006/relationships/image" Target="../media/image6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77.png"/><Relationship Id="rId4" Type="http://schemas.openxmlformats.org/officeDocument/2006/relationships/image" Target="../media/image7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0.png"/><Relationship Id="rId4" Type="http://schemas.openxmlformats.org/officeDocument/2006/relationships/image" Target="../media/image6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3.png"/><Relationship Id="rId4" Type="http://schemas.openxmlformats.org/officeDocument/2006/relationships/image" Target="../media/image64.png"/><Relationship Id="rId5" Type="http://schemas.openxmlformats.org/officeDocument/2006/relationships/image" Target="../media/image67.png"/><Relationship Id="rId6" Type="http://schemas.openxmlformats.org/officeDocument/2006/relationships/image" Target="../media/image79.png"/><Relationship Id="rId7" Type="http://schemas.openxmlformats.org/officeDocument/2006/relationships/image" Target="../media/image8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1.png"/><Relationship Id="rId4" Type="http://schemas.openxmlformats.org/officeDocument/2006/relationships/image" Target="../media/image7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6.png"/><Relationship Id="rId4" Type="http://schemas.openxmlformats.org/officeDocument/2006/relationships/image" Target="../media/image80.png"/><Relationship Id="rId5" Type="http://schemas.openxmlformats.org/officeDocument/2006/relationships/image" Target="../media/image76.png"/><Relationship Id="rId6" Type="http://schemas.openxmlformats.org/officeDocument/2006/relationships/image" Target="../media/image7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8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7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8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9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9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hyperlink" Target="https://github.com/volcano-sh/agentcube/blob/main/docs/getting-started.md" TargetMode="External"/><Relationship Id="rId4" Type="http://schemas.openxmlformats.org/officeDocument/2006/relationships/hyperlink" Target="https://github.com/volcano-sh/agentcube/blob/main/docs/getting-started.md" TargetMode="External"/><Relationship Id="rId5" Type="http://schemas.openxmlformats.org/officeDocument/2006/relationships/hyperlink" Target="https://github.com/volcano-sh/agentcube/blob/main/sdk-python/examples/basic_usage.py" TargetMode="External"/><Relationship Id="rId6" Type="http://schemas.openxmlformats.org/officeDocument/2006/relationships/image" Target="../media/image8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8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109.png"/><Relationship Id="rId4" Type="http://schemas.openxmlformats.org/officeDocument/2006/relationships/image" Target="../media/image10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95.png"/></Relationships>
</file>

<file path=ppt/slides/_rels/slide34.xml.rels><?xml version="1.0" encoding="UTF-8" standalone="yes"?><Relationships xmlns="http://schemas.openxmlformats.org/package/2006/relationships"><Relationship Id="rId20" Type="http://schemas.openxmlformats.org/officeDocument/2006/relationships/image" Target="../media/image106.png"/><Relationship Id="rId22" Type="http://schemas.openxmlformats.org/officeDocument/2006/relationships/image" Target="../media/image114.png"/><Relationship Id="rId21" Type="http://schemas.openxmlformats.org/officeDocument/2006/relationships/image" Target="../media/image115.png"/><Relationship Id="rId24" Type="http://schemas.openxmlformats.org/officeDocument/2006/relationships/image" Target="../media/image107.png"/><Relationship Id="rId23" Type="http://schemas.openxmlformats.org/officeDocument/2006/relationships/image" Target="../media/image123.png"/><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image" Target="../media/image103.png"/><Relationship Id="rId4" Type="http://schemas.openxmlformats.org/officeDocument/2006/relationships/image" Target="../media/image97.png"/><Relationship Id="rId9" Type="http://schemas.openxmlformats.org/officeDocument/2006/relationships/image" Target="../media/image108.png"/><Relationship Id="rId26" Type="http://schemas.openxmlformats.org/officeDocument/2006/relationships/image" Target="../media/image121.png"/><Relationship Id="rId25" Type="http://schemas.openxmlformats.org/officeDocument/2006/relationships/image" Target="../media/image122.png"/><Relationship Id="rId28" Type="http://schemas.openxmlformats.org/officeDocument/2006/relationships/image" Target="../media/image112.png"/><Relationship Id="rId27" Type="http://schemas.openxmlformats.org/officeDocument/2006/relationships/image" Target="../media/image116.png"/><Relationship Id="rId5" Type="http://schemas.openxmlformats.org/officeDocument/2006/relationships/image" Target="../media/image85.png"/><Relationship Id="rId6" Type="http://schemas.openxmlformats.org/officeDocument/2006/relationships/image" Target="../media/image93.jpg"/><Relationship Id="rId29" Type="http://schemas.openxmlformats.org/officeDocument/2006/relationships/image" Target="../media/image117.png"/><Relationship Id="rId7" Type="http://schemas.openxmlformats.org/officeDocument/2006/relationships/image" Target="../media/image88.png"/><Relationship Id="rId8" Type="http://schemas.openxmlformats.org/officeDocument/2006/relationships/image" Target="../media/image90.png"/><Relationship Id="rId31" Type="http://schemas.openxmlformats.org/officeDocument/2006/relationships/image" Target="../media/image120.png"/><Relationship Id="rId30" Type="http://schemas.openxmlformats.org/officeDocument/2006/relationships/image" Target="../media/image111.png"/><Relationship Id="rId11" Type="http://schemas.openxmlformats.org/officeDocument/2006/relationships/image" Target="../media/image91.png"/><Relationship Id="rId33" Type="http://schemas.openxmlformats.org/officeDocument/2006/relationships/image" Target="../media/image124.png"/><Relationship Id="rId10" Type="http://schemas.openxmlformats.org/officeDocument/2006/relationships/image" Target="../media/image99.png"/><Relationship Id="rId32" Type="http://schemas.openxmlformats.org/officeDocument/2006/relationships/image" Target="../media/image113.png"/><Relationship Id="rId13" Type="http://schemas.openxmlformats.org/officeDocument/2006/relationships/image" Target="../media/image101.png"/><Relationship Id="rId35" Type="http://schemas.openxmlformats.org/officeDocument/2006/relationships/image" Target="../media/image127.png"/><Relationship Id="rId12" Type="http://schemas.openxmlformats.org/officeDocument/2006/relationships/image" Target="../media/image100.png"/><Relationship Id="rId34" Type="http://schemas.openxmlformats.org/officeDocument/2006/relationships/image" Target="../media/image126.png"/><Relationship Id="rId15" Type="http://schemas.openxmlformats.org/officeDocument/2006/relationships/image" Target="../media/image118.png"/><Relationship Id="rId37" Type="http://schemas.openxmlformats.org/officeDocument/2006/relationships/image" Target="../media/image129.png"/><Relationship Id="rId14" Type="http://schemas.openxmlformats.org/officeDocument/2006/relationships/image" Target="../media/image94.png"/><Relationship Id="rId36" Type="http://schemas.openxmlformats.org/officeDocument/2006/relationships/image" Target="../media/image128.png"/><Relationship Id="rId17" Type="http://schemas.openxmlformats.org/officeDocument/2006/relationships/image" Target="../media/image105.png"/><Relationship Id="rId39" Type="http://schemas.openxmlformats.org/officeDocument/2006/relationships/image" Target="../media/image119.png"/><Relationship Id="rId16" Type="http://schemas.openxmlformats.org/officeDocument/2006/relationships/image" Target="../media/image96.png"/><Relationship Id="rId38" Type="http://schemas.openxmlformats.org/officeDocument/2006/relationships/image" Target="../media/image125.png"/><Relationship Id="rId19" Type="http://schemas.openxmlformats.org/officeDocument/2006/relationships/image" Target="../media/image104.png"/><Relationship Id="rId18" Type="http://schemas.openxmlformats.org/officeDocument/2006/relationships/image" Target="../media/image1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
          <p:cNvSpPr txBox="1"/>
          <p:nvPr>
            <p:ph type="ctrTitle"/>
          </p:nvPr>
        </p:nvSpPr>
        <p:spPr>
          <a:xfrm>
            <a:off x="311215" y="1251446"/>
            <a:ext cx="8010201" cy="1455178"/>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4800"/>
              <a:buNone/>
            </a:pPr>
            <a:r>
              <a:rPr lang="en-GB"/>
              <a:t>Volcano</a:t>
            </a:r>
            <a:endParaRPr/>
          </a:p>
        </p:txBody>
      </p:sp>
      <p:sp>
        <p:nvSpPr>
          <p:cNvPr id="116" name="Google Shape;116;p1"/>
          <p:cNvSpPr txBox="1"/>
          <p:nvPr>
            <p:ph idx="1" type="subTitle"/>
          </p:nvPr>
        </p:nvSpPr>
        <p:spPr>
          <a:xfrm>
            <a:off x="256264" y="2499819"/>
            <a:ext cx="8010300" cy="609300"/>
          </a:xfrm>
          <a:prstGeom prst="rect">
            <a:avLst/>
          </a:prstGeom>
          <a:noFill/>
          <a:ln>
            <a:noFill/>
          </a:ln>
        </p:spPr>
        <p:txBody>
          <a:bodyPr anchorCtr="0" anchor="ctr" bIns="0" lIns="0" spcFirstLastPara="1" rIns="0" wrap="square" tIns="0">
            <a:normAutofit fontScale="85000" lnSpcReduction="20000"/>
          </a:bodyPr>
          <a:lstStyle/>
          <a:p>
            <a:pPr indent="-342900" lvl="0" marL="457200" rtl="0" algn="l">
              <a:lnSpc>
                <a:spcPct val="100000"/>
              </a:lnSpc>
              <a:spcBef>
                <a:spcPts val="0"/>
              </a:spcBef>
              <a:spcAft>
                <a:spcPts val="0"/>
              </a:spcAft>
              <a:buClr>
                <a:schemeClr val="lt1"/>
              </a:buClr>
              <a:buSzPct val="100000"/>
              <a:buNone/>
            </a:pPr>
            <a:r>
              <a:rPr lang="en-GB"/>
              <a:t>Orchestrating the full AI lifecycle</a:t>
            </a:r>
            <a:endParaRPr/>
          </a:p>
          <a:p>
            <a:pPr indent="-342900" lvl="0" marL="457200" rtl="0" algn="l">
              <a:lnSpc>
                <a:spcPct val="100000"/>
              </a:lnSpc>
              <a:spcBef>
                <a:spcPts val="0"/>
              </a:spcBef>
              <a:spcAft>
                <a:spcPts val="0"/>
              </a:spcAft>
              <a:buClr>
                <a:schemeClr val="lt1"/>
              </a:buClr>
              <a:buSzPct val="100000"/>
              <a:buNone/>
            </a:pPr>
            <a:r>
              <a:rPr lang="en-GB"/>
              <a:t>From Training to Inference and Agents </a:t>
            </a:r>
            <a:endParaRPr/>
          </a:p>
        </p:txBody>
      </p:sp>
      <p:sp>
        <p:nvSpPr>
          <p:cNvPr id="117" name="Google Shape;117;p1"/>
          <p:cNvSpPr txBox="1"/>
          <p:nvPr>
            <p:ph idx="1" type="subTitle"/>
          </p:nvPr>
        </p:nvSpPr>
        <p:spPr>
          <a:xfrm>
            <a:off x="2239942" y="3186970"/>
            <a:ext cx="5692500" cy="758100"/>
          </a:xfrm>
          <a:prstGeom prst="rect">
            <a:avLst/>
          </a:prstGeom>
          <a:noFill/>
          <a:ln>
            <a:noFill/>
          </a:ln>
        </p:spPr>
        <p:txBody>
          <a:bodyPr anchorCtr="0" anchor="ctr" bIns="0" lIns="0" spcFirstLastPara="1" rIns="0" wrap="square" tIns="0">
            <a:normAutofit/>
          </a:bodyPr>
          <a:lstStyle/>
          <a:p>
            <a:pPr indent="-342900" lvl="0" marL="457200" rtl="0" algn="l">
              <a:lnSpc>
                <a:spcPct val="100000"/>
              </a:lnSpc>
              <a:spcBef>
                <a:spcPts val="0"/>
              </a:spcBef>
              <a:spcAft>
                <a:spcPts val="0"/>
              </a:spcAft>
              <a:buClr>
                <a:schemeClr val="lt1"/>
              </a:buClr>
              <a:buSzPts val="2800"/>
              <a:buNone/>
            </a:pPr>
            <a:r>
              <a:rPr lang="en-GB" sz="1800"/>
              <a:t>Zicong Chen (Huawei Technologies)</a:t>
            </a:r>
            <a:endParaRPr sz="1800"/>
          </a:p>
          <a:p>
            <a:pPr indent="-342900" lvl="0" marL="457200" rtl="0" algn="l">
              <a:lnSpc>
                <a:spcPct val="100000"/>
              </a:lnSpc>
              <a:spcBef>
                <a:spcPts val="0"/>
              </a:spcBef>
              <a:spcAft>
                <a:spcPts val="0"/>
              </a:spcAft>
              <a:buClr>
                <a:schemeClr val="lt1"/>
              </a:buClr>
              <a:buSzPts val="2800"/>
              <a:buNone/>
            </a:pPr>
            <a:r>
              <a:rPr lang="en-GB" sz="1800"/>
              <a:t>Máté Hajnal (Aumovio)</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g3d09662ff30_2_0" title="chen_zhicong.jpg"/>
          <p:cNvPicPr preferRelativeResize="0"/>
          <p:nvPr/>
        </p:nvPicPr>
        <p:blipFill>
          <a:blip r:embed="rId3">
            <a:alphaModFix/>
          </a:blip>
          <a:stretch>
            <a:fillRect/>
          </a:stretch>
        </p:blipFill>
        <p:spPr>
          <a:xfrm>
            <a:off x="1274125" y="1237513"/>
            <a:ext cx="2287475" cy="2287475"/>
          </a:xfrm>
          <a:prstGeom prst="rect">
            <a:avLst/>
          </a:prstGeom>
          <a:noFill/>
          <a:ln>
            <a:noFill/>
          </a:ln>
        </p:spPr>
      </p:pic>
      <p:sp>
        <p:nvSpPr>
          <p:cNvPr id="123" name="Google Shape;123;g3d09662ff30_2_0"/>
          <p:cNvSpPr txBox="1"/>
          <p:nvPr/>
        </p:nvSpPr>
        <p:spPr>
          <a:xfrm>
            <a:off x="1387313" y="3732400"/>
            <a:ext cx="2455800" cy="1187400"/>
          </a:xfrm>
          <a:prstGeom prst="rect">
            <a:avLst/>
          </a:prstGeom>
          <a:noFill/>
          <a:ln>
            <a:noFill/>
          </a:ln>
        </p:spPr>
        <p:txBody>
          <a:bodyPr anchorCtr="0" anchor="t" bIns="91425" lIns="91425" spcFirstLastPara="1" rIns="91425" wrap="square" tIns="91425">
            <a:spAutoFit/>
          </a:bodyPr>
          <a:lstStyle/>
          <a:p>
            <a:pPr indent="0" lvl="0" marL="0" rtl="0" algn="l">
              <a:lnSpc>
                <a:spcPct val="141176"/>
              </a:lnSpc>
              <a:spcBef>
                <a:spcPts val="0"/>
              </a:spcBef>
              <a:spcAft>
                <a:spcPts val="0"/>
              </a:spcAft>
              <a:buNone/>
            </a:pPr>
            <a:r>
              <a:rPr b="1" lang="en-GB" sz="1500">
                <a:solidFill>
                  <a:srgbClr val="141414"/>
                </a:solidFill>
                <a:highlight>
                  <a:srgbClr val="FFFFFF"/>
                </a:highlight>
              </a:rPr>
              <a:t>Zicong Chen</a:t>
            </a:r>
            <a:br>
              <a:rPr b="1" lang="en-GB" sz="1500">
                <a:solidFill>
                  <a:srgbClr val="141414"/>
                </a:solidFill>
                <a:highlight>
                  <a:srgbClr val="FFFFFF"/>
                </a:highlight>
              </a:rPr>
            </a:br>
            <a:r>
              <a:rPr lang="en-GB" sz="1150">
                <a:solidFill>
                  <a:srgbClr val="141414"/>
                </a:solidFill>
                <a:highlight>
                  <a:srgbClr val="FFFFFF"/>
                </a:highlight>
              </a:rPr>
              <a:t>R&amp;D Engineer, Volcano Maintainer</a:t>
            </a:r>
            <a:br>
              <a:rPr lang="en-GB" sz="1150">
                <a:solidFill>
                  <a:srgbClr val="141414"/>
                </a:solidFill>
                <a:highlight>
                  <a:srgbClr val="FFFFFF"/>
                </a:highlight>
              </a:rPr>
            </a:br>
            <a:r>
              <a:rPr lang="en-GB" sz="1150">
                <a:solidFill>
                  <a:srgbClr val="141414"/>
                </a:solidFill>
                <a:highlight>
                  <a:srgbClr val="FFFFFF"/>
                </a:highlight>
              </a:rPr>
              <a:t>Huawei Technologies Co., Ltd</a:t>
            </a:r>
            <a:endParaRPr sz="1150">
              <a:solidFill>
                <a:srgbClr val="141414"/>
              </a:solidFill>
              <a:highlight>
                <a:srgbClr val="FFFFFF"/>
              </a:highlight>
            </a:endParaRPr>
          </a:p>
          <a:p>
            <a:pPr indent="0" lvl="0" marL="0" rtl="0" algn="l">
              <a:lnSpc>
                <a:spcPct val="141176"/>
              </a:lnSpc>
              <a:spcBef>
                <a:spcPts val="0"/>
              </a:spcBef>
              <a:spcAft>
                <a:spcPts val="0"/>
              </a:spcAft>
              <a:buNone/>
            </a:pPr>
            <a:r>
              <a:rPr lang="en-GB" sz="1150">
                <a:solidFill>
                  <a:srgbClr val="141414"/>
                </a:solidFill>
                <a:highlight>
                  <a:srgbClr val="FFFFFF"/>
                </a:highlight>
              </a:rPr>
              <a:t>https://github.com/JesseStutler</a:t>
            </a:r>
            <a:endParaRPr sz="1150">
              <a:solidFill>
                <a:srgbClr val="141414"/>
              </a:solidFill>
              <a:highlight>
                <a:srgbClr val="FFFFFF"/>
              </a:highlight>
            </a:endParaRPr>
          </a:p>
        </p:txBody>
      </p:sp>
      <p:sp>
        <p:nvSpPr>
          <p:cNvPr id="124" name="Google Shape;124;g3d09662ff30_2_0"/>
          <p:cNvSpPr txBox="1"/>
          <p:nvPr/>
        </p:nvSpPr>
        <p:spPr>
          <a:xfrm>
            <a:off x="4878275" y="3732400"/>
            <a:ext cx="3655500" cy="1187400"/>
          </a:xfrm>
          <a:prstGeom prst="rect">
            <a:avLst/>
          </a:prstGeom>
          <a:noFill/>
          <a:ln>
            <a:noFill/>
          </a:ln>
        </p:spPr>
        <p:txBody>
          <a:bodyPr anchorCtr="0" anchor="t" bIns="91425" lIns="91425" spcFirstLastPara="1" rIns="91425" wrap="square" tIns="91425">
            <a:spAutoFit/>
          </a:bodyPr>
          <a:lstStyle/>
          <a:p>
            <a:pPr indent="0" lvl="0" marL="0" rtl="0" algn="l">
              <a:lnSpc>
                <a:spcPct val="141176"/>
              </a:lnSpc>
              <a:spcBef>
                <a:spcPts val="0"/>
              </a:spcBef>
              <a:spcAft>
                <a:spcPts val="0"/>
              </a:spcAft>
              <a:buNone/>
            </a:pPr>
            <a:r>
              <a:rPr b="1" lang="en-GB" sz="1500">
                <a:solidFill>
                  <a:srgbClr val="141414"/>
                </a:solidFill>
                <a:highlight>
                  <a:srgbClr val="FFFFFF"/>
                </a:highlight>
              </a:rPr>
              <a:t>Máté Hajnal</a:t>
            </a:r>
            <a:br>
              <a:rPr b="1" lang="en-GB" sz="1500">
                <a:solidFill>
                  <a:srgbClr val="141414"/>
                </a:solidFill>
                <a:highlight>
                  <a:srgbClr val="FFFFFF"/>
                </a:highlight>
              </a:rPr>
            </a:br>
            <a:r>
              <a:rPr lang="en-GB" sz="1150">
                <a:solidFill>
                  <a:srgbClr val="141414"/>
                </a:solidFill>
                <a:highlight>
                  <a:srgbClr val="FFFFFF"/>
                </a:highlight>
              </a:rPr>
              <a:t>Senior MLOps Engineer, Volcano Core Contributor</a:t>
            </a:r>
            <a:endParaRPr sz="1150">
              <a:solidFill>
                <a:srgbClr val="141414"/>
              </a:solidFill>
              <a:highlight>
                <a:srgbClr val="FFFFFF"/>
              </a:highlight>
            </a:endParaRPr>
          </a:p>
          <a:p>
            <a:pPr indent="0" lvl="0" marL="0" rtl="0" algn="l">
              <a:lnSpc>
                <a:spcPct val="141176"/>
              </a:lnSpc>
              <a:spcBef>
                <a:spcPts val="0"/>
              </a:spcBef>
              <a:spcAft>
                <a:spcPts val="0"/>
              </a:spcAft>
              <a:buNone/>
            </a:pPr>
            <a:r>
              <a:rPr lang="en-GB" sz="1150">
                <a:solidFill>
                  <a:srgbClr val="141414"/>
                </a:solidFill>
                <a:highlight>
                  <a:srgbClr val="FFFFFF"/>
                </a:highlight>
              </a:rPr>
              <a:t>Aumovio SE.</a:t>
            </a:r>
            <a:endParaRPr sz="1150">
              <a:solidFill>
                <a:srgbClr val="141414"/>
              </a:solidFill>
              <a:highlight>
                <a:srgbClr val="FFFFFF"/>
              </a:highlight>
            </a:endParaRPr>
          </a:p>
          <a:p>
            <a:pPr indent="0" lvl="0" marL="0" rtl="0" algn="l">
              <a:lnSpc>
                <a:spcPct val="141176"/>
              </a:lnSpc>
              <a:spcBef>
                <a:spcPts val="0"/>
              </a:spcBef>
              <a:spcAft>
                <a:spcPts val="0"/>
              </a:spcAft>
              <a:buNone/>
            </a:pPr>
            <a:r>
              <a:rPr lang="en-GB" sz="1150">
                <a:solidFill>
                  <a:srgbClr val="141414"/>
                </a:solidFill>
                <a:highlight>
                  <a:srgbClr val="FFFFFF"/>
                </a:highlight>
              </a:rPr>
              <a:t>https://github.com/hajnalmt</a:t>
            </a:r>
            <a:endParaRPr sz="1150">
              <a:solidFill>
                <a:srgbClr val="141414"/>
              </a:solidFill>
              <a:highlight>
                <a:srgbClr val="FFFFFF"/>
              </a:highlight>
            </a:endParaRPr>
          </a:p>
        </p:txBody>
      </p:sp>
      <p:pic>
        <p:nvPicPr>
          <p:cNvPr id="125" name="Google Shape;125;g3d09662ff30_2_0" title="mate_hajnal_cvbig-removebg-preview.png"/>
          <p:cNvPicPr preferRelativeResize="0"/>
          <p:nvPr/>
        </p:nvPicPr>
        <p:blipFill>
          <a:blip r:embed="rId4">
            <a:alphaModFix/>
          </a:blip>
          <a:stretch>
            <a:fillRect/>
          </a:stretch>
        </p:blipFill>
        <p:spPr>
          <a:xfrm>
            <a:off x="5194850" y="1275713"/>
            <a:ext cx="2228850" cy="2228850"/>
          </a:xfrm>
          <a:prstGeom prst="rect">
            <a:avLst/>
          </a:prstGeom>
          <a:noFill/>
          <a:ln>
            <a:noFill/>
          </a:ln>
        </p:spPr>
      </p:pic>
      <p:sp>
        <p:nvSpPr>
          <p:cNvPr id="126" name="Google Shape;126;g3d09662ff30_2_0"/>
          <p:cNvSpPr txBox="1"/>
          <p:nvPr>
            <p:ph type="title"/>
          </p:nvPr>
        </p:nvSpPr>
        <p:spPr>
          <a:xfrm>
            <a:off x="311700" y="0"/>
            <a:ext cx="6949800" cy="1047900"/>
          </a:xfrm>
          <a:prstGeom prst="rect">
            <a:avLst/>
          </a:prstGeom>
          <a:noFill/>
          <a:ln>
            <a:noFill/>
          </a:ln>
        </p:spPr>
        <p:txBody>
          <a:bodyPr anchorCtr="0" anchor="ctr" bIns="0" lIns="0" spcFirstLastPara="1" rIns="0" wrap="square" tIns="0">
            <a:normAutofit/>
          </a:bodyPr>
          <a:lstStyle/>
          <a:p>
            <a:pPr indent="-342900" lvl="0" marL="457200" rtl="0" algn="l">
              <a:spcBef>
                <a:spcPts val="0"/>
              </a:spcBef>
              <a:spcAft>
                <a:spcPts val="0"/>
              </a:spcAft>
              <a:buClr>
                <a:schemeClr val="lt1"/>
              </a:buClr>
              <a:buSzPts val="2800"/>
              <a:buFont typeface="Arial"/>
              <a:buNone/>
            </a:pPr>
            <a:r>
              <a:rPr lang="en-GB"/>
              <a:t>Orchestrating the full AI lifecycle</a:t>
            </a:r>
            <a:endParaRPr/>
          </a:p>
          <a:p>
            <a:pPr indent="-342900" lvl="0" marL="457200" rtl="0" algn="l">
              <a:spcBef>
                <a:spcPts val="0"/>
              </a:spcBef>
              <a:spcAft>
                <a:spcPts val="0"/>
              </a:spcAft>
              <a:buSzPts val="2800"/>
              <a:buNone/>
            </a:pPr>
            <a:r>
              <a:rPr lang="en-GB"/>
              <a:t>From Training to Inference and Agents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
          <p:cNvSpPr txBox="1"/>
          <p:nvPr>
            <p:ph type="title"/>
          </p:nvPr>
        </p:nvSpPr>
        <p:spPr>
          <a:xfrm>
            <a:off x="311700" y="0"/>
            <a:ext cx="6949739" cy="10479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GB"/>
              <a:t>Agenda</a:t>
            </a:r>
            <a:endParaRPr/>
          </a:p>
        </p:txBody>
      </p:sp>
      <p:sp>
        <p:nvSpPr>
          <p:cNvPr id="132" name="Google Shape;132;p2"/>
          <p:cNvSpPr txBox="1"/>
          <p:nvPr>
            <p:ph idx="1" type="body"/>
          </p:nvPr>
        </p:nvSpPr>
        <p:spPr>
          <a:xfrm>
            <a:off x="353575" y="1338730"/>
            <a:ext cx="8520600" cy="3256800"/>
          </a:xfrm>
          <a:prstGeom prst="rect">
            <a:avLst/>
          </a:prstGeom>
          <a:noFill/>
          <a:ln>
            <a:noFill/>
          </a:ln>
        </p:spPr>
        <p:txBody>
          <a:bodyPr anchorCtr="0" anchor="t" bIns="0" lIns="0" spcFirstLastPara="1" rIns="0" wrap="square" tIns="0">
            <a:noAutofit/>
          </a:bodyPr>
          <a:lstStyle/>
          <a:p>
            <a:pPr indent="-355600" lvl="0" marL="457200" rtl="0" algn="l">
              <a:lnSpc>
                <a:spcPct val="150000"/>
              </a:lnSpc>
              <a:spcBef>
                <a:spcPts val="0"/>
              </a:spcBef>
              <a:spcAft>
                <a:spcPts val="0"/>
              </a:spcAft>
              <a:buSzPts val="2000"/>
              <a:buChar char="●"/>
            </a:pPr>
            <a:r>
              <a:rPr lang="en-GB" sz="2000"/>
              <a:t>Big Picture - From Batch System To A Unified Scheduling Platform</a:t>
            </a:r>
            <a:endParaRPr sz="2000"/>
          </a:p>
          <a:p>
            <a:pPr indent="-355600" lvl="0" marL="457200" rtl="0" algn="l">
              <a:lnSpc>
                <a:spcPct val="150000"/>
              </a:lnSpc>
              <a:spcBef>
                <a:spcPts val="0"/>
              </a:spcBef>
              <a:spcAft>
                <a:spcPts val="0"/>
              </a:spcAft>
              <a:buSzPts val="2000"/>
              <a:buChar char="●"/>
            </a:pPr>
            <a:r>
              <a:rPr lang="en-GB" sz="2000"/>
              <a:t>Scalable and Efficient Foundation - A robust core for ALL workloads (Microservices, Batch, AI, HPC) at ultra-large scale.</a:t>
            </a:r>
            <a:endParaRPr sz="2000"/>
          </a:p>
          <a:p>
            <a:pPr indent="-355600" lvl="0" marL="457200" rtl="0" algn="l">
              <a:lnSpc>
                <a:spcPct val="150000"/>
              </a:lnSpc>
              <a:spcBef>
                <a:spcPts val="0"/>
              </a:spcBef>
              <a:spcAft>
                <a:spcPts val="0"/>
              </a:spcAft>
              <a:buSzPts val="2000"/>
              <a:buChar char="●"/>
            </a:pPr>
            <a:r>
              <a:rPr lang="en-GB" sz="2000">
                <a:solidFill>
                  <a:schemeClr val="dk1"/>
                </a:solidFill>
              </a:rPr>
              <a:t>What’s new in Volcano Network Topology Aware Scheduling </a:t>
            </a:r>
            <a:endParaRPr sz="2000"/>
          </a:p>
          <a:p>
            <a:pPr indent="-355600" lvl="0" marL="457200" rtl="0" algn="l">
              <a:lnSpc>
                <a:spcPct val="150000"/>
              </a:lnSpc>
              <a:spcBef>
                <a:spcPts val="0"/>
              </a:spcBef>
              <a:spcAft>
                <a:spcPts val="0"/>
              </a:spcAft>
              <a:buSzPts val="2000"/>
              <a:buChar char="●"/>
            </a:pPr>
            <a:r>
              <a:rPr lang="en-GB" sz="2000"/>
              <a:t>Kthena - Enterprise-Grade LLM Serving</a:t>
            </a:r>
            <a:endParaRPr sz="2000"/>
          </a:p>
          <a:p>
            <a:pPr indent="-355600" lvl="0" marL="457200" rtl="0" algn="l">
              <a:lnSpc>
                <a:spcPct val="150000"/>
              </a:lnSpc>
              <a:spcBef>
                <a:spcPts val="0"/>
              </a:spcBef>
              <a:spcAft>
                <a:spcPts val="0"/>
              </a:spcAft>
              <a:buSzPts val="2000"/>
              <a:buChar char="●"/>
            </a:pPr>
            <a:r>
              <a:rPr lang="en-GB" sz="2000"/>
              <a:t>AgentCube - Cloud-Native Agent and Code Interpreter Platform</a:t>
            </a:r>
            <a:endParaRPr sz="2000"/>
          </a:p>
          <a:p>
            <a:pPr indent="-355600" lvl="0" marL="457200" rtl="0" algn="l">
              <a:lnSpc>
                <a:spcPct val="150000"/>
              </a:lnSpc>
              <a:spcBef>
                <a:spcPts val="0"/>
              </a:spcBef>
              <a:spcAft>
                <a:spcPts val="0"/>
              </a:spcAft>
              <a:buSzPts val="2000"/>
              <a:buChar char="●"/>
            </a:pPr>
            <a:r>
              <a:rPr lang="en-GB" sz="2000"/>
              <a:t>Volcano Global - Multi-Cluster Federation and Roadmap</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3"/>
          <p:cNvSpPr txBox="1"/>
          <p:nvPr>
            <p:ph type="title"/>
          </p:nvPr>
        </p:nvSpPr>
        <p:spPr>
          <a:xfrm>
            <a:off x="311785" y="1940560"/>
            <a:ext cx="6904355" cy="84201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3600"/>
              <a:buNone/>
            </a:pPr>
            <a:r>
              <a:rPr lang="en-GB"/>
              <a:t>From Batch System To A Unified Scheduling Platform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4"/>
          <p:cNvSpPr txBox="1"/>
          <p:nvPr>
            <p:ph type="title"/>
          </p:nvPr>
        </p:nvSpPr>
        <p:spPr>
          <a:xfrm>
            <a:off x="311700" y="0"/>
            <a:ext cx="6949800" cy="10479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GB">
                <a:solidFill>
                  <a:srgbClr val="FFFFFF"/>
                </a:solidFill>
              </a:rPr>
              <a:t>Volcano Overview</a:t>
            </a:r>
            <a:endParaRPr>
              <a:solidFill>
                <a:srgbClr val="FFFFFF"/>
              </a:solidFill>
            </a:endParaRPr>
          </a:p>
        </p:txBody>
      </p:sp>
      <p:sp>
        <p:nvSpPr>
          <p:cNvPr id="143" name="Google Shape;143;p4"/>
          <p:cNvSpPr/>
          <p:nvPr/>
        </p:nvSpPr>
        <p:spPr>
          <a:xfrm>
            <a:off x="7205679" y="1168650"/>
            <a:ext cx="1760100" cy="1115400"/>
          </a:xfrm>
          <a:prstGeom prst="rect">
            <a:avLst/>
          </a:prstGeom>
          <a:solidFill>
            <a:srgbClr val="FFFFFF"/>
          </a:solidFill>
          <a:ln cap="flat" cmpd="sng" w="9525">
            <a:solidFill>
              <a:srgbClr val="FFDA32"/>
            </a:solidFill>
            <a:prstDash val="solid"/>
            <a:miter lim="800000"/>
            <a:headEnd len="sm" w="sm" type="none"/>
            <a:tailEnd len="sm" w="sm" type="none"/>
          </a:ln>
        </p:spPr>
        <p:txBody>
          <a:bodyPr anchorCtr="0" anchor="ctr" bIns="32550" lIns="65050" spcFirstLastPara="1" rIns="65050" wrap="square" tIns="32550">
            <a:noAutofit/>
          </a:bodyPr>
          <a:lstStyle/>
          <a:p>
            <a:pPr indent="0" lvl="0" marL="0" marR="0" rtl="0" algn="ctr">
              <a:lnSpc>
                <a:spcPct val="100000"/>
              </a:lnSpc>
              <a:spcBef>
                <a:spcPts val="0"/>
              </a:spcBef>
              <a:spcAft>
                <a:spcPts val="0"/>
              </a:spcAft>
              <a:buClr>
                <a:srgbClr val="000000"/>
              </a:buClr>
              <a:buSzPts val="1280"/>
              <a:buFont typeface="Arial"/>
              <a:buNone/>
            </a:pPr>
            <a:r>
              <a:t/>
            </a:r>
            <a:endParaRPr b="0" i="0" sz="1280" u="none" cap="none" strike="noStrike">
              <a:solidFill>
                <a:srgbClr val="FFFFFF"/>
              </a:solidFill>
              <a:latin typeface="Arial"/>
              <a:ea typeface="Arial"/>
              <a:cs typeface="Arial"/>
              <a:sym typeface="Arial"/>
            </a:endParaRPr>
          </a:p>
        </p:txBody>
      </p:sp>
      <p:sp>
        <p:nvSpPr>
          <p:cNvPr id="144" name="Google Shape;144;p4"/>
          <p:cNvSpPr/>
          <p:nvPr/>
        </p:nvSpPr>
        <p:spPr>
          <a:xfrm>
            <a:off x="5443645" y="1168650"/>
            <a:ext cx="1666200" cy="1108200"/>
          </a:xfrm>
          <a:prstGeom prst="rect">
            <a:avLst/>
          </a:prstGeom>
          <a:solidFill>
            <a:srgbClr val="FFFFFF"/>
          </a:solidFill>
          <a:ln cap="flat" cmpd="sng" w="9525">
            <a:solidFill>
              <a:srgbClr val="FFDA32"/>
            </a:solidFill>
            <a:prstDash val="solid"/>
            <a:miter lim="800000"/>
            <a:headEnd len="sm" w="sm" type="none"/>
            <a:tailEnd len="sm" w="sm" type="none"/>
          </a:ln>
        </p:spPr>
        <p:txBody>
          <a:bodyPr anchorCtr="0" anchor="ctr" bIns="32550" lIns="65050" spcFirstLastPara="1" rIns="65050" wrap="square" tIns="32550">
            <a:noAutofit/>
          </a:bodyPr>
          <a:lstStyle/>
          <a:p>
            <a:pPr indent="0" lvl="0" marL="0" marR="0" rtl="0" algn="ctr">
              <a:lnSpc>
                <a:spcPct val="100000"/>
              </a:lnSpc>
              <a:spcBef>
                <a:spcPts val="0"/>
              </a:spcBef>
              <a:spcAft>
                <a:spcPts val="0"/>
              </a:spcAft>
              <a:buClr>
                <a:srgbClr val="000000"/>
              </a:buClr>
              <a:buSzPts val="1280"/>
              <a:buFont typeface="Arial"/>
              <a:buNone/>
            </a:pPr>
            <a:r>
              <a:t/>
            </a:r>
            <a:endParaRPr b="0" i="0" sz="1280" u="none" cap="none" strike="noStrike">
              <a:solidFill>
                <a:srgbClr val="FFFFFF"/>
              </a:solidFill>
              <a:latin typeface="Arial"/>
              <a:ea typeface="Arial"/>
              <a:cs typeface="Arial"/>
              <a:sym typeface="Arial"/>
            </a:endParaRPr>
          </a:p>
        </p:txBody>
      </p:sp>
      <p:sp>
        <p:nvSpPr>
          <p:cNvPr id="145" name="Google Shape;145;p4"/>
          <p:cNvSpPr txBox="1"/>
          <p:nvPr/>
        </p:nvSpPr>
        <p:spPr>
          <a:xfrm>
            <a:off x="5443645" y="1168650"/>
            <a:ext cx="1704600" cy="841500"/>
          </a:xfrm>
          <a:prstGeom prst="rect">
            <a:avLst/>
          </a:prstGeom>
          <a:noFill/>
          <a:ln>
            <a:noFill/>
          </a:ln>
        </p:spPr>
        <p:txBody>
          <a:bodyPr anchorCtr="0" anchor="t" bIns="32550" lIns="65050" spcFirstLastPara="1" rIns="65050" wrap="square" tIns="32550">
            <a:noAutofit/>
          </a:bodyPr>
          <a:lstStyle/>
          <a:p>
            <a:pPr indent="0" lvl="0" marL="0" marR="0" rtl="0" algn="ctr">
              <a:lnSpc>
                <a:spcPct val="100000"/>
              </a:lnSpc>
              <a:spcBef>
                <a:spcPts val="0"/>
              </a:spcBef>
              <a:spcAft>
                <a:spcPts val="0"/>
              </a:spcAft>
              <a:buClr>
                <a:srgbClr val="000000"/>
              </a:buClr>
              <a:buSzPts val="995"/>
              <a:buFont typeface="Arial"/>
              <a:buNone/>
            </a:pPr>
            <a:r>
              <a:rPr b="1" i="0" lang="en-GB" sz="995" u="none" cap="none" strike="noStrike">
                <a:solidFill>
                  <a:srgbClr val="000000"/>
                </a:solidFill>
                <a:latin typeface="Arial"/>
                <a:ea typeface="Arial"/>
                <a:cs typeface="Arial"/>
                <a:sym typeface="Arial"/>
              </a:rPr>
              <a:t>Unified Scheduling</a:t>
            </a:r>
            <a:endParaRPr b="1" i="0" sz="995"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95"/>
              <a:buFont typeface="Arial"/>
              <a:buNone/>
            </a:pPr>
            <a:r>
              <a:t/>
            </a:r>
            <a:endParaRPr b="0" i="0" sz="995"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80"/>
              <a:buFont typeface="Arial"/>
              <a:buNone/>
            </a:pPr>
            <a:r>
              <a:rPr b="0" i="0" lang="en-GB" sz="780" u="none" cap="none" strike="noStrike">
                <a:solidFill>
                  <a:srgbClr val="000000"/>
                </a:solidFill>
                <a:latin typeface="Arial"/>
                <a:ea typeface="Arial"/>
                <a:cs typeface="Arial"/>
                <a:sym typeface="Arial"/>
              </a:rPr>
              <a:t>Supports integrated job scheduling for both Kubernetes native workloads and mainstream computing frameworks (such as TensorFlow, Spark, PyTorch, Ray, Flink, etc.).</a:t>
            </a:r>
            <a:endParaRPr b="0" i="0" sz="780" u="none" cap="none" strike="noStrike">
              <a:solidFill>
                <a:srgbClr val="000000"/>
              </a:solidFill>
              <a:latin typeface="Arial"/>
              <a:ea typeface="Arial"/>
              <a:cs typeface="Arial"/>
              <a:sym typeface="Arial"/>
            </a:endParaRPr>
          </a:p>
        </p:txBody>
      </p:sp>
      <p:sp>
        <p:nvSpPr>
          <p:cNvPr id="146" name="Google Shape;146;p4"/>
          <p:cNvSpPr txBox="1"/>
          <p:nvPr/>
        </p:nvSpPr>
        <p:spPr>
          <a:xfrm>
            <a:off x="7300582" y="1168650"/>
            <a:ext cx="1560600" cy="859800"/>
          </a:xfrm>
          <a:prstGeom prst="rect">
            <a:avLst/>
          </a:prstGeom>
          <a:noFill/>
          <a:ln>
            <a:noFill/>
          </a:ln>
        </p:spPr>
        <p:txBody>
          <a:bodyPr anchorCtr="0" anchor="t" bIns="32550" lIns="65050" spcFirstLastPara="1" rIns="65050" wrap="square" tIns="32550">
            <a:noAutofit/>
          </a:bodyPr>
          <a:lstStyle/>
          <a:p>
            <a:pPr indent="0" lvl="0" marL="0" marR="0" rtl="0" algn="ctr">
              <a:lnSpc>
                <a:spcPct val="100000"/>
              </a:lnSpc>
              <a:spcBef>
                <a:spcPts val="0"/>
              </a:spcBef>
              <a:spcAft>
                <a:spcPts val="0"/>
              </a:spcAft>
              <a:buClr>
                <a:srgbClr val="000000"/>
              </a:buClr>
              <a:buSzPts val="995"/>
              <a:buFont typeface="Arial"/>
              <a:buNone/>
            </a:pPr>
            <a:r>
              <a:rPr b="1" i="0" lang="en-GB" sz="995" u="none" cap="none" strike="noStrike">
                <a:solidFill>
                  <a:srgbClr val="000000"/>
                </a:solidFill>
                <a:latin typeface="Arial"/>
                <a:ea typeface="Arial"/>
                <a:cs typeface="Arial"/>
                <a:sym typeface="Arial"/>
              </a:rPr>
              <a:t>Queue Management</a:t>
            </a:r>
            <a:endParaRPr b="1" i="0" sz="995"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95"/>
              <a:buFont typeface="Arial"/>
              <a:buNone/>
            </a:pPr>
            <a:r>
              <a:t/>
            </a:r>
            <a:endParaRPr b="0" i="0" sz="995"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80"/>
              <a:buFont typeface="Arial"/>
              <a:buNone/>
            </a:pPr>
            <a:r>
              <a:rPr b="0" i="0" lang="en-GB" sz="780" u="none" cap="none" strike="noStrike">
                <a:solidFill>
                  <a:srgbClr val="000000"/>
                </a:solidFill>
                <a:latin typeface="Arial"/>
                <a:ea typeface="Arial"/>
                <a:cs typeface="Arial"/>
                <a:sym typeface="Arial"/>
              </a:rPr>
              <a:t>Provides multi-level queue management capabilities, enabling fine-grained resource quota control and task priority scheduling.</a:t>
            </a:r>
            <a:endParaRPr b="0" i="0" sz="780" u="none" cap="none" strike="noStrike">
              <a:solidFill>
                <a:srgbClr val="000000"/>
              </a:solidFill>
              <a:latin typeface="Arial"/>
              <a:ea typeface="Arial"/>
              <a:cs typeface="Arial"/>
              <a:sym typeface="Arial"/>
            </a:endParaRPr>
          </a:p>
        </p:txBody>
      </p:sp>
      <p:sp>
        <p:nvSpPr>
          <p:cNvPr id="147" name="Google Shape;147;p4"/>
          <p:cNvSpPr/>
          <p:nvPr/>
        </p:nvSpPr>
        <p:spPr>
          <a:xfrm>
            <a:off x="5444097" y="2436745"/>
            <a:ext cx="1665900" cy="1172700"/>
          </a:xfrm>
          <a:prstGeom prst="rect">
            <a:avLst/>
          </a:prstGeom>
          <a:solidFill>
            <a:srgbClr val="FFFFFF"/>
          </a:solidFill>
          <a:ln cap="flat" cmpd="sng" w="9525">
            <a:solidFill>
              <a:srgbClr val="FFDA32"/>
            </a:solidFill>
            <a:prstDash val="solid"/>
            <a:miter lim="800000"/>
            <a:headEnd len="sm" w="sm" type="none"/>
            <a:tailEnd len="sm" w="sm" type="none"/>
          </a:ln>
        </p:spPr>
        <p:txBody>
          <a:bodyPr anchorCtr="0" anchor="ctr" bIns="32550" lIns="65050" spcFirstLastPara="1" rIns="65050" wrap="square" tIns="32550">
            <a:noAutofit/>
          </a:bodyPr>
          <a:lstStyle/>
          <a:p>
            <a:pPr indent="0" lvl="0" marL="0" marR="0" rtl="0" algn="ctr">
              <a:lnSpc>
                <a:spcPct val="100000"/>
              </a:lnSpc>
              <a:spcBef>
                <a:spcPts val="0"/>
              </a:spcBef>
              <a:spcAft>
                <a:spcPts val="0"/>
              </a:spcAft>
              <a:buClr>
                <a:srgbClr val="000000"/>
              </a:buClr>
              <a:buSzPts val="1280"/>
              <a:buFont typeface="Arial"/>
              <a:buNone/>
            </a:pPr>
            <a:r>
              <a:t/>
            </a:r>
            <a:endParaRPr b="0" i="0" sz="1280" u="none" cap="none" strike="noStrike">
              <a:solidFill>
                <a:srgbClr val="FFFFFF"/>
              </a:solidFill>
              <a:latin typeface="Arial"/>
              <a:ea typeface="Arial"/>
              <a:cs typeface="Arial"/>
              <a:sym typeface="Arial"/>
            </a:endParaRPr>
          </a:p>
        </p:txBody>
      </p:sp>
      <p:sp>
        <p:nvSpPr>
          <p:cNvPr id="148" name="Google Shape;148;p4"/>
          <p:cNvSpPr txBox="1"/>
          <p:nvPr/>
        </p:nvSpPr>
        <p:spPr>
          <a:xfrm>
            <a:off x="5497423" y="2463409"/>
            <a:ext cx="1612500" cy="1305000"/>
          </a:xfrm>
          <a:prstGeom prst="rect">
            <a:avLst/>
          </a:prstGeom>
          <a:noFill/>
          <a:ln>
            <a:noFill/>
          </a:ln>
        </p:spPr>
        <p:txBody>
          <a:bodyPr anchorCtr="0" anchor="t" bIns="32550" lIns="65050" spcFirstLastPara="1" rIns="65050" wrap="square" tIns="32550">
            <a:noAutofit/>
          </a:bodyPr>
          <a:lstStyle/>
          <a:p>
            <a:pPr indent="0" lvl="0" marL="0" marR="0" rtl="0" algn="ctr">
              <a:lnSpc>
                <a:spcPct val="100000"/>
              </a:lnSpc>
              <a:spcBef>
                <a:spcPts val="0"/>
              </a:spcBef>
              <a:spcAft>
                <a:spcPts val="0"/>
              </a:spcAft>
              <a:buClr>
                <a:srgbClr val="000000"/>
              </a:buClr>
              <a:buSzPts val="855"/>
              <a:buFont typeface="Arial"/>
              <a:buNone/>
            </a:pPr>
            <a:r>
              <a:rPr b="0" i="0" lang="en-GB" sz="855" u="none" cap="none" strike="noStrike">
                <a:solidFill>
                  <a:srgbClr val="000000"/>
                </a:solidFill>
                <a:latin typeface="Arial"/>
                <a:ea typeface="Arial"/>
                <a:cs typeface="Arial"/>
                <a:sym typeface="Arial"/>
              </a:rPr>
              <a:t> </a:t>
            </a:r>
            <a:r>
              <a:rPr b="1" i="0" lang="en-GB" sz="995" u="none" cap="none" strike="noStrike">
                <a:solidFill>
                  <a:srgbClr val="000000"/>
                </a:solidFill>
                <a:latin typeface="Arial"/>
                <a:ea typeface="Arial"/>
                <a:cs typeface="Arial"/>
                <a:sym typeface="Arial"/>
              </a:rPr>
              <a:t>Workloads Colocation</a:t>
            </a:r>
            <a:endParaRPr b="0" i="0" sz="995"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95"/>
              <a:buFont typeface="Arial"/>
              <a:buNone/>
            </a:pPr>
            <a:r>
              <a:t/>
            </a:r>
            <a:endParaRPr b="0" i="0" sz="995"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80"/>
              <a:buFont typeface="Arial"/>
              <a:buNone/>
            </a:pPr>
            <a:r>
              <a:rPr b="0" i="0" lang="en-GB" sz="780" u="none" cap="none" strike="noStrike">
                <a:solidFill>
                  <a:srgbClr val="000000"/>
                </a:solidFill>
                <a:latin typeface="Arial"/>
                <a:ea typeface="Arial"/>
                <a:cs typeface="Arial"/>
                <a:sym typeface="Arial"/>
              </a:rPr>
              <a:t>Enables online and offline workloads colocation, improving cluster resource utilization through intelligent scheduling strategies.</a:t>
            </a:r>
            <a:endParaRPr b="0" i="0" sz="780" u="none" cap="none" strike="noStrike">
              <a:solidFill>
                <a:srgbClr val="000000"/>
              </a:solidFill>
              <a:latin typeface="Arial"/>
              <a:ea typeface="Arial"/>
              <a:cs typeface="Arial"/>
              <a:sym typeface="Arial"/>
            </a:endParaRPr>
          </a:p>
        </p:txBody>
      </p:sp>
      <p:sp>
        <p:nvSpPr>
          <p:cNvPr id="149" name="Google Shape;149;p4"/>
          <p:cNvSpPr/>
          <p:nvPr/>
        </p:nvSpPr>
        <p:spPr>
          <a:xfrm>
            <a:off x="7206131" y="2436745"/>
            <a:ext cx="1760100" cy="1172700"/>
          </a:xfrm>
          <a:prstGeom prst="rect">
            <a:avLst/>
          </a:prstGeom>
          <a:solidFill>
            <a:srgbClr val="FFFFFF"/>
          </a:solidFill>
          <a:ln cap="flat" cmpd="sng" w="9525">
            <a:solidFill>
              <a:srgbClr val="FFDA32"/>
            </a:solidFill>
            <a:prstDash val="solid"/>
            <a:miter lim="800000"/>
            <a:headEnd len="sm" w="sm" type="none"/>
            <a:tailEnd len="sm" w="sm" type="none"/>
          </a:ln>
        </p:spPr>
        <p:txBody>
          <a:bodyPr anchorCtr="0" anchor="ctr" bIns="32550" lIns="65050" spcFirstLastPara="1" rIns="65050" wrap="square" tIns="32550">
            <a:noAutofit/>
          </a:bodyPr>
          <a:lstStyle/>
          <a:p>
            <a:pPr indent="0" lvl="0" marL="0" marR="0" rtl="0" algn="ctr">
              <a:lnSpc>
                <a:spcPct val="100000"/>
              </a:lnSpc>
              <a:spcBef>
                <a:spcPts val="0"/>
              </a:spcBef>
              <a:spcAft>
                <a:spcPts val="0"/>
              </a:spcAft>
              <a:buClr>
                <a:srgbClr val="000000"/>
              </a:buClr>
              <a:buSzPts val="1280"/>
              <a:buFont typeface="Arial"/>
              <a:buNone/>
            </a:pPr>
            <a:r>
              <a:t/>
            </a:r>
            <a:endParaRPr b="0" i="0" sz="1280" u="none" cap="none" strike="noStrike">
              <a:solidFill>
                <a:srgbClr val="FFFFFF"/>
              </a:solidFill>
              <a:latin typeface="Arial"/>
              <a:ea typeface="Arial"/>
              <a:cs typeface="Arial"/>
              <a:sym typeface="Arial"/>
            </a:endParaRPr>
          </a:p>
        </p:txBody>
      </p:sp>
      <p:sp>
        <p:nvSpPr>
          <p:cNvPr id="150" name="Google Shape;150;p4"/>
          <p:cNvSpPr txBox="1"/>
          <p:nvPr/>
        </p:nvSpPr>
        <p:spPr>
          <a:xfrm>
            <a:off x="7206131" y="2463409"/>
            <a:ext cx="1760100" cy="1115400"/>
          </a:xfrm>
          <a:prstGeom prst="rect">
            <a:avLst/>
          </a:prstGeom>
          <a:noFill/>
          <a:ln>
            <a:noFill/>
          </a:ln>
        </p:spPr>
        <p:txBody>
          <a:bodyPr anchorCtr="0" anchor="t" bIns="32550" lIns="65050" spcFirstLastPara="1" rIns="65050" wrap="square" tIns="32550">
            <a:noAutofit/>
          </a:bodyPr>
          <a:lstStyle/>
          <a:p>
            <a:pPr indent="0" lvl="0" marL="0" marR="0" rtl="0" algn="ctr">
              <a:lnSpc>
                <a:spcPct val="100000"/>
              </a:lnSpc>
              <a:spcBef>
                <a:spcPts val="0"/>
              </a:spcBef>
              <a:spcAft>
                <a:spcPts val="0"/>
              </a:spcAft>
              <a:buClr>
                <a:srgbClr val="000000"/>
              </a:buClr>
              <a:buSzPts val="995"/>
              <a:buFont typeface="Arial"/>
              <a:buNone/>
            </a:pPr>
            <a:r>
              <a:rPr b="1" i="0" lang="en-GB" sz="995" u="none" cap="none" strike="noStrike">
                <a:solidFill>
                  <a:srgbClr val="000000"/>
                </a:solidFill>
                <a:latin typeface="Arial"/>
                <a:ea typeface="Arial"/>
                <a:cs typeface="Arial"/>
                <a:sym typeface="Arial"/>
              </a:rPr>
              <a:t>Multi-cluster Scheduling</a:t>
            </a:r>
            <a:endParaRPr b="0" i="0" sz="995"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95"/>
              <a:buFont typeface="Arial"/>
              <a:buNone/>
            </a:pPr>
            <a:r>
              <a:t/>
            </a:r>
            <a:endParaRPr b="0" i="0" sz="995"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80"/>
              <a:buFont typeface="Arial"/>
              <a:buNone/>
            </a:pPr>
            <a:r>
              <a:rPr b="0" i="0" lang="en-GB" sz="780" u="none" cap="none" strike="noStrike">
                <a:solidFill>
                  <a:srgbClr val="000000"/>
                </a:solidFill>
                <a:latin typeface="Arial"/>
                <a:ea typeface="Arial"/>
                <a:cs typeface="Arial"/>
                <a:sym typeface="Arial"/>
              </a:rPr>
              <a:t>Supports cross cluster job scheduling, improving resource pool management capabilities and achieving large scale load balancing.</a:t>
            </a:r>
            <a:endParaRPr b="0" i="0" sz="780" u="none" cap="none" strike="noStrike">
              <a:solidFill>
                <a:srgbClr val="000000"/>
              </a:solidFill>
              <a:latin typeface="Arial"/>
              <a:ea typeface="Arial"/>
              <a:cs typeface="Arial"/>
              <a:sym typeface="Arial"/>
            </a:endParaRPr>
          </a:p>
        </p:txBody>
      </p:sp>
      <p:sp>
        <p:nvSpPr>
          <p:cNvPr id="151" name="Google Shape;151;p4"/>
          <p:cNvSpPr/>
          <p:nvPr/>
        </p:nvSpPr>
        <p:spPr>
          <a:xfrm>
            <a:off x="5444097" y="3715235"/>
            <a:ext cx="1665900" cy="1305000"/>
          </a:xfrm>
          <a:prstGeom prst="rect">
            <a:avLst/>
          </a:prstGeom>
          <a:solidFill>
            <a:srgbClr val="FFFFFF"/>
          </a:solidFill>
          <a:ln cap="flat" cmpd="sng" w="9525">
            <a:solidFill>
              <a:srgbClr val="FFDA32"/>
            </a:solidFill>
            <a:prstDash val="solid"/>
            <a:miter lim="800000"/>
            <a:headEnd len="sm" w="sm" type="none"/>
            <a:tailEnd len="sm" w="sm" type="none"/>
          </a:ln>
        </p:spPr>
        <p:txBody>
          <a:bodyPr anchorCtr="0" anchor="ctr" bIns="32550" lIns="65050" spcFirstLastPara="1" rIns="65050" wrap="square" tIns="32550">
            <a:noAutofit/>
          </a:bodyPr>
          <a:lstStyle/>
          <a:p>
            <a:pPr indent="0" lvl="0" marL="0" marR="0" rtl="0" algn="ctr">
              <a:lnSpc>
                <a:spcPct val="100000"/>
              </a:lnSpc>
              <a:spcBef>
                <a:spcPts val="0"/>
              </a:spcBef>
              <a:spcAft>
                <a:spcPts val="0"/>
              </a:spcAft>
              <a:buClr>
                <a:srgbClr val="000000"/>
              </a:buClr>
              <a:buSzPts val="1280"/>
              <a:buFont typeface="Arial"/>
              <a:buNone/>
            </a:pPr>
            <a:r>
              <a:t/>
            </a:r>
            <a:endParaRPr b="0" i="0" sz="1280" u="none" cap="none" strike="noStrike">
              <a:solidFill>
                <a:srgbClr val="FFFFFF"/>
              </a:solidFill>
              <a:latin typeface="Arial"/>
              <a:ea typeface="Arial"/>
              <a:cs typeface="Arial"/>
              <a:sym typeface="Arial"/>
            </a:endParaRPr>
          </a:p>
        </p:txBody>
      </p:sp>
      <p:sp>
        <p:nvSpPr>
          <p:cNvPr id="152" name="Google Shape;152;p4"/>
          <p:cNvSpPr txBox="1"/>
          <p:nvPr/>
        </p:nvSpPr>
        <p:spPr>
          <a:xfrm>
            <a:off x="5497423" y="3741899"/>
            <a:ext cx="1612500" cy="1305000"/>
          </a:xfrm>
          <a:prstGeom prst="rect">
            <a:avLst/>
          </a:prstGeom>
          <a:noFill/>
          <a:ln>
            <a:noFill/>
          </a:ln>
        </p:spPr>
        <p:txBody>
          <a:bodyPr anchorCtr="0" anchor="t" bIns="32550" lIns="65050" spcFirstLastPara="1" rIns="65050" wrap="square" tIns="32550">
            <a:noAutofit/>
          </a:bodyPr>
          <a:lstStyle/>
          <a:p>
            <a:pPr indent="0" lvl="0" marL="0" marR="0" rtl="0" algn="ctr">
              <a:lnSpc>
                <a:spcPct val="100000"/>
              </a:lnSpc>
              <a:spcBef>
                <a:spcPts val="0"/>
              </a:spcBef>
              <a:spcAft>
                <a:spcPts val="0"/>
              </a:spcAft>
              <a:buClr>
                <a:srgbClr val="000000"/>
              </a:buClr>
              <a:buSzPts val="995"/>
              <a:buFont typeface="Arial"/>
              <a:buNone/>
            </a:pPr>
            <a:r>
              <a:rPr b="1" i="0" lang="en-GB" sz="995" u="none" cap="none" strike="noStrike">
                <a:solidFill>
                  <a:srgbClr val="000000"/>
                </a:solidFill>
                <a:latin typeface="Arial"/>
                <a:ea typeface="Arial"/>
                <a:cs typeface="Arial"/>
                <a:sym typeface="Arial"/>
              </a:rPr>
              <a:t>Heterogeneous Device Support</a:t>
            </a:r>
            <a:endParaRPr b="1" i="0" sz="995"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95"/>
              <a:buFont typeface="Arial"/>
              <a:buNone/>
            </a:pPr>
            <a:r>
              <a:t/>
            </a:r>
            <a:endParaRPr b="1" i="0" sz="995"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80"/>
              <a:buFont typeface="Arial"/>
              <a:buNone/>
            </a:pPr>
            <a:r>
              <a:rPr b="0" i="0" lang="en-GB" sz="780" u="none" cap="none" strike="noStrike">
                <a:solidFill>
                  <a:srgbClr val="000000"/>
                </a:solidFill>
                <a:latin typeface="Arial"/>
                <a:ea typeface="Arial"/>
                <a:cs typeface="Arial"/>
                <a:sym typeface="Arial"/>
              </a:rPr>
              <a:t>Efficiently schedules heterogeneous devices like GPU and NPU, fully unleashing hardware computing potential.</a:t>
            </a:r>
            <a:endParaRPr b="0" i="0" sz="780" u="none" cap="none" strike="noStrike">
              <a:solidFill>
                <a:srgbClr val="000000"/>
              </a:solidFill>
              <a:latin typeface="Arial"/>
              <a:ea typeface="Arial"/>
              <a:cs typeface="Arial"/>
              <a:sym typeface="Arial"/>
            </a:endParaRPr>
          </a:p>
        </p:txBody>
      </p:sp>
      <p:sp>
        <p:nvSpPr>
          <p:cNvPr id="153" name="Google Shape;153;p4"/>
          <p:cNvSpPr/>
          <p:nvPr/>
        </p:nvSpPr>
        <p:spPr>
          <a:xfrm>
            <a:off x="7206131" y="3715235"/>
            <a:ext cx="1760100" cy="1305000"/>
          </a:xfrm>
          <a:prstGeom prst="rect">
            <a:avLst/>
          </a:prstGeom>
          <a:solidFill>
            <a:srgbClr val="FFFFFF"/>
          </a:solidFill>
          <a:ln cap="flat" cmpd="sng" w="9525">
            <a:solidFill>
              <a:srgbClr val="FFDA32"/>
            </a:solidFill>
            <a:prstDash val="solid"/>
            <a:miter lim="800000"/>
            <a:headEnd len="sm" w="sm" type="none"/>
            <a:tailEnd len="sm" w="sm" type="none"/>
          </a:ln>
        </p:spPr>
        <p:txBody>
          <a:bodyPr anchorCtr="0" anchor="ctr" bIns="32550" lIns="65050" spcFirstLastPara="1" rIns="65050" wrap="square" tIns="32550">
            <a:noAutofit/>
          </a:bodyPr>
          <a:lstStyle/>
          <a:p>
            <a:pPr indent="0" lvl="0" marL="0" marR="0" rtl="0" algn="ctr">
              <a:lnSpc>
                <a:spcPct val="100000"/>
              </a:lnSpc>
              <a:spcBef>
                <a:spcPts val="0"/>
              </a:spcBef>
              <a:spcAft>
                <a:spcPts val="0"/>
              </a:spcAft>
              <a:buClr>
                <a:srgbClr val="000000"/>
              </a:buClr>
              <a:buSzPts val="1280"/>
              <a:buFont typeface="Arial"/>
              <a:buNone/>
            </a:pPr>
            <a:r>
              <a:t/>
            </a:r>
            <a:endParaRPr b="0" i="0" sz="1280" u="none" cap="none" strike="noStrike">
              <a:solidFill>
                <a:srgbClr val="FFFFFF"/>
              </a:solidFill>
              <a:latin typeface="Arial"/>
              <a:ea typeface="Arial"/>
              <a:cs typeface="Arial"/>
              <a:sym typeface="Arial"/>
            </a:endParaRPr>
          </a:p>
        </p:txBody>
      </p:sp>
      <p:sp>
        <p:nvSpPr>
          <p:cNvPr id="154" name="Google Shape;154;p4"/>
          <p:cNvSpPr txBox="1"/>
          <p:nvPr/>
        </p:nvSpPr>
        <p:spPr>
          <a:xfrm>
            <a:off x="7206131" y="3741899"/>
            <a:ext cx="1760100" cy="1115400"/>
          </a:xfrm>
          <a:prstGeom prst="rect">
            <a:avLst/>
          </a:prstGeom>
          <a:noFill/>
          <a:ln>
            <a:noFill/>
          </a:ln>
        </p:spPr>
        <p:txBody>
          <a:bodyPr anchorCtr="0" anchor="t" bIns="32550" lIns="65050" spcFirstLastPara="1" rIns="65050" wrap="square" tIns="32550">
            <a:noAutofit/>
          </a:bodyPr>
          <a:lstStyle/>
          <a:p>
            <a:pPr indent="0" lvl="0" marL="0" marR="0" rtl="0" algn="ctr">
              <a:lnSpc>
                <a:spcPct val="100000"/>
              </a:lnSpc>
              <a:spcBef>
                <a:spcPts val="0"/>
              </a:spcBef>
              <a:spcAft>
                <a:spcPts val="0"/>
              </a:spcAft>
              <a:buClr>
                <a:srgbClr val="000000"/>
              </a:buClr>
              <a:buSzPts val="995"/>
              <a:buFont typeface="Arial"/>
              <a:buNone/>
            </a:pPr>
            <a:r>
              <a:rPr b="1" i="0" lang="en-GB" sz="995" u="none" cap="none" strike="noStrike">
                <a:solidFill>
                  <a:srgbClr val="000000"/>
                </a:solidFill>
                <a:latin typeface="Arial"/>
                <a:ea typeface="Arial"/>
                <a:cs typeface="Arial"/>
                <a:sym typeface="Arial"/>
              </a:rPr>
              <a:t>Multiple Scheduling Policies</a:t>
            </a:r>
            <a:endParaRPr b="1" i="0" sz="995"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80"/>
              <a:buFont typeface="Arial"/>
              <a:buNone/>
            </a:pPr>
            <a:r>
              <a:t/>
            </a:r>
            <a:endParaRPr b="0" i="0" sz="78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80"/>
              <a:buFont typeface="Arial"/>
              <a:buNone/>
            </a:pPr>
            <a:r>
              <a:rPr b="0" i="0" lang="en-GB" sz="780" u="none" cap="none" strike="noStrike">
                <a:solidFill>
                  <a:srgbClr val="000000"/>
                </a:solidFill>
                <a:latin typeface="Arial"/>
                <a:ea typeface="Arial"/>
                <a:cs typeface="Arial"/>
                <a:sym typeface="Arial"/>
              </a:rPr>
              <a:t>Supports various scheduling strategies such as Gang scheduling, Network Topology Aware Scheduling, Fair-Share, Binpack, DeviceShare, NUMA-aware scheduling, Task Topology, etc.</a:t>
            </a:r>
            <a:endParaRPr b="0" i="0" sz="780" u="none" cap="none" strike="noStrike">
              <a:solidFill>
                <a:srgbClr val="000000"/>
              </a:solidFill>
              <a:latin typeface="Arial"/>
              <a:ea typeface="Arial"/>
              <a:cs typeface="Arial"/>
              <a:sym typeface="Arial"/>
            </a:endParaRPr>
          </a:p>
        </p:txBody>
      </p:sp>
      <p:grpSp>
        <p:nvGrpSpPr>
          <p:cNvPr id="155" name="Google Shape;155;p4"/>
          <p:cNvGrpSpPr/>
          <p:nvPr/>
        </p:nvGrpSpPr>
        <p:grpSpPr>
          <a:xfrm>
            <a:off x="119380" y="1254760"/>
            <a:ext cx="5223510" cy="3520440"/>
            <a:chOff x="5169823" y="658144"/>
            <a:chExt cx="7011790" cy="5672658"/>
          </a:xfrm>
        </p:grpSpPr>
        <p:sp>
          <p:nvSpPr>
            <p:cNvPr id="156" name="Google Shape;156;p4"/>
            <p:cNvSpPr/>
            <p:nvPr/>
          </p:nvSpPr>
          <p:spPr>
            <a:xfrm>
              <a:off x="5202515" y="4682162"/>
              <a:ext cx="3413379" cy="1648640"/>
            </a:xfrm>
            <a:prstGeom prst="rect">
              <a:avLst/>
            </a:prstGeom>
            <a:solidFill>
              <a:srgbClr val="D9D9D9"/>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157" name="Google Shape;157;p4"/>
            <p:cNvSpPr/>
            <p:nvPr/>
          </p:nvSpPr>
          <p:spPr>
            <a:xfrm>
              <a:off x="5337352" y="4740526"/>
              <a:ext cx="2978353" cy="1236066"/>
            </a:xfrm>
            <a:prstGeom prst="rect">
              <a:avLst/>
            </a:prstGeom>
            <a:solidFill>
              <a:srgbClr val="DEEBF7"/>
            </a:solidFill>
            <a:ln cap="flat" cmpd="sng" w="9525">
              <a:solidFill>
                <a:srgbClr val="ACCB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158" name="Google Shape;158;p4"/>
            <p:cNvSpPr/>
            <p:nvPr/>
          </p:nvSpPr>
          <p:spPr>
            <a:xfrm>
              <a:off x="5408298" y="4802871"/>
              <a:ext cx="2975737" cy="1234278"/>
            </a:xfrm>
            <a:prstGeom prst="rect">
              <a:avLst/>
            </a:prstGeom>
            <a:solidFill>
              <a:srgbClr val="DEEBF7"/>
            </a:solidFill>
            <a:ln cap="flat" cmpd="sng" w="9525">
              <a:solidFill>
                <a:srgbClr val="ACCB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159" name="Google Shape;159;p4"/>
            <p:cNvSpPr/>
            <p:nvPr/>
          </p:nvSpPr>
          <p:spPr>
            <a:xfrm>
              <a:off x="5495332" y="4877939"/>
              <a:ext cx="2981343" cy="1329784"/>
            </a:xfrm>
            <a:prstGeom prst="rect">
              <a:avLst/>
            </a:prstGeom>
            <a:solidFill>
              <a:srgbClr val="DEEBF7"/>
            </a:solidFill>
            <a:ln cap="flat" cmpd="sng" w="9525">
              <a:solidFill>
                <a:srgbClr val="ACCB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160" name="Google Shape;160;p4"/>
            <p:cNvSpPr/>
            <p:nvPr/>
          </p:nvSpPr>
          <p:spPr>
            <a:xfrm>
              <a:off x="5202515" y="3823575"/>
              <a:ext cx="3413379" cy="656726"/>
            </a:xfrm>
            <a:prstGeom prst="rect">
              <a:avLst/>
            </a:prstGeom>
            <a:solidFill>
              <a:srgbClr val="D9D9D9"/>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pic>
          <p:nvPicPr>
            <p:cNvPr id="161" name="Google Shape;161;p4"/>
            <p:cNvPicPr preferRelativeResize="0"/>
            <p:nvPr/>
          </p:nvPicPr>
          <p:blipFill rotWithShape="1">
            <a:blip r:embed="rId3">
              <a:alphaModFix/>
            </a:blip>
            <a:srcRect b="0" l="0" r="0" t="0"/>
            <a:stretch/>
          </p:blipFill>
          <p:spPr>
            <a:xfrm>
              <a:off x="7041312" y="3917939"/>
              <a:ext cx="1361542" cy="228061"/>
            </a:xfrm>
            <a:prstGeom prst="rect">
              <a:avLst/>
            </a:prstGeom>
            <a:noFill/>
            <a:ln>
              <a:noFill/>
            </a:ln>
          </p:spPr>
        </p:pic>
        <p:pic>
          <p:nvPicPr>
            <p:cNvPr descr="Kubernetes" id="162" name="Google Shape;162;p4"/>
            <p:cNvPicPr preferRelativeResize="0"/>
            <p:nvPr/>
          </p:nvPicPr>
          <p:blipFill rotWithShape="1">
            <a:blip r:embed="rId4">
              <a:alphaModFix/>
            </a:blip>
            <a:srcRect b="0" l="0" r="0" t="0"/>
            <a:stretch/>
          </p:blipFill>
          <p:spPr>
            <a:xfrm>
              <a:off x="5466730" y="3889508"/>
              <a:ext cx="1361542" cy="294000"/>
            </a:xfrm>
            <a:prstGeom prst="rect">
              <a:avLst/>
            </a:prstGeom>
            <a:noFill/>
            <a:ln>
              <a:noFill/>
            </a:ln>
          </p:spPr>
        </p:pic>
        <p:sp>
          <p:nvSpPr>
            <p:cNvPr id="163" name="Google Shape;163;p4"/>
            <p:cNvSpPr/>
            <p:nvPr/>
          </p:nvSpPr>
          <p:spPr>
            <a:xfrm>
              <a:off x="8768234" y="3823574"/>
              <a:ext cx="3413379" cy="668581"/>
            </a:xfrm>
            <a:prstGeom prst="rect">
              <a:avLst/>
            </a:prstGeom>
            <a:solidFill>
              <a:srgbClr val="D9D9D9"/>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pic>
          <p:nvPicPr>
            <p:cNvPr id="164" name="Google Shape;164;p4"/>
            <p:cNvPicPr preferRelativeResize="0"/>
            <p:nvPr/>
          </p:nvPicPr>
          <p:blipFill rotWithShape="1">
            <a:blip r:embed="rId3">
              <a:alphaModFix/>
            </a:blip>
            <a:srcRect b="0" l="0" r="0" t="0"/>
            <a:stretch/>
          </p:blipFill>
          <p:spPr>
            <a:xfrm>
              <a:off x="10607031" y="3936016"/>
              <a:ext cx="1361542" cy="228061"/>
            </a:xfrm>
            <a:prstGeom prst="rect">
              <a:avLst/>
            </a:prstGeom>
            <a:noFill/>
            <a:ln>
              <a:noFill/>
            </a:ln>
          </p:spPr>
        </p:pic>
        <p:pic>
          <p:nvPicPr>
            <p:cNvPr descr="Kubernetes" id="165" name="Google Shape;165;p4"/>
            <p:cNvPicPr preferRelativeResize="0"/>
            <p:nvPr/>
          </p:nvPicPr>
          <p:blipFill rotWithShape="1">
            <a:blip r:embed="rId4">
              <a:alphaModFix/>
            </a:blip>
            <a:srcRect b="0" l="0" r="0" t="0"/>
            <a:stretch/>
          </p:blipFill>
          <p:spPr>
            <a:xfrm>
              <a:off x="9032449" y="3906512"/>
              <a:ext cx="1361542" cy="294000"/>
            </a:xfrm>
            <a:prstGeom prst="rect">
              <a:avLst/>
            </a:prstGeom>
            <a:noFill/>
            <a:ln>
              <a:noFill/>
            </a:ln>
          </p:spPr>
        </p:pic>
        <p:sp>
          <p:nvSpPr>
            <p:cNvPr id="166" name="Google Shape;166;p4"/>
            <p:cNvSpPr/>
            <p:nvPr/>
          </p:nvSpPr>
          <p:spPr>
            <a:xfrm>
              <a:off x="5181856" y="2337905"/>
              <a:ext cx="6979098" cy="1303948"/>
            </a:xfrm>
            <a:prstGeom prst="rect">
              <a:avLst/>
            </a:prstGeom>
            <a:solidFill>
              <a:srgbClr val="D9D9D9"/>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pic>
          <p:nvPicPr>
            <p:cNvPr id="167" name="Google Shape;167;p4"/>
            <p:cNvPicPr preferRelativeResize="0"/>
            <p:nvPr/>
          </p:nvPicPr>
          <p:blipFill rotWithShape="1">
            <a:blip r:embed="rId5">
              <a:alphaModFix/>
            </a:blip>
            <a:srcRect b="0" l="0" r="0" t="0"/>
            <a:stretch/>
          </p:blipFill>
          <p:spPr>
            <a:xfrm>
              <a:off x="7238524" y="2512245"/>
              <a:ext cx="499589" cy="499590"/>
            </a:xfrm>
            <a:prstGeom prst="rect">
              <a:avLst/>
            </a:prstGeom>
            <a:noFill/>
            <a:ln>
              <a:noFill/>
            </a:ln>
          </p:spPr>
        </p:pic>
        <p:pic>
          <p:nvPicPr>
            <p:cNvPr id="168" name="Google Shape;168;p4"/>
            <p:cNvPicPr preferRelativeResize="0"/>
            <p:nvPr/>
          </p:nvPicPr>
          <p:blipFill rotWithShape="1">
            <a:blip r:embed="rId6">
              <a:alphaModFix/>
            </a:blip>
            <a:srcRect b="0" l="0" r="0" t="0"/>
            <a:stretch/>
          </p:blipFill>
          <p:spPr>
            <a:xfrm>
              <a:off x="7881831" y="2500453"/>
              <a:ext cx="499589" cy="499590"/>
            </a:xfrm>
            <a:prstGeom prst="rect">
              <a:avLst/>
            </a:prstGeom>
            <a:noFill/>
            <a:ln>
              <a:noFill/>
            </a:ln>
          </p:spPr>
        </p:pic>
        <p:pic>
          <p:nvPicPr>
            <p:cNvPr id="169" name="Google Shape;169;p4"/>
            <p:cNvPicPr preferRelativeResize="0"/>
            <p:nvPr/>
          </p:nvPicPr>
          <p:blipFill rotWithShape="1">
            <a:blip r:embed="rId7">
              <a:alphaModFix/>
            </a:blip>
            <a:srcRect b="0" l="0" r="0" t="0"/>
            <a:stretch/>
          </p:blipFill>
          <p:spPr>
            <a:xfrm>
              <a:off x="8083921" y="3054560"/>
              <a:ext cx="499589" cy="499591"/>
            </a:xfrm>
            <a:prstGeom prst="rect">
              <a:avLst/>
            </a:prstGeom>
            <a:noFill/>
            <a:ln>
              <a:noFill/>
            </a:ln>
          </p:spPr>
        </p:pic>
        <p:pic>
          <p:nvPicPr>
            <p:cNvPr id="170" name="Google Shape;170;p4"/>
            <p:cNvPicPr preferRelativeResize="0"/>
            <p:nvPr/>
          </p:nvPicPr>
          <p:blipFill rotWithShape="1">
            <a:blip r:embed="rId8">
              <a:alphaModFix/>
            </a:blip>
            <a:srcRect b="0" l="0" r="0" t="0"/>
            <a:stretch/>
          </p:blipFill>
          <p:spPr>
            <a:xfrm>
              <a:off x="5979350" y="2523801"/>
              <a:ext cx="499589" cy="499590"/>
            </a:xfrm>
            <a:prstGeom prst="rect">
              <a:avLst/>
            </a:prstGeom>
            <a:noFill/>
            <a:ln>
              <a:noFill/>
            </a:ln>
          </p:spPr>
        </p:pic>
        <p:pic>
          <p:nvPicPr>
            <p:cNvPr id="171" name="Google Shape;171;p4"/>
            <p:cNvPicPr preferRelativeResize="0"/>
            <p:nvPr/>
          </p:nvPicPr>
          <p:blipFill rotWithShape="1">
            <a:blip r:embed="rId9">
              <a:alphaModFix/>
            </a:blip>
            <a:srcRect b="-8511" l="-8510" r="-1" t="1"/>
            <a:stretch/>
          </p:blipFill>
          <p:spPr>
            <a:xfrm>
              <a:off x="5357794" y="2546251"/>
              <a:ext cx="499589" cy="499590"/>
            </a:xfrm>
            <a:prstGeom prst="rect">
              <a:avLst/>
            </a:prstGeom>
            <a:noFill/>
            <a:ln>
              <a:noFill/>
            </a:ln>
          </p:spPr>
        </p:pic>
        <p:pic>
          <p:nvPicPr>
            <p:cNvPr id="172" name="Google Shape;172;p4"/>
            <p:cNvPicPr preferRelativeResize="0"/>
            <p:nvPr/>
          </p:nvPicPr>
          <p:blipFill rotWithShape="1">
            <a:blip r:embed="rId10">
              <a:alphaModFix/>
            </a:blip>
            <a:srcRect b="0" l="0" r="0" t="0"/>
            <a:stretch/>
          </p:blipFill>
          <p:spPr>
            <a:xfrm>
              <a:off x="6628170" y="2518625"/>
              <a:ext cx="499589" cy="499591"/>
            </a:xfrm>
            <a:prstGeom prst="rect">
              <a:avLst/>
            </a:prstGeom>
            <a:noFill/>
            <a:ln>
              <a:noFill/>
            </a:ln>
          </p:spPr>
        </p:pic>
        <p:pic>
          <p:nvPicPr>
            <p:cNvPr id="173" name="Google Shape;173;p4"/>
            <p:cNvPicPr preferRelativeResize="0"/>
            <p:nvPr/>
          </p:nvPicPr>
          <p:blipFill rotWithShape="1">
            <a:blip r:embed="rId11">
              <a:alphaModFix/>
            </a:blip>
            <a:srcRect b="-4063" l="-4064" r="-4064" t="-4063"/>
            <a:stretch/>
          </p:blipFill>
          <p:spPr>
            <a:xfrm>
              <a:off x="5373746" y="3018217"/>
              <a:ext cx="499589" cy="499591"/>
            </a:xfrm>
            <a:prstGeom prst="rect">
              <a:avLst/>
            </a:prstGeom>
            <a:noFill/>
            <a:ln>
              <a:noFill/>
            </a:ln>
          </p:spPr>
        </p:pic>
        <p:pic>
          <p:nvPicPr>
            <p:cNvPr id="174" name="Google Shape;174;p4"/>
            <p:cNvPicPr preferRelativeResize="0"/>
            <p:nvPr/>
          </p:nvPicPr>
          <p:blipFill rotWithShape="1">
            <a:blip r:embed="rId12">
              <a:alphaModFix/>
            </a:blip>
            <a:srcRect b="0" l="0" r="0" t="0"/>
            <a:stretch/>
          </p:blipFill>
          <p:spPr>
            <a:xfrm>
              <a:off x="5873335" y="3018219"/>
              <a:ext cx="499589" cy="499589"/>
            </a:xfrm>
            <a:prstGeom prst="rect">
              <a:avLst/>
            </a:prstGeom>
            <a:noFill/>
            <a:ln>
              <a:noFill/>
            </a:ln>
          </p:spPr>
        </p:pic>
        <p:pic>
          <p:nvPicPr>
            <p:cNvPr id="175" name="Google Shape;175;p4"/>
            <p:cNvPicPr preferRelativeResize="0"/>
            <p:nvPr/>
          </p:nvPicPr>
          <p:blipFill rotWithShape="1">
            <a:blip r:embed="rId13">
              <a:alphaModFix/>
            </a:blip>
            <a:srcRect b="0" l="0" r="0" t="0"/>
            <a:stretch/>
          </p:blipFill>
          <p:spPr>
            <a:xfrm>
              <a:off x="6372924" y="3018219"/>
              <a:ext cx="499589" cy="499589"/>
            </a:xfrm>
            <a:prstGeom prst="rect">
              <a:avLst/>
            </a:prstGeom>
            <a:noFill/>
            <a:ln>
              <a:noFill/>
            </a:ln>
          </p:spPr>
        </p:pic>
        <p:pic>
          <p:nvPicPr>
            <p:cNvPr id="176" name="Google Shape;176;p4"/>
            <p:cNvPicPr preferRelativeResize="0"/>
            <p:nvPr/>
          </p:nvPicPr>
          <p:blipFill rotWithShape="1">
            <a:blip r:embed="rId14">
              <a:alphaModFix/>
            </a:blip>
            <a:srcRect b="0" l="0" r="0" t="0"/>
            <a:stretch/>
          </p:blipFill>
          <p:spPr>
            <a:xfrm>
              <a:off x="8674931" y="3014467"/>
              <a:ext cx="499589" cy="499590"/>
            </a:xfrm>
            <a:prstGeom prst="rect">
              <a:avLst/>
            </a:prstGeom>
            <a:noFill/>
            <a:ln>
              <a:noFill/>
            </a:ln>
          </p:spPr>
        </p:pic>
        <p:pic>
          <p:nvPicPr>
            <p:cNvPr id="177" name="Google Shape;177;p4"/>
            <p:cNvPicPr preferRelativeResize="0"/>
            <p:nvPr/>
          </p:nvPicPr>
          <p:blipFill rotWithShape="1">
            <a:blip r:embed="rId15">
              <a:alphaModFix/>
            </a:blip>
            <a:srcRect b="-4063" l="-4064" r="-4064" t="-4063"/>
            <a:stretch/>
          </p:blipFill>
          <p:spPr>
            <a:xfrm>
              <a:off x="6892854" y="3020849"/>
              <a:ext cx="499589" cy="499589"/>
            </a:xfrm>
            <a:prstGeom prst="rect">
              <a:avLst/>
            </a:prstGeom>
            <a:noFill/>
            <a:ln>
              <a:noFill/>
            </a:ln>
          </p:spPr>
        </p:pic>
        <p:pic>
          <p:nvPicPr>
            <p:cNvPr descr="Ray - RISE Lab" id="178" name="Google Shape;178;p4"/>
            <p:cNvPicPr preferRelativeResize="0"/>
            <p:nvPr/>
          </p:nvPicPr>
          <p:blipFill rotWithShape="1">
            <a:blip r:embed="rId16">
              <a:alphaModFix/>
            </a:blip>
            <a:srcRect b="0" l="0" r="0" t="0"/>
            <a:stretch/>
          </p:blipFill>
          <p:spPr>
            <a:xfrm>
              <a:off x="8441202" y="2569329"/>
              <a:ext cx="847979" cy="424265"/>
            </a:xfrm>
            <a:prstGeom prst="rect">
              <a:avLst/>
            </a:prstGeom>
            <a:noFill/>
            <a:ln>
              <a:noFill/>
            </a:ln>
          </p:spPr>
        </p:pic>
        <p:pic>
          <p:nvPicPr>
            <p:cNvPr descr="TensorFlow - Wikipedia" id="179" name="Google Shape;179;p4"/>
            <p:cNvPicPr preferRelativeResize="0"/>
            <p:nvPr/>
          </p:nvPicPr>
          <p:blipFill rotWithShape="1">
            <a:blip r:embed="rId17">
              <a:alphaModFix/>
            </a:blip>
            <a:srcRect b="0" l="0" r="0" t="0"/>
            <a:stretch/>
          </p:blipFill>
          <p:spPr>
            <a:xfrm>
              <a:off x="7327487" y="3024597"/>
              <a:ext cx="774750" cy="495840"/>
            </a:xfrm>
            <a:prstGeom prst="rect">
              <a:avLst/>
            </a:prstGeom>
            <a:noFill/>
            <a:ln>
              <a:noFill/>
            </a:ln>
          </p:spPr>
        </p:pic>
        <p:sp>
          <p:nvSpPr>
            <p:cNvPr id="180" name="Google Shape;180;p4"/>
            <p:cNvSpPr/>
            <p:nvPr/>
          </p:nvSpPr>
          <p:spPr>
            <a:xfrm>
              <a:off x="5314470" y="2500454"/>
              <a:ext cx="4577886" cy="1027127"/>
            </a:xfrm>
            <a:prstGeom prst="rect">
              <a:avLst/>
            </a:prstGeom>
            <a:noFill/>
            <a:ln cap="flat" cmpd="sng" w="12700">
              <a:solidFill>
                <a:srgbClr val="595959"/>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181" name="Google Shape;181;p4"/>
            <p:cNvSpPr/>
            <p:nvPr/>
          </p:nvSpPr>
          <p:spPr>
            <a:xfrm>
              <a:off x="10042353" y="2596422"/>
              <a:ext cx="224787" cy="250597"/>
            </a:xfrm>
            <a:prstGeom prst="rightArrow">
              <a:avLst>
                <a:gd fmla="val 50000" name="adj1"/>
                <a:gd fmla="val 50000" name="adj2"/>
              </a:avLst>
            </a:prstGeom>
            <a:solidFill>
              <a:srgbClr val="BFBFBF"/>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grpSp>
          <p:nvGrpSpPr>
            <p:cNvPr id="182" name="Google Shape;182;p4"/>
            <p:cNvGrpSpPr/>
            <p:nvPr/>
          </p:nvGrpSpPr>
          <p:grpSpPr>
            <a:xfrm>
              <a:off x="5336881" y="1017462"/>
              <a:ext cx="382498" cy="344821"/>
              <a:chOff x="1470198" y="1397770"/>
              <a:chExt cx="382647" cy="344956"/>
            </a:xfrm>
          </p:grpSpPr>
          <p:sp>
            <p:nvSpPr>
              <p:cNvPr id="183" name="Google Shape;183;p4"/>
              <p:cNvSpPr/>
              <p:nvPr/>
            </p:nvSpPr>
            <p:spPr>
              <a:xfrm>
                <a:off x="1477011" y="1410632"/>
                <a:ext cx="324000" cy="324000"/>
              </a:xfrm>
              <a:prstGeom prst="ellipse">
                <a:avLst/>
              </a:prstGeom>
              <a:solidFill>
                <a:srgbClr val="CF5D0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184" name="Google Shape;184;p4"/>
              <p:cNvSpPr/>
              <p:nvPr/>
            </p:nvSpPr>
            <p:spPr>
              <a:xfrm rot="5400000">
                <a:off x="1550061" y="1477308"/>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185" name="Google Shape;185;p4"/>
              <p:cNvSpPr txBox="1"/>
              <p:nvPr/>
            </p:nvSpPr>
            <p:spPr>
              <a:xfrm>
                <a:off x="1470198" y="1397770"/>
                <a:ext cx="382647" cy="3449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AI</a:t>
                </a:r>
                <a:endParaRPr b="0" i="0" sz="800" u="none" cap="none" strike="noStrike">
                  <a:solidFill>
                    <a:srgbClr val="FFFFFF"/>
                  </a:solidFill>
                  <a:latin typeface="Arial"/>
                  <a:ea typeface="Arial"/>
                  <a:cs typeface="Arial"/>
                  <a:sym typeface="Arial"/>
                </a:endParaRPr>
              </a:p>
            </p:txBody>
          </p:sp>
        </p:grpSp>
        <p:grpSp>
          <p:nvGrpSpPr>
            <p:cNvPr id="186" name="Google Shape;186;p4"/>
            <p:cNvGrpSpPr/>
            <p:nvPr/>
          </p:nvGrpSpPr>
          <p:grpSpPr>
            <a:xfrm>
              <a:off x="6540179" y="1008833"/>
              <a:ext cx="382784" cy="344821"/>
              <a:chOff x="2587157" y="1068621"/>
              <a:chExt cx="382934" cy="344956"/>
            </a:xfrm>
          </p:grpSpPr>
          <p:sp>
            <p:nvSpPr>
              <p:cNvPr id="187" name="Google Shape;187;p4"/>
              <p:cNvSpPr/>
              <p:nvPr/>
            </p:nvSpPr>
            <p:spPr>
              <a:xfrm>
                <a:off x="2587157" y="1084958"/>
                <a:ext cx="324000" cy="324000"/>
              </a:xfrm>
              <a:prstGeom prst="ellipse">
                <a:avLst/>
              </a:prstGeom>
              <a:solidFill>
                <a:srgbClr val="FF7007"/>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188" name="Google Shape;188;p4"/>
              <p:cNvSpPr/>
              <p:nvPr/>
            </p:nvSpPr>
            <p:spPr>
              <a:xfrm rot="5400000">
                <a:off x="2660207" y="1151634"/>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189" name="Google Shape;189;p4"/>
              <p:cNvSpPr txBox="1"/>
              <p:nvPr/>
            </p:nvSpPr>
            <p:spPr>
              <a:xfrm>
                <a:off x="2587444" y="1068621"/>
                <a:ext cx="382647" cy="3449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B</a:t>
                </a:r>
                <a:endParaRPr b="0" i="0" sz="800" u="none" cap="none" strike="noStrike">
                  <a:solidFill>
                    <a:srgbClr val="FFFFFF"/>
                  </a:solidFill>
                  <a:latin typeface="Arial"/>
                  <a:ea typeface="Arial"/>
                  <a:cs typeface="Arial"/>
                  <a:sym typeface="Arial"/>
                </a:endParaRPr>
              </a:p>
            </p:txBody>
          </p:sp>
        </p:grpSp>
        <p:grpSp>
          <p:nvGrpSpPr>
            <p:cNvPr id="190" name="Google Shape;190;p4"/>
            <p:cNvGrpSpPr/>
            <p:nvPr/>
          </p:nvGrpSpPr>
          <p:grpSpPr>
            <a:xfrm>
              <a:off x="8929083" y="1025164"/>
              <a:ext cx="386165" cy="346160"/>
              <a:chOff x="3659199" y="732848"/>
              <a:chExt cx="386316" cy="346296"/>
            </a:xfrm>
          </p:grpSpPr>
          <p:sp>
            <p:nvSpPr>
              <p:cNvPr id="191" name="Google Shape;191;p4"/>
              <p:cNvSpPr/>
              <p:nvPr/>
            </p:nvSpPr>
            <p:spPr>
              <a:xfrm>
                <a:off x="3659199" y="732848"/>
                <a:ext cx="324000" cy="324000"/>
              </a:xfrm>
              <a:prstGeom prst="ellipse">
                <a:avLst/>
              </a:prstGeom>
              <a:solidFill>
                <a:srgbClr val="23447E"/>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192" name="Google Shape;192;p4"/>
              <p:cNvSpPr/>
              <p:nvPr/>
            </p:nvSpPr>
            <p:spPr>
              <a:xfrm rot="5400000">
                <a:off x="3732249" y="799524"/>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193" name="Google Shape;193;p4"/>
              <p:cNvSpPr txBox="1"/>
              <p:nvPr/>
            </p:nvSpPr>
            <p:spPr>
              <a:xfrm>
                <a:off x="3662868" y="734188"/>
                <a:ext cx="382647" cy="3449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T</a:t>
                </a:r>
                <a:endParaRPr b="0" i="0" sz="800" u="none" cap="none" strike="noStrike">
                  <a:solidFill>
                    <a:srgbClr val="FFFFFF"/>
                  </a:solidFill>
                  <a:latin typeface="Arial"/>
                  <a:ea typeface="Arial"/>
                  <a:cs typeface="Arial"/>
                  <a:sym typeface="Arial"/>
                </a:endParaRPr>
              </a:p>
            </p:txBody>
          </p:sp>
        </p:grpSp>
        <p:grpSp>
          <p:nvGrpSpPr>
            <p:cNvPr id="194" name="Google Shape;194;p4"/>
            <p:cNvGrpSpPr/>
            <p:nvPr/>
          </p:nvGrpSpPr>
          <p:grpSpPr>
            <a:xfrm>
              <a:off x="10643650" y="1023148"/>
              <a:ext cx="382929" cy="325851"/>
              <a:chOff x="4615274" y="681724"/>
              <a:chExt cx="383079" cy="325979"/>
            </a:xfrm>
          </p:grpSpPr>
          <p:sp>
            <p:nvSpPr>
              <p:cNvPr id="195" name="Google Shape;195;p4"/>
              <p:cNvSpPr/>
              <p:nvPr/>
            </p:nvSpPr>
            <p:spPr>
              <a:xfrm>
                <a:off x="4615274" y="683703"/>
                <a:ext cx="324000" cy="324000"/>
              </a:xfrm>
              <a:prstGeom prst="ellipse">
                <a:avLst/>
              </a:prstGeom>
              <a:solidFill>
                <a:srgbClr val="7030A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196" name="Google Shape;196;p4"/>
              <p:cNvSpPr/>
              <p:nvPr/>
            </p:nvSpPr>
            <p:spPr>
              <a:xfrm rot="5400000">
                <a:off x="4688324" y="750379"/>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197" name="Google Shape;197;p4"/>
              <p:cNvSpPr txBox="1"/>
              <p:nvPr/>
            </p:nvSpPr>
            <p:spPr>
              <a:xfrm>
                <a:off x="4616078" y="681724"/>
                <a:ext cx="382275" cy="324449"/>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M</a:t>
                </a:r>
                <a:endParaRPr b="0" i="0" sz="800" u="none" cap="none" strike="noStrike">
                  <a:solidFill>
                    <a:srgbClr val="FFFFFF"/>
                  </a:solidFill>
                  <a:latin typeface="Arial"/>
                  <a:ea typeface="Arial"/>
                  <a:cs typeface="Arial"/>
                  <a:sym typeface="Arial"/>
                </a:endParaRPr>
              </a:p>
            </p:txBody>
          </p:sp>
        </p:grpSp>
        <p:grpSp>
          <p:nvGrpSpPr>
            <p:cNvPr id="198" name="Google Shape;198;p4"/>
            <p:cNvGrpSpPr/>
            <p:nvPr/>
          </p:nvGrpSpPr>
          <p:grpSpPr>
            <a:xfrm>
              <a:off x="5692405" y="1017113"/>
              <a:ext cx="382498" cy="344821"/>
              <a:chOff x="1467783" y="1393813"/>
              <a:chExt cx="382647" cy="344956"/>
            </a:xfrm>
          </p:grpSpPr>
          <p:sp>
            <p:nvSpPr>
              <p:cNvPr id="199" name="Google Shape;199;p4"/>
              <p:cNvSpPr/>
              <p:nvPr/>
            </p:nvSpPr>
            <p:spPr>
              <a:xfrm>
                <a:off x="1477011" y="1410632"/>
                <a:ext cx="324000" cy="324000"/>
              </a:xfrm>
              <a:prstGeom prst="ellipse">
                <a:avLst/>
              </a:prstGeom>
              <a:solidFill>
                <a:srgbClr val="CF5D0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00" name="Google Shape;200;p4"/>
              <p:cNvSpPr/>
              <p:nvPr/>
            </p:nvSpPr>
            <p:spPr>
              <a:xfrm rot="5400000">
                <a:off x="1550061" y="1477308"/>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01" name="Google Shape;201;p4"/>
              <p:cNvSpPr txBox="1"/>
              <p:nvPr/>
            </p:nvSpPr>
            <p:spPr>
              <a:xfrm>
                <a:off x="1467783" y="1393813"/>
                <a:ext cx="382647" cy="3449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AI</a:t>
                </a:r>
                <a:endParaRPr b="0" i="0" sz="800" u="none" cap="none" strike="noStrike">
                  <a:solidFill>
                    <a:srgbClr val="FFFFFF"/>
                  </a:solidFill>
                  <a:latin typeface="Arial"/>
                  <a:ea typeface="Arial"/>
                  <a:cs typeface="Arial"/>
                  <a:sym typeface="Arial"/>
                </a:endParaRPr>
              </a:p>
            </p:txBody>
          </p:sp>
        </p:grpSp>
        <p:grpSp>
          <p:nvGrpSpPr>
            <p:cNvPr id="202" name="Google Shape;202;p4"/>
            <p:cNvGrpSpPr/>
            <p:nvPr/>
          </p:nvGrpSpPr>
          <p:grpSpPr>
            <a:xfrm>
              <a:off x="6057553" y="1017462"/>
              <a:ext cx="382498" cy="344821"/>
              <a:chOff x="1459736" y="1397770"/>
              <a:chExt cx="382647" cy="344956"/>
            </a:xfrm>
          </p:grpSpPr>
          <p:sp>
            <p:nvSpPr>
              <p:cNvPr id="203" name="Google Shape;203;p4"/>
              <p:cNvSpPr/>
              <p:nvPr/>
            </p:nvSpPr>
            <p:spPr>
              <a:xfrm>
                <a:off x="1477011" y="1410632"/>
                <a:ext cx="324000" cy="324000"/>
              </a:xfrm>
              <a:prstGeom prst="ellipse">
                <a:avLst/>
              </a:prstGeom>
              <a:solidFill>
                <a:srgbClr val="CF5D0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04" name="Google Shape;204;p4"/>
              <p:cNvSpPr/>
              <p:nvPr/>
            </p:nvSpPr>
            <p:spPr>
              <a:xfrm rot="5400000">
                <a:off x="1550061" y="1477308"/>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05" name="Google Shape;205;p4"/>
              <p:cNvSpPr txBox="1"/>
              <p:nvPr/>
            </p:nvSpPr>
            <p:spPr>
              <a:xfrm>
                <a:off x="1459736" y="1397770"/>
                <a:ext cx="382647" cy="3449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AI</a:t>
                </a:r>
                <a:endParaRPr b="0" i="0" sz="800" u="none" cap="none" strike="noStrike">
                  <a:solidFill>
                    <a:srgbClr val="FFFFFF"/>
                  </a:solidFill>
                  <a:latin typeface="Arial"/>
                  <a:ea typeface="Arial"/>
                  <a:cs typeface="Arial"/>
                  <a:sym typeface="Arial"/>
                </a:endParaRPr>
              </a:p>
            </p:txBody>
          </p:sp>
        </p:grpSp>
        <p:grpSp>
          <p:nvGrpSpPr>
            <p:cNvPr id="206" name="Google Shape;206;p4"/>
            <p:cNvGrpSpPr/>
            <p:nvPr/>
          </p:nvGrpSpPr>
          <p:grpSpPr>
            <a:xfrm>
              <a:off x="6908790" y="1008795"/>
              <a:ext cx="382784" cy="344821"/>
              <a:chOff x="2587157" y="1068621"/>
              <a:chExt cx="382934" cy="344956"/>
            </a:xfrm>
          </p:grpSpPr>
          <p:sp>
            <p:nvSpPr>
              <p:cNvPr id="207" name="Google Shape;207;p4"/>
              <p:cNvSpPr/>
              <p:nvPr/>
            </p:nvSpPr>
            <p:spPr>
              <a:xfrm>
                <a:off x="2587157" y="1084958"/>
                <a:ext cx="324000" cy="324000"/>
              </a:xfrm>
              <a:prstGeom prst="ellipse">
                <a:avLst/>
              </a:prstGeom>
              <a:solidFill>
                <a:srgbClr val="FF7007"/>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08" name="Google Shape;208;p4"/>
              <p:cNvSpPr/>
              <p:nvPr/>
            </p:nvSpPr>
            <p:spPr>
              <a:xfrm rot="5400000">
                <a:off x="2660207" y="1151634"/>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09" name="Google Shape;209;p4"/>
              <p:cNvSpPr txBox="1"/>
              <p:nvPr/>
            </p:nvSpPr>
            <p:spPr>
              <a:xfrm>
                <a:off x="2587444" y="1068621"/>
                <a:ext cx="382647" cy="3449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B</a:t>
                </a:r>
                <a:endParaRPr b="0" i="0" sz="800" u="none" cap="none" strike="noStrike">
                  <a:solidFill>
                    <a:srgbClr val="FFFFFF"/>
                  </a:solidFill>
                  <a:latin typeface="Arial"/>
                  <a:ea typeface="Arial"/>
                  <a:cs typeface="Arial"/>
                  <a:sym typeface="Arial"/>
                </a:endParaRPr>
              </a:p>
            </p:txBody>
          </p:sp>
        </p:grpSp>
        <p:grpSp>
          <p:nvGrpSpPr>
            <p:cNvPr id="210" name="Google Shape;210;p4"/>
            <p:cNvGrpSpPr/>
            <p:nvPr/>
          </p:nvGrpSpPr>
          <p:grpSpPr>
            <a:xfrm>
              <a:off x="7270379" y="1008833"/>
              <a:ext cx="382784" cy="344821"/>
              <a:chOff x="2587157" y="1068621"/>
              <a:chExt cx="382934" cy="344956"/>
            </a:xfrm>
          </p:grpSpPr>
          <p:sp>
            <p:nvSpPr>
              <p:cNvPr id="211" name="Google Shape;211;p4"/>
              <p:cNvSpPr/>
              <p:nvPr/>
            </p:nvSpPr>
            <p:spPr>
              <a:xfrm>
                <a:off x="2587157" y="1084958"/>
                <a:ext cx="324000" cy="324000"/>
              </a:xfrm>
              <a:prstGeom prst="ellipse">
                <a:avLst/>
              </a:prstGeom>
              <a:solidFill>
                <a:srgbClr val="FF7007"/>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12" name="Google Shape;212;p4"/>
              <p:cNvSpPr/>
              <p:nvPr/>
            </p:nvSpPr>
            <p:spPr>
              <a:xfrm rot="5400000">
                <a:off x="2660207" y="1151634"/>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13" name="Google Shape;213;p4"/>
              <p:cNvSpPr txBox="1"/>
              <p:nvPr/>
            </p:nvSpPr>
            <p:spPr>
              <a:xfrm>
                <a:off x="2587444" y="1068621"/>
                <a:ext cx="382647" cy="3449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B</a:t>
                </a:r>
                <a:endParaRPr b="0" i="0" sz="800" u="none" cap="none" strike="noStrike">
                  <a:solidFill>
                    <a:srgbClr val="FFFFFF"/>
                  </a:solidFill>
                  <a:latin typeface="Arial"/>
                  <a:ea typeface="Arial"/>
                  <a:cs typeface="Arial"/>
                  <a:sym typeface="Arial"/>
                </a:endParaRPr>
              </a:p>
            </p:txBody>
          </p:sp>
        </p:grpSp>
        <p:grpSp>
          <p:nvGrpSpPr>
            <p:cNvPr id="214" name="Google Shape;214;p4"/>
            <p:cNvGrpSpPr/>
            <p:nvPr/>
          </p:nvGrpSpPr>
          <p:grpSpPr>
            <a:xfrm>
              <a:off x="9304156" y="1025164"/>
              <a:ext cx="386165" cy="346160"/>
              <a:chOff x="3659199" y="732848"/>
              <a:chExt cx="386316" cy="346296"/>
            </a:xfrm>
          </p:grpSpPr>
          <p:sp>
            <p:nvSpPr>
              <p:cNvPr id="215" name="Google Shape;215;p4"/>
              <p:cNvSpPr/>
              <p:nvPr/>
            </p:nvSpPr>
            <p:spPr>
              <a:xfrm>
                <a:off x="3659199" y="732848"/>
                <a:ext cx="324000" cy="324000"/>
              </a:xfrm>
              <a:prstGeom prst="ellipse">
                <a:avLst/>
              </a:prstGeom>
              <a:solidFill>
                <a:srgbClr val="23447E"/>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16" name="Google Shape;216;p4"/>
              <p:cNvSpPr/>
              <p:nvPr/>
            </p:nvSpPr>
            <p:spPr>
              <a:xfrm rot="5400000">
                <a:off x="3732249" y="799524"/>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17" name="Google Shape;217;p4"/>
              <p:cNvSpPr txBox="1"/>
              <p:nvPr/>
            </p:nvSpPr>
            <p:spPr>
              <a:xfrm>
                <a:off x="3662868" y="734188"/>
                <a:ext cx="382647" cy="3449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T</a:t>
                </a:r>
                <a:endParaRPr b="0" i="0" sz="800" u="none" cap="none" strike="noStrike">
                  <a:solidFill>
                    <a:srgbClr val="FFFFFF"/>
                  </a:solidFill>
                  <a:latin typeface="Arial"/>
                  <a:ea typeface="Arial"/>
                  <a:cs typeface="Arial"/>
                  <a:sym typeface="Arial"/>
                </a:endParaRPr>
              </a:p>
            </p:txBody>
          </p:sp>
        </p:grpSp>
        <p:grpSp>
          <p:nvGrpSpPr>
            <p:cNvPr id="218" name="Google Shape;218;p4"/>
            <p:cNvGrpSpPr/>
            <p:nvPr/>
          </p:nvGrpSpPr>
          <p:grpSpPr>
            <a:xfrm>
              <a:off x="9670312" y="1025126"/>
              <a:ext cx="386165" cy="346160"/>
              <a:chOff x="3659199" y="732848"/>
              <a:chExt cx="386316" cy="346296"/>
            </a:xfrm>
          </p:grpSpPr>
          <p:sp>
            <p:nvSpPr>
              <p:cNvPr id="219" name="Google Shape;219;p4"/>
              <p:cNvSpPr/>
              <p:nvPr/>
            </p:nvSpPr>
            <p:spPr>
              <a:xfrm>
                <a:off x="3659199" y="732848"/>
                <a:ext cx="324000" cy="324000"/>
              </a:xfrm>
              <a:prstGeom prst="ellipse">
                <a:avLst/>
              </a:prstGeom>
              <a:solidFill>
                <a:srgbClr val="23447E"/>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20" name="Google Shape;220;p4"/>
              <p:cNvSpPr/>
              <p:nvPr/>
            </p:nvSpPr>
            <p:spPr>
              <a:xfrm rot="5400000">
                <a:off x="3732249" y="799524"/>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21" name="Google Shape;221;p4"/>
              <p:cNvSpPr txBox="1"/>
              <p:nvPr/>
            </p:nvSpPr>
            <p:spPr>
              <a:xfrm>
                <a:off x="3662868" y="734188"/>
                <a:ext cx="382647" cy="3449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T</a:t>
                </a:r>
                <a:endParaRPr b="0" i="0" sz="800" u="none" cap="none" strike="noStrike">
                  <a:solidFill>
                    <a:srgbClr val="FFFFFF"/>
                  </a:solidFill>
                  <a:latin typeface="Arial"/>
                  <a:ea typeface="Arial"/>
                  <a:cs typeface="Arial"/>
                  <a:sym typeface="Arial"/>
                </a:endParaRPr>
              </a:p>
            </p:txBody>
          </p:sp>
        </p:grpSp>
        <p:grpSp>
          <p:nvGrpSpPr>
            <p:cNvPr id="222" name="Google Shape;222;p4"/>
            <p:cNvGrpSpPr/>
            <p:nvPr/>
          </p:nvGrpSpPr>
          <p:grpSpPr>
            <a:xfrm>
              <a:off x="10995969" y="1024323"/>
              <a:ext cx="382929" cy="325851"/>
              <a:chOff x="4615274" y="681724"/>
              <a:chExt cx="383079" cy="325979"/>
            </a:xfrm>
          </p:grpSpPr>
          <p:sp>
            <p:nvSpPr>
              <p:cNvPr id="223" name="Google Shape;223;p4"/>
              <p:cNvSpPr/>
              <p:nvPr/>
            </p:nvSpPr>
            <p:spPr>
              <a:xfrm>
                <a:off x="4615274" y="683703"/>
                <a:ext cx="324000" cy="324000"/>
              </a:xfrm>
              <a:prstGeom prst="ellipse">
                <a:avLst/>
              </a:prstGeom>
              <a:solidFill>
                <a:srgbClr val="7030A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24" name="Google Shape;224;p4"/>
              <p:cNvSpPr/>
              <p:nvPr/>
            </p:nvSpPr>
            <p:spPr>
              <a:xfrm rot="5400000">
                <a:off x="4688324" y="750379"/>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25" name="Google Shape;225;p4"/>
              <p:cNvSpPr txBox="1"/>
              <p:nvPr/>
            </p:nvSpPr>
            <p:spPr>
              <a:xfrm>
                <a:off x="4616078" y="681724"/>
                <a:ext cx="382275" cy="324449"/>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M</a:t>
                </a:r>
                <a:endParaRPr b="0" i="0" sz="800" u="none" cap="none" strike="noStrike">
                  <a:solidFill>
                    <a:srgbClr val="FFFFFF"/>
                  </a:solidFill>
                  <a:latin typeface="Arial"/>
                  <a:ea typeface="Arial"/>
                  <a:cs typeface="Arial"/>
                  <a:sym typeface="Arial"/>
                </a:endParaRPr>
              </a:p>
            </p:txBody>
          </p:sp>
        </p:grpSp>
        <p:grpSp>
          <p:nvGrpSpPr>
            <p:cNvPr id="226" name="Google Shape;226;p4"/>
            <p:cNvGrpSpPr/>
            <p:nvPr/>
          </p:nvGrpSpPr>
          <p:grpSpPr>
            <a:xfrm>
              <a:off x="11348287" y="1016957"/>
              <a:ext cx="382929" cy="325851"/>
              <a:chOff x="4615274" y="681724"/>
              <a:chExt cx="383079" cy="325979"/>
            </a:xfrm>
          </p:grpSpPr>
          <p:sp>
            <p:nvSpPr>
              <p:cNvPr id="227" name="Google Shape;227;p4"/>
              <p:cNvSpPr/>
              <p:nvPr/>
            </p:nvSpPr>
            <p:spPr>
              <a:xfrm>
                <a:off x="4615274" y="683703"/>
                <a:ext cx="324000" cy="324000"/>
              </a:xfrm>
              <a:prstGeom prst="ellipse">
                <a:avLst/>
              </a:prstGeom>
              <a:solidFill>
                <a:srgbClr val="7030A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28" name="Google Shape;228;p4"/>
              <p:cNvSpPr/>
              <p:nvPr/>
            </p:nvSpPr>
            <p:spPr>
              <a:xfrm rot="5400000">
                <a:off x="4688324" y="750379"/>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29" name="Google Shape;229;p4"/>
              <p:cNvSpPr txBox="1"/>
              <p:nvPr/>
            </p:nvSpPr>
            <p:spPr>
              <a:xfrm>
                <a:off x="4616078" y="681724"/>
                <a:ext cx="382275" cy="324449"/>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M</a:t>
                </a:r>
                <a:endParaRPr b="0" i="0" sz="800" u="none" cap="none" strike="noStrike">
                  <a:solidFill>
                    <a:srgbClr val="FFFFFF"/>
                  </a:solidFill>
                  <a:latin typeface="Arial"/>
                  <a:ea typeface="Arial"/>
                  <a:cs typeface="Arial"/>
                  <a:sym typeface="Arial"/>
                </a:endParaRPr>
              </a:p>
            </p:txBody>
          </p:sp>
        </p:grpSp>
        <p:sp>
          <p:nvSpPr>
            <p:cNvPr id="230" name="Google Shape;230;p4"/>
            <p:cNvSpPr/>
            <p:nvPr/>
          </p:nvSpPr>
          <p:spPr>
            <a:xfrm>
              <a:off x="5299588" y="967988"/>
              <a:ext cx="1142622" cy="438267"/>
            </a:xfrm>
            <a:prstGeom prst="rect">
              <a:avLst/>
            </a:prstGeom>
            <a:noFill/>
            <a:ln cap="flat" cmpd="sng" w="12700">
              <a:solidFill>
                <a:srgbClr val="595959"/>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31" name="Google Shape;231;p4"/>
            <p:cNvSpPr txBox="1"/>
            <p:nvPr/>
          </p:nvSpPr>
          <p:spPr>
            <a:xfrm>
              <a:off x="5466388" y="678293"/>
              <a:ext cx="859806" cy="34482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GB" sz="800" u="none" cap="none" strike="noStrike">
                  <a:solidFill>
                    <a:srgbClr val="000000"/>
                  </a:solidFill>
                  <a:latin typeface="Arial"/>
                  <a:ea typeface="Arial"/>
                  <a:cs typeface="Arial"/>
                  <a:sym typeface="Arial"/>
                </a:rPr>
                <a:t>AI</a:t>
              </a:r>
              <a:endParaRPr b="0" i="0" sz="800" u="none" cap="none" strike="noStrike">
                <a:solidFill>
                  <a:srgbClr val="000000"/>
                </a:solidFill>
                <a:latin typeface="Arial"/>
                <a:ea typeface="Arial"/>
                <a:cs typeface="Arial"/>
                <a:sym typeface="Arial"/>
              </a:endParaRPr>
            </a:p>
          </p:txBody>
        </p:sp>
        <p:sp>
          <p:nvSpPr>
            <p:cNvPr id="232" name="Google Shape;232;p4"/>
            <p:cNvSpPr txBox="1"/>
            <p:nvPr/>
          </p:nvSpPr>
          <p:spPr>
            <a:xfrm>
              <a:off x="6532921" y="686564"/>
              <a:ext cx="1167400" cy="34482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GB" sz="800" u="none" cap="none" strike="noStrike">
                  <a:solidFill>
                    <a:srgbClr val="000000"/>
                  </a:solidFill>
                  <a:latin typeface="Arial"/>
                  <a:ea typeface="Arial"/>
                  <a:cs typeface="Arial"/>
                  <a:sym typeface="Arial"/>
                </a:rPr>
                <a:t>Big Data</a:t>
              </a:r>
              <a:endParaRPr b="0" i="0" sz="800" u="none" cap="none" strike="noStrike">
                <a:solidFill>
                  <a:srgbClr val="000000"/>
                </a:solidFill>
                <a:latin typeface="Arial"/>
                <a:ea typeface="Arial"/>
                <a:cs typeface="Arial"/>
                <a:sym typeface="Arial"/>
              </a:endParaRPr>
            </a:p>
          </p:txBody>
        </p:sp>
        <p:sp>
          <p:nvSpPr>
            <p:cNvPr id="233" name="Google Shape;233;p4"/>
            <p:cNvSpPr txBox="1"/>
            <p:nvPr/>
          </p:nvSpPr>
          <p:spPr>
            <a:xfrm>
              <a:off x="8809209" y="686358"/>
              <a:ext cx="1284324" cy="34482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GB" sz="800" u="none" cap="none" strike="noStrike">
                  <a:solidFill>
                    <a:srgbClr val="000000"/>
                  </a:solidFill>
                  <a:latin typeface="Arial"/>
                  <a:ea typeface="Arial"/>
                  <a:cs typeface="Arial"/>
                  <a:sym typeface="Arial"/>
                </a:rPr>
                <a:t>Transcoding</a:t>
              </a:r>
              <a:endParaRPr b="0" i="0" sz="800" u="none" cap="none" strike="noStrike">
                <a:solidFill>
                  <a:srgbClr val="000000"/>
                </a:solidFill>
                <a:latin typeface="Arial"/>
                <a:ea typeface="Arial"/>
                <a:cs typeface="Arial"/>
                <a:sym typeface="Arial"/>
              </a:endParaRPr>
            </a:p>
          </p:txBody>
        </p:sp>
        <p:sp>
          <p:nvSpPr>
            <p:cNvPr id="234" name="Google Shape;234;p4"/>
            <p:cNvSpPr txBox="1"/>
            <p:nvPr/>
          </p:nvSpPr>
          <p:spPr>
            <a:xfrm>
              <a:off x="10535529" y="658144"/>
              <a:ext cx="1191592" cy="34482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GB" sz="800" u="none" cap="none" strike="noStrike">
                  <a:solidFill>
                    <a:srgbClr val="000000"/>
                  </a:solidFill>
                  <a:latin typeface="Arial"/>
                  <a:ea typeface="Arial"/>
                  <a:cs typeface="Arial"/>
                  <a:sym typeface="Arial"/>
                </a:rPr>
                <a:t>MicroService</a:t>
              </a:r>
              <a:endParaRPr b="0" i="0" sz="800" u="none" cap="none" strike="noStrike">
                <a:solidFill>
                  <a:srgbClr val="000000"/>
                </a:solidFill>
                <a:latin typeface="Arial"/>
                <a:ea typeface="Arial"/>
                <a:cs typeface="Arial"/>
                <a:sym typeface="Arial"/>
              </a:endParaRPr>
            </a:p>
          </p:txBody>
        </p:sp>
        <p:sp>
          <p:nvSpPr>
            <p:cNvPr id="235" name="Google Shape;235;p4"/>
            <p:cNvSpPr txBox="1"/>
            <p:nvPr/>
          </p:nvSpPr>
          <p:spPr>
            <a:xfrm>
              <a:off x="6540687" y="4464311"/>
              <a:ext cx="869714" cy="34482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GB" sz="800" u="none" cap="none" strike="noStrike">
                  <a:solidFill>
                    <a:srgbClr val="595959"/>
                  </a:solidFill>
                  <a:latin typeface="Arial"/>
                  <a:ea typeface="Arial"/>
                  <a:cs typeface="Arial"/>
                  <a:sym typeface="Arial"/>
                </a:rPr>
                <a:t>Cluster A</a:t>
              </a:r>
              <a:endParaRPr b="1" i="0" sz="800" u="none" cap="none" strike="noStrike">
                <a:solidFill>
                  <a:srgbClr val="595959"/>
                </a:solidFill>
                <a:latin typeface="Arial"/>
                <a:ea typeface="Arial"/>
                <a:cs typeface="Arial"/>
                <a:sym typeface="Arial"/>
              </a:endParaRPr>
            </a:p>
          </p:txBody>
        </p:sp>
        <p:grpSp>
          <p:nvGrpSpPr>
            <p:cNvPr id="236" name="Google Shape;236;p4"/>
            <p:cNvGrpSpPr/>
            <p:nvPr/>
          </p:nvGrpSpPr>
          <p:grpSpPr>
            <a:xfrm>
              <a:off x="7749068" y="1028763"/>
              <a:ext cx="394192" cy="333220"/>
              <a:chOff x="6616904" y="300473"/>
              <a:chExt cx="394346" cy="333351"/>
            </a:xfrm>
          </p:grpSpPr>
          <p:sp>
            <p:nvSpPr>
              <p:cNvPr id="237" name="Google Shape;237;p4"/>
              <p:cNvSpPr/>
              <p:nvPr/>
            </p:nvSpPr>
            <p:spPr>
              <a:xfrm>
                <a:off x="6616904" y="304430"/>
                <a:ext cx="324000" cy="3240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38" name="Google Shape;238;p4"/>
              <p:cNvSpPr/>
              <p:nvPr/>
            </p:nvSpPr>
            <p:spPr>
              <a:xfrm rot="5400000">
                <a:off x="6689954" y="371106"/>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39" name="Google Shape;239;p4"/>
              <p:cNvSpPr txBox="1"/>
              <p:nvPr/>
            </p:nvSpPr>
            <p:spPr>
              <a:xfrm>
                <a:off x="6628976" y="300473"/>
                <a:ext cx="382274" cy="333351"/>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H</a:t>
                </a:r>
                <a:endParaRPr b="0" i="0" sz="800" u="none" cap="none" strike="noStrike">
                  <a:solidFill>
                    <a:srgbClr val="FFFFFF"/>
                  </a:solidFill>
                  <a:latin typeface="Arial"/>
                  <a:ea typeface="Arial"/>
                  <a:cs typeface="Arial"/>
                  <a:sym typeface="Arial"/>
                </a:endParaRPr>
              </a:p>
            </p:txBody>
          </p:sp>
        </p:grpSp>
        <p:grpSp>
          <p:nvGrpSpPr>
            <p:cNvPr id="240" name="Google Shape;240;p4"/>
            <p:cNvGrpSpPr/>
            <p:nvPr/>
          </p:nvGrpSpPr>
          <p:grpSpPr>
            <a:xfrm>
              <a:off x="8100856" y="1028763"/>
              <a:ext cx="394192" cy="333220"/>
              <a:chOff x="6616904" y="300473"/>
              <a:chExt cx="394346" cy="333351"/>
            </a:xfrm>
          </p:grpSpPr>
          <p:sp>
            <p:nvSpPr>
              <p:cNvPr id="241" name="Google Shape;241;p4"/>
              <p:cNvSpPr/>
              <p:nvPr/>
            </p:nvSpPr>
            <p:spPr>
              <a:xfrm>
                <a:off x="6616904" y="304430"/>
                <a:ext cx="324000" cy="3240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42" name="Google Shape;242;p4"/>
              <p:cNvSpPr/>
              <p:nvPr/>
            </p:nvSpPr>
            <p:spPr>
              <a:xfrm rot="5400000">
                <a:off x="6689954" y="371106"/>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43" name="Google Shape;243;p4"/>
              <p:cNvSpPr txBox="1"/>
              <p:nvPr/>
            </p:nvSpPr>
            <p:spPr>
              <a:xfrm>
                <a:off x="6628976" y="300473"/>
                <a:ext cx="382274" cy="333351"/>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H</a:t>
                </a:r>
                <a:endParaRPr b="0" i="0" sz="800" u="none" cap="none" strike="noStrike">
                  <a:solidFill>
                    <a:srgbClr val="FFFFFF"/>
                  </a:solidFill>
                  <a:latin typeface="Arial"/>
                  <a:ea typeface="Arial"/>
                  <a:cs typeface="Arial"/>
                  <a:sym typeface="Arial"/>
                </a:endParaRPr>
              </a:p>
            </p:txBody>
          </p:sp>
        </p:grpSp>
        <p:grpSp>
          <p:nvGrpSpPr>
            <p:cNvPr id="244" name="Google Shape;244;p4"/>
            <p:cNvGrpSpPr/>
            <p:nvPr/>
          </p:nvGrpSpPr>
          <p:grpSpPr>
            <a:xfrm>
              <a:off x="8467012" y="1034658"/>
              <a:ext cx="394192" cy="333220"/>
              <a:chOff x="6616904" y="300473"/>
              <a:chExt cx="394346" cy="333351"/>
            </a:xfrm>
          </p:grpSpPr>
          <p:sp>
            <p:nvSpPr>
              <p:cNvPr id="245" name="Google Shape;245;p4"/>
              <p:cNvSpPr/>
              <p:nvPr/>
            </p:nvSpPr>
            <p:spPr>
              <a:xfrm>
                <a:off x="6616904" y="304430"/>
                <a:ext cx="324000" cy="3240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46" name="Google Shape;246;p4"/>
              <p:cNvSpPr/>
              <p:nvPr/>
            </p:nvSpPr>
            <p:spPr>
              <a:xfrm rot="5400000">
                <a:off x="6689954" y="371106"/>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47" name="Google Shape;247;p4"/>
              <p:cNvSpPr txBox="1"/>
              <p:nvPr/>
            </p:nvSpPr>
            <p:spPr>
              <a:xfrm>
                <a:off x="6628976" y="300473"/>
                <a:ext cx="382274" cy="333351"/>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H</a:t>
                </a:r>
                <a:endParaRPr b="0" i="0" sz="800" u="none" cap="none" strike="noStrike">
                  <a:solidFill>
                    <a:srgbClr val="FFFFFF"/>
                  </a:solidFill>
                  <a:latin typeface="Arial"/>
                  <a:ea typeface="Arial"/>
                  <a:cs typeface="Arial"/>
                  <a:sym typeface="Arial"/>
                </a:endParaRPr>
              </a:p>
            </p:txBody>
          </p:sp>
        </p:grpSp>
        <p:sp>
          <p:nvSpPr>
            <p:cNvPr id="248" name="Google Shape;248;p4"/>
            <p:cNvSpPr/>
            <p:nvPr/>
          </p:nvSpPr>
          <p:spPr>
            <a:xfrm>
              <a:off x="6502814" y="970231"/>
              <a:ext cx="1142622" cy="438267"/>
            </a:xfrm>
            <a:prstGeom prst="rect">
              <a:avLst/>
            </a:prstGeom>
            <a:noFill/>
            <a:ln cap="flat" cmpd="sng" w="12700">
              <a:solidFill>
                <a:srgbClr val="595959"/>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49" name="Google Shape;249;p4"/>
            <p:cNvSpPr/>
            <p:nvPr/>
          </p:nvSpPr>
          <p:spPr>
            <a:xfrm>
              <a:off x="8891568" y="969104"/>
              <a:ext cx="1142622" cy="438267"/>
            </a:xfrm>
            <a:prstGeom prst="rect">
              <a:avLst/>
            </a:prstGeom>
            <a:noFill/>
            <a:ln cap="flat" cmpd="sng" w="12700">
              <a:solidFill>
                <a:srgbClr val="595959"/>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50" name="Google Shape;250;p4"/>
            <p:cNvSpPr/>
            <p:nvPr/>
          </p:nvSpPr>
          <p:spPr>
            <a:xfrm>
              <a:off x="10584478" y="969175"/>
              <a:ext cx="1142622" cy="438267"/>
            </a:xfrm>
            <a:prstGeom prst="rect">
              <a:avLst/>
            </a:prstGeom>
            <a:noFill/>
            <a:ln cap="flat" cmpd="sng" w="12700">
              <a:solidFill>
                <a:srgbClr val="595959"/>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51" name="Google Shape;251;p4"/>
            <p:cNvSpPr/>
            <p:nvPr/>
          </p:nvSpPr>
          <p:spPr>
            <a:xfrm>
              <a:off x="7691290" y="970277"/>
              <a:ext cx="1142622" cy="438267"/>
            </a:xfrm>
            <a:prstGeom prst="rect">
              <a:avLst/>
            </a:prstGeom>
            <a:noFill/>
            <a:ln cap="flat" cmpd="sng" w="12700">
              <a:solidFill>
                <a:srgbClr val="595959"/>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52" name="Google Shape;252;p4"/>
            <p:cNvSpPr txBox="1"/>
            <p:nvPr/>
          </p:nvSpPr>
          <p:spPr>
            <a:xfrm>
              <a:off x="7832698" y="687929"/>
              <a:ext cx="976326" cy="34482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GB" sz="800" u="none" cap="none" strike="noStrike">
                  <a:solidFill>
                    <a:srgbClr val="000000"/>
                  </a:solidFill>
                  <a:latin typeface="Arial"/>
                  <a:ea typeface="Arial"/>
                  <a:cs typeface="Arial"/>
                  <a:sym typeface="Arial"/>
                </a:rPr>
                <a:t>HPC</a:t>
              </a:r>
              <a:endParaRPr b="0" i="0" sz="800" u="none" cap="none" strike="noStrike">
                <a:solidFill>
                  <a:srgbClr val="000000"/>
                </a:solidFill>
                <a:latin typeface="Arial"/>
                <a:ea typeface="Arial"/>
                <a:cs typeface="Arial"/>
                <a:sym typeface="Arial"/>
              </a:endParaRPr>
            </a:p>
          </p:txBody>
        </p:sp>
        <p:sp>
          <p:nvSpPr>
            <p:cNvPr id="253" name="Google Shape;253;p4"/>
            <p:cNvSpPr txBox="1"/>
            <p:nvPr/>
          </p:nvSpPr>
          <p:spPr>
            <a:xfrm>
              <a:off x="5326781" y="4878151"/>
              <a:ext cx="859806" cy="34482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GB" sz="800" u="none" cap="none" strike="noStrike">
                  <a:solidFill>
                    <a:srgbClr val="262626"/>
                  </a:solidFill>
                  <a:latin typeface="Arial"/>
                  <a:ea typeface="Arial"/>
                  <a:cs typeface="Arial"/>
                  <a:sym typeface="Arial"/>
                </a:rPr>
                <a:t>Node</a:t>
              </a:r>
              <a:endParaRPr b="1" i="0" sz="800" u="none" cap="none" strike="noStrike">
                <a:solidFill>
                  <a:srgbClr val="262626"/>
                </a:solidFill>
                <a:latin typeface="Arial"/>
                <a:ea typeface="Arial"/>
                <a:cs typeface="Arial"/>
                <a:sym typeface="Arial"/>
              </a:endParaRPr>
            </a:p>
          </p:txBody>
        </p:sp>
        <p:sp>
          <p:nvSpPr>
            <p:cNvPr id="254" name="Google Shape;254;p4"/>
            <p:cNvSpPr/>
            <p:nvPr/>
          </p:nvSpPr>
          <p:spPr>
            <a:xfrm>
              <a:off x="5573446" y="5876999"/>
              <a:ext cx="1278813" cy="242119"/>
            </a:xfrm>
            <a:prstGeom prst="rect">
              <a:avLst/>
            </a:prstGeom>
            <a:solidFill>
              <a:srgbClr val="ACCBE9"/>
            </a:solidFill>
            <a:ln>
              <a:noFill/>
            </a:ln>
            <a:effectLst>
              <a:outerShdw blurRad="44450" algn="ctr" dir="5400000" dist="27940">
                <a:srgbClr val="000000">
                  <a:alpha val="32156"/>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rPr b="0" i="0" lang="en-GB" sz="800" u="none" cap="none" strike="noStrike">
                  <a:solidFill>
                    <a:srgbClr val="262626"/>
                  </a:solidFill>
                  <a:latin typeface="Arial"/>
                  <a:ea typeface="Arial"/>
                  <a:cs typeface="Arial"/>
                  <a:sym typeface="Arial"/>
                </a:rPr>
                <a:t>kubelet</a:t>
              </a:r>
              <a:endParaRPr b="0" i="0" sz="800" u="none" cap="none" strike="noStrike">
                <a:solidFill>
                  <a:srgbClr val="262626"/>
                </a:solidFill>
                <a:latin typeface="Arial"/>
                <a:ea typeface="Arial"/>
                <a:cs typeface="Arial"/>
                <a:sym typeface="Arial"/>
              </a:endParaRPr>
            </a:p>
          </p:txBody>
        </p:sp>
        <p:sp>
          <p:nvSpPr>
            <p:cNvPr id="255" name="Google Shape;255;p4"/>
            <p:cNvSpPr/>
            <p:nvPr/>
          </p:nvSpPr>
          <p:spPr>
            <a:xfrm>
              <a:off x="8756201" y="4676725"/>
              <a:ext cx="3413379" cy="1648640"/>
            </a:xfrm>
            <a:prstGeom prst="rect">
              <a:avLst/>
            </a:prstGeom>
            <a:solidFill>
              <a:srgbClr val="D9D9D9"/>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56" name="Google Shape;256;p4"/>
            <p:cNvSpPr/>
            <p:nvPr/>
          </p:nvSpPr>
          <p:spPr>
            <a:xfrm>
              <a:off x="8861900" y="4735089"/>
              <a:ext cx="2978353" cy="1236066"/>
            </a:xfrm>
            <a:prstGeom prst="rect">
              <a:avLst/>
            </a:prstGeom>
            <a:solidFill>
              <a:srgbClr val="DEEBF7"/>
            </a:solidFill>
            <a:ln cap="flat" cmpd="sng" w="9525">
              <a:solidFill>
                <a:srgbClr val="ACCB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57" name="Google Shape;257;p4"/>
            <p:cNvSpPr/>
            <p:nvPr/>
          </p:nvSpPr>
          <p:spPr>
            <a:xfrm>
              <a:off x="8932846" y="4797434"/>
              <a:ext cx="2975737" cy="1234278"/>
            </a:xfrm>
            <a:prstGeom prst="rect">
              <a:avLst/>
            </a:prstGeom>
            <a:solidFill>
              <a:srgbClr val="DEEBF7"/>
            </a:solidFill>
            <a:ln cap="flat" cmpd="sng" w="9525">
              <a:solidFill>
                <a:srgbClr val="ACCB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58" name="Google Shape;258;p4"/>
            <p:cNvSpPr/>
            <p:nvPr/>
          </p:nvSpPr>
          <p:spPr>
            <a:xfrm>
              <a:off x="9019880" y="4872503"/>
              <a:ext cx="2981343" cy="1335220"/>
            </a:xfrm>
            <a:prstGeom prst="rect">
              <a:avLst/>
            </a:prstGeom>
            <a:solidFill>
              <a:srgbClr val="DEEBF7"/>
            </a:solidFill>
            <a:ln cap="flat" cmpd="sng" w="9525">
              <a:solidFill>
                <a:srgbClr val="ACCB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59" name="Google Shape;259;p4"/>
            <p:cNvSpPr txBox="1"/>
            <p:nvPr/>
          </p:nvSpPr>
          <p:spPr>
            <a:xfrm>
              <a:off x="8851329" y="4872714"/>
              <a:ext cx="859806" cy="34482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GB" sz="800" u="none" cap="none" strike="noStrike">
                  <a:solidFill>
                    <a:srgbClr val="262626"/>
                  </a:solidFill>
                  <a:latin typeface="Arial"/>
                  <a:ea typeface="Arial"/>
                  <a:cs typeface="Arial"/>
                  <a:sym typeface="Arial"/>
                </a:rPr>
                <a:t>Node</a:t>
              </a:r>
              <a:endParaRPr b="1" i="0" sz="800" u="none" cap="none" strike="noStrike">
                <a:solidFill>
                  <a:srgbClr val="262626"/>
                </a:solidFill>
                <a:latin typeface="Arial"/>
                <a:ea typeface="Arial"/>
                <a:cs typeface="Arial"/>
                <a:sym typeface="Arial"/>
              </a:endParaRPr>
            </a:p>
          </p:txBody>
        </p:sp>
        <p:sp>
          <p:nvSpPr>
            <p:cNvPr id="260" name="Google Shape;260;p4"/>
            <p:cNvSpPr/>
            <p:nvPr/>
          </p:nvSpPr>
          <p:spPr>
            <a:xfrm>
              <a:off x="9119358" y="5876999"/>
              <a:ext cx="1274633" cy="242119"/>
            </a:xfrm>
            <a:prstGeom prst="rect">
              <a:avLst/>
            </a:prstGeom>
            <a:solidFill>
              <a:srgbClr val="ACCBE9"/>
            </a:solidFill>
            <a:ln>
              <a:noFill/>
            </a:ln>
            <a:effectLst>
              <a:outerShdw blurRad="44450" algn="ctr" dir="5400000" dist="27940">
                <a:srgbClr val="000000">
                  <a:alpha val="32156"/>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rPr b="0" i="0" lang="en-GB" sz="800" u="none" cap="none" strike="noStrike">
                  <a:solidFill>
                    <a:srgbClr val="262626"/>
                  </a:solidFill>
                  <a:latin typeface="Arial"/>
                  <a:ea typeface="Arial"/>
                  <a:cs typeface="Arial"/>
                  <a:sym typeface="Arial"/>
                </a:rPr>
                <a:t>Kubelet</a:t>
              </a:r>
              <a:endParaRPr b="0" i="0" sz="800" u="none" cap="none" strike="noStrike">
                <a:solidFill>
                  <a:srgbClr val="262626"/>
                </a:solidFill>
                <a:latin typeface="Arial"/>
                <a:ea typeface="Arial"/>
                <a:cs typeface="Arial"/>
                <a:sym typeface="Arial"/>
              </a:endParaRPr>
            </a:p>
          </p:txBody>
        </p:sp>
        <p:sp>
          <p:nvSpPr>
            <p:cNvPr id="261" name="Google Shape;261;p4"/>
            <p:cNvSpPr/>
            <p:nvPr/>
          </p:nvSpPr>
          <p:spPr>
            <a:xfrm>
              <a:off x="9665427" y="4902178"/>
              <a:ext cx="1727800" cy="866661"/>
            </a:xfrm>
            <a:prstGeom prst="ellipse">
              <a:avLst/>
            </a:prstGeom>
            <a:solidFill>
              <a:srgbClr val="D8D8D8"/>
            </a:solidFill>
            <a:ln cap="flat" cmpd="sng" w="34925">
              <a:solidFill>
                <a:srgbClr val="FFFFFF"/>
              </a:solidFill>
              <a:prstDash val="solid"/>
              <a:round/>
              <a:headEnd len="sm" w="sm" type="none"/>
              <a:tailEnd len="sm" w="sm" type="none"/>
            </a:ln>
            <a:effectLst>
              <a:outerShdw blurRad="317500" algn="ctr">
                <a:srgbClr val="000000">
                  <a:alpha val="43137"/>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grpSp>
          <p:nvGrpSpPr>
            <p:cNvPr id="262" name="Google Shape;262;p4"/>
            <p:cNvGrpSpPr/>
            <p:nvPr/>
          </p:nvGrpSpPr>
          <p:grpSpPr>
            <a:xfrm>
              <a:off x="9942339" y="4975751"/>
              <a:ext cx="382498" cy="359328"/>
              <a:chOff x="1470551" y="1375163"/>
              <a:chExt cx="382647" cy="359469"/>
            </a:xfrm>
          </p:grpSpPr>
          <p:sp>
            <p:nvSpPr>
              <p:cNvPr id="263" name="Google Shape;263;p4"/>
              <p:cNvSpPr/>
              <p:nvPr/>
            </p:nvSpPr>
            <p:spPr>
              <a:xfrm>
                <a:off x="1477011" y="1410632"/>
                <a:ext cx="324000" cy="324000"/>
              </a:xfrm>
              <a:prstGeom prst="ellipse">
                <a:avLst/>
              </a:prstGeom>
              <a:solidFill>
                <a:srgbClr val="CF5D0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64" name="Google Shape;264;p4"/>
              <p:cNvSpPr/>
              <p:nvPr/>
            </p:nvSpPr>
            <p:spPr>
              <a:xfrm rot="5400000">
                <a:off x="1550061" y="1477308"/>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65" name="Google Shape;265;p4"/>
              <p:cNvSpPr txBox="1"/>
              <p:nvPr/>
            </p:nvSpPr>
            <p:spPr>
              <a:xfrm>
                <a:off x="1470551" y="1375163"/>
                <a:ext cx="382647" cy="3449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AI</a:t>
                </a:r>
                <a:endParaRPr b="0" i="0" sz="800" u="none" cap="none" strike="noStrike">
                  <a:solidFill>
                    <a:srgbClr val="FFFFFF"/>
                  </a:solidFill>
                  <a:latin typeface="Arial"/>
                  <a:ea typeface="Arial"/>
                  <a:cs typeface="Arial"/>
                  <a:sym typeface="Arial"/>
                </a:endParaRPr>
              </a:p>
            </p:txBody>
          </p:sp>
        </p:grpSp>
        <p:grpSp>
          <p:nvGrpSpPr>
            <p:cNvPr id="266" name="Google Shape;266;p4"/>
            <p:cNvGrpSpPr/>
            <p:nvPr/>
          </p:nvGrpSpPr>
          <p:grpSpPr>
            <a:xfrm>
              <a:off x="10380243" y="4927139"/>
              <a:ext cx="382497" cy="345004"/>
              <a:chOff x="2586992" y="1063819"/>
              <a:chExt cx="382647" cy="345139"/>
            </a:xfrm>
          </p:grpSpPr>
          <p:sp>
            <p:nvSpPr>
              <p:cNvPr id="267" name="Google Shape;267;p4"/>
              <p:cNvSpPr/>
              <p:nvPr/>
            </p:nvSpPr>
            <p:spPr>
              <a:xfrm>
                <a:off x="2587157" y="1084958"/>
                <a:ext cx="324000" cy="324000"/>
              </a:xfrm>
              <a:prstGeom prst="ellipse">
                <a:avLst/>
              </a:prstGeom>
              <a:solidFill>
                <a:srgbClr val="FF7007"/>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68" name="Google Shape;268;p4"/>
              <p:cNvSpPr/>
              <p:nvPr/>
            </p:nvSpPr>
            <p:spPr>
              <a:xfrm rot="5400000">
                <a:off x="2660207" y="1151634"/>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69" name="Google Shape;269;p4"/>
              <p:cNvSpPr txBox="1"/>
              <p:nvPr/>
            </p:nvSpPr>
            <p:spPr>
              <a:xfrm>
                <a:off x="2586992" y="1063819"/>
                <a:ext cx="382647" cy="3449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B</a:t>
                </a:r>
                <a:endParaRPr b="0" i="0" sz="800" u="none" cap="none" strike="noStrike">
                  <a:solidFill>
                    <a:srgbClr val="FFFFFF"/>
                  </a:solidFill>
                  <a:latin typeface="Arial"/>
                  <a:ea typeface="Arial"/>
                  <a:cs typeface="Arial"/>
                  <a:sym typeface="Arial"/>
                </a:endParaRPr>
              </a:p>
            </p:txBody>
          </p:sp>
        </p:grpSp>
        <p:grpSp>
          <p:nvGrpSpPr>
            <p:cNvPr id="270" name="Google Shape;270;p4"/>
            <p:cNvGrpSpPr/>
            <p:nvPr/>
          </p:nvGrpSpPr>
          <p:grpSpPr>
            <a:xfrm>
              <a:off x="10789875" y="4970620"/>
              <a:ext cx="382719" cy="358650"/>
              <a:chOff x="4615274" y="648912"/>
              <a:chExt cx="382869" cy="358791"/>
            </a:xfrm>
          </p:grpSpPr>
          <p:sp>
            <p:nvSpPr>
              <p:cNvPr id="271" name="Google Shape;271;p4"/>
              <p:cNvSpPr/>
              <p:nvPr/>
            </p:nvSpPr>
            <p:spPr>
              <a:xfrm>
                <a:off x="4615274" y="683703"/>
                <a:ext cx="324000" cy="324000"/>
              </a:xfrm>
              <a:prstGeom prst="ellipse">
                <a:avLst/>
              </a:prstGeom>
              <a:solidFill>
                <a:srgbClr val="7030A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72" name="Google Shape;272;p4"/>
              <p:cNvSpPr/>
              <p:nvPr/>
            </p:nvSpPr>
            <p:spPr>
              <a:xfrm rot="5400000">
                <a:off x="4688324" y="750379"/>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73" name="Google Shape;273;p4"/>
              <p:cNvSpPr txBox="1"/>
              <p:nvPr/>
            </p:nvSpPr>
            <p:spPr>
              <a:xfrm>
                <a:off x="4615496" y="648912"/>
                <a:ext cx="382647" cy="3449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M</a:t>
                </a:r>
                <a:endParaRPr b="0" i="0" sz="800" u="none" cap="none" strike="noStrike">
                  <a:solidFill>
                    <a:srgbClr val="FFFFFF"/>
                  </a:solidFill>
                  <a:latin typeface="Arial"/>
                  <a:ea typeface="Arial"/>
                  <a:cs typeface="Arial"/>
                  <a:sym typeface="Arial"/>
                </a:endParaRPr>
              </a:p>
            </p:txBody>
          </p:sp>
        </p:grpSp>
        <p:grpSp>
          <p:nvGrpSpPr>
            <p:cNvPr id="274" name="Google Shape;274;p4"/>
            <p:cNvGrpSpPr/>
            <p:nvPr/>
          </p:nvGrpSpPr>
          <p:grpSpPr>
            <a:xfrm>
              <a:off x="10154747" y="5341108"/>
              <a:ext cx="388127" cy="355020"/>
              <a:chOff x="6616904" y="273271"/>
              <a:chExt cx="388279" cy="355159"/>
            </a:xfrm>
          </p:grpSpPr>
          <p:sp>
            <p:nvSpPr>
              <p:cNvPr id="275" name="Google Shape;275;p4"/>
              <p:cNvSpPr/>
              <p:nvPr/>
            </p:nvSpPr>
            <p:spPr>
              <a:xfrm>
                <a:off x="6616904" y="304430"/>
                <a:ext cx="324000" cy="3240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76" name="Google Shape;276;p4"/>
              <p:cNvSpPr/>
              <p:nvPr/>
            </p:nvSpPr>
            <p:spPr>
              <a:xfrm rot="5400000">
                <a:off x="6689954" y="371106"/>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77" name="Google Shape;277;p4"/>
              <p:cNvSpPr txBox="1"/>
              <p:nvPr/>
            </p:nvSpPr>
            <p:spPr>
              <a:xfrm>
                <a:off x="6622536" y="273271"/>
                <a:ext cx="382647" cy="3449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H</a:t>
                </a:r>
                <a:endParaRPr b="0" i="0" sz="800" u="none" cap="none" strike="noStrike">
                  <a:solidFill>
                    <a:srgbClr val="FFFFFF"/>
                  </a:solidFill>
                  <a:latin typeface="Arial"/>
                  <a:ea typeface="Arial"/>
                  <a:cs typeface="Arial"/>
                  <a:sym typeface="Arial"/>
                </a:endParaRPr>
              </a:p>
            </p:txBody>
          </p:sp>
        </p:grpSp>
        <p:grpSp>
          <p:nvGrpSpPr>
            <p:cNvPr id="278" name="Google Shape;278;p4"/>
            <p:cNvGrpSpPr/>
            <p:nvPr/>
          </p:nvGrpSpPr>
          <p:grpSpPr>
            <a:xfrm>
              <a:off x="10601734" y="5335786"/>
              <a:ext cx="388127" cy="355020"/>
              <a:chOff x="6616904" y="273271"/>
              <a:chExt cx="388279" cy="355159"/>
            </a:xfrm>
          </p:grpSpPr>
          <p:sp>
            <p:nvSpPr>
              <p:cNvPr id="279" name="Google Shape;279;p4"/>
              <p:cNvSpPr/>
              <p:nvPr/>
            </p:nvSpPr>
            <p:spPr>
              <a:xfrm>
                <a:off x="6616904" y="304430"/>
                <a:ext cx="324000" cy="3240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80" name="Google Shape;280;p4"/>
              <p:cNvSpPr/>
              <p:nvPr/>
            </p:nvSpPr>
            <p:spPr>
              <a:xfrm rot="5400000">
                <a:off x="6689954" y="371106"/>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81" name="Google Shape;281;p4"/>
              <p:cNvSpPr txBox="1"/>
              <p:nvPr/>
            </p:nvSpPr>
            <p:spPr>
              <a:xfrm>
                <a:off x="6622536" y="273271"/>
                <a:ext cx="382647" cy="3449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H</a:t>
                </a:r>
                <a:endParaRPr b="0" i="0" sz="800" u="none" cap="none" strike="noStrike">
                  <a:solidFill>
                    <a:srgbClr val="FFFFFF"/>
                  </a:solidFill>
                  <a:latin typeface="Arial"/>
                  <a:ea typeface="Arial"/>
                  <a:cs typeface="Arial"/>
                  <a:sym typeface="Arial"/>
                </a:endParaRPr>
              </a:p>
            </p:txBody>
          </p:sp>
        </p:grpSp>
        <p:sp>
          <p:nvSpPr>
            <p:cNvPr id="282" name="Google Shape;282;p4"/>
            <p:cNvSpPr/>
            <p:nvPr/>
          </p:nvSpPr>
          <p:spPr>
            <a:xfrm rot="10800000">
              <a:off x="5169823" y="2168932"/>
              <a:ext cx="6979098" cy="168973"/>
            </a:xfrm>
            <a:custGeom>
              <a:rect b="b" l="l" r="r" t="t"/>
              <a:pathLst>
                <a:path extrusionOk="0" h="417617" w="1931995">
                  <a:moveTo>
                    <a:pt x="0" y="0"/>
                  </a:moveTo>
                  <a:lnTo>
                    <a:pt x="1931995" y="0"/>
                  </a:lnTo>
                  <a:lnTo>
                    <a:pt x="1492645" y="404918"/>
                  </a:lnTo>
                  <a:lnTo>
                    <a:pt x="424022" y="417617"/>
                  </a:lnTo>
                  <a:lnTo>
                    <a:pt x="0" y="0"/>
                  </a:lnTo>
                  <a:close/>
                </a:path>
              </a:pathLst>
            </a:custGeom>
            <a:gradFill>
              <a:gsLst>
                <a:gs pos="0">
                  <a:srgbClr val="E0E0E0">
                    <a:alpha val="60000"/>
                  </a:srgbClr>
                </a:gs>
                <a:gs pos="95000">
                  <a:srgbClr val="E0E0E0">
                    <a:alpha val="0"/>
                  </a:srgbClr>
                </a:gs>
                <a:gs pos="100000">
                  <a:srgbClr val="E0E0E0">
                    <a:alpha val="0"/>
                  </a:srgbClr>
                </a:gs>
              </a:gsLst>
              <a:lin ang="5400000" scaled="0"/>
            </a:gradFill>
            <a:ln cap="flat" cmpd="sng" w="9525">
              <a:solidFill>
                <a:srgbClr val="C1C1C1"/>
              </a:solidFill>
              <a:prstDash val="solid"/>
              <a:round/>
              <a:headEnd len="sm" w="sm" type="none"/>
              <a:tailEnd len="sm" w="sm" type="none"/>
            </a:ln>
          </p:spPr>
          <p:txBody>
            <a:bodyPr anchorCtr="1" anchor="t" bIns="13475" lIns="13475" spcFirstLastPara="1" rIns="13475" wrap="square" tIns="71950">
              <a:noAutofit/>
            </a:bodyPr>
            <a:lstStyle/>
            <a:p>
              <a:pPr indent="0" lvl="0" marL="0" marR="0" rtl="0" algn="just">
                <a:lnSpc>
                  <a:spcPct val="90000"/>
                </a:lnSpc>
                <a:spcBef>
                  <a:spcPts val="0"/>
                </a:spcBef>
                <a:spcAft>
                  <a:spcPts val="0"/>
                </a:spcAft>
                <a:buClr>
                  <a:srgbClr val="CC9900"/>
                </a:buClr>
                <a:buSzPts val="800"/>
                <a:buFont typeface="Arial"/>
                <a:buNone/>
              </a:pPr>
              <a:r>
                <a:t/>
              </a:r>
              <a:endParaRPr b="0" i="0" sz="800" u="none" cap="none" strike="noStrike">
                <a:solidFill>
                  <a:srgbClr val="1D1D1A"/>
                </a:solidFill>
                <a:latin typeface="Arial"/>
                <a:ea typeface="Arial"/>
                <a:cs typeface="Arial"/>
                <a:sym typeface="Arial"/>
              </a:endParaRPr>
            </a:p>
          </p:txBody>
        </p:sp>
        <p:sp>
          <p:nvSpPr>
            <p:cNvPr id="283" name="Google Shape;283;p4"/>
            <p:cNvSpPr/>
            <p:nvPr/>
          </p:nvSpPr>
          <p:spPr>
            <a:xfrm rot="10800000">
              <a:off x="5195829" y="3654600"/>
              <a:ext cx="3420065" cy="168973"/>
            </a:xfrm>
            <a:custGeom>
              <a:rect b="b" l="l" r="r" t="t"/>
              <a:pathLst>
                <a:path extrusionOk="0" h="417617" w="1931995">
                  <a:moveTo>
                    <a:pt x="0" y="0"/>
                  </a:moveTo>
                  <a:lnTo>
                    <a:pt x="1931995" y="0"/>
                  </a:lnTo>
                  <a:lnTo>
                    <a:pt x="1492645" y="404918"/>
                  </a:lnTo>
                  <a:lnTo>
                    <a:pt x="424022" y="417617"/>
                  </a:lnTo>
                  <a:lnTo>
                    <a:pt x="0" y="0"/>
                  </a:lnTo>
                  <a:close/>
                </a:path>
              </a:pathLst>
            </a:custGeom>
            <a:gradFill>
              <a:gsLst>
                <a:gs pos="0">
                  <a:srgbClr val="E0E0E0">
                    <a:alpha val="60000"/>
                  </a:srgbClr>
                </a:gs>
                <a:gs pos="95000">
                  <a:srgbClr val="E0E0E0">
                    <a:alpha val="0"/>
                  </a:srgbClr>
                </a:gs>
                <a:gs pos="100000">
                  <a:srgbClr val="E0E0E0">
                    <a:alpha val="0"/>
                  </a:srgbClr>
                </a:gs>
              </a:gsLst>
              <a:lin ang="5400000" scaled="0"/>
            </a:gradFill>
            <a:ln cap="flat" cmpd="sng" w="9525">
              <a:solidFill>
                <a:srgbClr val="C1C1C1"/>
              </a:solidFill>
              <a:prstDash val="solid"/>
              <a:round/>
              <a:headEnd len="sm" w="sm" type="none"/>
              <a:tailEnd len="sm" w="sm" type="none"/>
            </a:ln>
          </p:spPr>
          <p:txBody>
            <a:bodyPr anchorCtr="1" anchor="t" bIns="13475" lIns="13475" spcFirstLastPara="1" rIns="13475" wrap="square" tIns="71950">
              <a:noAutofit/>
            </a:bodyPr>
            <a:lstStyle/>
            <a:p>
              <a:pPr indent="0" lvl="0" marL="0" marR="0" rtl="0" algn="just">
                <a:lnSpc>
                  <a:spcPct val="90000"/>
                </a:lnSpc>
                <a:spcBef>
                  <a:spcPts val="0"/>
                </a:spcBef>
                <a:spcAft>
                  <a:spcPts val="0"/>
                </a:spcAft>
                <a:buClr>
                  <a:srgbClr val="CC9900"/>
                </a:buClr>
                <a:buSzPts val="800"/>
                <a:buFont typeface="Arial"/>
                <a:buNone/>
              </a:pPr>
              <a:r>
                <a:t/>
              </a:r>
              <a:endParaRPr b="0" i="0" sz="800" u="none" cap="none" strike="noStrike">
                <a:solidFill>
                  <a:srgbClr val="1D1D1A"/>
                </a:solidFill>
                <a:latin typeface="Arial"/>
                <a:ea typeface="Arial"/>
                <a:cs typeface="Arial"/>
                <a:sym typeface="Arial"/>
              </a:endParaRPr>
            </a:p>
          </p:txBody>
        </p:sp>
        <p:sp>
          <p:nvSpPr>
            <p:cNvPr id="284" name="Google Shape;284;p4"/>
            <p:cNvSpPr/>
            <p:nvPr/>
          </p:nvSpPr>
          <p:spPr>
            <a:xfrm rot="10800000">
              <a:off x="8743395" y="3654602"/>
              <a:ext cx="3420065" cy="168973"/>
            </a:xfrm>
            <a:custGeom>
              <a:rect b="b" l="l" r="r" t="t"/>
              <a:pathLst>
                <a:path extrusionOk="0" h="417617" w="1931995">
                  <a:moveTo>
                    <a:pt x="0" y="0"/>
                  </a:moveTo>
                  <a:lnTo>
                    <a:pt x="1931995" y="0"/>
                  </a:lnTo>
                  <a:lnTo>
                    <a:pt x="1492645" y="404918"/>
                  </a:lnTo>
                  <a:lnTo>
                    <a:pt x="424022" y="417617"/>
                  </a:lnTo>
                  <a:lnTo>
                    <a:pt x="0" y="0"/>
                  </a:lnTo>
                  <a:close/>
                </a:path>
              </a:pathLst>
            </a:custGeom>
            <a:gradFill>
              <a:gsLst>
                <a:gs pos="0">
                  <a:srgbClr val="E0E0E0">
                    <a:alpha val="60000"/>
                  </a:srgbClr>
                </a:gs>
                <a:gs pos="95000">
                  <a:srgbClr val="E0E0E0">
                    <a:alpha val="0"/>
                  </a:srgbClr>
                </a:gs>
                <a:gs pos="100000">
                  <a:srgbClr val="E0E0E0">
                    <a:alpha val="0"/>
                  </a:srgbClr>
                </a:gs>
              </a:gsLst>
              <a:lin ang="5400000" scaled="0"/>
            </a:gradFill>
            <a:ln cap="flat" cmpd="sng" w="9525">
              <a:solidFill>
                <a:srgbClr val="C1C1C1"/>
              </a:solidFill>
              <a:prstDash val="solid"/>
              <a:round/>
              <a:headEnd len="sm" w="sm" type="none"/>
              <a:tailEnd len="sm" w="sm" type="none"/>
            </a:ln>
          </p:spPr>
          <p:txBody>
            <a:bodyPr anchorCtr="1" anchor="t" bIns="13475" lIns="13475" spcFirstLastPara="1" rIns="13475" wrap="square" tIns="71950">
              <a:noAutofit/>
            </a:bodyPr>
            <a:lstStyle/>
            <a:p>
              <a:pPr indent="0" lvl="0" marL="0" marR="0" rtl="0" algn="just">
                <a:lnSpc>
                  <a:spcPct val="90000"/>
                </a:lnSpc>
                <a:spcBef>
                  <a:spcPts val="0"/>
                </a:spcBef>
                <a:spcAft>
                  <a:spcPts val="0"/>
                </a:spcAft>
                <a:buClr>
                  <a:srgbClr val="CC9900"/>
                </a:buClr>
                <a:buSzPts val="800"/>
                <a:buFont typeface="Arial"/>
                <a:buNone/>
              </a:pPr>
              <a:r>
                <a:t/>
              </a:r>
              <a:endParaRPr b="0" i="0" sz="800" u="none" cap="none" strike="noStrike">
                <a:solidFill>
                  <a:srgbClr val="1D1D1A"/>
                </a:solidFill>
                <a:latin typeface="Arial"/>
                <a:ea typeface="Arial"/>
                <a:cs typeface="Arial"/>
                <a:sym typeface="Arial"/>
              </a:endParaRPr>
            </a:p>
          </p:txBody>
        </p:sp>
        <p:sp>
          <p:nvSpPr>
            <p:cNvPr id="285" name="Google Shape;285;p4"/>
            <p:cNvSpPr/>
            <p:nvPr/>
          </p:nvSpPr>
          <p:spPr>
            <a:xfrm rot="10800000">
              <a:off x="5195829" y="4507750"/>
              <a:ext cx="3420065" cy="168973"/>
            </a:xfrm>
            <a:custGeom>
              <a:rect b="b" l="l" r="r" t="t"/>
              <a:pathLst>
                <a:path extrusionOk="0" h="417617" w="1931995">
                  <a:moveTo>
                    <a:pt x="0" y="0"/>
                  </a:moveTo>
                  <a:lnTo>
                    <a:pt x="1931995" y="0"/>
                  </a:lnTo>
                  <a:lnTo>
                    <a:pt x="1492645" y="404918"/>
                  </a:lnTo>
                  <a:lnTo>
                    <a:pt x="424022" y="417617"/>
                  </a:lnTo>
                  <a:lnTo>
                    <a:pt x="0" y="0"/>
                  </a:lnTo>
                  <a:close/>
                </a:path>
              </a:pathLst>
            </a:custGeom>
            <a:gradFill>
              <a:gsLst>
                <a:gs pos="0">
                  <a:srgbClr val="E0E0E0">
                    <a:alpha val="60000"/>
                  </a:srgbClr>
                </a:gs>
                <a:gs pos="95000">
                  <a:srgbClr val="E0E0E0">
                    <a:alpha val="0"/>
                  </a:srgbClr>
                </a:gs>
                <a:gs pos="100000">
                  <a:srgbClr val="E0E0E0">
                    <a:alpha val="0"/>
                  </a:srgbClr>
                </a:gs>
              </a:gsLst>
              <a:lin ang="5400000" scaled="0"/>
            </a:gradFill>
            <a:ln cap="flat" cmpd="sng" w="9525">
              <a:solidFill>
                <a:srgbClr val="C1C1C1"/>
              </a:solidFill>
              <a:prstDash val="solid"/>
              <a:round/>
              <a:headEnd len="sm" w="sm" type="none"/>
              <a:tailEnd len="sm" w="sm" type="none"/>
            </a:ln>
          </p:spPr>
          <p:txBody>
            <a:bodyPr anchorCtr="1" anchor="t" bIns="13475" lIns="13475" spcFirstLastPara="1" rIns="13475" wrap="square" tIns="71950">
              <a:noAutofit/>
            </a:bodyPr>
            <a:lstStyle/>
            <a:p>
              <a:pPr indent="0" lvl="0" marL="0" marR="0" rtl="0" algn="just">
                <a:lnSpc>
                  <a:spcPct val="90000"/>
                </a:lnSpc>
                <a:spcBef>
                  <a:spcPts val="0"/>
                </a:spcBef>
                <a:spcAft>
                  <a:spcPts val="0"/>
                </a:spcAft>
                <a:buClr>
                  <a:srgbClr val="CC9900"/>
                </a:buClr>
                <a:buSzPts val="800"/>
                <a:buFont typeface="Arial"/>
                <a:buNone/>
              </a:pPr>
              <a:r>
                <a:t/>
              </a:r>
              <a:endParaRPr b="0" i="0" sz="800" u="none" cap="none" strike="noStrike">
                <a:solidFill>
                  <a:srgbClr val="1D1D1A"/>
                </a:solidFill>
                <a:latin typeface="Arial"/>
                <a:ea typeface="Arial"/>
                <a:cs typeface="Arial"/>
                <a:sym typeface="Arial"/>
              </a:endParaRPr>
            </a:p>
          </p:txBody>
        </p:sp>
        <p:sp>
          <p:nvSpPr>
            <p:cNvPr id="286" name="Google Shape;286;p4"/>
            <p:cNvSpPr/>
            <p:nvPr/>
          </p:nvSpPr>
          <p:spPr>
            <a:xfrm rot="10800000">
              <a:off x="8743395" y="4507752"/>
              <a:ext cx="3420065" cy="168973"/>
            </a:xfrm>
            <a:custGeom>
              <a:rect b="b" l="l" r="r" t="t"/>
              <a:pathLst>
                <a:path extrusionOk="0" h="417617" w="1931995">
                  <a:moveTo>
                    <a:pt x="0" y="0"/>
                  </a:moveTo>
                  <a:lnTo>
                    <a:pt x="1931995" y="0"/>
                  </a:lnTo>
                  <a:lnTo>
                    <a:pt x="1492645" y="404918"/>
                  </a:lnTo>
                  <a:lnTo>
                    <a:pt x="424022" y="417617"/>
                  </a:lnTo>
                  <a:lnTo>
                    <a:pt x="0" y="0"/>
                  </a:lnTo>
                  <a:close/>
                </a:path>
              </a:pathLst>
            </a:custGeom>
            <a:gradFill>
              <a:gsLst>
                <a:gs pos="0">
                  <a:srgbClr val="E0E0E0">
                    <a:alpha val="60000"/>
                  </a:srgbClr>
                </a:gs>
                <a:gs pos="95000">
                  <a:srgbClr val="E0E0E0">
                    <a:alpha val="0"/>
                  </a:srgbClr>
                </a:gs>
                <a:gs pos="100000">
                  <a:srgbClr val="E0E0E0">
                    <a:alpha val="0"/>
                  </a:srgbClr>
                </a:gs>
              </a:gsLst>
              <a:lin ang="5400000" scaled="0"/>
            </a:gradFill>
            <a:ln cap="flat" cmpd="sng" w="9525">
              <a:solidFill>
                <a:srgbClr val="C1C1C1"/>
              </a:solidFill>
              <a:prstDash val="solid"/>
              <a:round/>
              <a:headEnd len="sm" w="sm" type="none"/>
              <a:tailEnd len="sm" w="sm" type="none"/>
            </a:ln>
          </p:spPr>
          <p:txBody>
            <a:bodyPr anchorCtr="1" anchor="t" bIns="13475" lIns="13475" spcFirstLastPara="1" rIns="13475" wrap="square" tIns="71950">
              <a:noAutofit/>
            </a:bodyPr>
            <a:lstStyle/>
            <a:p>
              <a:pPr indent="0" lvl="0" marL="0" marR="0" rtl="0" algn="just">
                <a:lnSpc>
                  <a:spcPct val="90000"/>
                </a:lnSpc>
                <a:spcBef>
                  <a:spcPts val="0"/>
                </a:spcBef>
                <a:spcAft>
                  <a:spcPts val="0"/>
                </a:spcAft>
                <a:buClr>
                  <a:srgbClr val="CC9900"/>
                </a:buClr>
                <a:buSzPts val="800"/>
                <a:buFont typeface="Arial"/>
                <a:buNone/>
              </a:pPr>
              <a:r>
                <a:t/>
              </a:r>
              <a:endParaRPr b="0" i="0" sz="800" u="none" cap="none" strike="noStrike">
                <a:solidFill>
                  <a:srgbClr val="1D1D1A"/>
                </a:solidFill>
                <a:latin typeface="Arial"/>
                <a:ea typeface="Arial"/>
                <a:cs typeface="Arial"/>
                <a:sym typeface="Arial"/>
              </a:endParaRPr>
            </a:p>
          </p:txBody>
        </p:sp>
        <p:sp>
          <p:nvSpPr>
            <p:cNvPr id="287" name="Google Shape;287;p4"/>
            <p:cNvSpPr/>
            <p:nvPr/>
          </p:nvSpPr>
          <p:spPr>
            <a:xfrm rot="5400000">
              <a:off x="5998887" y="3593390"/>
              <a:ext cx="109279" cy="250597"/>
            </a:xfrm>
            <a:prstGeom prst="rightArrow">
              <a:avLst>
                <a:gd fmla="val 57599" name="adj1"/>
                <a:gd fmla="val 50000" name="adj2"/>
              </a:avLst>
            </a:prstGeom>
            <a:solidFill>
              <a:srgbClr val="BFBFBF"/>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88" name="Google Shape;288;p4"/>
            <p:cNvSpPr/>
            <p:nvPr/>
          </p:nvSpPr>
          <p:spPr>
            <a:xfrm rot="5400000">
              <a:off x="7382265" y="3593390"/>
              <a:ext cx="109279" cy="250597"/>
            </a:xfrm>
            <a:prstGeom prst="rightArrow">
              <a:avLst>
                <a:gd fmla="val 57599" name="adj1"/>
                <a:gd fmla="val 50000" name="adj2"/>
              </a:avLst>
            </a:prstGeom>
            <a:solidFill>
              <a:srgbClr val="BFBFBF"/>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89" name="Google Shape;289;p4"/>
            <p:cNvSpPr/>
            <p:nvPr/>
          </p:nvSpPr>
          <p:spPr>
            <a:xfrm rot="5400000">
              <a:off x="9829911" y="3593390"/>
              <a:ext cx="109279" cy="250597"/>
            </a:xfrm>
            <a:prstGeom prst="rightArrow">
              <a:avLst>
                <a:gd fmla="val 57599" name="adj1"/>
                <a:gd fmla="val 50000" name="adj2"/>
              </a:avLst>
            </a:prstGeom>
            <a:solidFill>
              <a:srgbClr val="BFBFBF"/>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290" name="Google Shape;290;p4"/>
            <p:cNvSpPr/>
            <p:nvPr/>
          </p:nvSpPr>
          <p:spPr>
            <a:xfrm rot="5400000">
              <a:off x="11213289" y="3593391"/>
              <a:ext cx="109280" cy="250597"/>
            </a:xfrm>
            <a:prstGeom prst="rightArrow">
              <a:avLst>
                <a:gd fmla="val 57599" name="adj1"/>
                <a:gd fmla="val 50000" name="adj2"/>
              </a:avLst>
            </a:prstGeom>
            <a:solidFill>
              <a:srgbClr val="BFBFBF"/>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pic>
          <p:nvPicPr>
            <p:cNvPr descr="Apache Tomcat - 维基百科，自由的百科全书" id="291" name="Google Shape;291;p4"/>
            <p:cNvPicPr preferRelativeResize="0"/>
            <p:nvPr/>
          </p:nvPicPr>
          <p:blipFill rotWithShape="1">
            <a:blip r:embed="rId18">
              <a:alphaModFix/>
            </a:blip>
            <a:srcRect b="0" l="0" r="0" t="0"/>
            <a:stretch/>
          </p:blipFill>
          <p:spPr>
            <a:xfrm>
              <a:off x="9350796" y="2634964"/>
              <a:ext cx="332973" cy="235579"/>
            </a:xfrm>
            <a:prstGeom prst="rect">
              <a:avLst/>
            </a:prstGeom>
            <a:noFill/>
            <a:ln>
              <a:noFill/>
            </a:ln>
          </p:spPr>
        </p:pic>
        <p:pic>
          <p:nvPicPr>
            <p:cNvPr descr="MySQL - 维基百科，自由的百科全书" id="292" name="Google Shape;292;p4"/>
            <p:cNvPicPr preferRelativeResize="0"/>
            <p:nvPr/>
          </p:nvPicPr>
          <p:blipFill rotWithShape="1">
            <a:blip r:embed="rId19">
              <a:alphaModFix/>
            </a:blip>
            <a:srcRect b="0" l="0" r="0" t="0"/>
            <a:stretch/>
          </p:blipFill>
          <p:spPr>
            <a:xfrm>
              <a:off x="9327092" y="3121140"/>
              <a:ext cx="442425" cy="227849"/>
            </a:xfrm>
            <a:prstGeom prst="rect">
              <a:avLst/>
            </a:prstGeom>
            <a:noFill/>
            <a:ln>
              <a:noFill/>
            </a:ln>
          </p:spPr>
        </p:pic>
        <p:grpSp>
          <p:nvGrpSpPr>
            <p:cNvPr id="293" name="Google Shape;293;p4"/>
            <p:cNvGrpSpPr/>
            <p:nvPr/>
          </p:nvGrpSpPr>
          <p:grpSpPr>
            <a:xfrm>
              <a:off x="5337353" y="1392965"/>
              <a:ext cx="4757740" cy="396000"/>
              <a:chOff x="1564275" y="4952942"/>
              <a:chExt cx="9595142" cy="777480"/>
            </a:xfrm>
          </p:grpSpPr>
          <p:sp>
            <p:nvSpPr>
              <p:cNvPr id="294" name="Google Shape;294;p4"/>
              <p:cNvSpPr/>
              <p:nvPr/>
            </p:nvSpPr>
            <p:spPr>
              <a:xfrm>
                <a:off x="2071061" y="5285154"/>
                <a:ext cx="8581570" cy="445268"/>
              </a:xfrm>
              <a:prstGeom prst="rect">
                <a:avLst/>
              </a:prstGeom>
              <a:solidFill>
                <a:srgbClr val="666666">
                  <a:alpha val="3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D1D1A"/>
                  </a:buClr>
                  <a:buSzPts val="800"/>
                  <a:buFont typeface="Arial"/>
                  <a:buNone/>
                </a:pPr>
                <a:r>
                  <a:rPr b="1" i="0" lang="en-GB" sz="800" u="none" cap="none" strike="noStrike">
                    <a:solidFill>
                      <a:srgbClr val="1D1D1A"/>
                    </a:solidFill>
                    <a:latin typeface="Arial"/>
                    <a:ea typeface="Arial"/>
                    <a:cs typeface="Arial"/>
                    <a:sym typeface="Arial"/>
                  </a:rPr>
                  <a:t>Batch Computing</a:t>
                </a:r>
                <a:endParaRPr b="1" i="0" sz="800" u="none" cap="none" strike="noStrike">
                  <a:solidFill>
                    <a:srgbClr val="1D1D1A"/>
                  </a:solidFill>
                  <a:latin typeface="Arial"/>
                  <a:ea typeface="Arial"/>
                  <a:cs typeface="Arial"/>
                  <a:sym typeface="Arial"/>
                </a:endParaRPr>
              </a:p>
            </p:txBody>
          </p:sp>
          <p:sp>
            <p:nvSpPr>
              <p:cNvPr id="295" name="Google Shape;295;p4"/>
              <p:cNvSpPr/>
              <p:nvPr/>
            </p:nvSpPr>
            <p:spPr>
              <a:xfrm rot="5400000">
                <a:off x="1516121" y="5167202"/>
                <a:ext cx="605476" cy="509168"/>
              </a:xfrm>
              <a:custGeom>
                <a:rect b="b" l="l" r="r" t="t"/>
                <a:pathLst>
                  <a:path extrusionOk="0" h="509168" w="605476">
                    <a:moveTo>
                      <a:pt x="0" y="509168"/>
                    </a:moveTo>
                    <a:lnTo>
                      <a:pt x="169461" y="2382"/>
                    </a:lnTo>
                    <a:lnTo>
                      <a:pt x="605476" y="0"/>
                    </a:lnTo>
                    <a:lnTo>
                      <a:pt x="430063" y="509168"/>
                    </a:lnTo>
                    <a:lnTo>
                      <a:pt x="0" y="509168"/>
                    </a:lnTo>
                    <a:close/>
                  </a:path>
                </a:pathLst>
              </a:custGeom>
              <a:solidFill>
                <a:srgbClr val="666666">
                  <a:alpha val="50196"/>
                </a:srgbClr>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296" name="Google Shape;296;p4"/>
              <p:cNvSpPr/>
              <p:nvPr/>
            </p:nvSpPr>
            <p:spPr>
              <a:xfrm>
                <a:off x="1564277" y="4952942"/>
                <a:ext cx="9595140" cy="336974"/>
              </a:xfrm>
              <a:custGeom>
                <a:rect b="b" l="l" r="r" t="t"/>
                <a:pathLst>
                  <a:path extrusionOk="0" h="491587" w="8198812">
                    <a:moveTo>
                      <a:pt x="0" y="240664"/>
                    </a:moveTo>
                    <a:lnTo>
                      <a:pt x="615651" y="0"/>
                    </a:lnTo>
                    <a:lnTo>
                      <a:pt x="7583161" y="0"/>
                    </a:lnTo>
                    <a:lnTo>
                      <a:pt x="8198812" y="240664"/>
                    </a:lnTo>
                    <a:lnTo>
                      <a:pt x="7765387" y="485511"/>
                    </a:lnTo>
                    <a:lnTo>
                      <a:pt x="434712" y="491587"/>
                    </a:lnTo>
                    <a:lnTo>
                      <a:pt x="0" y="240664"/>
                    </a:lnTo>
                    <a:close/>
                  </a:path>
                </a:pathLst>
              </a:custGeom>
              <a:gradFill>
                <a:gsLst>
                  <a:gs pos="0">
                    <a:srgbClr val="666666">
                      <a:alpha val="0"/>
                    </a:srgbClr>
                  </a:gs>
                  <a:gs pos="100000">
                    <a:srgbClr val="666666">
                      <a:alpha val="25098"/>
                    </a:srgbClr>
                  </a:gs>
                </a:gsLst>
                <a:lin ang="5400000" scaled="0"/>
              </a:gra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297" name="Google Shape;297;p4"/>
              <p:cNvSpPr/>
              <p:nvPr/>
            </p:nvSpPr>
            <p:spPr>
              <a:xfrm flipH="1" rot="-5400000">
                <a:off x="10600351" y="5167202"/>
                <a:ext cx="605476" cy="509168"/>
              </a:xfrm>
              <a:custGeom>
                <a:rect b="b" l="l" r="r" t="t"/>
                <a:pathLst>
                  <a:path extrusionOk="0" h="509168" w="605476">
                    <a:moveTo>
                      <a:pt x="0" y="509168"/>
                    </a:moveTo>
                    <a:lnTo>
                      <a:pt x="169461" y="2382"/>
                    </a:lnTo>
                    <a:lnTo>
                      <a:pt x="605476" y="0"/>
                    </a:lnTo>
                    <a:lnTo>
                      <a:pt x="430063" y="509168"/>
                    </a:lnTo>
                    <a:lnTo>
                      <a:pt x="0" y="509168"/>
                    </a:lnTo>
                    <a:close/>
                  </a:path>
                </a:pathLst>
              </a:custGeom>
              <a:solidFill>
                <a:srgbClr val="666666">
                  <a:alpha val="50196"/>
                </a:srgbClr>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298" name="Google Shape;298;p4"/>
            <p:cNvGrpSpPr/>
            <p:nvPr/>
          </p:nvGrpSpPr>
          <p:grpSpPr>
            <a:xfrm>
              <a:off x="10272670" y="1392965"/>
              <a:ext cx="1876251" cy="392996"/>
              <a:chOff x="1564275" y="4952942"/>
              <a:chExt cx="9595142" cy="777480"/>
            </a:xfrm>
          </p:grpSpPr>
          <p:sp>
            <p:nvSpPr>
              <p:cNvPr id="299" name="Google Shape;299;p4"/>
              <p:cNvSpPr/>
              <p:nvPr/>
            </p:nvSpPr>
            <p:spPr>
              <a:xfrm>
                <a:off x="2071061" y="5285154"/>
                <a:ext cx="8581570" cy="445268"/>
              </a:xfrm>
              <a:prstGeom prst="rect">
                <a:avLst/>
              </a:prstGeom>
              <a:solidFill>
                <a:srgbClr val="666666">
                  <a:alpha val="3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D1D1A"/>
                  </a:buClr>
                  <a:buSzPts val="800"/>
                  <a:buFont typeface="Arial"/>
                  <a:buNone/>
                </a:pPr>
                <a:r>
                  <a:rPr b="1" i="0" lang="en-GB" sz="800" u="none" cap="none" strike="noStrike">
                    <a:solidFill>
                      <a:srgbClr val="1D1D1A"/>
                    </a:solidFill>
                    <a:latin typeface="Arial"/>
                    <a:ea typeface="Arial"/>
                    <a:cs typeface="Arial"/>
                    <a:sym typeface="Arial"/>
                  </a:rPr>
                  <a:t>MicroService</a:t>
                </a:r>
                <a:endParaRPr b="1" i="0" sz="800" u="none" cap="none" strike="noStrike">
                  <a:solidFill>
                    <a:srgbClr val="1D1D1A"/>
                  </a:solidFill>
                  <a:latin typeface="Arial"/>
                  <a:ea typeface="Arial"/>
                  <a:cs typeface="Arial"/>
                  <a:sym typeface="Arial"/>
                </a:endParaRPr>
              </a:p>
            </p:txBody>
          </p:sp>
          <p:sp>
            <p:nvSpPr>
              <p:cNvPr id="300" name="Google Shape;300;p4"/>
              <p:cNvSpPr/>
              <p:nvPr/>
            </p:nvSpPr>
            <p:spPr>
              <a:xfrm rot="5400000">
                <a:off x="1516121" y="5167202"/>
                <a:ext cx="605476" cy="509168"/>
              </a:xfrm>
              <a:custGeom>
                <a:rect b="b" l="l" r="r" t="t"/>
                <a:pathLst>
                  <a:path extrusionOk="0" h="509168" w="605476">
                    <a:moveTo>
                      <a:pt x="0" y="509168"/>
                    </a:moveTo>
                    <a:lnTo>
                      <a:pt x="169461" y="2382"/>
                    </a:lnTo>
                    <a:lnTo>
                      <a:pt x="605476" y="0"/>
                    </a:lnTo>
                    <a:lnTo>
                      <a:pt x="430063" y="509168"/>
                    </a:lnTo>
                    <a:lnTo>
                      <a:pt x="0" y="509168"/>
                    </a:lnTo>
                    <a:close/>
                  </a:path>
                </a:pathLst>
              </a:custGeom>
              <a:solidFill>
                <a:srgbClr val="666666">
                  <a:alpha val="50196"/>
                </a:srgbClr>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301" name="Google Shape;301;p4"/>
              <p:cNvSpPr/>
              <p:nvPr/>
            </p:nvSpPr>
            <p:spPr>
              <a:xfrm>
                <a:off x="1564277" y="4952942"/>
                <a:ext cx="9595140" cy="336974"/>
              </a:xfrm>
              <a:custGeom>
                <a:rect b="b" l="l" r="r" t="t"/>
                <a:pathLst>
                  <a:path extrusionOk="0" h="491587" w="8198812">
                    <a:moveTo>
                      <a:pt x="0" y="240664"/>
                    </a:moveTo>
                    <a:lnTo>
                      <a:pt x="615651" y="0"/>
                    </a:lnTo>
                    <a:lnTo>
                      <a:pt x="7583161" y="0"/>
                    </a:lnTo>
                    <a:lnTo>
                      <a:pt x="8198812" y="240664"/>
                    </a:lnTo>
                    <a:lnTo>
                      <a:pt x="7765387" y="485511"/>
                    </a:lnTo>
                    <a:lnTo>
                      <a:pt x="434712" y="491587"/>
                    </a:lnTo>
                    <a:lnTo>
                      <a:pt x="0" y="240664"/>
                    </a:lnTo>
                    <a:close/>
                  </a:path>
                </a:pathLst>
              </a:custGeom>
              <a:gradFill>
                <a:gsLst>
                  <a:gs pos="0">
                    <a:srgbClr val="666666">
                      <a:alpha val="0"/>
                    </a:srgbClr>
                  </a:gs>
                  <a:gs pos="100000">
                    <a:srgbClr val="666666">
                      <a:alpha val="25098"/>
                    </a:srgbClr>
                  </a:gs>
                </a:gsLst>
                <a:lin ang="5400000" scaled="0"/>
              </a:gra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302" name="Google Shape;302;p4"/>
              <p:cNvSpPr/>
              <p:nvPr/>
            </p:nvSpPr>
            <p:spPr>
              <a:xfrm flipH="1" rot="-5400000">
                <a:off x="10600351" y="5167202"/>
                <a:ext cx="605476" cy="509168"/>
              </a:xfrm>
              <a:custGeom>
                <a:rect b="b" l="l" r="r" t="t"/>
                <a:pathLst>
                  <a:path extrusionOk="0" h="509168" w="605476">
                    <a:moveTo>
                      <a:pt x="0" y="509168"/>
                    </a:moveTo>
                    <a:lnTo>
                      <a:pt x="169461" y="2382"/>
                    </a:lnTo>
                    <a:lnTo>
                      <a:pt x="605476" y="0"/>
                    </a:lnTo>
                    <a:lnTo>
                      <a:pt x="430063" y="509168"/>
                    </a:lnTo>
                    <a:lnTo>
                      <a:pt x="0" y="509168"/>
                    </a:lnTo>
                    <a:close/>
                  </a:path>
                </a:pathLst>
              </a:custGeom>
              <a:solidFill>
                <a:srgbClr val="666666">
                  <a:alpha val="50196"/>
                </a:srgbClr>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pic>
          <p:nvPicPr>
            <p:cNvPr descr="\\Bchief-sever180\共享\华为\2016\6月\D-201606417-金融营销材料设计-刘泉\文件\link\组 26.png" id="303" name="Google Shape;303;p4"/>
            <p:cNvPicPr preferRelativeResize="0"/>
            <p:nvPr/>
          </p:nvPicPr>
          <p:blipFill rotWithShape="1">
            <a:blip r:embed="rId20">
              <a:alphaModFix amt="50000"/>
            </a:blip>
            <a:srcRect b="0" l="0" r="0" t="0"/>
            <a:stretch/>
          </p:blipFill>
          <p:spPr>
            <a:xfrm>
              <a:off x="6288592" y="1810610"/>
              <a:ext cx="5232801" cy="448006"/>
            </a:xfrm>
            <a:prstGeom prst="rect">
              <a:avLst/>
            </a:prstGeom>
            <a:noFill/>
            <a:ln>
              <a:noFill/>
            </a:ln>
          </p:spPr>
        </p:pic>
        <p:sp>
          <p:nvSpPr>
            <p:cNvPr id="304" name="Google Shape;304;p4"/>
            <p:cNvSpPr/>
            <p:nvPr/>
          </p:nvSpPr>
          <p:spPr>
            <a:xfrm>
              <a:off x="6177412" y="4871851"/>
              <a:ext cx="1727800" cy="866661"/>
            </a:xfrm>
            <a:prstGeom prst="ellipse">
              <a:avLst/>
            </a:prstGeom>
            <a:solidFill>
              <a:srgbClr val="D8D8D8"/>
            </a:solidFill>
            <a:ln cap="flat" cmpd="sng" w="34925">
              <a:solidFill>
                <a:srgbClr val="FFFFFF"/>
              </a:solidFill>
              <a:prstDash val="solid"/>
              <a:round/>
              <a:headEnd len="sm" w="sm" type="none"/>
              <a:tailEnd len="sm" w="sm" type="none"/>
            </a:ln>
            <a:effectLst>
              <a:outerShdw blurRad="317500" algn="ctr">
                <a:srgbClr val="000000">
                  <a:alpha val="43137"/>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grpSp>
          <p:nvGrpSpPr>
            <p:cNvPr id="305" name="Google Shape;305;p4"/>
            <p:cNvGrpSpPr/>
            <p:nvPr/>
          </p:nvGrpSpPr>
          <p:grpSpPr>
            <a:xfrm>
              <a:off x="6397801" y="5003758"/>
              <a:ext cx="382498" cy="346201"/>
              <a:chOff x="1465435" y="1410632"/>
              <a:chExt cx="382647" cy="346337"/>
            </a:xfrm>
          </p:grpSpPr>
          <p:sp>
            <p:nvSpPr>
              <p:cNvPr id="306" name="Google Shape;306;p4"/>
              <p:cNvSpPr/>
              <p:nvPr/>
            </p:nvSpPr>
            <p:spPr>
              <a:xfrm>
                <a:off x="1477011" y="1410632"/>
                <a:ext cx="324000" cy="324000"/>
              </a:xfrm>
              <a:prstGeom prst="ellipse">
                <a:avLst/>
              </a:prstGeom>
              <a:solidFill>
                <a:srgbClr val="CF5D0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307" name="Google Shape;307;p4"/>
              <p:cNvSpPr/>
              <p:nvPr/>
            </p:nvSpPr>
            <p:spPr>
              <a:xfrm rot="5400000">
                <a:off x="1550061" y="1477308"/>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308" name="Google Shape;308;p4"/>
              <p:cNvSpPr txBox="1"/>
              <p:nvPr/>
            </p:nvSpPr>
            <p:spPr>
              <a:xfrm>
                <a:off x="1465435" y="1412013"/>
                <a:ext cx="382647" cy="3449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AI</a:t>
                </a:r>
                <a:endParaRPr b="0" i="0" sz="800" u="none" cap="none" strike="noStrike">
                  <a:solidFill>
                    <a:srgbClr val="FFFFFF"/>
                  </a:solidFill>
                  <a:latin typeface="Arial"/>
                  <a:ea typeface="Arial"/>
                  <a:cs typeface="Arial"/>
                  <a:sym typeface="Arial"/>
                </a:endParaRPr>
              </a:p>
            </p:txBody>
          </p:sp>
        </p:grpSp>
        <p:grpSp>
          <p:nvGrpSpPr>
            <p:cNvPr id="309" name="Google Shape;309;p4"/>
            <p:cNvGrpSpPr/>
            <p:nvPr/>
          </p:nvGrpSpPr>
          <p:grpSpPr>
            <a:xfrm>
              <a:off x="6810493" y="4956077"/>
              <a:ext cx="382498" cy="346201"/>
              <a:chOff x="1465435" y="1410632"/>
              <a:chExt cx="382647" cy="346337"/>
            </a:xfrm>
          </p:grpSpPr>
          <p:sp>
            <p:nvSpPr>
              <p:cNvPr id="310" name="Google Shape;310;p4"/>
              <p:cNvSpPr/>
              <p:nvPr/>
            </p:nvSpPr>
            <p:spPr>
              <a:xfrm>
                <a:off x="1477011" y="1410632"/>
                <a:ext cx="324000" cy="324000"/>
              </a:xfrm>
              <a:prstGeom prst="ellipse">
                <a:avLst/>
              </a:prstGeom>
              <a:solidFill>
                <a:srgbClr val="CF5D0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311" name="Google Shape;311;p4"/>
              <p:cNvSpPr/>
              <p:nvPr/>
            </p:nvSpPr>
            <p:spPr>
              <a:xfrm rot="5400000">
                <a:off x="1550061" y="1477308"/>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312" name="Google Shape;312;p4"/>
              <p:cNvSpPr txBox="1"/>
              <p:nvPr/>
            </p:nvSpPr>
            <p:spPr>
              <a:xfrm>
                <a:off x="1465435" y="1412013"/>
                <a:ext cx="382647" cy="3449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AI</a:t>
                </a:r>
                <a:endParaRPr b="0" i="0" sz="800" u="none" cap="none" strike="noStrike">
                  <a:solidFill>
                    <a:srgbClr val="FFFFFF"/>
                  </a:solidFill>
                  <a:latin typeface="Arial"/>
                  <a:ea typeface="Arial"/>
                  <a:cs typeface="Arial"/>
                  <a:sym typeface="Arial"/>
                </a:endParaRPr>
              </a:p>
            </p:txBody>
          </p:sp>
        </p:grpSp>
        <p:grpSp>
          <p:nvGrpSpPr>
            <p:cNvPr id="313" name="Google Shape;313;p4"/>
            <p:cNvGrpSpPr/>
            <p:nvPr/>
          </p:nvGrpSpPr>
          <p:grpSpPr>
            <a:xfrm>
              <a:off x="7227356" y="5005293"/>
              <a:ext cx="383013" cy="350510"/>
              <a:chOff x="3659199" y="732848"/>
              <a:chExt cx="383163" cy="350647"/>
            </a:xfrm>
          </p:grpSpPr>
          <p:sp>
            <p:nvSpPr>
              <p:cNvPr id="314" name="Google Shape;314;p4"/>
              <p:cNvSpPr/>
              <p:nvPr/>
            </p:nvSpPr>
            <p:spPr>
              <a:xfrm>
                <a:off x="3659199" y="732848"/>
                <a:ext cx="324000" cy="324000"/>
              </a:xfrm>
              <a:prstGeom prst="ellipse">
                <a:avLst/>
              </a:prstGeom>
              <a:solidFill>
                <a:srgbClr val="23447E"/>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315" name="Google Shape;315;p4"/>
              <p:cNvSpPr/>
              <p:nvPr/>
            </p:nvSpPr>
            <p:spPr>
              <a:xfrm rot="5400000">
                <a:off x="3732249" y="799524"/>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316" name="Google Shape;316;p4"/>
              <p:cNvSpPr txBox="1"/>
              <p:nvPr/>
            </p:nvSpPr>
            <p:spPr>
              <a:xfrm>
                <a:off x="3659715" y="738539"/>
                <a:ext cx="382647" cy="3449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T</a:t>
                </a:r>
                <a:endParaRPr b="0" i="0" sz="800" u="none" cap="none" strike="noStrike">
                  <a:solidFill>
                    <a:srgbClr val="FFFFFF"/>
                  </a:solidFill>
                  <a:latin typeface="Arial"/>
                  <a:ea typeface="Arial"/>
                  <a:cs typeface="Arial"/>
                  <a:sym typeface="Arial"/>
                </a:endParaRPr>
              </a:p>
            </p:txBody>
          </p:sp>
        </p:grpSp>
        <p:grpSp>
          <p:nvGrpSpPr>
            <p:cNvPr id="317" name="Google Shape;317;p4"/>
            <p:cNvGrpSpPr/>
            <p:nvPr/>
          </p:nvGrpSpPr>
          <p:grpSpPr>
            <a:xfrm>
              <a:off x="6574016" y="5347144"/>
              <a:ext cx="383013" cy="350510"/>
              <a:chOff x="3659199" y="732848"/>
              <a:chExt cx="383163" cy="350647"/>
            </a:xfrm>
          </p:grpSpPr>
          <p:sp>
            <p:nvSpPr>
              <p:cNvPr id="318" name="Google Shape;318;p4"/>
              <p:cNvSpPr/>
              <p:nvPr/>
            </p:nvSpPr>
            <p:spPr>
              <a:xfrm>
                <a:off x="3659199" y="732848"/>
                <a:ext cx="324000" cy="324000"/>
              </a:xfrm>
              <a:prstGeom prst="ellipse">
                <a:avLst/>
              </a:prstGeom>
              <a:solidFill>
                <a:srgbClr val="23447E"/>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319" name="Google Shape;319;p4"/>
              <p:cNvSpPr/>
              <p:nvPr/>
            </p:nvSpPr>
            <p:spPr>
              <a:xfrm rot="5400000">
                <a:off x="3732249" y="799524"/>
                <a:ext cx="180000" cy="18000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320" name="Google Shape;320;p4"/>
              <p:cNvSpPr txBox="1"/>
              <p:nvPr/>
            </p:nvSpPr>
            <p:spPr>
              <a:xfrm>
                <a:off x="3659715" y="738539"/>
                <a:ext cx="382647" cy="3449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T</a:t>
                </a:r>
                <a:endParaRPr b="0" i="0" sz="800" u="none" cap="none" strike="noStrike">
                  <a:solidFill>
                    <a:srgbClr val="FFFFFF"/>
                  </a:solidFill>
                  <a:latin typeface="Arial"/>
                  <a:ea typeface="Arial"/>
                  <a:cs typeface="Arial"/>
                  <a:sym typeface="Arial"/>
                </a:endParaRPr>
              </a:p>
            </p:txBody>
          </p:sp>
        </p:grpSp>
        <p:grpSp>
          <p:nvGrpSpPr>
            <p:cNvPr id="321" name="Google Shape;321;p4"/>
            <p:cNvGrpSpPr/>
            <p:nvPr/>
          </p:nvGrpSpPr>
          <p:grpSpPr>
            <a:xfrm>
              <a:off x="7052688" y="5333574"/>
              <a:ext cx="336604" cy="361905"/>
              <a:chOff x="2673743" y="5684448"/>
              <a:chExt cx="336604" cy="361905"/>
            </a:xfrm>
          </p:grpSpPr>
          <p:sp>
            <p:nvSpPr>
              <p:cNvPr id="322" name="Google Shape;322;p4"/>
              <p:cNvSpPr/>
              <p:nvPr/>
            </p:nvSpPr>
            <p:spPr>
              <a:xfrm>
                <a:off x="2686474" y="5684448"/>
                <a:ext cx="323873" cy="323873"/>
              </a:xfrm>
              <a:prstGeom prst="ellipse">
                <a:avLst/>
              </a:prstGeom>
              <a:solidFill>
                <a:srgbClr val="7030A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323" name="Google Shape;323;p4"/>
              <p:cNvSpPr/>
              <p:nvPr/>
            </p:nvSpPr>
            <p:spPr>
              <a:xfrm rot="5400000">
                <a:off x="2758445" y="5762493"/>
                <a:ext cx="179930" cy="179930"/>
              </a:xfrm>
              <a:prstGeom prst="hexagon">
                <a:avLst>
                  <a:gd fmla="val 25000" name="adj"/>
                  <a:gd fmla="val 115470" name="vf"/>
                </a:avLst>
              </a:prstGeom>
              <a:no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800" u="none" cap="none" strike="noStrike">
                  <a:solidFill>
                    <a:srgbClr val="FFFFFF"/>
                  </a:solidFill>
                  <a:latin typeface="Arial"/>
                  <a:ea typeface="Arial"/>
                  <a:cs typeface="Arial"/>
                  <a:sym typeface="Arial"/>
                </a:endParaRPr>
              </a:p>
            </p:txBody>
          </p:sp>
          <p:sp>
            <p:nvSpPr>
              <p:cNvPr id="324" name="Google Shape;324;p4"/>
              <p:cNvSpPr txBox="1"/>
              <p:nvPr/>
            </p:nvSpPr>
            <p:spPr>
              <a:xfrm>
                <a:off x="2673743" y="5701532"/>
                <a:ext cx="260762" cy="34482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GB" sz="800" u="none" cap="none" strike="noStrike">
                    <a:solidFill>
                      <a:srgbClr val="FFFFFF"/>
                    </a:solidFill>
                    <a:latin typeface="Arial"/>
                    <a:ea typeface="Arial"/>
                    <a:cs typeface="Arial"/>
                    <a:sym typeface="Arial"/>
                  </a:rPr>
                  <a:t>M</a:t>
                </a:r>
                <a:endParaRPr b="0" i="0" sz="800" u="none" cap="none" strike="noStrike">
                  <a:solidFill>
                    <a:srgbClr val="FFFFFF"/>
                  </a:solidFill>
                  <a:latin typeface="Arial"/>
                  <a:ea typeface="Arial"/>
                  <a:cs typeface="Arial"/>
                  <a:sym typeface="Arial"/>
                </a:endParaRPr>
              </a:p>
            </p:txBody>
          </p:sp>
        </p:grpSp>
      </p:grpSp>
      <p:sp>
        <p:nvSpPr>
          <p:cNvPr id="325" name="Google Shape;325;p4"/>
          <p:cNvSpPr txBox="1"/>
          <p:nvPr/>
        </p:nvSpPr>
        <p:spPr>
          <a:xfrm>
            <a:off x="3876675" y="3596640"/>
            <a:ext cx="767715" cy="197485"/>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b="1" i="0" lang="en-GB" sz="800" u="none" cap="none" strike="noStrike">
                <a:solidFill>
                  <a:srgbClr val="595959"/>
                </a:solidFill>
                <a:latin typeface="Arial"/>
                <a:ea typeface="Arial"/>
                <a:cs typeface="Arial"/>
                <a:sym typeface="Arial"/>
              </a:rPr>
              <a:t>Cluster B</a:t>
            </a:r>
            <a:endParaRPr b="1" i="0" sz="800" u="none" cap="none" strike="noStrike">
              <a:solidFill>
                <a:srgbClr val="595959"/>
              </a:solidFill>
              <a:latin typeface="Arial"/>
              <a:ea typeface="Arial"/>
              <a:cs typeface="Arial"/>
              <a:sym typeface="Arial"/>
            </a:endParaRPr>
          </a:p>
        </p:txBody>
      </p:sp>
      <p:pic>
        <p:nvPicPr>
          <p:cNvPr id="326" name="Google Shape;326;p4"/>
          <p:cNvPicPr preferRelativeResize="0"/>
          <p:nvPr/>
        </p:nvPicPr>
        <p:blipFill rotWithShape="1">
          <a:blip r:embed="rId21">
            <a:alphaModFix/>
          </a:blip>
          <a:srcRect b="0" l="0" r="0" t="0"/>
          <a:stretch/>
        </p:blipFill>
        <p:spPr>
          <a:xfrm flipH="1">
            <a:off x="4123055" y="2213610"/>
            <a:ext cx="597535" cy="539115"/>
          </a:xfrm>
          <a:prstGeom prst="rect">
            <a:avLst/>
          </a:prstGeom>
          <a:noFill/>
          <a:ln>
            <a:noFill/>
          </a:ln>
        </p:spPr>
      </p:pic>
      <p:sp>
        <p:nvSpPr>
          <p:cNvPr id="327" name="Google Shape;327;p4"/>
          <p:cNvSpPr txBox="1"/>
          <p:nvPr/>
        </p:nvSpPr>
        <p:spPr>
          <a:xfrm>
            <a:off x="4045585" y="2721610"/>
            <a:ext cx="1287780" cy="2387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GB" sz="800" u="none" cap="none" strike="noStrike">
                <a:solidFill>
                  <a:srgbClr val="000000"/>
                </a:solidFill>
                <a:latin typeface="Arial"/>
                <a:ea typeface="Arial"/>
                <a:cs typeface="Arial"/>
                <a:sym typeface="Arial"/>
              </a:rPr>
              <a:t>Volcano Global</a:t>
            </a:r>
            <a:endParaRPr b="0" i="0" sz="800" u="none" cap="none" strike="noStrike">
              <a:solidFill>
                <a:srgbClr val="000000"/>
              </a:solidFill>
              <a:latin typeface="Arial"/>
              <a:ea typeface="Arial"/>
              <a:cs typeface="Arial"/>
              <a:sym typeface="Arial"/>
            </a:endParaRPr>
          </a:p>
        </p:txBody>
      </p:sp>
      <p:pic>
        <p:nvPicPr>
          <p:cNvPr id="328" name="Google Shape;328;p4"/>
          <p:cNvPicPr preferRelativeResize="0"/>
          <p:nvPr/>
        </p:nvPicPr>
        <p:blipFill rotWithShape="1">
          <a:blip r:embed="rId21">
            <a:alphaModFix/>
          </a:blip>
          <a:srcRect b="0" l="0" r="0" t="0"/>
          <a:stretch/>
        </p:blipFill>
        <p:spPr>
          <a:xfrm flipH="1">
            <a:off x="1838325" y="3988435"/>
            <a:ext cx="504825" cy="520065"/>
          </a:xfrm>
          <a:prstGeom prst="rect">
            <a:avLst/>
          </a:prstGeom>
          <a:noFill/>
          <a:ln>
            <a:noFill/>
          </a:ln>
        </p:spPr>
      </p:pic>
      <p:sp>
        <p:nvSpPr>
          <p:cNvPr id="329" name="Google Shape;329;p4"/>
          <p:cNvSpPr txBox="1"/>
          <p:nvPr/>
        </p:nvSpPr>
        <p:spPr>
          <a:xfrm>
            <a:off x="1682750" y="4444365"/>
            <a:ext cx="859790" cy="17399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GB" sz="800" u="none" cap="none" strike="noStrike">
                <a:solidFill>
                  <a:srgbClr val="000000"/>
                </a:solidFill>
                <a:latin typeface="Arial"/>
                <a:ea typeface="Arial"/>
                <a:cs typeface="Arial"/>
                <a:sym typeface="Arial"/>
              </a:rPr>
              <a:t>Volcano Agent</a:t>
            </a:r>
            <a:endParaRPr b="0" i="0" sz="800" u="none" cap="none" strike="noStrike">
              <a:solidFill>
                <a:srgbClr val="000000"/>
              </a:solidFill>
              <a:latin typeface="Arial"/>
              <a:ea typeface="Arial"/>
              <a:cs typeface="Arial"/>
              <a:sym typeface="Arial"/>
            </a:endParaRPr>
          </a:p>
        </p:txBody>
      </p:sp>
      <p:pic>
        <p:nvPicPr>
          <p:cNvPr id="330" name="Google Shape;330;p4"/>
          <p:cNvPicPr preferRelativeResize="0"/>
          <p:nvPr/>
        </p:nvPicPr>
        <p:blipFill rotWithShape="1">
          <a:blip r:embed="rId21">
            <a:alphaModFix/>
          </a:blip>
          <a:srcRect b="0" l="0" r="0" t="0"/>
          <a:stretch/>
        </p:blipFill>
        <p:spPr>
          <a:xfrm flipH="1">
            <a:off x="4605020" y="3984625"/>
            <a:ext cx="504825" cy="520065"/>
          </a:xfrm>
          <a:prstGeom prst="rect">
            <a:avLst/>
          </a:prstGeom>
          <a:noFill/>
          <a:ln>
            <a:noFill/>
          </a:ln>
        </p:spPr>
      </p:pic>
      <p:sp>
        <p:nvSpPr>
          <p:cNvPr id="331" name="Google Shape;331;p4"/>
          <p:cNvSpPr txBox="1"/>
          <p:nvPr/>
        </p:nvSpPr>
        <p:spPr>
          <a:xfrm>
            <a:off x="4468495" y="4465320"/>
            <a:ext cx="859790" cy="17399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GB" sz="800" u="none" cap="none" strike="noStrike">
                <a:solidFill>
                  <a:srgbClr val="000000"/>
                </a:solidFill>
                <a:latin typeface="Arial"/>
                <a:ea typeface="Arial"/>
                <a:cs typeface="Arial"/>
                <a:sym typeface="Arial"/>
              </a:rPr>
              <a:t>Volcano Agent</a:t>
            </a:r>
            <a:endParaRPr b="0" i="0" sz="8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
          <p:cNvSpPr txBox="1"/>
          <p:nvPr>
            <p:ph type="title"/>
          </p:nvPr>
        </p:nvSpPr>
        <p:spPr>
          <a:xfrm>
            <a:off x="311700" y="0"/>
            <a:ext cx="6949800" cy="10479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GB"/>
              <a:t>Why now: the workload drift</a:t>
            </a:r>
            <a:endParaRPr/>
          </a:p>
        </p:txBody>
      </p:sp>
      <p:sp>
        <p:nvSpPr>
          <p:cNvPr id="337" name="Google Shape;337;p5"/>
          <p:cNvSpPr txBox="1"/>
          <p:nvPr>
            <p:ph idx="1" type="body"/>
          </p:nvPr>
        </p:nvSpPr>
        <p:spPr>
          <a:xfrm>
            <a:off x="311700" y="4128325"/>
            <a:ext cx="8520600" cy="460800"/>
          </a:xfrm>
          <a:prstGeom prst="rect">
            <a:avLst/>
          </a:prstGeom>
          <a:noFill/>
          <a:ln>
            <a:noFill/>
          </a:ln>
        </p:spPr>
        <p:txBody>
          <a:bodyPr anchorCtr="0" anchor="t" bIns="0" lIns="0" spcFirstLastPara="1" rIns="0" wrap="square" tIns="0">
            <a:noAutofit/>
          </a:bodyPr>
          <a:lstStyle/>
          <a:p>
            <a:pPr indent="0" lvl="0" marL="457200" rtl="0" algn="l">
              <a:lnSpc>
                <a:spcPct val="150000"/>
              </a:lnSpc>
              <a:spcBef>
                <a:spcPts val="0"/>
              </a:spcBef>
              <a:spcAft>
                <a:spcPts val="0"/>
              </a:spcAft>
              <a:buSzPts val="1800"/>
              <a:buNone/>
            </a:pPr>
            <a:r>
              <a:rPr lang="en-GB" sz="2000">
                <a:solidFill>
                  <a:srgbClr val="000000"/>
                </a:solidFill>
              </a:rPr>
              <a:t>New requirement: one control plane, multiple execution patterns</a:t>
            </a:r>
            <a:endParaRPr sz="2000">
              <a:solidFill>
                <a:srgbClr val="000000"/>
              </a:solidFill>
            </a:endParaRPr>
          </a:p>
          <a:p>
            <a:pPr indent="0" lvl="0" marL="457200" rtl="0" algn="l">
              <a:lnSpc>
                <a:spcPct val="150000"/>
              </a:lnSpc>
              <a:spcBef>
                <a:spcPts val="0"/>
              </a:spcBef>
              <a:spcAft>
                <a:spcPts val="0"/>
              </a:spcAft>
              <a:buSzPts val="1800"/>
              <a:buNone/>
            </a:pPr>
            <a:r>
              <a:rPr lang="en-GB" sz="2000">
                <a:solidFill>
                  <a:srgbClr val="000000"/>
                </a:solidFill>
              </a:rPr>
              <a:t>One platform shall optimize for throughput and latency together</a:t>
            </a:r>
            <a:endParaRPr sz="2000"/>
          </a:p>
        </p:txBody>
      </p:sp>
      <p:sp>
        <p:nvSpPr>
          <p:cNvPr id="338" name="Google Shape;338;p5"/>
          <p:cNvSpPr txBox="1"/>
          <p:nvPr>
            <p:ph idx="1" type="body"/>
          </p:nvPr>
        </p:nvSpPr>
        <p:spPr>
          <a:xfrm>
            <a:off x="311700" y="1284950"/>
            <a:ext cx="8520600" cy="460800"/>
          </a:xfrm>
          <a:prstGeom prst="rect">
            <a:avLst/>
          </a:prstGeom>
          <a:noFill/>
          <a:ln>
            <a:noFill/>
          </a:ln>
        </p:spPr>
        <p:txBody>
          <a:bodyPr anchorCtr="0" anchor="t" bIns="0" lIns="0" spcFirstLastPara="1" rIns="0" wrap="square" tIns="0">
            <a:noAutofit/>
          </a:bodyPr>
          <a:lstStyle/>
          <a:p>
            <a:pPr indent="0" lvl="0" marL="457200" rtl="0" algn="l">
              <a:lnSpc>
                <a:spcPct val="150000"/>
              </a:lnSpc>
              <a:spcBef>
                <a:spcPts val="0"/>
              </a:spcBef>
              <a:spcAft>
                <a:spcPts val="0"/>
              </a:spcAft>
              <a:buSzPts val="1800"/>
              <a:buNone/>
            </a:pPr>
            <a:r>
              <a:rPr lang="en-GB" sz="2000">
                <a:solidFill>
                  <a:srgbClr val="000000"/>
                </a:solidFill>
              </a:rPr>
              <a:t>AI workloads are diverging fast.</a:t>
            </a:r>
            <a:endParaRPr sz="2000"/>
          </a:p>
        </p:txBody>
      </p:sp>
      <p:sp>
        <p:nvSpPr>
          <p:cNvPr id="339" name="Google Shape;339;p5"/>
          <p:cNvSpPr txBox="1"/>
          <p:nvPr>
            <p:ph idx="1" type="body"/>
          </p:nvPr>
        </p:nvSpPr>
        <p:spPr>
          <a:xfrm>
            <a:off x="0" y="2187750"/>
            <a:ext cx="2135400" cy="955200"/>
          </a:xfrm>
          <a:prstGeom prst="rect">
            <a:avLst/>
          </a:prstGeom>
          <a:noFill/>
          <a:ln>
            <a:noFill/>
          </a:ln>
        </p:spPr>
        <p:txBody>
          <a:bodyPr anchorCtr="0" anchor="t" bIns="0" lIns="0" spcFirstLastPara="1" rIns="0" wrap="square" tIns="0">
            <a:noAutofit/>
          </a:bodyPr>
          <a:lstStyle/>
          <a:p>
            <a:pPr indent="0" lvl="0" marL="457200" rtl="0" algn="ctr">
              <a:lnSpc>
                <a:spcPct val="150000"/>
              </a:lnSpc>
              <a:spcBef>
                <a:spcPts val="0"/>
              </a:spcBef>
              <a:spcAft>
                <a:spcPts val="0"/>
              </a:spcAft>
              <a:buSzPts val="1800"/>
              <a:buNone/>
            </a:pPr>
            <a:r>
              <a:rPr lang="en-GB" sz="1400"/>
              <a:t>Batch training dominated cluster design</a:t>
            </a:r>
            <a:endParaRPr sz="1400"/>
          </a:p>
        </p:txBody>
      </p:sp>
      <p:sp>
        <p:nvSpPr>
          <p:cNvPr id="340" name="Google Shape;340;p5"/>
          <p:cNvSpPr txBox="1"/>
          <p:nvPr>
            <p:ph idx="1" type="body"/>
          </p:nvPr>
        </p:nvSpPr>
        <p:spPr>
          <a:xfrm>
            <a:off x="3779400" y="2110500"/>
            <a:ext cx="2135400" cy="955200"/>
          </a:xfrm>
          <a:prstGeom prst="rect">
            <a:avLst/>
          </a:prstGeom>
          <a:noFill/>
          <a:ln>
            <a:noFill/>
          </a:ln>
        </p:spPr>
        <p:txBody>
          <a:bodyPr anchorCtr="0" anchor="t" bIns="0" lIns="0" spcFirstLastPara="1" rIns="0" wrap="square" tIns="0">
            <a:noAutofit/>
          </a:bodyPr>
          <a:lstStyle/>
          <a:p>
            <a:pPr indent="0" lvl="0" marL="457200" rtl="0" algn="ctr">
              <a:lnSpc>
                <a:spcPct val="150000"/>
              </a:lnSpc>
              <a:spcBef>
                <a:spcPts val="0"/>
              </a:spcBef>
              <a:spcAft>
                <a:spcPts val="0"/>
              </a:spcAft>
              <a:buSzPts val="1800"/>
              <a:buNone/>
            </a:pPr>
            <a:r>
              <a:rPr lang="en-GB" sz="1400"/>
              <a:t>LLM serving introduced disaggregated runtime patterns</a:t>
            </a:r>
            <a:endParaRPr sz="1400"/>
          </a:p>
        </p:txBody>
      </p:sp>
      <p:sp>
        <p:nvSpPr>
          <p:cNvPr id="341" name="Google Shape;341;p5"/>
          <p:cNvSpPr txBox="1"/>
          <p:nvPr>
            <p:ph idx="1" type="body"/>
          </p:nvPr>
        </p:nvSpPr>
        <p:spPr>
          <a:xfrm>
            <a:off x="5986780" y="2110105"/>
            <a:ext cx="2369820" cy="955040"/>
          </a:xfrm>
          <a:prstGeom prst="rect">
            <a:avLst/>
          </a:prstGeom>
          <a:noFill/>
          <a:ln>
            <a:noFill/>
          </a:ln>
        </p:spPr>
        <p:txBody>
          <a:bodyPr anchorCtr="0" anchor="t" bIns="0" lIns="0" spcFirstLastPara="1" rIns="0" wrap="square" tIns="0">
            <a:noAutofit/>
          </a:bodyPr>
          <a:lstStyle/>
          <a:p>
            <a:pPr indent="0" lvl="0" marL="457200" rtl="0" algn="ctr">
              <a:lnSpc>
                <a:spcPct val="150000"/>
              </a:lnSpc>
              <a:spcBef>
                <a:spcPts val="0"/>
              </a:spcBef>
              <a:spcAft>
                <a:spcPts val="0"/>
              </a:spcAft>
              <a:buSzPts val="1800"/>
              <a:buNone/>
            </a:pPr>
            <a:r>
              <a:rPr lang="en-GB" sz="1400"/>
              <a:t>Agent workloads </a:t>
            </a:r>
            <a:endParaRPr sz="1400"/>
          </a:p>
          <a:p>
            <a:pPr indent="0" lvl="0" marL="457200" rtl="0" algn="ctr">
              <a:lnSpc>
                <a:spcPct val="150000"/>
              </a:lnSpc>
              <a:spcBef>
                <a:spcPts val="0"/>
              </a:spcBef>
              <a:spcAft>
                <a:spcPts val="0"/>
              </a:spcAft>
              <a:buSzPts val="1800"/>
              <a:buNone/>
            </a:pPr>
            <a:r>
              <a:rPr lang="en-GB" sz="1400"/>
              <a:t>Bursty, short-lived, ultra-low latency scheduling</a:t>
            </a:r>
            <a:endParaRPr sz="1400"/>
          </a:p>
        </p:txBody>
      </p:sp>
      <p:cxnSp>
        <p:nvCxnSpPr>
          <p:cNvPr id="342" name="Google Shape;342;p5"/>
          <p:cNvCxnSpPr>
            <a:stCxn id="339" idx="3"/>
          </p:cNvCxnSpPr>
          <p:nvPr/>
        </p:nvCxnSpPr>
        <p:spPr>
          <a:xfrm>
            <a:off x="2135400" y="2665350"/>
            <a:ext cx="454800" cy="0"/>
          </a:xfrm>
          <a:prstGeom prst="straightConnector1">
            <a:avLst/>
          </a:prstGeom>
          <a:noFill/>
          <a:ln cap="flat" cmpd="sng" w="38100">
            <a:solidFill>
              <a:schemeClr val="dk2"/>
            </a:solidFill>
            <a:prstDash val="solid"/>
            <a:round/>
            <a:headEnd len="sm" w="sm" type="none"/>
            <a:tailEnd len="med" w="med" type="triangle"/>
          </a:ln>
        </p:spPr>
      </p:cxnSp>
      <p:sp>
        <p:nvSpPr>
          <p:cNvPr id="343" name="Google Shape;343;p5"/>
          <p:cNvSpPr/>
          <p:nvPr/>
        </p:nvSpPr>
        <p:spPr>
          <a:xfrm>
            <a:off x="789650" y="3453700"/>
            <a:ext cx="7414200" cy="116700"/>
          </a:xfrm>
          <a:prstGeom prst="rightArrow">
            <a:avLst>
              <a:gd fmla="val 50000" name="adj1"/>
              <a:gd fmla="val 101027" name="adj2"/>
            </a:avLst>
          </a:prstGeom>
          <a:solidFill>
            <a:srgbClr val="C71D3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44" name="Google Shape;344;p5"/>
          <p:cNvSpPr txBox="1"/>
          <p:nvPr>
            <p:ph idx="1" type="body"/>
          </p:nvPr>
        </p:nvSpPr>
        <p:spPr>
          <a:xfrm>
            <a:off x="263975" y="3600063"/>
            <a:ext cx="1434300" cy="498600"/>
          </a:xfrm>
          <a:prstGeom prst="rect">
            <a:avLst/>
          </a:prstGeom>
          <a:noFill/>
          <a:ln>
            <a:noFill/>
          </a:ln>
        </p:spPr>
        <p:txBody>
          <a:bodyPr anchorCtr="0" anchor="t" bIns="0" lIns="0" spcFirstLastPara="1" rIns="0" wrap="square" tIns="0">
            <a:noAutofit/>
          </a:bodyPr>
          <a:lstStyle/>
          <a:p>
            <a:pPr indent="0" lvl="0" marL="457200" rtl="0" algn="ctr">
              <a:lnSpc>
                <a:spcPct val="150000"/>
              </a:lnSpc>
              <a:spcBef>
                <a:spcPts val="0"/>
              </a:spcBef>
              <a:spcAft>
                <a:spcPts val="0"/>
              </a:spcAft>
              <a:buSzPts val="1800"/>
              <a:buNone/>
            </a:pPr>
            <a:r>
              <a:rPr lang="en-GB" sz="1400">
                <a:solidFill>
                  <a:srgbClr val="B91C1C"/>
                </a:solidFill>
              </a:rPr>
              <a:t>~ 2018</a:t>
            </a:r>
            <a:endParaRPr sz="1400">
              <a:solidFill>
                <a:srgbClr val="B91C1C"/>
              </a:solidFill>
            </a:endParaRPr>
          </a:p>
        </p:txBody>
      </p:sp>
      <p:sp>
        <p:nvSpPr>
          <p:cNvPr id="345" name="Google Shape;345;p5"/>
          <p:cNvSpPr txBox="1"/>
          <p:nvPr>
            <p:ph idx="1" type="body"/>
          </p:nvPr>
        </p:nvSpPr>
        <p:spPr>
          <a:xfrm>
            <a:off x="2207910" y="3573380"/>
            <a:ext cx="1434300" cy="498600"/>
          </a:xfrm>
          <a:prstGeom prst="rect">
            <a:avLst/>
          </a:prstGeom>
          <a:noFill/>
          <a:ln>
            <a:noFill/>
          </a:ln>
        </p:spPr>
        <p:txBody>
          <a:bodyPr anchorCtr="0" anchor="t" bIns="0" lIns="0" spcFirstLastPara="1" rIns="0" wrap="square" tIns="0">
            <a:noAutofit/>
          </a:bodyPr>
          <a:lstStyle/>
          <a:p>
            <a:pPr indent="0" lvl="0" marL="457200" rtl="0" algn="ctr">
              <a:lnSpc>
                <a:spcPct val="150000"/>
              </a:lnSpc>
              <a:spcBef>
                <a:spcPts val="0"/>
              </a:spcBef>
              <a:spcAft>
                <a:spcPts val="0"/>
              </a:spcAft>
              <a:buSzPts val="1800"/>
              <a:buNone/>
            </a:pPr>
            <a:r>
              <a:rPr lang="en-GB" sz="1400">
                <a:solidFill>
                  <a:srgbClr val="B91C1C"/>
                </a:solidFill>
              </a:rPr>
              <a:t>~ 2023</a:t>
            </a:r>
            <a:endParaRPr sz="1400">
              <a:solidFill>
                <a:srgbClr val="B91C1C"/>
              </a:solidFill>
            </a:endParaRPr>
          </a:p>
        </p:txBody>
      </p:sp>
      <p:sp>
        <p:nvSpPr>
          <p:cNvPr id="346" name="Google Shape;346;p5"/>
          <p:cNvSpPr txBox="1"/>
          <p:nvPr>
            <p:ph idx="1" type="body"/>
          </p:nvPr>
        </p:nvSpPr>
        <p:spPr>
          <a:xfrm>
            <a:off x="6324425" y="3602638"/>
            <a:ext cx="1434300" cy="498600"/>
          </a:xfrm>
          <a:prstGeom prst="rect">
            <a:avLst/>
          </a:prstGeom>
          <a:noFill/>
          <a:ln>
            <a:noFill/>
          </a:ln>
        </p:spPr>
        <p:txBody>
          <a:bodyPr anchorCtr="0" anchor="t" bIns="0" lIns="0" spcFirstLastPara="1" rIns="0" wrap="square" tIns="0">
            <a:noAutofit/>
          </a:bodyPr>
          <a:lstStyle/>
          <a:p>
            <a:pPr indent="0" lvl="0" marL="457200" rtl="0" algn="ctr">
              <a:lnSpc>
                <a:spcPct val="150000"/>
              </a:lnSpc>
              <a:spcBef>
                <a:spcPts val="0"/>
              </a:spcBef>
              <a:spcAft>
                <a:spcPts val="0"/>
              </a:spcAft>
              <a:buSzPts val="1800"/>
              <a:buNone/>
            </a:pPr>
            <a:r>
              <a:rPr lang="en-GB" sz="1400">
                <a:solidFill>
                  <a:srgbClr val="B91C1C"/>
                </a:solidFill>
              </a:rPr>
              <a:t>~ 2025</a:t>
            </a:r>
            <a:endParaRPr sz="1400">
              <a:solidFill>
                <a:srgbClr val="B91C1C"/>
              </a:solidFill>
            </a:endParaRPr>
          </a:p>
        </p:txBody>
      </p:sp>
      <p:sp>
        <p:nvSpPr>
          <p:cNvPr id="347" name="Google Shape;347;p5"/>
          <p:cNvSpPr txBox="1"/>
          <p:nvPr/>
        </p:nvSpPr>
        <p:spPr>
          <a:xfrm>
            <a:off x="2207895" y="2198370"/>
            <a:ext cx="1621790" cy="955040"/>
          </a:xfrm>
          <a:prstGeom prst="rect">
            <a:avLst/>
          </a:prstGeom>
          <a:noFill/>
          <a:ln>
            <a:noFill/>
          </a:ln>
        </p:spPr>
        <p:txBody>
          <a:bodyPr anchorCtr="0" anchor="t" bIns="0" lIns="0" spcFirstLastPara="1" rIns="0" wrap="square" tIns="0">
            <a:noAutofit/>
          </a:bodyPr>
          <a:lstStyle/>
          <a:p>
            <a:pPr indent="0" lvl="0" marL="457200" marR="0" rtl="0" algn="ctr">
              <a:lnSpc>
                <a:spcPct val="150000"/>
              </a:lnSpc>
              <a:spcBef>
                <a:spcPts val="0"/>
              </a:spcBef>
              <a:spcAft>
                <a:spcPts val="0"/>
              </a:spcAft>
              <a:buClr>
                <a:schemeClr val="dk2"/>
              </a:buClr>
              <a:buSzPts val="1800"/>
              <a:buFont typeface="Arial"/>
              <a:buNone/>
            </a:pPr>
            <a:r>
              <a:rPr b="0" i="0" lang="en-GB" sz="1400" u="none" cap="none" strike="noStrike">
                <a:solidFill>
                  <a:schemeClr val="dk2"/>
                </a:solidFill>
                <a:latin typeface="Arial"/>
                <a:ea typeface="Arial"/>
                <a:cs typeface="Arial"/>
                <a:sym typeface="Arial"/>
              </a:rPr>
              <a:t>Massive LLM</a:t>
            </a:r>
            <a:endParaRPr b="0" i="0" sz="1400" u="none" cap="none" strike="noStrike">
              <a:solidFill>
                <a:schemeClr val="dk2"/>
              </a:solidFill>
              <a:latin typeface="Arial"/>
              <a:ea typeface="Arial"/>
              <a:cs typeface="Arial"/>
              <a:sym typeface="Arial"/>
            </a:endParaRPr>
          </a:p>
          <a:p>
            <a:pPr indent="0" lvl="0" marL="457200" marR="0" rtl="0" algn="ctr">
              <a:lnSpc>
                <a:spcPct val="150000"/>
              </a:lnSpc>
              <a:spcBef>
                <a:spcPts val="0"/>
              </a:spcBef>
              <a:spcAft>
                <a:spcPts val="0"/>
              </a:spcAft>
              <a:buClr>
                <a:schemeClr val="dk2"/>
              </a:buClr>
              <a:buSzPts val="1800"/>
              <a:buFont typeface="Arial"/>
              <a:buNone/>
            </a:pPr>
            <a:r>
              <a:rPr b="0" i="0" lang="en-GB" sz="1400" u="none" cap="none" strike="noStrike">
                <a:solidFill>
                  <a:schemeClr val="dk2"/>
                </a:solidFill>
                <a:latin typeface="Arial"/>
                <a:ea typeface="Arial"/>
                <a:cs typeface="Arial"/>
                <a:sym typeface="Arial"/>
              </a:rPr>
              <a:t>Distributed Training</a:t>
            </a:r>
            <a:endParaRPr b="0" i="0" sz="1400" u="none" cap="none" strike="noStrike">
              <a:solidFill>
                <a:schemeClr val="dk2"/>
              </a:solidFill>
              <a:latin typeface="Arial"/>
              <a:ea typeface="Arial"/>
              <a:cs typeface="Arial"/>
              <a:sym typeface="Arial"/>
            </a:endParaRPr>
          </a:p>
        </p:txBody>
      </p:sp>
      <p:cxnSp>
        <p:nvCxnSpPr>
          <p:cNvPr id="348" name="Google Shape;348;p5"/>
          <p:cNvCxnSpPr/>
          <p:nvPr/>
        </p:nvCxnSpPr>
        <p:spPr>
          <a:xfrm>
            <a:off x="3901970" y="2683130"/>
            <a:ext cx="454660" cy="0"/>
          </a:xfrm>
          <a:prstGeom prst="straightConnector1">
            <a:avLst/>
          </a:prstGeom>
          <a:noFill/>
          <a:ln cap="flat" cmpd="sng" w="38100">
            <a:solidFill>
              <a:schemeClr val="dk2"/>
            </a:solidFill>
            <a:prstDash val="solid"/>
            <a:round/>
            <a:headEnd len="sm" w="sm" type="none"/>
            <a:tailEnd len="med" w="med" type="triangle"/>
          </a:ln>
        </p:spPr>
      </p:cxnSp>
      <p:cxnSp>
        <p:nvCxnSpPr>
          <p:cNvPr id="349" name="Google Shape;349;p5"/>
          <p:cNvCxnSpPr/>
          <p:nvPr/>
        </p:nvCxnSpPr>
        <p:spPr>
          <a:xfrm>
            <a:off x="5869835" y="2658365"/>
            <a:ext cx="454660" cy="0"/>
          </a:xfrm>
          <a:prstGeom prst="straightConnector1">
            <a:avLst/>
          </a:prstGeom>
          <a:noFill/>
          <a:ln cap="flat" cmpd="sng" w="38100">
            <a:solidFill>
              <a:schemeClr val="dk2"/>
            </a:solidFill>
            <a:prstDash val="solid"/>
            <a:round/>
            <a:headEnd len="sm" w="sm" type="none"/>
            <a:tailEnd len="med" w="med" type="triangle"/>
          </a:ln>
        </p:spPr>
      </p:cxnSp>
      <p:sp>
        <p:nvSpPr>
          <p:cNvPr id="350" name="Google Shape;350;p5"/>
          <p:cNvSpPr txBox="1"/>
          <p:nvPr/>
        </p:nvSpPr>
        <p:spPr>
          <a:xfrm>
            <a:off x="4032075" y="3574063"/>
            <a:ext cx="1434300" cy="498600"/>
          </a:xfrm>
          <a:prstGeom prst="rect">
            <a:avLst/>
          </a:prstGeom>
          <a:noFill/>
          <a:ln>
            <a:noFill/>
          </a:ln>
        </p:spPr>
        <p:txBody>
          <a:bodyPr anchorCtr="0" anchor="t" bIns="0" lIns="0" spcFirstLastPara="1" rIns="0" wrap="square" tIns="0">
            <a:noAutofit/>
          </a:bodyPr>
          <a:lstStyle/>
          <a:p>
            <a:pPr indent="0" lvl="0" marL="457200" marR="0" rtl="0" algn="ctr">
              <a:lnSpc>
                <a:spcPct val="150000"/>
              </a:lnSpc>
              <a:spcBef>
                <a:spcPts val="0"/>
              </a:spcBef>
              <a:spcAft>
                <a:spcPts val="0"/>
              </a:spcAft>
              <a:buClr>
                <a:schemeClr val="dk2"/>
              </a:buClr>
              <a:buSzPts val="1800"/>
              <a:buFont typeface="Arial"/>
              <a:buNone/>
            </a:pPr>
            <a:r>
              <a:rPr b="0" i="0" lang="en-GB" sz="1400" u="none" cap="none" strike="noStrike">
                <a:solidFill>
                  <a:srgbClr val="B91C1C"/>
                </a:solidFill>
                <a:latin typeface="Arial"/>
                <a:ea typeface="Arial"/>
                <a:cs typeface="Arial"/>
                <a:sym typeface="Arial"/>
              </a:rPr>
              <a:t>~ 2025</a:t>
            </a:r>
            <a:endParaRPr b="0" i="0" sz="1400" u="none" cap="none" strike="noStrike">
              <a:solidFill>
                <a:srgbClr val="B91C1C"/>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6"/>
          <p:cNvSpPr txBox="1"/>
          <p:nvPr>
            <p:ph type="title"/>
          </p:nvPr>
        </p:nvSpPr>
        <p:spPr>
          <a:xfrm>
            <a:off x="311785" y="0"/>
            <a:ext cx="6699250" cy="104775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GB">
                <a:solidFill>
                  <a:srgbClr val="FFFFFF"/>
                </a:solidFill>
              </a:rPr>
              <a:t>Volcano Technical Roadmap for 2026 and Beyond</a:t>
            </a:r>
            <a:endParaRPr>
              <a:solidFill>
                <a:srgbClr val="FFFFFF"/>
              </a:solidFill>
            </a:endParaRPr>
          </a:p>
        </p:txBody>
      </p:sp>
      <p:sp>
        <p:nvSpPr>
          <p:cNvPr id="356" name="Google Shape;356;p6"/>
          <p:cNvSpPr txBox="1"/>
          <p:nvPr>
            <p:ph idx="1" type="body"/>
          </p:nvPr>
        </p:nvSpPr>
        <p:spPr>
          <a:xfrm>
            <a:off x="736970" y="1248211"/>
            <a:ext cx="5649600" cy="2199600"/>
          </a:xfrm>
          <a:prstGeom prst="rect">
            <a:avLst/>
          </a:prstGeom>
          <a:noFill/>
          <a:ln>
            <a:noFill/>
          </a:ln>
        </p:spPr>
        <p:txBody>
          <a:bodyPr anchorCtr="0" anchor="t" bIns="0" lIns="0" spcFirstLastPara="1" rIns="0" wrap="square" tIns="0">
            <a:noAutofit/>
          </a:bodyPr>
          <a:lstStyle/>
          <a:p>
            <a:pPr indent="-151765" lvl="0" marL="302895" rtl="0" algn="l">
              <a:lnSpc>
                <a:spcPct val="115000"/>
              </a:lnSpc>
              <a:spcBef>
                <a:spcPts val="0"/>
              </a:spcBef>
              <a:spcAft>
                <a:spcPts val="0"/>
              </a:spcAft>
              <a:buSzPts val="1193"/>
              <a:buNone/>
            </a:pPr>
            <a:r>
              <a:t/>
            </a:r>
            <a:endParaRPr sz="795"/>
          </a:p>
        </p:txBody>
      </p:sp>
      <p:pic>
        <p:nvPicPr>
          <p:cNvPr descr="image.png" id="357" name="Google Shape;357;p6"/>
          <p:cNvPicPr preferRelativeResize="0"/>
          <p:nvPr/>
        </p:nvPicPr>
        <p:blipFill rotWithShape="1">
          <a:blip r:embed="rId3">
            <a:alphaModFix/>
          </a:blip>
          <a:srcRect b="0" l="0" r="0" t="0"/>
          <a:stretch/>
        </p:blipFill>
        <p:spPr>
          <a:xfrm>
            <a:off x="531900" y="1127650"/>
            <a:ext cx="8080202" cy="3902475"/>
          </a:xfrm>
          <a:prstGeom prst="rect">
            <a:avLst/>
          </a:prstGeom>
          <a:noFill/>
          <a:ln>
            <a:noFill/>
          </a:ln>
        </p:spPr>
      </p:pic>
      <p:pic>
        <p:nvPicPr>
          <p:cNvPr descr="image.png" id="358" name="Google Shape;358;p6"/>
          <p:cNvPicPr preferRelativeResize="0"/>
          <p:nvPr/>
        </p:nvPicPr>
        <p:blipFill rotWithShape="1">
          <a:blip r:embed="rId4">
            <a:alphaModFix/>
          </a:blip>
          <a:srcRect b="0" l="0" r="0" t="0"/>
          <a:stretch/>
        </p:blipFill>
        <p:spPr>
          <a:xfrm>
            <a:off x="7071865" y="1173082"/>
            <a:ext cx="1388788" cy="3705539"/>
          </a:xfrm>
          <a:prstGeom prst="rect">
            <a:avLst/>
          </a:prstGeom>
          <a:noFill/>
          <a:ln>
            <a:noFill/>
          </a:ln>
        </p:spPr>
      </p:pic>
      <p:pic>
        <p:nvPicPr>
          <p:cNvPr descr="image.png" id="359" name="Google Shape;359;p6"/>
          <p:cNvPicPr preferRelativeResize="0"/>
          <p:nvPr/>
        </p:nvPicPr>
        <p:blipFill rotWithShape="1">
          <a:blip r:embed="rId5">
            <a:alphaModFix/>
          </a:blip>
          <a:srcRect b="0" l="0" r="0" t="0"/>
          <a:stretch/>
        </p:blipFill>
        <p:spPr>
          <a:xfrm>
            <a:off x="1769181" y="2555557"/>
            <a:ext cx="5201642" cy="1161532"/>
          </a:xfrm>
          <a:prstGeom prst="rect">
            <a:avLst/>
          </a:prstGeom>
          <a:solidFill>
            <a:srgbClr val="FFFFFF"/>
          </a:solidFill>
          <a:ln>
            <a:noFill/>
          </a:ln>
        </p:spPr>
      </p:pic>
      <p:pic>
        <p:nvPicPr>
          <p:cNvPr descr="image.png" id="360" name="Google Shape;360;p6"/>
          <p:cNvPicPr preferRelativeResize="0"/>
          <p:nvPr/>
        </p:nvPicPr>
        <p:blipFill rotWithShape="1">
          <a:blip r:embed="rId6">
            <a:alphaModFix/>
          </a:blip>
          <a:srcRect b="0" l="0" r="0" t="0"/>
          <a:stretch/>
        </p:blipFill>
        <p:spPr>
          <a:xfrm>
            <a:off x="1769180" y="1260622"/>
            <a:ext cx="1262544" cy="531101"/>
          </a:xfrm>
          <a:prstGeom prst="rect">
            <a:avLst/>
          </a:prstGeom>
          <a:noFill/>
          <a:ln>
            <a:noFill/>
          </a:ln>
        </p:spPr>
      </p:pic>
      <p:pic>
        <p:nvPicPr>
          <p:cNvPr descr="image.png" id="361" name="Google Shape;361;p6"/>
          <p:cNvPicPr preferRelativeResize="0"/>
          <p:nvPr/>
        </p:nvPicPr>
        <p:blipFill rotWithShape="1">
          <a:blip r:embed="rId7">
            <a:alphaModFix/>
          </a:blip>
          <a:srcRect b="0" l="0" r="0" t="0"/>
          <a:stretch/>
        </p:blipFill>
        <p:spPr>
          <a:xfrm>
            <a:off x="3082226" y="1260622"/>
            <a:ext cx="1262543" cy="531101"/>
          </a:xfrm>
          <a:prstGeom prst="rect">
            <a:avLst/>
          </a:prstGeom>
          <a:noFill/>
          <a:ln>
            <a:noFill/>
          </a:ln>
        </p:spPr>
      </p:pic>
      <p:pic>
        <p:nvPicPr>
          <p:cNvPr descr="image.png" id="362" name="Google Shape;362;p6"/>
          <p:cNvPicPr preferRelativeResize="0"/>
          <p:nvPr/>
        </p:nvPicPr>
        <p:blipFill rotWithShape="1">
          <a:blip r:embed="rId8">
            <a:alphaModFix/>
          </a:blip>
          <a:srcRect b="0" l="0" r="0" t="0"/>
          <a:stretch/>
        </p:blipFill>
        <p:spPr>
          <a:xfrm>
            <a:off x="4395271" y="1260622"/>
            <a:ext cx="1262543" cy="531101"/>
          </a:xfrm>
          <a:prstGeom prst="rect">
            <a:avLst/>
          </a:prstGeom>
          <a:noFill/>
          <a:ln>
            <a:noFill/>
          </a:ln>
        </p:spPr>
      </p:pic>
      <p:pic>
        <p:nvPicPr>
          <p:cNvPr descr="image.png" id="363" name="Google Shape;363;p6"/>
          <p:cNvPicPr preferRelativeResize="0"/>
          <p:nvPr/>
        </p:nvPicPr>
        <p:blipFill rotWithShape="1">
          <a:blip r:embed="rId9">
            <a:alphaModFix/>
          </a:blip>
          <a:srcRect b="0" l="0" r="0" t="0"/>
          <a:stretch/>
        </p:blipFill>
        <p:spPr>
          <a:xfrm>
            <a:off x="5708318" y="1260622"/>
            <a:ext cx="1262543" cy="531101"/>
          </a:xfrm>
          <a:prstGeom prst="rect">
            <a:avLst/>
          </a:prstGeom>
          <a:noFill/>
          <a:ln>
            <a:noFill/>
          </a:ln>
        </p:spPr>
      </p:pic>
      <p:pic>
        <p:nvPicPr>
          <p:cNvPr descr="image.png" id="364" name="Google Shape;364;p6"/>
          <p:cNvPicPr preferRelativeResize="0"/>
          <p:nvPr/>
        </p:nvPicPr>
        <p:blipFill rotWithShape="1">
          <a:blip r:embed="rId10">
            <a:alphaModFix/>
          </a:blip>
          <a:srcRect b="0" l="0" r="0" t="0"/>
          <a:stretch/>
        </p:blipFill>
        <p:spPr>
          <a:xfrm>
            <a:off x="1769180" y="1943228"/>
            <a:ext cx="1262534" cy="536577"/>
          </a:xfrm>
          <a:prstGeom prst="rect">
            <a:avLst/>
          </a:prstGeom>
          <a:noFill/>
          <a:ln>
            <a:noFill/>
          </a:ln>
        </p:spPr>
      </p:pic>
      <p:pic>
        <p:nvPicPr>
          <p:cNvPr descr="image.png" id="365" name="Google Shape;365;p6"/>
          <p:cNvPicPr preferRelativeResize="0"/>
          <p:nvPr/>
        </p:nvPicPr>
        <p:blipFill rotWithShape="1">
          <a:blip r:embed="rId11">
            <a:alphaModFix/>
          </a:blip>
          <a:srcRect b="0" l="0" r="0" t="0"/>
          <a:stretch/>
        </p:blipFill>
        <p:spPr>
          <a:xfrm>
            <a:off x="3082226" y="1943228"/>
            <a:ext cx="1262535" cy="536577"/>
          </a:xfrm>
          <a:prstGeom prst="rect">
            <a:avLst/>
          </a:prstGeom>
          <a:noFill/>
          <a:ln>
            <a:noFill/>
          </a:ln>
        </p:spPr>
      </p:pic>
      <p:pic>
        <p:nvPicPr>
          <p:cNvPr descr="image.png" id="366" name="Google Shape;366;p6"/>
          <p:cNvPicPr preferRelativeResize="0"/>
          <p:nvPr/>
        </p:nvPicPr>
        <p:blipFill rotWithShape="1">
          <a:blip r:embed="rId12">
            <a:alphaModFix/>
          </a:blip>
          <a:srcRect b="0" l="0" r="0" t="0"/>
          <a:stretch/>
        </p:blipFill>
        <p:spPr>
          <a:xfrm>
            <a:off x="4395271" y="1943228"/>
            <a:ext cx="1262535" cy="536577"/>
          </a:xfrm>
          <a:prstGeom prst="rect">
            <a:avLst/>
          </a:prstGeom>
          <a:noFill/>
          <a:ln>
            <a:noFill/>
          </a:ln>
        </p:spPr>
      </p:pic>
      <p:pic>
        <p:nvPicPr>
          <p:cNvPr descr="image.png" id="367" name="Google Shape;367;p6"/>
          <p:cNvPicPr preferRelativeResize="0"/>
          <p:nvPr/>
        </p:nvPicPr>
        <p:blipFill rotWithShape="1">
          <a:blip r:embed="rId13">
            <a:alphaModFix/>
          </a:blip>
          <a:srcRect b="0" l="0" r="0" t="0"/>
          <a:stretch/>
        </p:blipFill>
        <p:spPr>
          <a:xfrm>
            <a:off x="5708318" y="1943228"/>
            <a:ext cx="1262535" cy="536577"/>
          </a:xfrm>
          <a:prstGeom prst="rect">
            <a:avLst/>
          </a:prstGeom>
          <a:noFill/>
          <a:ln>
            <a:noFill/>
          </a:ln>
        </p:spPr>
      </p:pic>
      <p:pic>
        <p:nvPicPr>
          <p:cNvPr descr="image.png" id="368" name="Google Shape;368;p6"/>
          <p:cNvPicPr preferRelativeResize="0"/>
          <p:nvPr/>
        </p:nvPicPr>
        <p:blipFill rotWithShape="1">
          <a:blip r:embed="rId14">
            <a:alphaModFix/>
          </a:blip>
          <a:srcRect b="0" l="0" r="0" t="0"/>
          <a:stretch/>
        </p:blipFill>
        <p:spPr>
          <a:xfrm>
            <a:off x="1769180" y="3792842"/>
            <a:ext cx="1700181" cy="505014"/>
          </a:xfrm>
          <a:prstGeom prst="rect">
            <a:avLst/>
          </a:prstGeom>
          <a:noFill/>
          <a:ln>
            <a:noFill/>
          </a:ln>
        </p:spPr>
      </p:pic>
      <p:pic>
        <p:nvPicPr>
          <p:cNvPr descr="image.png" id="369" name="Google Shape;369;p6"/>
          <p:cNvPicPr preferRelativeResize="0"/>
          <p:nvPr/>
        </p:nvPicPr>
        <p:blipFill rotWithShape="1">
          <a:blip r:embed="rId15">
            <a:alphaModFix/>
          </a:blip>
          <a:srcRect b="0" l="0" r="0" t="0"/>
          <a:stretch/>
        </p:blipFill>
        <p:spPr>
          <a:xfrm>
            <a:off x="3519875" y="3792842"/>
            <a:ext cx="1700181" cy="505014"/>
          </a:xfrm>
          <a:prstGeom prst="rect">
            <a:avLst/>
          </a:prstGeom>
          <a:noFill/>
          <a:ln>
            <a:noFill/>
          </a:ln>
        </p:spPr>
      </p:pic>
      <p:pic>
        <p:nvPicPr>
          <p:cNvPr descr="image.png" id="370" name="Google Shape;370;p6"/>
          <p:cNvPicPr preferRelativeResize="0"/>
          <p:nvPr/>
        </p:nvPicPr>
        <p:blipFill rotWithShape="1">
          <a:blip r:embed="rId16">
            <a:alphaModFix/>
          </a:blip>
          <a:srcRect b="0" l="0" r="0" t="0"/>
          <a:stretch/>
        </p:blipFill>
        <p:spPr>
          <a:xfrm>
            <a:off x="5270570" y="3792842"/>
            <a:ext cx="1700281" cy="505014"/>
          </a:xfrm>
          <a:prstGeom prst="rect">
            <a:avLst/>
          </a:prstGeom>
          <a:noFill/>
          <a:ln>
            <a:noFill/>
          </a:ln>
        </p:spPr>
      </p:pic>
      <p:pic>
        <p:nvPicPr>
          <p:cNvPr descr="image.png" id="371" name="Google Shape;371;p6"/>
          <p:cNvPicPr preferRelativeResize="0"/>
          <p:nvPr/>
        </p:nvPicPr>
        <p:blipFill rotWithShape="1">
          <a:blip r:embed="rId17">
            <a:alphaModFix/>
          </a:blip>
          <a:srcRect b="0" l="0" r="0" t="0"/>
          <a:stretch/>
        </p:blipFill>
        <p:spPr>
          <a:xfrm>
            <a:off x="1769180" y="4373608"/>
            <a:ext cx="1700181" cy="505014"/>
          </a:xfrm>
          <a:prstGeom prst="rect">
            <a:avLst/>
          </a:prstGeom>
          <a:noFill/>
          <a:ln>
            <a:noFill/>
          </a:ln>
        </p:spPr>
      </p:pic>
      <p:pic>
        <p:nvPicPr>
          <p:cNvPr descr="image.png" id="372" name="Google Shape;372;p6"/>
          <p:cNvPicPr preferRelativeResize="0"/>
          <p:nvPr/>
        </p:nvPicPr>
        <p:blipFill rotWithShape="1">
          <a:blip r:embed="rId18">
            <a:alphaModFix/>
          </a:blip>
          <a:srcRect b="0" l="0" r="0" t="0"/>
          <a:stretch/>
        </p:blipFill>
        <p:spPr>
          <a:xfrm>
            <a:off x="3519875" y="4373608"/>
            <a:ext cx="1700181" cy="505014"/>
          </a:xfrm>
          <a:prstGeom prst="rect">
            <a:avLst/>
          </a:prstGeom>
          <a:noFill/>
          <a:ln>
            <a:noFill/>
          </a:ln>
        </p:spPr>
      </p:pic>
      <p:pic>
        <p:nvPicPr>
          <p:cNvPr descr="image.png" id="373" name="Google Shape;373;p6"/>
          <p:cNvPicPr preferRelativeResize="0"/>
          <p:nvPr/>
        </p:nvPicPr>
        <p:blipFill rotWithShape="1">
          <a:blip r:embed="rId19">
            <a:alphaModFix/>
          </a:blip>
          <a:srcRect b="0" l="0" r="0" t="0"/>
          <a:stretch/>
        </p:blipFill>
        <p:spPr>
          <a:xfrm>
            <a:off x="5270570" y="4373608"/>
            <a:ext cx="1700281" cy="505014"/>
          </a:xfrm>
          <a:prstGeom prst="rect">
            <a:avLst/>
          </a:prstGeom>
          <a:noFill/>
          <a:ln>
            <a:noFill/>
          </a:ln>
        </p:spPr>
      </p:pic>
      <p:pic>
        <p:nvPicPr>
          <p:cNvPr descr="image.png" id="374" name="Google Shape;374;p6"/>
          <p:cNvPicPr preferRelativeResize="0"/>
          <p:nvPr/>
        </p:nvPicPr>
        <p:blipFill rotWithShape="1">
          <a:blip r:embed="rId20">
            <a:alphaModFix/>
          </a:blip>
          <a:srcRect b="0" l="0" r="0" t="0"/>
          <a:stretch/>
        </p:blipFill>
        <p:spPr>
          <a:xfrm>
            <a:off x="7179181" y="1665469"/>
            <a:ext cx="1174158" cy="441888"/>
          </a:xfrm>
          <a:prstGeom prst="rect">
            <a:avLst/>
          </a:prstGeom>
          <a:noFill/>
          <a:ln>
            <a:noFill/>
          </a:ln>
        </p:spPr>
      </p:pic>
      <p:pic>
        <p:nvPicPr>
          <p:cNvPr descr="image.png" id="375" name="Google Shape;375;p6"/>
          <p:cNvPicPr preferRelativeResize="0"/>
          <p:nvPr/>
        </p:nvPicPr>
        <p:blipFill rotWithShape="1">
          <a:blip r:embed="rId21">
            <a:alphaModFix/>
          </a:blip>
          <a:srcRect b="0" l="0" r="0" t="0"/>
          <a:stretch/>
        </p:blipFill>
        <p:spPr>
          <a:xfrm>
            <a:off x="7179181" y="2208360"/>
            <a:ext cx="1174158" cy="441888"/>
          </a:xfrm>
          <a:prstGeom prst="rect">
            <a:avLst/>
          </a:prstGeom>
          <a:noFill/>
          <a:ln>
            <a:noFill/>
          </a:ln>
        </p:spPr>
      </p:pic>
      <p:pic>
        <p:nvPicPr>
          <p:cNvPr descr="image.png" id="376" name="Google Shape;376;p6"/>
          <p:cNvPicPr preferRelativeResize="0"/>
          <p:nvPr/>
        </p:nvPicPr>
        <p:blipFill rotWithShape="1">
          <a:blip r:embed="rId21">
            <a:alphaModFix/>
          </a:blip>
          <a:srcRect b="0" l="0" r="0" t="0"/>
          <a:stretch/>
        </p:blipFill>
        <p:spPr>
          <a:xfrm>
            <a:off x="7179181" y="2751250"/>
            <a:ext cx="1174165" cy="511327"/>
          </a:xfrm>
          <a:prstGeom prst="rect">
            <a:avLst/>
          </a:prstGeom>
          <a:noFill/>
          <a:ln>
            <a:noFill/>
          </a:ln>
        </p:spPr>
      </p:pic>
      <p:pic>
        <p:nvPicPr>
          <p:cNvPr descr="image.png" id="377" name="Google Shape;377;p6"/>
          <p:cNvPicPr preferRelativeResize="0"/>
          <p:nvPr/>
        </p:nvPicPr>
        <p:blipFill rotWithShape="1">
          <a:blip r:embed="rId22">
            <a:alphaModFix/>
          </a:blip>
          <a:srcRect b="0" l="0" r="0" t="0"/>
          <a:stretch/>
        </p:blipFill>
        <p:spPr>
          <a:xfrm>
            <a:off x="1844933" y="3338329"/>
            <a:ext cx="5050174" cy="303008"/>
          </a:xfrm>
          <a:prstGeom prst="rect">
            <a:avLst/>
          </a:prstGeom>
          <a:noFill/>
          <a:ln>
            <a:noFill/>
          </a:ln>
        </p:spPr>
      </p:pic>
      <p:pic>
        <p:nvPicPr>
          <p:cNvPr descr="image.png" id="378" name="Google Shape;378;p6"/>
          <p:cNvPicPr preferRelativeResize="0"/>
          <p:nvPr/>
        </p:nvPicPr>
        <p:blipFill rotWithShape="1">
          <a:blip r:embed="rId23">
            <a:alphaModFix/>
          </a:blip>
          <a:srcRect b="0" l="0" r="0" t="0"/>
          <a:stretch/>
        </p:blipFill>
        <p:spPr>
          <a:xfrm>
            <a:off x="1844933" y="2631309"/>
            <a:ext cx="1649690" cy="631267"/>
          </a:xfrm>
          <a:prstGeom prst="rect">
            <a:avLst/>
          </a:prstGeom>
          <a:noFill/>
          <a:ln>
            <a:noFill/>
          </a:ln>
        </p:spPr>
      </p:pic>
      <p:pic>
        <p:nvPicPr>
          <p:cNvPr descr="image.png" id="379" name="Google Shape;379;p6"/>
          <p:cNvPicPr preferRelativeResize="0"/>
          <p:nvPr/>
        </p:nvPicPr>
        <p:blipFill rotWithShape="1">
          <a:blip r:embed="rId24">
            <a:alphaModFix/>
          </a:blip>
          <a:srcRect b="0" l="0" r="0" t="0"/>
          <a:stretch/>
        </p:blipFill>
        <p:spPr>
          <a:xfrm>
            <a:off x="3570376" y="2631309"/>
            <a:ext cx="1473528" cy="631267"/>
          </a:xfrm>
          <a:prstGeom prst="rect">
            <a:avLst/>
          </a:prstGeom>
          <a:noFill/>
          <a:ln>
            <a:noFill/>
          </a:ln>
        </p:spPr>
      </p:pic>
      <p:pic>
        <p:nvPicPr>
          <p:cNvPr descr="image.png" id="380" name="Google Shape;380;p6"/>
          <p:cNvPicPr preferRelativeResize="0"/>
          <p:nvPr/>
        </p:nvPicPr>
        <p:blipFill rotWithShape="1">
          <a:blip r:embed="rId25">
            <a:alphaModFix/>
          </a:blip>
          <a:srcRect b="0" l="0" r="0" t="0"/>
          <a:stretch/>
        </p:blipFill>
        <p:spPr>
          <a:xfrm>
            <a:off x="5119755" y="2621841"/>
            <a:ext cx="1775255" cy="631267"/>
          </a:xfrm>
          <a:prstGeom prst="rect">
            <a:avLst/>
          </a:prstGeom>
          <a:noFill/>
          <a:ln>
            <a:noFill/>
          </a:ln>
        </p:spPr>
      </p:pic>
      <p:sp>
        <p:nvSpPr>
          <p:cNvPr id="381" name="Google Shape;381;p6"/>
          <p:cNvSpPr txBox="1"/>
          <p:nvPr/>
        </p:nvSpPr>
        <p:spPr>
          <a:xfrm>
            <a:off x="683392" y="1434225"/>
            <a:ext cx="909000" cy="172200"/>
          </a:xfrm>
          <a:prstGeom prst="rect">
            <a:avLst/>
          </a:prstGeom>
          <a:noFill/>
          <a:ln>
            <a:noFill/>
          </a:ln>
        </p:spPr>
        <p:txBody>
          <a:bodyPr anchorCtr="0" anchor="ctr" bIns="0" lIns="0" spcFirstLastPara="1" rIns="0" wrap="square" tIns="0">
            <a:spAutoFit/>
          </a:bodyPr>
          <a:lstStyle/>
          <a:p>
            <a:pPr indent="0" lvl="0" marL="0" marR="0" rtl="0" algn="r">
              <a:lnSpc>
                <a:spcPct val="75000"/>
              </a:lnSpc>
              <a:spcBef>
                <a:spcPts val="0"/>
              </a:spcBef>
              <a:spcAft>
                <a:spcPts val="0"/>
              </a:spcAft>
              <a:buClr>
                <a:srgbClr val="000000"/>
              </a:buClr>
              <a:buSzPts val="745"/>
              <a:buFont typeface="Arial"/>
              <a:buNone/>
            </a:pPr>
            <a:r>
              <a:rPr b="1" i="0" lang="en-GB" sz="745" u="none" cap="none" strike="noStrike">
                <a:solidFill>
                  <a:srgbClr val="374151"/>
                </a:solidFill>
                <a:latin typeface="Calibri"/>
                <a:ea typeface="Calibri"/>
                <a:cs typeface="Calibri"/>
                <a:sym typeface="Calibri"/>
              </a:rPr>
              <a:t>Application &amp;</a:t>
            </a:r>
            <a:br>
              <a:rPr b="0" i="0" lang="en-GB" sz="1190" u="none" cap="none" strike="noStrike">
                <a:solidFill>
                  <a:srgbClr val="000000"/>
                </a:solidFill>
                <a:latin typeface="Calibri"/>
                <a:ea typeface="Calibri"/>
                <a:cs typeface="Calibri"/>
                <a:sym typeface="Calibri"/>
              </a:rPr>
            </a:br>
            <a:r>
              <a:rPr b="1" i="0" lang="en-GB" sz="745" u="none" cap="none" strike="noStrike">
                <a:solidFill>
                  <a:srgbClr val="374151"/>
                </a:solidFill>
                <a:latin typeface="Calibri"/>
                <a:ea typeface="Calibri"/>
                <a:cs typeface="Calibri"/>
                <a:sym typeface="Calibri"/>
              </a:rPr>
              <a:t> Workload Ecosystem</a:t>
            </a:r>
            <a:endParaRPr b="0" i="0" sz="925" u="none" cap="none" strike="noStrike">
              <a:solidFill>
                <a:srgbClr val="000000"/>
              </a:solidFill>
              <a:latin typeface="Calibri"/>
              <a:ea typeface="Calibri"/>
              <a:cs typeface="Calibri"/>
              <a:sym typeface="Calibri"/>
            </a:endParaRPr>
          </a:p>
        </p:txBody>
      </p:sp>
      <p:sp>
        <p:nvSpPr>
          <p:cNvPr id="382" name="Google Shape;382;p6"/>
          <p:cNvSpPr/>
          <p:nvPr/>
        </p:nvSpPr>
        <p:spPr>
          <a:xfrm>
            <a:off x="1674491" y="1260622"/>
            <a:ext cx="18900" cy="531000"/>
          </a:xfrm>
          <a:prstGeom prst="rect">
            <a:avLst/>
          </a:prstGeom>
          <a:solidFill>
            <a:srgbClr val="D1D5DB"/>
          </a:solidFill>
          <a:ln>
            <a:noFill/>
          </a:ln>
        </p:spPr>
        <p:txBody>
          <a:bodyPr anchorCtr="0" anchor="ctr" bIns="30300" lIns="60600" spcFirstLastPara="1" rIns="60600" wrap="square" tIns="30300">
            <a:noAutofit/>
          </a:bodyPr>
          <a:lstStyle/>
          <a:p>
            <a:pPr indent="0" lvl="0" marL="0" marR="0" rtl="0" algn="ctr">
              <a:lnSpc>
                <a:spcPct val="100000"/>
              </a:lnSpc>
              <a:spcBef>
                <a:spcPts val="0"/>
              </a:spcBef>
              <a:spcAft>
                <a:spcPts val="0"/>
              </a:spcAft>
              <a:buClr>
                <a:srgbClr val="000000"/>
              </a:buClr>
              <a:buSzPts val="1190"/>
              <a:buFont typeface="Arial"/>
              <a:buNone/>
            </a:pPr>
            <a:r>
              <a:t/>
            </a:r>
            <a:endParaRPr b="0" i="0" sz="1190" u="none" cap="none" strike="noStrike">
              <a:solidFill>
                <a:srgbClr val="000000"/>
              </a:solidFill>
              <a:latin typeface="Calibri"/>
              <a:ea typeface="Calibri"/>
              <a:cs typeface="Calibri"/>
              <a:sym typeface="Calibri"/>
            </a:endParaRPr>
          </a:p>
        </p:txBody>
      </p:sp>
      <p:sp>
        <p:nvSpPr>
          <p:cNvPr id="383" name="Google Shape;383;p6"/>
          <p:cNvSpPr txBox="1"/>
          <p:nvPr/>
        </p:nvSpPr>
        <p:spPr>
          <a:xfrm>
            <a:off x="683392" y="2125462"/>
            <a:ext cx="909000" cy="172200"/>
          </a:xfrm>
          <a:prstGeom prst="rect">
            <a:avLst/>
          </a:prstGeom>
          <a:noFill/>
          <a:ln>
            <a:noFill/>
          </a:ln>
        </p:spPr>
        <p:txBody>
          <a:bodyPr anchorCtr="0" anchor="ctr" bIns="0" lIns="0" spcFirstLastPara="1" rIns="0" wrap="square" tIns="0">
            <a:spAutoFit/>
          </a:bodyPr>
          <a:lstStyle/>
          <a:p>
            <a:pPr indent="0" lvl="0" marL="0" marR="0" rtl="0" algn="r">
              <a:lnSpc>
                <a:spcPct val="75000"/>
              </a:lnSpc>
              <a:spcBef>
                <a:spcPts val="0"/>
              </a:spcBef>
              <a:spcAft>
                <a:spcPts val="0"/>
              </a:spcAft>
              <a:buClr>
                <a:srgbClr val="000000"/>
              </a:buClr>
              <a:buSzPts val="745"/>
              <a:buFont typeface="Arial"/>
              <a:buNone/>
            </a:pPr>
            <a:r>
              <a:rPr b="1" i="0" lang="en-GB" sz="745" u="none" cap="none" strike="noStrike">
                <a:solidFill>
                  <a:srgbClr val="374151"/>
                </a:solidFill>
                <a:latin typeface="Calibri"/>
                <a:ea typeface="Calibri"/>
                <a:cs typeface="Calibri"/>
                <a:sym typeface="Calibri"/>
              </a:rPr>
              <a:t>Workloads</a:t>
            </a:r>
            <a:br>
              <a:rPr b="0" i="0" lang="en-GB" sz="1190" u="none" cap="none" strike="noStrike">
                <a:solidFill>
                  <a:srgbClr val="000000"/>
                </a:solidFill>
                <a:latin typeface="Calibri"/>
                <a:ea typeface="Calibri"/>
                <a:cs typeface="Calibri"/>
                <a:sym typeface="Calibri"/>
              </a:rPr>
            </a:br>
            <a:r>
              <a:rPr b="1" i="0" lang="en-GB" sz="745" u="none" cap="none" strike="noStrike">
                <a:solidFill>
                  <a:srgbClr val="374151"/>
                </a:solidFill>
                <a:latin typeface="Calibri"/>
                <a:ea typeface="Calibri"/>
                <a:cs typeface="Calibri"/>
                <a:sym typeface="Calibri"/>
              </a:rPr>
              <a:t> &amp; Job Orchestration</a:t>
            </a:r>
            <a:endParaRPr b="0" i="0" sz="930" u="none" cap="none" strike="noStrike">
              <a:solidFill>
                <a:srgbClr val="000000"/>
              </a:solidFill>
              <a:latin typeface="Arial"/>
              <a:ea typeface="Arial"/>
              <a:cs typeface="Arial"/>
              <a:sym typeface="Arial"/>
            </a:endParaRPr>
          </a:p>
        </p:txBody>
      </p:sp>
      <p:sp>
        <p:nvSpPr>
          <p:cNvPr id="384" name="Google Shape;384;p6"/>
          <p:cNvSpPr/>
          <p:nvPr/>
        </p:nvSpPr>
        <p:spPr>
          <a:xfrm>
            <a:off x="1674491" y="1943228"/>
            <a:ext cx="18900" cy="537000"/>
          </a:xfrm>
          <a:prstGeom prst="rect">
            <a:avLst/>
          </a:prstGeom>
          <a:solidFill>
            <a:srgbClr val="FECACA"/>
          </a:solidFill>
          <a:ln>
            <a:noFill/>
          </a:ln>
        </p:spPr>
        <p:txBody>
          <a:bodyPr anchorCtr="0" anchor="ctr" bIns="30300" lIns="60600" spcFirstLastPara="1" rIns="60600" wrap="square" tIns="30300">
            <a:noAutofit/>
          </a:bodyPr>
          <a:lstStyle/>
          <a:p>
            <a:pPr indent="0" lvl="0" marL="0" marR="0" rtl="0" algn="ctr">
              <a:lnSpc>
                <a:spcPct val="100000"/>
              </a:lnSpc>
              <a:spcBef>
                <a:spcPts val="0"/>
              </a:spcBef>
              <a:spcAft>
                <a:spcPts val="0"/>
              </a:spcAft>
              <a:buClr>
                <a:srgbClr val="000000"/>
              </a:buClr>
              <a:buSzPts val="1190"/>
              <a:buFont typeface="Arial"/>
              <a:buNone/>
            </a:pPr>
            <a:r>
              <a:t/>
            </a:r>
            <a:endParaRPr b="0" i="0" sz="1190" u="none" cap="none" strike="noStrike">
              <a:solidFill>
                <a:srgbClr val="000000"/>
              </a:solidFill>
              <a:latin typeface="Calibri"/>
              <a:ea typeface="Calibri"/>
              <a:cs typeface="Calibri"/>
              <a:sym typeface="Calibri"/>
            </a:endParaRPr>
          </a:p>
        </p:txBody>
      </p:sp>
      <p:sp>
        <p:nvSpPr>
          <p:cNvPr id="385" name="Google Shape;385;p6"/>
          <p:cNvSpPr txBox="1"/>
          <p:nvPr/>
        </p:nvSpPr>
        <p:spPr>
          <a:xfrm>
            <a:off x="683392" y="3050270"/>
            <a:ext cx="909000" cy="172200"/>
          </a:xfrm>
          <a:prstGeom prst="rect">
            <a:avLst/>
          </a:prstGeom>
          <a:noFill/>
          <a:ln>
            <a:noFill/>
          </a:ln>
        </p:spPr>
        <p:txBody>
          <a:bodyPr anchorCtr="0" anchor="ctr" bIns="0" lIns="0" spcFirstLastPara="1" rIns="0" wrap="square" tIns="0">
            <a:spAutoFit/>
          </a:bodyPr>
          <a:lstStyle/>
          <a:p>
            <a:pPr indent="0" lvl="0" marL="0" marR="0" rtl="0" algn="r">
              <a:lnSpc>
                <a:spcPct val="75000"/>
              </a:lnSpc>
              <a:spcBef>
                <a:spcPts val="0"/>
              </a:spcBef>
              <a:spcAft>
                <a:spcPts val="0"/>
              </a:spcAft>
              <a:buClr>
                <a:srgbClr val="000000"/>
              </a:buClr>
              <a:buSzPts val="745"/>
              <a:buFont typeface="Arial"/>
              <a:buNone/>
            </a:pPr>
            <a:r>
              <a:rPr b="1" i="0" lang="en-GB" sz="745" u="none" cap="none" strike="noStrike">
                <a:solidFill>
                  <a:srgbClr val="991B1B"/>
                </a:solidFill>
                <a:latin typeface="Calibri"/>
                <a:ea typeface="Calibri"/>
                <a:cs typeface="Calibri"/>
                <a:sym typeface="Calibri"/>
              </a:rPr>
              <a:t>Volcano</a:t>
            </a:r>
            <a:br>
              <a:rPr b="0" i="0" lang="en-GB" sz="1190" u="none" cap="none" strike="noStrike">
                <a:solidFill>
                  <a:srgbClr val="000000"/>
                </a:solidFill>
                <a:latin typeface="Calibri"/>
                <a:ea typeface="Calibri"/>
                <a:cs typeface="Calibri"/>
                <a:sym typeface="Calibri"/>
              </a:rPr>
            </a:br>
            <a:r>
              <a:rPr b="1" i="0" lang="en-GB" sz="745" u="none" cap="none" strike="noStrike">
                <a:solidFill>
                  <a:srgbClr val="991B1B"/>
                </a:solidFill>
                <a:latin typeface="Calibri"/>
                <a:ea typeface="Calibri"/>
                <a:cs typeface="Calibri"/>
                <a:sym typeface="Calibri"/>
              </a:rPr>
              <a:t> Core Scheduler</a:t>
            </a:r>
            <a:endParaRPr b="0" i="0" sz="925" u="none" cap="none" strike="noStrike">
              <a:solidFill>
                <a:srgbClr val="000000"/>
              </a:solidFill>
              <a:latin typeface="Calibri"/>
              <a:ea typeface="Calibri"/>
              <a:cs typeface="Calibri"/>
              <a:sym typeface="Calibri"/>
            </a:endParaRPr>
          </a:p>
        </p:txBody>
      </p:sp>
      <p:sp>
        <p:nvSpPr>
          <p:cNvPr id="386" name="Google Shape;386;p6"/>
          <p:cNvSpPr/>
          <p:nvPr/>
        </p:nvSpPr>
        <p:spPr>
          <a:xfrm>
            <a:off x="1674491" y="2555557"/>
            <a:ext cx="18900" cy="1161600"/>
          </a:xfrm>
          <a:prstGeom prst="rect">
            <a:avLst/>
          </a:prstGeom>
          <a:solidFill>
            <a:srgbClr val="B91C1C"/>
          </a:solidFill>
          <a:ln>
            <a:noFill/>
          </a:ln>
        </p:spPr>
        <p:txBody>
          <a:bodyPr anchorCtr="0" anchor="ctr" bIns="30300" lIns="60600" spcFirstLastPara="1" rIns="60600" wrap="square" tIns="30300">
            <a:noAutofit/>
          </a:bodyPr>
          <a:lstStyle/>
          <a:p>
            <a:pPr indent="0" lvl="0" marL="0" marR="0" rtl="0" algn="ctr">
              <a:lnSpc>
                <a:spcPct val="100000"/>
              </a:lnSpc>
              <a:spcBef>
                <a:spcPts val="0"/>
              </a:spcBef>
              <a:spcAft>
                <a:spcPts val="0"/>
              </a:spcAft>
              <a:buClr>
                <a:srgbClr val="000000"/>
              </a:buClr>
              <a:buSzPts val="1190"/>
              <a:buFont typeface="Arial"/>
              <a:buNone/>
            </a:pPr>
            <a:r>
              <a:t/>
            </a:r>
            <a:endParaRPr b="0" i="0" sz="1190" u="none" cap="none" strike="noStrike">
              <a:solidFill>
                <a:srgbClr val="000000"/>
              </a:solidFill>
              <a:latin typeface="Calibri"/>
              <a:ea typeface="Calibri"/>
              <a:cs typeface="Calibri"/>
              <a:sym typeface="Calibri"/>
            </a:endParaRPr>
          </a:p>
        </p:txBody>
      </p:sp>
      <p:sp>
        <p:nvSpPr>
          <p:cNvPr id="387" name="Google Shape;387;p6"/>
          <p:cNvSpPr txBox="1"/>
          <p:nvPr/>
        </p:nvSpPr>
        <p:spPr>
          <a:xfrm>
            <a:off x="683392" y="3930611"/>
            <a:ext cx="909000" cy="2295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745"/>
              <a:buFont typeface="Arial"/>
              <a:buNone/>
            </a:pPr>
            <a:r>
              <a:rPr b="1" i="0" lang="en-GB" sz="745" u="none" cap="none" strike="noStrike">
                <a:solidFill>
                  <a:srgbClr val="374151"/>
                </a:solidFill>
                <a:latin typeface="Calibri"/>
                <a:ea typeface="Calibri"/>
                <a:cs typeface="Calibri"/>
                <a:sym typeface="Calibri"/>
              </a:rPr>
              <a:t>Resource </a:t>
            </a:r>
            <a:br>
              <a:rPr b="1" i="0" lang="en-GB" sz="745" u="none" cap="none" strike="noStrike">
                <a:solidFill>
                  <a:srgbClr val="374151"/>
                </a:solidFill>
                <a:latin typeface="Calibri"/>
                <a:ea typeface="Calibri"/>
                <a:cs typeface="Calibri"/>
                <a:sym typeface="Calibri"/>
              </a:rPr>
            </a:br>
            <a:r>
              <a:rPr b="1" i="0" lang="en-GB" sz="745" u="none" cap="none" strike="noStrike">
                <a:solidFill>
                  <a:srgbClr val="374151"/>
                </a:solidFill>
                <a:latin typeface="Calibri"/>
                <a:ea typeface="Calibri"/>
                <a:cs typeface="Calibri"/>
                <a:sym typeface="Calibri"/>
              </a:rPr>
              <a:t>Management</a:t>
            </a:r>
            <a:endParaRPr b="0" i="0" sz="925" u="none" cap="none" strike="noStrike">
              <a:solidFill>
                <a:srgbClr val="000000"/>
              </a:solidFill>
              <a:latin typeface="Calibri"/>
              <a:ea typeface="Calibri"/>
              <a:cs typeface="Calibri"/>
              <a:sym typeface="Calibri"/>
            </a:endParaRPr>
          </a:p>
        </p:txBody>
      </p:sp>
      <p:sp>
        <p:nvSpPr>
          <p:cNvPr id="388" name="Google Shape;388;p6"/>
          <p:cNvSpPr/>
          <p:nvPr/>
        </p:nvSpPr>
        <p:spPr>
          <a:xfrm>
            <a:off x="1674491" y="3792842"/>
            <a:ext cx="18900" cy="505200"/>
          </a:xfrm>
          <a:prstGeom prst="rect">
            <a:avLst/>
          </a:prstGeom>
          <a:solidFill>
            <a:srgbClr val="D1D5DB"/>
          </a:solidFill>
          <a:ln>
            <a:noFill/>
          </a:ln>
        </p:spPr>
        <p:txBody>
          <a:bodyPr anchorCtr="0" anchor="ctr" bIns="30300" lIns="60600" spcFirstLastPara="1" rIns="60600" wrap="square" tIns="30300">
            <a:noAutofit/>
          </a:bodyPr>
          <a:lstStyle/>
          <a:p>
            <a:pPr indent="0" lvl="0" marL="0" marR="0" rtl="0" algn="ctr">
              <a:lnSpc>
                <a:spcPct val="100000"/>
              </a:lnSpc>
              <a:spcBef>
                <a:spcPts val="0"/>
              </a:spcBef>
              <a:spcAft>
                <a:spcPts val="0"/>
              </a:spcAft>
              <a:buClr>
                <a:srgbClr val="000000"/>
              </a:buClr>
              <a:buSzPts val="1190"/>
              <a:buFont typeface="Arial"/>
              <a:buNone/>
            </a:pPr>
            <a:r>
              <a:t/>
            </a:r>
            <a:endParaRPr b="0" i="0" sz="1190" u="none" cap="none" strike="noStrike">
              <a:solidFill>
                <a:srgbClr val="000000"/>
              </a:solidFill>
              <a:latin typeface="Calibri"/>
              <a:ea typeface="Calibri"/>
              <a:cs typeface="Calibri"/>
              <a:sym typeface="Calibri"/>
            </a:endParaRPr>
          </a:p>
        </p:txBody>
      </p:sp>
      <p:sp>
        <p:nvSpPr>
          <p:cNvPr id="389" name="Google Shape;389;p6"/>
          <p:cNvSpPr txBox="1"/>
          <p:nvPr/>
        </p:nvSpPr>
        <p:spPr>
          <a:xfrm>
            <a:off x="683392" y="4540062"/>
            <a:ext cx="909000" cy="172200"/>
          </a:xfrm>
          <a:prstGeom prst="rect">
            <a:avLst/>
          </a:prstGeom>
          <a:noFill/>
          <a:ln>
            <a:noFill/>
          </a:ln>
        </p:spPr>
        <p:txBody>
          <a:bodyPr anchorCtr="0" anchor="ctr" bIns="0" lIns="0" spcFirstLastPara="1" rIns="0" wrap="square" tIns="0">
            <a:spAutoFit/>
          </a:bodyPr>
          <a:lstStyle/>
          <a:p>
            <a:pPr indent="0" lvl="0" marL="0" marR="0" rtl="0" algn="r">
              <a:lnSpc>
                <a:spcPct val="75000"/>
              </a:lnSpc>
              <a:spcBef>
                <a:spcPts val="0"/>
              </a:spcBef>
              <a:spcAft>
                <a:spcPts val="0"/>
              </a:spcAft>
              <a:buClr>
                <a:srgbClr val="000000"/>
              </a:buClr>
              <a:buSzPts val="745"/>
              <a:buFont typeface="Arial"/>
              <a:buNone/>
            </a:pPr>
            <a:r>
              <a:rPr b="1" i="0" lang="en-GB" sz="745" u="none" cap="none" strike="noStrike">
                <a:solidFill>
                  <a:srgbClr val="374151"/>
                </a:solidFill>
                <a:latin typeface="Calibri"/>
                <a:ea typeface="Calibri"/>
                <a:cs typeface="Calibri"/>
                <a:sym typeface="Calibri"/>
              </a:rPr>
              <a:t>Infrastructure &amp;</a:t>
            </a:r>
            <a:br>
              <a:rPr b="0" i="0" lang="en-GB" sz="1190" u="none" cap="none" strike="noStrike">
                <a:solidFill>
                  <a:srgbClr val="000000"/>
                </a:solidFill>
                <a:latin typeface="Calibri"/>
                <a:ea typeface="Calibri"/>
                <a:cs typeface="Calibri"/>
                <a:sym typeface="Calibri"/>
              </a:rPr>
            </a:br>
            <a:r>
              <a:rPr b="1" i="0" lang="en-GB" sz="745" u="none" cap="none" strike="noStrike">
                <a:solidFill>
                  <a:srgbClr val="374151"/>
                </a:solidFill>
                <a:latin typeface="Calibri"/>
                <a:ea typeface="Calibri"/>
                <a:cs typeface="Calibri"/>
                <a:sym typeface="Calibri"/>
              </a:rPr>
              <a:t> Runtime</a:t>
            </a:r>
            <a:endParaRPr b="0" i="0" sz="925" u="none" cap="none" strike="noStrike">
              <a:solidFill>
                <a:srgbClr val="000000"/>
              </a:solidFill>
              <a:latin typeface="Calibri"/>
              <a:ea typeface="Calibri"/>
              <a:cs typeface="Calibri"/>
              <a:sym typeface="Calibri"/>
            </a:endParaRPr>
          </a:p>
        </p:txBody>
      </p:sp>
      <p:sp>
        <p:nvSpPr>
          <p:cNvPr id="390" name="Google Shape;390;p6"/>
          <p:cNvSpPr/>
          <p:nvPr/>
        </p:nvSpPr>
        <p:spPr>
          <a:xfrm>
            <a:off x="1674491" y="4373608"/>
            <a:ext cx="18900" cy="505200"/>
          </a:xfrm>
          <a:prstGeom prst="rect">
            <a:avLst/>
          </a:prstGeom>
          <a:solidFill>
            <a:srgbClr val="9CA3AF"/>
          </a:solidFill>
          <a:ln>
            <a:noFill/>
          </a:ln>
        </p:spPr>
        <p:txBody>
          <a:bodyPr anchorCtr="0" anchor="ctr" bIns="30300" lIns="60600" spcFirstLastPara="1" rIns="60600" wrap="square" tIns="30300">
            <a:noAutofit/>
          </a:bodyPr>
          <a:lstStyle/>
          <a:p>
            <a:pPr indent="0" lvl="0" marL="0" marR="0" rtl="0" algn="ctr">
              <a:lnSpc>
                <a:spcPct val="100000"/>
              </a:lnSpc>
              <a:spcBef>
                <a:spcPts val="0"/>
              </a:spcBef>
              <a:spcAft>
                <a:spcPts val="0"/>
              </a:spcAft>
              <a:buClr>
                <a:srgbClr val="000000"/>
              </a:buClr>
              <a:buSzPts val="1190"/>
              <a:buFont typeface="Arial"/>
              <a:buNone/>
            </a:pPr>
            <a:r>
              <a:t/>
            </a:r>
            <a:endParaRPr b="0" i="0" sz="1190" u="none" cap="none" strike="noStrike">
              <a:solidFill>
                <a:srgbClr val="000000"/>
              </a:solidFill>
              <a:latin typeface="Calibri"/>
              <a:ea typeface="Calibri"/>
              <a:cs typeface="Calibri"/>
              <a:sym typeface="Calibri"/>
            </a:endParaRPr>
          </a:p>
        </p:txBody>
      </p:sp>
      <p:sp>
        <p:nvSpPr>
          <p:cNvPr id="391" name="Google Shape;391;p6"/>
          <p:cNvSpPr/>
          <p:nvPr/>
        </p:nvSpPr>
        <p:spPr>
          <a:xfrm>
            <a:off x="7078178" y="1179394"/>
            <a:ext cx="1376100" cy="50700"/>
          </a:xfrm>
          <a:prstGeom prst="roundRect">
            <a:avLst>
              <a:gd fmla="val 16667" name="adj"/>
            </a:avLst>
          </a:prstGeom>
          <a:solidFill>
            <a:srgbClr val="9CA3AF"/>
          </a:solidFill>
          <a:ln>
            <a:noFill/>
          </a:ln>
        </p:spPr>
        <p:txBody>
          <a:bodyPr anchorCtr="0" anchor="ctr" bIns="30300" lIns="60600" spcFirstLastPara="1" rIns="60600" wrap="square" tIns="30300">
            <a:noAutofit/>
          </a:bodyPr>
          <a:lstStyle/>
          <a:p>
            <a:pPr indent="0" lvl="0" marL="0" marR="0" rtl="0" algn="ctr">
              <a:lnSpc>
                <a:spcPct val="100000"/>
              </a:lnSpc>
              <a:spcBef>
                <a:spcPts val="0"/>
              </a:spcBef>
              <a:spcAft>
                <a:spcPts val="0"/>
              </a:spcAft>
              <a:buClr>
                <a:srgbClr val="000000"/>
              </a:buClr>
              <a:buSzPts val="1190"/>
              <a:buFont typeface="Arial"/>
              <a:buNone/>
            </a:pPr>
            <a:r>
              <a:t/>
            </a:r>
            <a:endParaRPr b="0" i="0" sz="1190" u="none" cap="none" strike="noStrike">
              <a:solidFill>
                <a:srgbClr val="000000"/>
              </a:solidFill>
              <a:latin typeface="Calibri"/>
              <a:ea typeface="Calibri"/>
              <a:cs typeface="Calibri"/>
              <a:sym typeface="Calibri"/>
            </a:endParaRPr>
          </a:p>
        </p:txBody>
      </p:sp>
      <p:sp>
        <p:nvSpPr>
          <p:cNvPr id="392" name="Google Shape;392;p6"/>
          <p:cNvSpPr txBox="1"/>
          <p:nvPr/>
        </p:nvSpPr>
        <p:spPr>
          <a:xfrm>
            <a:off x="7179181" y="1280398"/>
            <a:ext cx="1173900" cy="2334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795"/>
              <a:buFont typeface="Arial"/>
              <a:buNone/>
            </a:pPr>
            <a:r>
              <a:rPr b="0" i="0" lang="en-GB" sz="795" u="none" cap="none" strike="noStrike">
                <a:solidFill>
                  <a:srgbClr val="6B7280"/>
                </a:solidFill>
                <a:latin typeface="Calibri"/>
                <a:ea typeface="Calibri"/>
                <a:cs typeface="Calibri"/>
                <a:sym typeface="Calibri"/>
              </a:rPr>
              <a:t>Ops &amp; Tooling</a:t>
            </a:r>
            <a:endParaRPr b="0" i="0" sz="925" u="none" cap="none" strike="noStrike">
              <a:solidFill>
                <a:srgbClr val="000000"/>
              </a:solidFill>
              <a:latin typeface="Calibri"/>
              <a:ea typeface="Calibri"/>
              <a:cs typeface="Calibri"/>
              <a:sym typeface="Calibri"/>
            </a:endParaRPr>
          </a:p>
        </p:txBody>
      </p:sp>
      <p:sp>
        <p:nvSpPr>
          <p:cNvPr id="393" name="Google Shape;393;p6"/>
          <p:cNvSpPr/>
          <p:nvPr/>
        </p:nvSpPr>
        <p:spPr>
          <a:xfrm>
            <a:off x="7179181" y="1558155"/>
            <a:ext cx="1173900" cy="6600"/>
          </a:xfrm>
          <a:prstGeom prst="rect">
            <a:avLst/>
          </a:prstGeom>
          <a:solidFill>
            <a:srgbClr val="FECACA"/>
          </a:solidFill>
          <a:ln>
            <a:noFill/>
          </a:ln>
        </p:spPr>
        <p:txBody>
          <a:bodyPr anchorCtr="0" anchor="ctr" bIns="30300" lIns="60600" spcFirstLastPara="1" rIns="60600" wrap="square" tIns="30300">
            <a:noAutofit/>
          </a:bodyPr>
          <a:lstStyle/>
          <a:p>
            <a:pPr indent="0" lvl="0" marL="0" marR="0" rtl="0" algn="ctr">
              <a:lnSpc>
                <a:spcPct val="100000"/>
              </a:lnSpc>
              <a:spcBef>
                <a:spcPts val="0"/>
              </a:spcBef>
              <a:spcAft>
                <a:spcPts val="0"/>
              </a:spcAft>
              <a:buClr>
                <a:srgbClr val="000000"/>
              </a:buClr>
              <a:buSzPts val="1190"/>
              <a:buFont typeface="Arial"/>
              <a:buNone/>
            </a:pPr>
            <a:r>
              <a:t/>
            </a:r>
            <a:endParaRPr b="0" i="0" sz="1190" u="none" cap="none" strike="noStrike">
              <a:solidFill>
                <a:srgbClr val="000000"/>
              </a:solidFill>
              <a:latin typeface="Calibri"/>
              <a:ea typeface="Calibri"/>
              <a:cs typeface="Calibri"/>
              <a:sym typeface="Calibri"/>
            </a:endParaRPr>
          </a:p>
        </p:txBody>
      </p:sp>
      <p:sp>
        <p:nvSpPr>
          <p:cNvPr id="394" name="Google Shape;394;p6"/>
          <p:cNvSpPr txBox="1"/>
          <p:nvPr/>
        </p:nvSpPr>
        <p:spPr>
          <a:xfrm>
            <a:off x="7149826" y="1280396"/>
            <a:ext cx="1232700" cy="122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795"/>
              <a:buFont typeface="Arial"/>
              <a:buNone/>
            </a:pPr>
            <a:r>
              <a:rPr b="1" i="0" lang="en-GB" sz="795" u="none" cap="none" strike="noStrike">
                <a:solidFill>
                  <a:srgbClr val="374151"/>
                </a:solidFill>
                <a:latin typeface="Calibri"/>
                <a:ea typeface="Calibri"/>
                <a:cs typeface="Calibri"/>
                <a:sym typeface="Calibri"/>
              </a:rPr>
              <a:t>Observability &amp; Ops</a:t>
            </a:r>
            <a:endParaRPr b="0" i="0" sz="925" u="none" cap="none" strike="noStrike">
              <a:solidFill>
                <a:srgbClr val="000000"/>
              </a:solidFill>
              <a:latin typeface="Calibri"/>
              <a:ea typeface="Calibri"/>
              <a:cs typeface="Calibri"/>
              <a:sym typeface="Calibri"/>
            </a:endParaRPr>
          </a:p>
        </p:txBody>
      </p:sp>
      <p:sp>
        <p:nvSpPr>
          <p:cNvPr id="395" name="Google Shape;395;p6"/>
          <p:cNvSpPr txBox="1"/>
          <p:nvPr/>
        </p:nvSpPr>
        <p:spPr>
          <a:xfrm>
            <a:off x="1838620" y="1343222"/>
            <a:ext cx="1017300" cy="112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730"/>
              <a:buFont typeface="Arial"/>
              <a:buNone/>
            </a:pPr>
            <a:r>
              <a:rPr b="1" i="0" lang="en-GB" sz="730" u="none" cap="none" strike="noStrike">
                <a:solidFill>
                  <a:srgbClr val="1F2937"/>
                </a:solidFill>
                <a:latin typeface="Calibri"/>
                <a:ea typeface="Calibri"/>
                <a:cs typeface="Calibri"/>
                <a:sym typeface="Calibri"/>
              </a:rPr>
              <a:t>AI Training &amp; RL</a:t>
            </a:r>
            <a:endParaRPr b="0" i="0" sz="1060" u="none" cap="none" strike="noStrike">
              <a:solidFill>
                <a:srgbClr val="000000"/>
              </a:solidFill>
              <a:latin typeface="Calibri"/>
              <a:ea typeface="Calibri"/>
              <a:cs typeface="Calibri"/>
              <a:sym typeface="Calibri"/>
            </a:endParaRPr>
          </a:p>
        </p:txBody>
      </p:sp>
      <p:sp>
        <p:nvSpPr>
          <p:cNvPr id="396" name="Google Shape;396;p6"/>
          <p:cNvSpPr txBox="1"/>
          <p:nvPr/>
        </p:nvSpPr>
        <p:spPr>
          <a:xfrm>
            <a:off x="1838620" y="1445051"/>
            <a:ext cx="1123800" cy="843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545"/>
              <a:buFont typeface="Arial"/>
              <a:buNone/>
            </a:pPr>
            <a:r>
              <a:rPr b="0" i="0" lang="en-GB" sz="545" u="none" cap="none" strike="noStrike">
                <a:solidFill>
                  <a:srgbClr val="4B5563"/>
                </a:solidFill>
                <a:latin typeface="Calibri"/>
                <a:ea typeface="Calibri"/>
                <a:cs typeface="Calibri"/>
                <a:sym typeface="Calibri"/>
              </a:rPr>
              <a:t>Distributed Training, Fine-tuning, RLHF</a:t>
            </a:r>
            <a:endParaRPr b="0" i="0" sz="925" u="none" cap="none" strike="noStrike">
              <a:solidFill>
                <a:srgbClr val="000000"/>
              </a:solidFill>
              <a:latin typeface="Calibri"/>
              <a:ea typeface="Calibri"/>
              <a:cs typeface="Calibri"/>
              <a:sym typeface="Calibri"/>
            </a:endParaRPr>
          </a:p>
        </p:txBody>
      </p:sp>
      <p:sp>
        <p:nvSpPr>
          <p:cNvPr id="397" name="Google Shape;397;p6"/>
          <p:cNvSpPr txBox="1"/>
          <p:nvPr/>
        </p:nvSpPr>
        <p:spPr>
          <a:xfrm>
            <a:off x="1838325" y="1665605"/>
            <a:ext cx="1190625" cy="81915"/>
          </a:xfrm>
          <a:prstGeom prst="rect">
            <a:avLst/>
          </a:prstGeom>
          <a:solidFill>
            <a:srgbClr val="F2F2F2"/>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530"/>
              <a:buFont typeface="Arial"/>
              <a:buNone/>
            </a:pPr>
            <a:r>
              <a:rPr b="0" i="0" lang="en-GB" sz="530" u="none" cap="none" strike="noStrike">
                <a:solidFill>
                  <a:srgbClr val="4B5563"/>
                </a:solidFill>
                <a:latin typeface="Calibri"/>
                <a:ea typeface="Calibri"/>
                <a:cs typeface="Calibri"/>
                <a:sym typeface="Calibri"/>
              </a:rPr>
              <a:t>Megatron</a:t>
            </a:r>
            <a:r>
              <a:rPr b="0" i="0" lang="en-GB" sz="530" u="none" cap="none" strike="noStrike">
                <a:solidFill>
                  <a:srgbClr val="000000"/>
                </a:solidFill>
                <a:latin typeface="Calibri"/>
                <a:ea typeface="Calibri"/>
                <a:cs typeface="Calibri"/>
                <a:sym typeface="Calibri"/>
              </a:rPr>
              <a:t> | </a:t>
            </a:r>
            <a:r>
              <a:rPr b="0" i="0" lang="en-GB" sz="530" u="none" cap="none" strike="noStrike">
                <a:solidFill>
                  <a:srgbClr val="4B5563"/>
                </a:solidFill>
                <a:latin typeface="Calibri"/>
                <a:ea typeface="Calibri"/>
                <a:cs typeface="Calibri"/>
                <a:sym typeface="Calibri"/>
              </a:rPr>
              <a:t>DeepSpeed</a:t>
            </a:r>
            <a:r>
              <a:rPr b="0" i="0" lang="en-GB" sz="530" u="none" cap="none" strike="noStrike">
                <a:solidFill>
                  <a:srgbClr val="000000"/>
                </a:solidFill>
                <a:latin typeface="Calibri"/>
                <a:ea typeface="Calibri"/>
                <a:cs typeface="Calibri"/>
                <a:sym typeface="Calibri"/>
              </a:rPr>
              <a:t> | </a:t>
            </a:r>
            <a:r>
              <a:rPr b="0" i="0" lang="en-GB" sz="530" u="none" cap="none" strike="noStrike">
                <a:solidFill>
                  <a:srgbClr val="4B5563"/>
                </a:solidFill>
                <a:latin typeface="Calibri"/>
                <a:ea typeface="Calibri"/>
                <a:cs typeface="Calibri"/>
                <a:sym typeface="Calibri"/>
              </a:rPr>
              <a:t>veRL | AReaL</a:t>
            </a:r>
            <a:endParaRPr b="0" i="0" sz="530" u="none" cap="none" strike="noStrike">
              <a:solidFill>
                <a:srgbClr val="000000"/>
              </a:solidFill>
              <a:latin typeface="Calibri"/>
              <a:ea typeface="Calibri"/>
              <a:cs typeface="Calibri"/>
              <a:sym typeface="Calibri"/>
            </a:endParaRPr>
          </a:p>
        </p:txBody>
      </p:sp>
      <p:sp>
        <p:nvSpPr>
          <p:cNvPr id="398" name="Google Shape;398;p6"/>
          <p:cNvSpPr txBox="1"/>
          <p:nvPr/>
        </p:nvSpPr>
        <p:spPr>
          <a:xfrm>
            <a:off x="3151666" y="1343222"/>
            <a:ext cx="1017300" cy="112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730"/>
              <a:buFont typeface="Arial"/>
              <a:buNone/>
            </a:pPr>
            <a:r>
              <a:rPr b="1" i="0" lang="en-GB" sz="730" u="none" cap="none" strike="noStrike">
                <a:solidFill>
                  <a:srgbClr val="1F2937"/>
                </a:solidFill>
                <a:latin typeface="Calibri"/>
                <a:ea typeface="Calibri"/>
                <a:cs typeface="Calibri"/>
                <a:sym typeface="Calibri"/>
              </a:rPr>
              <a:t>Distributed Inference</a:t>
            </a:r>
            <a:endParaRPr b="0" i="0" sz="1060" u="none" cap="none" strike="noStrike">
              <a:solidFill>
                <a:srgbClr val="000000"/>
              </a:solidFill>
              <a:latin typeface="Calibri"/>
              <a:ea typeface="Calibri"/>
              <a:cs typeface="Calibri"/>
              <a:sym typeface="Calibri"/>
            </a:endParaRPr>
          </a:p>
        </p:txBody>
      </p:sp>
      <p:sp>
        <p:nvSpPr>
          <p:cNvPr id="399" name="Google Shape;399;p6"/>
          <p:cNvSpPr txBox="1"/>
          <p:nvPr/>
        </p:nvSpPr>
        <p:spPr>
          <a:xfrm>
            <a:off x="3151666" y="1445051"/>
            <a:ext cx="1123800" cy="843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545"/>
              <a:buFont typeface="Arial"/>
              <a:buNone/>
            </a:pPr>
            <a:r>
              <a:rPr b="0" i="0" lang="en-GB" sz="545" u="none" cap="none" strike="noStrike">
                <a:solidFill>
                  <a:srgbClr val="4B5563"/>
                </a:solidFill>
                <a:latin typeface="Calibri"/>
                <a:ea typeface="Calibri"/>
                <a:cs typeface="Calibri"/>
                <a:sym typeface="Calibri"/>
              </a:rPr>
              <a:t>PD-disaggregated Inference</a:t>
            </a:r>
            <a:endParaRPr b="0" i="0" sz="925" u="none" cap="none" strike="noStrike">
              <a:solidFill>
                <a:srgbClr val="000000"/>
              </a:solidFill>
              <a:latin typeface="Calibri"/>
              <a:ea typeface="Calibri"/>
              <a:cs typeface="Calibri"/>
              <a:sym typeface="Calibri"/>
            </a:endParaRPr>
          </a:p>
        </p:txBody>
      </p:sp>
      <p:sp>
        <p:nvSpPr>
          <p:cNvPr id="400" name="Google Shape;400;p6"/>
          <p:cNvSpPr txBox="1"/>
          <p:nvPr/>
        </p:nvSpPr>
        <p:spPr>
          <a:xfrm>
            <a:off x="3153146" y="1622664"/>
            <a:ext cx="1120800" cy="81600"/>
          </a:xfrm>
          <a:prstGeom prst="rect">
            <a:avLst/>
          </a:prstGeom>
          <a:solidFill>
            <a:srgbClr val="F2F2F2"/>
          </a:solid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530"/>
              <a:buFont typeface="Arial"/>
              <a:buNone/>
            </a:pPr>
            <a:r>
              <a:rPr b="0" i="0" lang="en-GB" sz="530" u="none" cap="none" strike="noStrike">
                <a:solidFill>
                  <a:srgbClr val="4B5563"/>
                </a:solidFill>
                <a:latin typeface="Calibri"/>
                <a:ea typeface="Calibri"/>
                <a:cs typeface="Calibri"/>
                <a:sym typeface="Calibri"/>
              </a:rPr>
              <a:t>vLLM</a:t>
            </a:r>
            <a:r>
              <a:rPr b="0" i="0" lang="en-GB" sz="530" u="none" cap="none" strike="noStrike">
                <a:solidFill>
                  <a:srgbClr val="000000"/>
                </a:solidFill>
                <a:latin typeface="Calibri"/>
                <a:ea typeface="Calibri"/>
                <a:cs typeface="Calibri"/>
                <a:sym typeface="Calibri"/>
              </a:rPr>
              <a:t> | </a:t>
            </a:r>
            <a:r>
              <a:rPr b="0" i="0" lang="en-GB" sz="530" u="none" cap="none" strike="noStrike">
                <a:solidFill>
                  <a:srgbClr val="4B5563"/>
                </a:solidFill>
                <a:latin typeface="Calibri"/>
                <a:ea typeface="Calibri"/>
                <a:cs typeface="Calibri"/>
                <a:sym typeface="Calibri"/>
              </a:rPr>
              <a:t>SGLang | MindIE | TensorRT</a:t>
            </a:r>
            <a:endParaRPr b="0" i="0" sz="530" u="none" cap="none" strike="noStrike">
              <a:solidFill>
                <a:srgbClr val="000000"/>
              </a:solidFill>
              <a:latin typeface="Calibri"/>
              <a:ea typeface="Calibri"/>
              <a:cs typeface="Calibri"/>
              <a:sym typeface="Calibri"/>
            </a:endParaRPr>
          </a:p>
        </p:txBody>
      </p:sp>
      <p:sp>
        <p:nvSpPr>
          <p:cNvPr id="401" name="Google Shape;401;p6"/>
          <p:cNvSpPr txBox="1"/>
          <p:nvPr/>
        </p:nvSpPr>
        <p:spPr>
          <a:xfrm>
            <a:off x="4464711" y="1343222"/>
            <a:ext cx="1017300" cy="112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730"/>
              <a:buFont typeface="Arial"/>
              <a:buNone/>
            </a:pPr>
            <a:r>
              <a:rPr b="1" i="0" lang="en-GB" sz="730" u="none" cap="none" strike="noStrike">
                <a:solidFill>
                  <a:srgbClr val="1F2937"/>
                </a:solidFill>
                <a:latin typeface="Calibri"/>
                <a:ea typeface="Calibri"/>
                <a:cs typeface="Calibri"/>
                <a:sym typeface="Calibri"/>
              </a:rPr>
              <a:t>AI Agent</a:t>
            </a:r>
            <a:endParaRPr b="0" i="0" sz="1060" u="none" cap="none" strike="noStrike">
              <a:solidFill>
                <a:srgbClr val="000000"/>
              </a:solidFill>
              <a:latin typeface="Calibri"/>
              <a:ea typeface="Calibri"/>
              <a:cs typeface="Calibri"/>
              <a:sym typeface="Calibri"/>
            </a:endParaRPr>
          </a:p>
        </p:txBody>
      </p:sp>
      <p:sp>
        <p:nvSpPr>
          <p:cNvPr id="402" name="Google Shape;402;p6"/>
          <p:cNvSpPr txBox="1"/>
          <p:nvPr/>
        </p:nvSpPr>
        <p:spPr>
          <a:xfrm>
            <a:off x="4464711" y="1445051"/>
            <a:ext cx="1123800" cy="843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545"/>
              <a:buFont typeface="Arial"/>
              <a:buNone/>
            </a:pPr>
            <a:r>
              <a:rPr b="0" i="0" lang="en-GB" sz="545" u="none" cap="none" strike="noStrike">
                <a:solidFill>
                  <a:srgbClr val="4B5563"/>
                </a:solidFill>
                <a:latin typeface="Calibri"/>
                <a:ea typeface="Calibri"/>
                <a:cs typeface="Calibri"/>
                <a:sym typeface="Calibri"/>
              </a:rPr>
              <a:t>Agent Workflow &amp; RAG</a:t>
            </a:r>
            <a:endParaRPr b="0" i="0" sz="925" u="none" cap="none" strike="noStrike">
              <a:solidFill>
                <a:srgbClr val="000000"/>
              </a:solidFill>
              <a:latin typeface="Calibri"/>
              <a:ea typeface="Calibri"/>
              <a:cs typeface="Calibri"/>
              <a:sym typeface="Calibri"/>
            </a:endParaRPr>
          </a:p>
        </p:txBody>
      </p:sp>
      <p:sp>
        <p:nvSpPr>
          <p:cNvPr id="403" name="Google Shape;403;p6"/>
          <p:cNvSpPr txBox="1"/>
          <p:nvPr/>
        </p:nvSpPr>
        <p:spPr>
          <a:xfrm>
            <a:off x="4515793" y="1622664"/>
            <a:ext cx="1021800" cy="81600"/>
          </a:xfrm>
          <a:prstGeom prst="rect">
            <a:avLst/>
          </a:prstGeom>
          <a:solidFill>
            <a:srgbClr val="F2F2F2"/>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30"/>
              <a:buFont typeface="Arial"/>
              <a:buNone/>
            </a:pPr>
            <a:r>
              <a:rPr b="0" i="0" lang="en-GB" sz="530" u="none" cap="none" strike="noStrike">
                <a:solidFill>
                  <a:srgbClr val="4B5563"/>
                </a:solidFill>
                <a:latin typeface="Calibri"/>
                <a:ea typeface="Calibri"/>
                <a:cs typeface="Calibri"/>
                <a:sym typeface="Calibri"/>
              </a:rPr>
              <a:t>LangGraph | Dify | A2A</a:t>
            </a:r>
            <a:endParaRPr b="0" i="0" sz="530" u="none" cap="none" strike="noStrike">
              <a:solidFill>
                <a:srgbClr val="4B5563"/>
              </a:solidFill>
              <a:latin typeface="Calibri"/>
              <a:ea typeface="Calibri"/>
              <a:cs typeface="Calibri"/>
              <a:sym typeface="Calibri"/>
            </a:endParaRPr>
          </a:p>
        </p:txBody>
      </p:sp>
      <p:sp>
        <p:nvSpPr>
          <p:cNvPr id="404" name="Google Shape;404;p6"/>
          <p:cNvSpPr txBox="1"/>
          <p:nvPr/>
        </p:nvSpPr>
        <p:spPr>
          <a:xfrm>
            <a:off x="5777757" y="1445051"/>
            <a:ext cx="1123800" cy="843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545"/>
              <a:buFont typeface="Arial"/>
              <a:buNone/>
            </a:pPr>
            <a:r>
              <a:rPr b="0" i="0" lang="en-GB" sz="545" u="none" cap="none" strike="noStrike">
                <a:solidFill>
                  <a:srgbClr val="4B5563"/>
                </a:solidFill>
                <a:latin typeface="Calibri"/>
                <a:ea typeface="Calibri"/>
                <a:cs typeface="Calibri"/>
                <a:sym typeface="Calibri"/>
              </a:rPr>
              <a:t>Batch / Scientific Computing</a:t>
            </a:r>
            <a:endParaRPr b="0" i="0" sz="925" u="none" cap="none" strike="noStrike">
              <a:solidFill>
                <a:srgbClr val="000000"/>
              </a:solidFill>
              <a:latin typeface="Calibri"/>
              <a:ea typeface="Calibri"/>
              <a:cs typeface="Calibri"/>
              <a:sym typeface="Calibri"/>
            </a:endParaRPr>
          </a:p>
        </p:txBody>
      </p:sp>
      <p:sp>
        <p:nvSpPr>
          <p:cNvPr id="405" name="Google Shape;405;p6"/>
          <p:cNvSpPr txBox="1"/>
          <p:nvPr/>
        </p:nvSpPr>
        <p:spPr>
          <a:xfrm>
            <a:off x="5828838" y="1622664"/>
            <a:ext cx="1021800" cy="81600"/>
          </a:xfrm>
          <a:prstGeom prst="rect">
            <a:avLst/>
          </a:prstGeom>
          <a:solidFill>
            <a:srgbClr val="F2F2F2"/>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30"/>
              <a:buFont typeface="Arial"/>
              <a:buNone/>
            </a:pPr>
            <a:r>
              <a:rPr b="0" i="0" lang="en-GB" sz="530" u="none" cap="none" strike="noStrike">
                <a:solidFill>
                  <a:srgbClr val="4B5563"/>
                </a:solidFill>
                <a:latin typeface="Calibri"/>
                <a:ea typeface="Calibri"/>
                <a:cs typeface="Calibri"/>
                <a:sym typeface="Calibri"/>
              </a:rPr>
              <a:t>Spark | Flink | Horovod | Ray</a:t>
            </a:r>
            <a:endParaRPr b="0" i="0" sz="530" u="none" cap="none" strike="noStrike">
              <a:solidFill>
                <a:srgbClr val="000000"/>
              </a:solidFill>
              <a:latin typeface="Calibri"/>
              <a:ea typeface="Calibri"/>
              <a:cs typeface="Calibri"/>
              <a:sym typeface="Calibri"/>
            </a:endParaRPr>
          </a:p>
        </p:txBody>
      </p:sp>
      <p:sp>
        <p:nvSpPr>
          <p:cNvPr id="406" name="Google Shape;406;p6"/>
          <p:cNvSpPr txBox="1"/>
          <p:nvPr/>
        </p:nvSpPr>
        <p:spPr>
          <a:xfrm>
            <a:off x="1857559" y="2035482"/>
            <a:ext cx="1104600" cy="112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730"/>
              <a:buFont typeface="Arial"/>
              <a:buNone/>
            </a:pPr>
            <a:r>
              <a:rPr b="1" i="0" lang="en-GB" sz="730" u="none" cap="none" strike="noStrike">
                <a:solidFill>
                  <a:srgbClr val="991B1B"/>
                </a:solidFill>
                <a:latin typeface="Calibri"/>
                <a:ea typeface="Calibri"/>
                <a:cs typeface="Calibri"/>
                <a:sym typeface="Calibri"/>
              </a:rPr>
              <a:t>HyperJob</a:t>
            </a:r>
            <a:endParaRPr b="0" i="0" sz="1060" u="none" cap="none" strike="noStrike">
              <a:solidFill>
                <a:srgbClr val="000000"/>
              </a:solidFill>
              <a:latin typeface="Calibri"/>
              <a:ea typeface="Calibri"/>
              <a:cs typeface="Calibri"/>
              <a:sym typeface="Calibri"/>
            </a:endParaRPr>
          </a:p>
        </p:txBody>
      </p:sp>
      <p:sp>
        <p:nvSpPr>
          <p:cNvPr id="407" name="Google Shape;407;p6"/>
          <p:cNvSpPr txBox="1"/>
          <p:nvPr/>
        </p:nvSpPr>
        <p:spPr>
          <a:xfrm>
            <a:off x="1857559" y="2167328"/>
            <a:ext cx="1104600" cy="76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494"/>
              <a:buFont typeface="Arial"/>
              <a:buNone/>
            </a:pPr>
            <a:r>
              <a:rPr b="0" i="0" lang="en-GB" sz="494" u="none" cap="none" strike="noStrike">
                <a:solidFill>
                  <a:srgbClr val="7F1D1D"/>
                </a:solidFill>
                <a:latin typeface="Calibri"/>
                <a:ea typeface="Calibri"/>
                <a:cs typeface="Calibri"/>
                <a:sym typeface="Calibri"/>
              </a:rPr>
              <a:t>LLM Training Parallelism</a:t>
            </a:r>
            <a:endParaRPr b="0" i="0" sz="925" u="none" cap="none" strike="noStrike">
              <a:solidFill>
                <a:srgbClr val="000000"/>
              </a:solidFill>
              <a:latin typeface="Calibri"/>
              <a:ea typeface="Calibri"/>
              <a:cs typeface="Calibri"/>
              <a:sym typeface="Calibri"/>
            </a:endParaRPr>
          </a:p>
        </p:txBody>
      </p:sp>
      <p:sp>
        <p:nvSpPr>
          <p:cNvPr id="408" name="Google Shape;408;p6"/>
          <p:cNvSpPr txBox="1"/>
          <p:nvPr/>
        </p:nvSpPr>
        <p:spPr>
          <a:xfrm>
            <a:off x="1857559" y="2287268"/>
            <a:ext cx="1004400" cy="81600"/>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30"/>
              <a:buFont typeface="Arial"/>
              <a:buNone/>
            </a:pPr>
            <a:r>
              <a:rPr b="0" i="0" lang="en-GB" sz="530" u="none" cap="none" strike="noStrike">
                <a:solidFill>
                  <a:srgbClr val="991B1B"/>
                </a:solidFill>
                <a:latin typeface="Calibri"/>
                <a:ea typeface="Calibri"/>
                <a:cs typeface="Calibri"/>
                <a:sym typeface="Calibri"/>
              </a:rPr>
              <a:t>Model/</a:t>
            </a:r>
            <a:r>
              <a:rPr b="0" i="0" lang="en-GB" sz="494" u="none" cap="none" strike="noStrike">
                <a:solidFill>
                  <a:srgbClr val="991B1B"/>
                </a:solidFill>
                <a:latin typeface="Calibri"/>
                <a:ea typeface="Calibri"/>
                <a:cs typeface="Calibri"/>
                <a:sym typeface="Calibri"/>
              </a:rPr>
              <a:t>Parameter/</a:t>
            </a:r>
            <a:r>
              <a:rPr b="0" i="0" lang="en-GB" sz="530" u="none" cap="none" strike="noStrike">
                <a:solidFill>
                  <a:srgbClr val="991B1B"/>
                </a:solidFill>
                <a:latin typeface="Calibri"/>
                <a:ea typeface="Calibri"/>
                <a:cs typeface="Calibri"/>
                <a:sym typeface="Calibri"/>
              </a:rPr>
              <a:t>Data/ Parallelism</a:t>
            </a:r>
            <a:endParaRPr b="0" i="0" sz="530" u="none" cap="none" strike="noStrike">
              <a:solidFill>
                <a:srgbClr val="000000"/>
              </a:solidFill>
              <a:latin typeface="Calibri"/>
              <a:ea typeface="Calibri"/>
              <a:cs typeface="Calibri"/>
              <a:sym typeface="Calibri"/>
            </a:endParaRPr>
          </a:p>
        </p:txBody>
      </p:sp>
      <p:sp>
        <p:nvSpPr>
          <p:cNvPr id="409" name="Google Shape;409;p6"/>
          <p:cNvSpPr txBox="1"/>
          <p:nvPr/>
        </p:nvSpPr>
        <p:spPr>
          <a:xfrm>
            <a:off x="3170605" y="2031339"/>
            <a:ext cx="1104600" cy="112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730"/>
              <a:buFont typeface="Arial"/>
              <a:buNone/>
            </a:pPr>
            <a:r>
              <a:rPr b="1" i="0" lang="en-GB" sz="730" u="none" cap="none" strike="noStrike">
                <a:solidFill>
                  <a:srgbClr val="991B1B"/>
                </a:solidFill>
                <a:latin typeface="Calibri"/>
                <a:ea typeface="Calibri"/>
                <a:cs typeface="Calibri"/>
                <a:sym typeface="Calibri"/>
              </a:rPr>
              <a:t>Kthena</a:t>
            </a:r>
            <a:endParaRPr b="0" i="0" sz="1060" u="none" cap="none" strike="noStrike">
              <a:solidFill>
                <a:srgbClr val="000000"/>
              </a:solidFill>
              <a:latin typeface="Calibri"/>
              <a:ea typeface="Calibri"/>
              <a:cs typeface="Calibri"/>
              <a:sym typeface="Calibri"/>
            </a:endParaRPr>
          </a:p>
        </p:txBody>
      </p:sp>
      <p:sp>
        <p:nvSpPr>
          <p:cNvPr id="410" name="Google Shape;410;p6"/>
          <p:cNvSpPr txBox="1"/>
          <p:nvPr/>
        </p:nvSpPr>
        <p:spPr>
          <a:xfrm>
            <a:off x="3170605" y="2163185"/>
            <a:ext cx="1104600" cy="843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545"/>
              <a:buFont typeface="Arial"/>
              <a:buNone/>
            </a:pPr>
            <a:r>
              <a:rPr b="0" i="0" lang="en-GB" sz="545" u="none" cap="none" strike="noStrike">
                <a:solidFill>
                  <a:srgbClr val="7F1D1D"/>
                </a:solidFill>
                <a:latin typeface="Calibri"/>
                <a:ea typeface="Calibri"/>
                <a:cs typeface="Calibri"/>
                <a:sym typeface="Calibri"/>
              </a:rPr>
              <a:t>Elastic Inference Service</a:t>
            </a:r>
            <a:endParaRPr b="0" i="0" sz="925" u="none" cap="none" strike="noStrike">
              <a:solidFill>
                <a:srgbClr val="000000"/>
              </a:solidFill>
              <a:latin typeface="Calibri"/>
              <a:ea typeface="Calibri"/>
              <a:cs typeface="Calibri"/>
              <a:sym typeface="Calibri"/>
            </a:endParaRPr>
          </a:p>
        </p:txBody>
      </p:sp>
      <p:sp>
        <p:nvSpPr>
          <p:cNvPr id="411" name="Google Shape;411;p6"/>
          <p:cNvSpPr txBox="1"/>
          <p:nvPr/>
        </p:nvSpPr>
        <p:spPr>
          <a:xfrm>
            <a:off x="3170604" y="2291312"/>
            <a:ext cx="810900" cy="81600"/>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30"/>
              <a:buFont typeface="Arial"/>
              <a:buNone/>
            </a:pPr>
            <a:r>
              <a:rPr b="0" i="0" lang="en-GB" sz="530" u="none" cap="none" strike="noStrike">
                <a:solidFill>
                  <a:srgbClr val="991B1B"/>
                </a:solidFill>
                <a:latin typeface="Calibri"/>
                <a:ea typeface="Calibri"/>
                <a:cs typeface="Calibri"/>
                <a:sym typeface="Calibri"/>
              </a:rPr>
              <a:t>PD Disaggregation / Large EP</a:t>
            </a:r>
            <a:endParaRPr b="0" i="0" sz="530" u="none" cap="none" strike="noStrike">
              <a:solidFill>
                <a:srgbClr val="000000"/>
              </a:solidFill>
              <a:latin typeface="Calibri"/>
              <a:ea typeface="Calibri"/>
              <a:cs typeface="Calibri"/>
              <a:sym typeface="Calibri"/>
            </a:endParaRPr>
          </a:p>
        </p:txBody>
      </p:sp>
      <p:sp>
        <p:nvSpPr>
          <p:cNvPr id="412" name="Google Shape;412;p6"/>
          <p:cNvSpPr txBox="1"/>
          <p:nvPr/>
        </p:nvSpPr>
        <p:spPr>
          <a:xfrm>
            <a:off x="4483651" y="2031339"/>
            <a:ext cx="1104600" cy="112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730"/>
              <a:buFont typeface="Arial"/>
              <a:buNone/>
            </a:pPr>
            <a:r>
              <a:rPr b="1" i="0" lang="en-GB" sz="730" u="none" cap="none" strike="noStrike">
                <a:solidFill>
                  <a:srgbClr val="991B1B"/>
                </a:solidFill>
                <a:latin typeface="Calibri"/>
                <a:ea typeface="Calibri"/>
                <a:cs typeface="Calibri"/>
                <a:sym typeface="Calibri"/>
              </a:rPr>
              <a:t>AgentCube</a:t>
            </a:r>
            <a:endParaRPr b="0" i="0" sz="1060" u="none" cap="none" strike="noStrike">
              <a:solidFill>
                <a:srgbClr val="000000"/>
              </a:solidFill>
              <a:latin typeface="Calibri"/>
              <a:ea typeface="Calibri"/>
              <a:cs typeface="Calibri"/>
              <a:sym typeface="Calibri"/>
            </a:endParaRPr>
          </a:p>
        </p:txBody>
      </p:sp>
      <p:sp>
        <p:nvSpPr>
          <p:cNvPr id="413" name="Google Shape;413;p6"/>
          <p:cNvSpPr txBox="1"/>
          <p:nvPr/>
        </p:nvSpPr>
        <p:spPr>
          <a:xfrm>
            <a:off x="4483651" y="2163185"/>
            <a:ext cx="1104600" cy="843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545"/>
              <a:buFont typeface="Arial"/>
              <a:buNone/>
            </a:pPr>
            <a:r>
              <a:rPr b="0" i="0" lang="en-GB" sz="545" u="none" cap="none" strike="noStrike">
                <a:solidFill>
                  <a:srgbClr val="7F1D1D"/>
                </a:solidFill>
                <a:latin typeface="Calibri"/>
                <a:ea typeface="Calibri"/>
                <a:cs typeface="Calibri"/>
                <a:sym typeface="Calibri"/>
              </a:rPr>
              <a:t>Multi-Agent Orchestration</a:t>
            </a:r>
            <a:endParaRPr b="0" i="0" sz="925" u="none" cap="none" strike="noStrike">
              <a:solidFill>
                <a:srgbClr val="000000"/>
              </a:solidFill>
              <a:latin typeface="Calibri"/>
              <a:ea typeface="Calibri"/>
              <a:cs typeface="Calibri"/>
              <a:sym typeface="Calibri"/>
            </a:endParaRPr>
          </a:p>
        </p:txBody>
      </p:sp>
      <p:sp>
        <p:nvSpPr>
          <p:cNvPr id="414" name="Google Shape;414;p6"/>
          <p:cNvSpPr txBox="1"/>
          <p:nvPr/>
        </p:nvSpPr>
        <p:spPr>
          <a:xfrm>
            <a:off x="4483650" y="2291312"/>
            <a:ext cx="954000" cy="81600"/>
          </a:xfrm>
          <a:prstGeom prst="rect">
            <a:avLst/>
          </a:prstGeom>
          <a:solidFill>
            <a:srgbClr val="FFFFFF"/>
          </a:solid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530"/>
              <a:buFont typeface="Arial"/>
              <a:buNone/>
            </a:pPr>
            <a:r>
              <a:rPr b="0" i="0" lang="en-GB" sz="530" u="none" cap="none" strike="noStrike">
                <a:solidFill>
                  <a:srgbClr val="991B1B"/>
                </a:solidFill>
                <a:latin typeface="Calibri"/>
                <a:ea typeface="Calibri"/>
                <a:cs typeface="Calibri"/>
                <a:sym typeface="Calibri"/>
              </a:rPr>
              <a:t>Hibernate/Resume / Fast-Startup </a:t>
            </a:r>
            <a:endParaRPr b="0" i="0" sz="530" u="none" cap="none" strike="noStrike">
              <a:solidFill>
                <a:srgbClr val="000000"/>
              </a:solidFill>
              <a:latin typeface="Calibri"/>
              <a:ea typeface="Calibri"/>
              <a:cs typeface="Calibri"/>
              <a:sym typeface="Calibri"/>
            </a:endParaRPr>
          </a:p>
        </p:txBody>
      </p:sp>
      <p:sp>
        <p:nvSpPr>
          <p:cNvPr id="415" name="Google Shape;415;p6"/>
          <p:cNvSpPr txBox="1"/>
          <p:nvPr/>
        </p:nvSpPr>
        <p:spPr>
          <a:xfrm>
            <a:off x="5796696" y="2031339"/>
            <a:ext cx="1104600" cy="112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730"/>
              <a:buFont typeface="Arial"/>
              <a:buNone/>
            </a:pPr>
            <a:r>
              <a:rPr b="1" i="0" lang="en-GB" sz="730" u="none" cap="none" strike="noStrike">
                <a:solidFill>
                  <a:srgbClr val="991B1B"/>
                </a:solidFill>
                <a:latin typeface="Calibri"/>
                <a:ea typeface="Calibri"/>
                <a:cs typeface="Calibri"/>
                <a:sym typeface="Calibri"/>
              </a:rPr>
              <a:t>VolcanoJob</a:t>
            </a:r>
            <a:endParaRPr b="0" i="0" sz="1060" u="none" cap="none" strike="noStrike">
              <a:solidFill>
                <a:srgbClr val="000000"/>
              </a:solidFill>
              <a:latin typeface="Calibri"/>
              <a:ea typeface="Calibri"/>
              <a:cs typeface="Calibri"/>
              <a:sym typeface="Calibri"/>
            </a:endParaRPr>
          </a:p>
        </p:txBody>
      </p:sp>
      <p:sp>
        <p:nvSpPr>
          <p:cNvPr id="416" name="Google Shape;416;p6"/>
          <p:cNvSpPr txBox="1"/>
          <p:nvPr/>
        </p:nvSpPr>
        <p:spPr>
          <a:xfrm>
            <a:off x="5796696" y="2163185"/>
            <a:ext cx="1104600" cy="843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545"/>
              <a:buFont typeface="Arial"/>
              <a:buNone/>
            </a:pPr>
            <a:r>
              <a:rPr b="0" i="0" lang="en-GB" sz="545" u="none" cap="none" strike="noStrike">
                <a:solidFill>
                  <a:srgbClr val="7F1D1D"/>
                </a:solidFill>
                <a:latin typeface="Calibri"/>
                <a:ea typeface="Calibri"/>
                <a:cs typeface="Calibri"/>
                <a:sym typeface="Calibri"/>
              </a:rPr>
              <a:t>Unified Job Abstraction</a:t>
            </a:r>
            <a:endParaRPr b="0" i="0" sz="925" u="none" cap="none" strike="noStrike">
              <a:solidFill>
                <a:srgbClr val="000000"/>
              </a:solidFill>
              <a:latin typeface="Calibri"/>
              <a:ea typeface="Calibri"/>
              <a:cs typeface="Calibri"/>
              <a:sym typeface="Calibri"/>
            </a:endParaRPr>
          </a:p>
        </p:txBody>
      </p:sp>
      <p:sp>
        <p:nvSpPr>
          <p:cNvPr id="417" name="Google Shape;417;p6"/>
          <p:cNvSpPr txBox="1"/>
          <p:nvPr/>
        </p:nvSpPr>
        <p:spPr>
          <a:xfrm>
            <a:off x="5796696" y="2291312"/>
            <a:ext cx="787500" cy="81600"/>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30"/>
              <a:buFont typeface="Arial"/>
              <a:buNone/>
            </a:pPr>
            <a:r>
              <a:rPr b="0" i="0" lang="en-GB" sz="530" u="none" cap="none" strike="noStrike">
                <a:solidFill>
                  <a:srgbClr val="991B1B"/>
                </a:solidFill>
                <a:latin typeface="Calibri"/>
                <a:ea typeface="Calibri"/>
                <a:cs typeface="Calibri"/>
                <a:sym typeface="Calibri"/>
              </a:rPr>
              <a:t>Batch / MPI / Pytorch / TF …</a:t>
            </a:r>
            <a:endParaRPr b="0" i="0" sz="530" u="none" cap="none" strike="noStrike">
              <a:solidFill>
                <a:srgbClr val="000000"/>
              </a:solidFill>
              <a:latin typeface="Calibri"/>
              <a:ea typeface="Calibri"/>
              <a:cs typeface="Calibri"/>
              <a:sym typeface="Calibri"/>
            </a:endParaRPr>
          </a:p>
        </p:txBody>
      </p:sp>
      <p:sp>
        <p:nvSpPr>
          <p:cNvPr id="418" name="Google Shape;418;p6"/>
          <p:cNvSpPr txBox="1"/>
          <p:nvPr/>
        </p:nvSpPr>
        <p:spPr>
          <a:xfrm>
            <a:off x="1901747" y="3395144"/>
            <a:ext cx="4936800" cy="99600"/>
          </a:xfrm>
          <a:prstGeom prst="rect">
            <a:avLst/>
          </a:prstGeom>
          <a:noFill/>
          <a:ln>
            <a:noFill/>
          </a:ln>
        </p:spPr>
        <p:txBody>
          <a:bodyPr anchorCtr="0" anchor="t" bIns="0" lIns="63900" spcFirstLastPara="1" rIns="0" wrap="square" tIns="0">
            <a:spAutoFit/>
          </a:bodyPr>
          <a:lstStyle/>
          <a:p>
            <a:pPr indent="0" lvl="0" marL="0" marR="0" rtl="0" algn="ctr">
              <a:lnSpc>
                <a:spcPct val="100000"/>
              </a:lnSpc>
              <a:spcBef>
                <a:spcPts val="0"/>
              </a:spcBef>
              <a:spcAft>
                <a:spcPts val="0"/>
              </a:spcAft>
              <a:buClr>
                <a:srgbClr val="000000"/>
              </a:buClr>
              <a:buSzPts val="645"/>
              <a:buFont typeface="Arial"/>
              <a:buNone/>
            </a:pPr>
            <a:r>
              <a:rPr b="1" i="0" lang="en-GB" sz="645" u="none" cap="none" strike="noStrike">
                <a:solidFill>
                  <a:srgbClr val="FFFFFF"/>
                </a:solidFill>
                <a:latin typeface="Calibri"/>
                <a:ea typeface="Calibri"/>
                <a:cs typeface="Calibri"/>
                <a:sym typeface="Calibri"/>
              </a:rPr>
              <a:t>Unified High-Performance Scheduling Framework</a:t>
            </a:r>
            <a:endParaRPr b="0" i="0" sz="925" u="none" cap="none" strike="noStrike">
              <a:solidFill>
                <a:srgbClr val="000000"/>
              </a:solidFill>
              <a:latin typeface="Calibri"/>
              <a:ea typeface="Calibri"/>
              <a:cs typeface="Calibri"/>
              <a:sym typeface="Calibri"/>
            </a:endParaRPr>
          </a:p>
        </p:txBody>
      </p:sp>
      <p:sp>
        <p:nvSpPr>
          <p:cNvPr id="419" name="Google Shape;419;p6"/>
          <p:cNvSpPr txBox="1"/>
          <p:nvPr/>
        </p:nvSpPr>
        <p:spPr>
          <a:xfrm>
            <a:off x="1901747" y="3515085"/>
            <a:ext cx="4936800" cy="91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595"/>
              <a:buFont typeface="Arial"/>
              <a:buNone/>
            </a:pPr>
            <a:r>
              <a:rPr b="0" i="0" lang="en-GB" sz="595" u="none" cap="none" strike="noStrike">
                <a:solidFill>
                  <a:srgbClr val="FFFFFF"/>
                </a:solidFill>
                <a:latin typeface="Calibri"/>
                <a:ea typeface="Calibri"/>
                <a:cs typeface="Calibri"/>
                <a:sym typeface="Calibri"/>
              </a:rPr>
              <a:t>Unified high-throughput scheduling for Microservices, Batch, Distributed Inference, AI Agents, Serverless workloads, etc.</a:t>
            </a:r>
            <a:endParaRPr b="0" i="0" sz="930" u="none" cap="none" strike="noStrike">
              <a:solidFill>
                <a:srgbClr val="000000"/>
              </a:solidFill>
              <a:latin typeface="Arial"/>
              <a:ea typeface="Arial"/>
              <a:cs typeface="Arial"/>
              <a:sym typeface="Arial"/>
            </a:endParaRPr>
          </a:p>
        </p:txBody>
      </p:sp>
      <p:sp>
        <p:nvSpPr>
          <p:cNvPr id="420" name="Google Shape;420;p6"/>
          <p:cNvSpPr txBox="1"/>
          <p:nvPr/>
        </p:nvSpPr>
        <p:spPr>
          <a:xfrm>
            <a:off x="1838621" y="3931455"/>
            <a:ext cx="1454700" cy="112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730"/>
              <a:buFont typeface="Arial"/>
              <a:buNone/>
            </a:pPr>
            <a:r>
              <a:rPr b="1" i="0" lang="en-GB" sz="730" u="none" cap="none" strike="noStrike">
                <a:solidFill>
                  <a:srgbClr val="1F2937"/>
                </a:solidFill>
                <a:latin typeface="Calibri"/>
                <a:ea typeface="Calibri"/>
                <a:cs typeface="Calibri"/>
                <a:sym typeface="Calibri"/>
              </a:rPr>
              <a:t>Heterogeneous Pool</a:t>
            </a:r>
            <a:endParaRPr b="0" i="0" sz="1060" u="none" cap="none" strike="noStrike">
              <a:solidFill>
                <a:srgbClr val="000000"/>
              </a:solidFill>
              <a:latin typeface="Calibri"/>
              <a:ea typeface="Calibri"/>
              <a:cs typeface="Calibri"/>
              <a:sym typeface="Calibri"/>
            </a:endParaRPr>
          </a:p>
        </p:txBody>
      </p:sp>
      <p:sp>
        <p:nvSpPr>
          <p:cNvPr id="421" name="Google Shape;421;p6"/>
          <p:cNvSpPr txBox="1"/>
          <p:nvPr/>
        </p:nvSpPr>
        <p:spPr>
          <a:xfrm>
            <a:off x="1838620" y="4063301"/>
            <a:ext cx="1560900" cy="91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595"/>
              <a:buFont typeface="Arial"/>
              <a:buNone/>
            </a:pPr>
            <a:r>
              <a:rPr b="0" i="0" lang="en-GB" sz="595" u="none" cap="none" strike="noStrike">
                <a:solidFill>
                  <a:srgbClr val="4B5563"/>
                </a:solidFill>
                <a:latin typeface="Calibri"/>
                <a:ea typeface="Calibri"/>
                <a:cs typeface="Calibri"/>
                <a:sym typeface="Calibri"/>
              </a:rPr>
              <a:t>Fine-grained GPU/NPU Sharing &amp; Isolation</a:t>
            </a:r>
            <a:endParaRPr b="0" i="0" sz="1060" u="none" cap="none" strike="noStrike">
              <a:solidFill>
                <a:srgbClr val="000000"/>
              </a:solidFill>
              <a:latin typeface="Calibri"/>
              <a:ea typeface="Calibri"/>
              <a:cs typeface="Calibri"/>
              <a:sym typeface="Calibri"/>
            </a:endParaRPr>
          </a:p>
        </p:txBody>
      </p:sp>
      <p:sp>
        <p:nvSpPr>
          <p:cNvPr id="422" name="Google Shape;422;p6"/>
          <p:cNvSpPr txBox="1"/>
          <p:nvPr/>
        </p:nvSpPr>
        <p:spPr>
          <a:xfrm>
            <a:off x="3589315" y="3931455"/>
            <a:ext cx="1454700" cy="112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730"/>
              <a:buFont typeface="Arial"/>
              <a:buNone/>
            </a:pPr>
            <a:r>
              <a:rPr b="1" i="0" lang="en-GB" sz="730" u="none" cap="none" strike="noStrike">
                <a:solidFill>
                  <a:srgbClr val="1F2937"/>
                </a:solidFill>
                <a:latin typeface="Calibri"/>
                <a:ea typeface="Calibri"/>
                <a:cs typeface="Calibri"/>
                <a:sym typeface="Calibri"/>
              </a:rPr>
              <a:t>Topology Abstraction</a:t>
            </a:r>
            <a:endParaRPr b="0" i="0" sz="1060" u="none" cap="none" strike="noStrike">
              <a:solidFill>
                <a:srgbClr val="000000"/>
              </a:solidFill>
              <a:latin typeface="Calibri"/>
              <a:ea typeface="Calibri"/>
              <a:cs typeface="Calibri"/>
              <a:sym typeface="Calibri"/>
            </a:endParaRPr>
          </a:p>
        </p:txBody>
      </p:sp>
      <p:sp>
        <p:nvSpPr>
          <p:cNvPr id="423" name="Google Shape;423;p6"/>
          <p:cNvSpPr txBox="1"/>
          <p:nvPr/>
        </p:nvSpPr>
        <p:spPr>
          <a:xfrm>
            <a:off x="3589315" y="4063301"/>
            <a:ext cx="1630500" cy="91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595"/>
              <a:buFont typeface="Arial"/>
              <a:buNone/>
            </a:pPr>
            <a:r>
              <a:rPr b="0" i="0" lang="en-GB" sz="595" u="none" cap="none" strike="noStrike">
                <a:solidFill>
                  <a:srgbClr val="4B5563"/>
                </a:solidFill>
                <a:latin typeface="Calibri"/>
                <a:ea typeface="Calibri"/>
                <a:cs typeface="Calibri"/>
                <a:sym typeface="Calibri"/>
              </a:rPr>
              <a:t>Intra-node / Inter-node (HyperNode) Topology</a:t>
            </a:r>
            <a:endParaRPr b="0" i="0" sz="595" u="none" cap="none" strike="noStrike">
              <a:solidFill>
                <a:srgbClr val="4B5563"/>
              </a:solidFill>
              <a:latin typeface="Calibri"/>
              <a:ea typeface="Calibri"/>
              <a:cs typeface="Calibri"/>
              <a:sym typeface="Calibri"/>
            </a:endParaRPr>
          </a:p>
        </p:txBody>
      </p:sp>
      <p:sp>
        <p:nvSpPr>
          <p:cNvPr id="424" name="Google Shape;424;p6"/>
          <p:cNvSpPr txBox="1"/>
          <p:nvPr/>
        </p:nvSpPr>
        <p:spPr>
          <a:xfrm>
            <a:off x="5340009" y="3931455"/>
            <a:ext cx="1454700" cy="112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730"/>
              <a:buFont typeface="Arial"/>
              <a:buNone/>
            </a:pPr>
            <a:r>
              <a:rPr b="1" i="0" lang="en-GB" sz="730" u="none" cap="none" strike="noStrike">
                <a:solidFill>
                  <a:srgbClr val="1F2937"/>
                </a:solidFill>
                <a:latin typeface="Calibri"/>
                <a:ea typeface="Calibri"/>
                <a:cs typeface="Calibri"/>
                <a:sym typeface="Calibri"/>
              </a:rPr>
              <a:t>Device Access</a:t>
            </a:r>
            <a:endParaRPr b="0" i="0" sz="1060" u="none" cap="none" strike="noStrike">
              <a:solidFill>
                <a:srgbClr val="000000"/>
              </a:solidFill>
              <a:latin typeface="Calibri"/>
              <a:ea typeface="Calibri"/>
              <a:cs typeface="Calibri"/>
              <a:sym typeface="Calibri"/>
            </a:endParaRPr>
          </a:p>
        </p:txBody>
      </p:sp>
      <p:sp>
        <p:nvSpPr>
          <p:cNvPr id="425" name="Google Shape;425;p6"/>
          <p:cNvSpPr txBox="1"/>
          <p:nvPr/>
        </p:nvSpPr>
        <p:spPr>
          <a:xfrm>
            <a:off x="5340009" y="4063301"/>
            <a:ext cx="1560900" cy="91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595"/>
              <a:buFont typeface="Arial"/>
              <a:buNone/>
            </a:pPr>
            <a:r>
              <a:rPr b="0" i="0" lang="en-GB" sz="595" u="none" cap="none" strike="noStrike">
                <a:solidFill>
                  <a:srgbClr val="4B5563"/>
                </a:solidFill>
                <a:latin typeface="Calibri"/>
                <a:ea typeface="Calibri"/>
                <a:cs typeface="Calibri"/>
                <a:sym typeface="Calibri"/>
              </a:rPr>
              <a:t>Device Plugin | DRA | NRI | CDI</a:t>
            </a:r>
            <a:endParaRPr b="0" i="0" sz="1060" u="none" cap="none" strike="noStrike">
              <a:solidFill>
                <a:srgbClr val="000000"/>
              </a:solidFill>
              <a:latin typeface="Calibri"/>
              <a:ea typeface="Calibri"/>
              <a:cs typeface="Calibri"/>
              <a:sym typeface="Calibri"/>
            </a:endParaRPr>
          </a:p>
        </p:txBody>
      </p:sp>
      <p:sp>
        <p:nvSpPr>
          <p:cNvPr id="426" name="Google Shape;426;p6"/>
          <p:cNvSpPr txBox="1"/>
          <p:nvPr/>
        </p:nvSpPr>
        <p:spPr>
          <a:xfrm>
            <a:off x="1851246" y="4496706"/>
            <a:ext cx="1536300" cy="112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30"/>
              <a:buFont typeface="Arial"/>
              <a:buNone/>
            </a:pPr>
            <a:r>
              <a:rPr b="1" i="0" lang="en-GB" sz="730" u="none" cap="none" strike="noStrike">
                <a:solidFill>
                  <a:srgbClr val="374151"/>
                </a:solidFill>
                <a:latin typeface="Calibri"/>
                <a:ea typeface="Calibri"/>
                <a:cs typeface="Calibri"/>
                <a:sym typeface="Calibri"/>
              </a:rPr>
              <a:t>Sandboxer</a:t>
            </a:r>
            <a:endParaRPr b="0" i="0" sz="730" u="none" cap="none" strike="noStrike">
              <a:solidFill>
                <a:srgbClr val="000000"/>
              </a:solidFill>
              <a:latin typeface="Calibri"/>
              <a:ea typeface="Calibri"/>
              <a:cs typeface="Calibri"/>
              <a:sym typeface="Calibri"/>
            </a:endParaRPr>
          </a:p>
        </p:txBody>
      </p:sp>
      <p:sp>
        <p:nvSpPr>
          <p:cNvPr id="427" name="Google Shape;427;p6"/>
          <p:cNvSpPr txBox="1"/>
          <p:nvPr/>
        </p:nvSpPr>
        <p:spPr>
          <a:xfrm>
            <a:off x="1851246" y="4660835"/>
            <a:ext cx="1536300" cy="183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95"/>
              <a:buFont typeface="Arial"/>
              <a:buNone/>
            </a:pPr>
            <a:r>
              <a:rPr b="0" i="0" lang="en-GB" sz="595" u="none" cap="none" strike="noStrike">
                <a:solidFill>
                  <a:srgbClr val="4B5563"/>
                </a:solidFill>
                <a:latin typeface="Calibri"/>
                <a:ea typeface="Calibri"/>
                <a:cs typeface="Calibri"/>
                <a:sym typeface="Calibri"/>
              </a:rPr>
              <a:t>Kuasar</a:t>
            </a:r>
            <a:r>
              <a:rPr b="0" i="0" lang="en-GB" sz="595" u="none" cap="none" strike="noStrike">
                <a:solidFill>
                  <a:srgbClr val="000000"/>
                </a:solidFill>
                <a:latin typeface="Calibri"/>
                <a:ea typeface="Calibri"/>
                <a:cs typeface="Calibri"/>
                <a:sym typeface="Calibri"/>
              </a:rPr>
              <a:t> | </a:t>
            </a:r>
            <a:r>
              <a:rPr b="0" i="0" lang="en-GB" sz="595" u="none" cap="none" strike="noStrike">
                <a:solidFill>
                  <a:srgbClr val="4B5563"/>
                </a:solidFill>
                <a:latin typeface="Calibri"/>
                <a:ea typeface="Calibri"/>
                <a:cs typeface="Calibri"/>
                <a:sym typeface="Calibri"/>
              </a:rPr>
              <a:t>Kata</a:t>
            </a:r>
            <a:r>
              <a:rPr b="0" i="0" lang="en-GB" sz="595" u="none" cap="none" strike="noStrike">
                <a:solidFill>
                  <a:srgbClr val="000000"/>
                </a:solidFill>
                <a:latin typeface="Calibri"/>
                <a:ea typeface="Calibri"/>
                <a:cs typeface="Calibri"/>
                <a:sym typeface="Calibri"/>
              </a:rPr>
              <a:t> | </a:t>
            </a:r>
            <a:r>
              <a:rPr b="0" i="0" lang="en-GB" sz="595" u="none" cap="none" strike="noStrike">
                <a:solidFill>
                  <a:srgbClr val="4B5563"/>
                </a:solidFill>
                <a:latin typeface="Calibri"/>
                <a:ea typeface="Calibri"/>
                <a:cs typeface="Calibri"/>
                <a:sym typeface="Calibri"/>
              </a:rPr>
              <a:t>WASM | gVisor</a:t>
            </a:r>
            <a:br>
              <a:rPr b="0" i="0" lang="en-GB" sz="595" u="none" cap="none" strike="noStrike">
                <a:solidFill>
                  <a:srgbClr val="4B5563"/>
                </a:solidFill>
                <a:latin typeface="Calibri"/>
                <a:ea typeface="Calibri"/>
                <a:cs typeface="Calibri"/>
                <a:sym typeface="Calibri"/>
              </a:rPr>
            </a:br>
            <a:r>
              <a:rPr b="0" i="0" lang="en-GB" sz="595" u="none" cap="none" strike="noStrike">
                <a:solidFill>
                  <a:srgbClr val="4B5563"/>
                </a:solidFill>
                <a:latin typeface="Calibri"/>
                <a:ea typeface="Calibri"/>
                <a:cs typeface="Calibri"/>
                <a:sym typeface="Calibri"/>
              </a:rPr>
              <a:t>Firecracker | CloudHypervisor</a:t>
            </a:r>
            <a:endParaRPr b="0" i="0" sz="595" u="none" cap="none" strike="noStrike">
              <a:solidFill>
                <a:srgbClr val="000000"/>
              </a:solidFill>
              <a:latin typeface="Calibri"/>
              <a:ea typeface="Calibri"/>
              <a:cs typeface="Calibri"/>
              <a:sym typeface="Calibri"/>
            </a:endParaRPr>
          </a:p>
        </p:txBody>
      </p:sp>
      <p:sp>
        <p:nvSpPr>
          <p:cNvPr id="428" name="Google Shape;428;p6"/>
          <p:cNvSpPr txBox="1"/>
          <p:nvPr/>
        </p:nvSpPr>
        <p:spPr>
          <a:xfrm>
            <a:off x="3601940" y="4496706"/>
            <a:ext cx="1536300" cy="112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30"/>
              <a:buFont typeface="Arial"/>
              <a:buNone/>
            </a:pPr>
            <a:r>
              <a:rPr b="1" i="0" lang="en-GB" sz="730" u="none" cap="none" strike="noStrike">
                <a:solidFill>
                  <a:srgbClr val="374151"/>
                </a:solidFill>
                <a:latin typeface="Calibri"/>
                <a:ea typeface="Calibri"/>
                <a:cs typeface="Calibri"/>
                <a:sym typeface="Calibri"/>
              </a:rPr>
              <a:t> OS (Colocation)</a:t>
            </a:r>
            <a:endParaRPr b="0" i="0" sz="730" u="none" cap="none" strike="noStrike">
              <a:solidFill>
                <a:srgbClr val="000000"/>
              </a:solidFill>
              <a:latin typeface="Calibri"/>
              <a:ea typeface="Calibri"/>
              <a:cs typeface="Calibri"/>
              <a:sym typeface="Calibri"/>
            </a:endParaRPr>
          </a:p>
        </p:txBody>
      </p:sp>
      <p:sp>
        <p:nvSpPr>
          <p:cNvPr id="429" name="Google Shape;429;p6"/>
          <p:cNvSpPr txBox="1"/>
          <p:nvPr/>
        </p:nvSpPr>
        <p:spPr>
          <a:xfrm>
            <a:off x="3601940" y="4660835"/>
            <a:ext cx="1536300" cy="91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95"/>
              <a:buFont typeface="Arial"/>
              <a:buNone/>
            </a:pPr>
            <a:r>
              <a:rPr b="0" i="0" lang="en-GB" sz="595" u="none" cap="none" strike="noStrike">
                <a:solidFill>
                  <a:srgbClr val="4B5563"/>
                </a:solidFill>
                <a:latin typeface="Calibri"/>
                <a:ea typeface="Calibri"/>
                <a:cs typeface="Calibri"/>
                <a:sym typeface="Calibri"/>
              </a:rPr>
              <a:t>openEuler | SUSE</a:t>
            </a:r>
            <a:r>
              <a:rPr b="0" i="0" lang="en-GB" sz="595" u="none" cap="none" strike="noStrike">
                <a:solidFill>
                  <a:srgbClr val="000000"/>
                </a:solidFill>
                <a:latin typeface="Calibri"/>
                <a:ea typeface="Calibri"/>
                <a:cs typeface="Calibri"/>
                <a:sym typeface="Calibri"/>
              </a:rPr>
              <a:t> | </a:t>
            </a:r>
            <a:r>
              <a:rPr b="0" i="0" lang="en-GB" sz="595" u="none" cap="none" strike="noStrike">
                <a:solidFill>
                  <a:srgbClr val="4B5563"/>
                </a:solidFill>
                <a:latin typeface="Calibri"/>
                <a:ea typeface="Calibri"/>
                <a:cs typeface="Calibri"/>
                <a:sym typeface="Calibri"/>
              </a:rPr>
              <a:t>Ubuntu</a:t>
            </a:r>
            <a:r>
              <a:rPr b="0" i="0" lang="en-GB" sz="595" u="none" cap="none" strike="noStrike">
                <a:solidFill>
                  <a:srgbClr val="000000"/>
                </a:solidFill>
                <a:latin typeface="Calibri"/>
                <a:ea typeface="Calibri"/>
                <a:cs typeface="Calibri"/>
                <a:sym typeface="Calibri"/>
              </a:rPr>
              <a:t> | </a:t>
            </a:r>
            <a:r>
              <a:rPr b="0" i="0" lang="en-GB" sz="595" u="none" cap="none" strike="noStrike">
                <a:solidFill>
                  <a:srgbClr val="4B5563"/>
                </a:solidFill>
                <a:latin typeface="Calibri"/>
                <a:ea typeface="Calibri"/>
                <a:cs typeface="Calibri"/>
                <a:sym typeface="Calibri"/>
              </a:rPr>
              <a:t>RHEL | more…</a:t>
            </a:r>
            <a:endParaRPr b="0" i="0" sz="595" u="none" cap="none" strike="noStrike">
              <a:solidFill>
                <a:srgbClr val="000000"/>
              </a:solidFill>
              <a:latin typeface="Calibri"/>
              <a:ea typeface="Calibri"/>
              <a:cs typeface="Calibri"/>
              <a:sym typeface="Calibri"/>
            </a:endParaRPr>
          </a:p>
        </p:txBody>
      </p:sp>
      <p:sp>
        <p:nvSpPr>
          <p:cNvPr id="430" name="Google Shape;430;p6"/>
          <p:cNvSpPr txBox="1"/>
          <p:nvPr/>
        </p:nvSpPr>
        <p:spPr>
          <a:xfrm>
            <a:off x="5352636" y="4496706"/>
            <a:ext cx="1536300" cy="112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30"/>
              <a:buFont typeface="Arial"/>
              <a:buNone/>
            </a:pPr>
            <a:r>
              <a:rPr b="1" i="0" lang="en-GB" sz="730" u="none" cap="none" strike="noStrike">
                <a:solidFill>
                  <a:srgbClr val="374151"/>
                </a:solidFill>
                <a:latin typeface="Calibri"/>
                <a:ea typeface="Calibri"/>
                <a:cs typeface="Calibri"/>
                <a:sym typeface="Calibri"/>
              </a:rPr>
              <a:t>Hardware</a:t>
            </a:r>
            <a:endParaRPr b="0" i="0" sz="730" u="none" cap="none" strike="noStrike">
              <a:solidFill>
                <a:srgbClr val="000000"/>
              </a:solidFill>
              <a:latin typeface="Calibri"/>
              <a:ea typeface="Calibri"/>
              <a:cs typeface="Calibri"/>
              <a:sym typeface="Calibri"/>
            </a:endParaRPr>
          </a:p>
        </p:txBody>
      </p:sp>
      <p:sp>
        <p:nvSpPr>
          <p:cNvPr id="431" name="Google Shape;431;p6"/>
          <p:cNvSpPr txBox="1"/>
          <p:nvPr/>
        </p:nvSpPr>
        <p:spPr>
          <a:xfrm>
            <a:off x="5352634" y="4644067"/>
            <a:ext cx="1536300" cy="183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95"/>
              <a:buFont typeface="Arial"/>
              <a:buNone/>
            </a:pPr>
            <a:r>
              <a:rPr b="0" i="0" lang="en-GB" sz="595" u="none" cap="none" strike="noStrike">
                <a:solidFill>
                  <a:srgbClr val="4B5563"/>
                </a:solidFill>
                <a:latin typeface="Calibri"/>
                <a:ea typeface="Calibri"/>
                <a:cs typeface="Calibri"/>
                <a:sym typeface="Calibri"/>
              </a:rPr>
              <a:t>CPU / GPU / NPU / TPU </a:t>
            </a:r>
            <a:endParaRPr b="0" i="0" sz="595" u="none" cap="none" strike="noStrike">
              <a:solidFill>
                <a:srgbClr val="4B556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95"/>
              <a:buFont typeface="Arial"/>
              <a:buNone/>
            </a:pPr>
            <a:r>
              <a:rPr b="0" i="0" lang="en-GB" sz="595" u="none" cap="none" strike="noStrike">
                <a:solidFill>
                  <a:srgbClr val="4B5563"/>
                </a:solidFill>
                <a:latin typeface="Calibri"/>
                <a:ea typeface="Calibri"/>
                <a:cs typeface="Calibri"/>
                <a:sym typeface="Calibri"/>
              </a:rPr>
              <a:t>RoCE / InfiniBand / FPGA</a:t>
            </a:r>
            <a:endParaRPr b="0" i="0" sz="930" u="none" cap="none" strike="noStrike">
              <a:solidFill>
                <a:srgbClr val="000000"/>
              </a:solidFill>
              <a:latin typeface="Arial"/>
              <a:ea typeface="Arial"/>
              <a:cs typeface="Arial"/>
              <a:sym typeface="Arial"/>
            </a:endParaRPr>
          </a:p>
        </p:txBody>
      </p:sp>
      <p:sp>
        <p:nvSpPr>
          <p:cNvPr id="432" name="Google Shape;432;p6"/>
          <p:cNvSpPr txBox="1"/>
          <p:nvPr/>
        </p:nvSpPr>
        <p:spPr>
          <a:xfrm>
            <a:off x="7261247" y="1747536"/>
            <a:ext cx="1010100" cy="91800"/>
          </a:xfrm>
          <a:prstGeom prst="rect">
            <a:avLst/>
          </a:prstGeom>
          <a:noFill/>
          <a:ln>
            <a:noFill/>
          </a:ln>
        </p:spPr>
        <p:txBody>
          <a:bodyPr anchorCtr="0" anchor="t" bIns="0" lIns="0" spcFirstLastPara="1" rIns="0" wrap="square" tIns="0">
            <a:spAutoFit/>
          </a:bodyPr>
          <a:lstStyle/>
          <a:p>
            <a:pPr indent="0" lvl="0" marL="5080" marR="0" rtl="0" algn="l">
              <a:lnSpc>
                <a:spcPct val="100000"/>
              </a:lnSpc>
              <a:spcBef>
                <a:spcPts val="0"/>
              </a:spcBef>
              <a:spcAft>
                <a:spcPts val="0"/>
              </a:spcAft>
              <a:buClr>
                <a:srgbClr val="000000"/>
              </a:buClr>
              <a:buSzPts val="595"/>
              <a:buFont typeface="Arial"/>
              <a:buNone/>
            </a:pPr>
            <a:r>
              <a:rPr b="1" i="0" lang="en-GB" sz="595" u="none" cap="none" strike="noStrike">
                <a:solidFill>
                  <a:srgbClr val="374151"/>
                </a:solidFill>
                <a:latin typeface="Calibri"/>
                <a:ea typeface="Calibri"/>
                <a:cs typeface="Calibri"/>
                <a:sym typeface="Calibri"/>
              </a:rPr>
              <a:t>Observability</a:t>
            </a:r>
            <a:endParaRPr b="0" i="0" sz="925" u="none" cap="none" strike="noStrike">
              <a:solidFill>
                <a:srgbClr val="000000"/>
              </a:solidFill>
              <a:latin typeface="Calibri"/>
              <a:ea typeface="Calibri"/>
              <a:cs typeface="Calibri"/>
              <a:sym typeface="Calibri"/>
            </a:endParaRPr>
          </a:p>
        </p:txBody>
      </p:sp>
      <p:sp>
        <p:nvSpPr>
          <p:cNvPr id="433" name="Google Shape;433;p6"/>
          <p:cNvSpPr txBox="1"/>
          <p:nvPr/>
        </p:nvSpPr>
        <p:spPr>
          <a:xfrm>
            <a:off x="7261247" y="1861163"/>
            <a:ext cx="1010100" cy="176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494"/>
              <a:buFont typeface="Arial"/>
              <a:buNone/>
            </a:pPr>
            <a:r>
              <a:rPr b="0" i="0" lang="en-GB" sz="494" u="none" cap="none" strike="noStrike">
                <a:solidFill>
                  <a:srgbClr val="6B7280"/>
                </a:solidFill>
                <a:latin typeface="Calibri"/>
                <a:ea typeface="Calibri"/>
                <a:cs typeface="Calibri"/>
                <a:sym typeface="Calibri"/>
              </a:rPr>
              <a:t>Job Metrics, Tracing, Dashboard, Resource Heatmap</a:t>
            </a:r>
            <a:endParaRPr b="0" i="0" sz="925" u="none" cap="none" strike="noStrike">
              <a:solidFill>
                <a:srgbClr val="000000"/>
              </a:solidFill>
              <a:latin typeface="Calibri"/>
              <a:ea typeface="Calibri"/>
              <a:cs typeface="Calibri"/>
              <a:sym typeface="Calibri"/>
            </a:endParaRPr>
          </a:p>
        </p:txBody>
      </p:sp>
      <p:sp>
        <p:nvSpPr>
          <p:cNvPr id="434" name="Google Shape;434;p6"/>
          <p:cNvSpPr txBox="1"/>
          <p:nvPr/>
        </p:nvSpPr>
        <p:spPr>
          <a:xfrm>
            <a:off x="7261247" y="2290426"/>
            <a:ext cx="1010100" cy="91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95"/>
              <a:buFont typeface="Arial"/>
              <a:buNone/>
            </a:pPr>
            <a:r>
              <a:rPr b="1" i="0" lang="en-GB" sz="595" u="none" cap="none" strike="noStrike">
                <a:solidFill>
                  <a:srgbClr val="374151"/>
                </a:solidFill>
                <a:latin typeface="Calibri"/>
                <a:ea typeface="Calibri"/>
                <a:cs typeface="Calibri"/>
                <a:sym typeface="Calibri"/>
              </a:rPr>
              <a:t>CLI &amp; SDK</a:t>
            </a:r>
            <a:endParaRPr b="0" i="0" sz="925" u="none" cap="none" strike="noStrike">
              <a:solidFill>
                <a:srgbClr val="000000"/>
              </a:solidFill>
              <a:latin typeface="Calibri"/>
              <a:ea typeface="Calibri"/>
              <a:cs typeface="Calibri"/>
              <a:sym typeface="Calibri"/>
            </a:endParaRPr>
          </a:p>
        </p:txBody>
      </p:sp>
      <p:sp>
        <p:nvSpPr>
          <p:cNvPr id="435" name="Google Shape;435;p6"/>
          <p:cNvSpPr txBox="1"/>
          <p:nvPr/>
        </p:nvSpPr>
        <p:spPr>
          <a:xfrm>
            <a:off x="7261247" y="2404053"/>
            <a:ext cx="1010100" cy="176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494"/>
              <a:buFont typeface="Arial"/>
              <a:buNone/>
            </a:pPr>
            <a:r>
              <a:rPr b="0" i="0" lang="en-GB" sz="494" u="none" cap="none" strike="noStrike">
                <a:solidFill>
                  <a:srgbClr val="6B7280"/>
                </a:solidFill>
                <a:latin typeface="Calibri"/>
                <a:ea typeface="Calibri"/>
                <a:cs typeface="Calibri"/>
                <a:sym typeface="Calibri"/>
              </a:rPr>
              <a:t>Volcano CLI, JobFlow SDK, Python Client</a:t>
            </a:r>
            <a:endParaRPr b="0" i="0" sz="925" u="none" cap="none" strike="noStrike">
              <a:solidFill>
                <a:srgbClr val="000000"/>
              </a:solidFill>
              <a:latin typeface="Calibri"/>
              <a:ea typeface="Calibri"/>
              <a:cs typeface="Calibri"/>
              <a:sym typeface="Calibri"/>
            </a:endParaRPr>
          </a:p>
        </p:txBody>
      </p:sp>
      <p:sp>
        <p:nvSpPr>
          <p:cNvPr id="436" name="Google Shape;436;p6"/>
          <p:cNvSpPr txBox="1"/>
          <p:nvPr/>
        </p:nvSpPr>
        <p:spPr>
          <a:xfrm>
            <a:off x="7261247" y="2833316"/>
            <a:ext cx="1010100" cy="91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95"/>
              <a:buFont typeface="Arial"/>
              <a:buNone/>
            </a:pPr>
            <a:r>
              <a:rPr b="1" i="0" lang="en-GB" sz="595" u="none" cap="none" strike="noStrike">
                <a:solidFill>
                  <a:srgbClr val="374151"/>
                </a:solidFill>
                <a:latin typeface="Calibri"/>
                <a:ea typeface="Calibri"/>
                <a:cs typeface="Calibri"/>
                <a:sym typeface="Calibri"/>
              </a:rPr>
              <a:t> Ecosystem Integration</a:t>
            </a:r>
            <a:endParaRPr b="0" i="0" sz="930" u="none" cap="none" strike="noStrike">
              <a:solidFill>
                <a:srgbClr val="000000"/>
              </a:solidFill>
              <a:latin typeface="Arial"/>
              <a:ea typeface="Arial"/>
              <a:cs typeface="Arial"/>
              <a:sym typeface="Arial"/>
            </a:endParaRPr>
          </a:p>
        </p:txBody>
      </p:sp>
      <p:sp>
        <p:nvSpPr>
          <p:cNvPr id="437" name="Google Shape;437;p6"/>
          <p:cNvSpPr txBox="1"/>
          <p:nvPr/>
        </p:nvSpPr>
        <p:spPr>
          <a:xfrm>
            <a:off x="7261247" y="2946944"/>
            <a:ext cx="1010100" cy="2754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494"/>
              <a:buFont typeface="Arial"/>
              <a:buNone/>
            </a:pPr>
            <a:r>
              <a:rPr b="0" i="0" lang="en-GB" sz="494" u="none" cap="none" strike="noStrike">
                <a:solidFill>
                  <a:srgbClr val="6B7280"/>
                </a:solidFill>
                <a:latin typeface="Calibri"/>
                <a:ea typeface="Calibri"/>
                <a:cs typeface="Calibri"/>
                <a:sym typeface="Calibri"/>
              </a:rPr>
              <a:t>Kubeflow, Spark/Flink Operator, Argo Workflow, Kserve, AIBrix, LLM-D, AgentSandbox and more...</a:t>
            </a:r>
            <a:endParaRPr b="0" i="0" sz="925" u="none" cap="none" strike="noStrike">
              <a:solidFill>
                <a:srgbClr val="000000"/>
              </a:solidFill>
              <a:latin typeface="Calibri"/>
              <a:ea typeface="Calibri"/>
              <a:cs typeface="Calibri"/>
              <a:sym typeface="Calibri"/>
            </a:endParaRPr>
          </a:p>
        </p:txBody>
      </p:sp>
      <p:sp>
        <p:nvSpPr>
          <p:cNvPr id="438" name="Google Shape;438;p6"/>
          <p:cNvSpPr txBox="1"/>
          <p:nvPr/>
        </p:nvSpPr>
        <p:spPr>
          <a:xfrm>
            <a:off x="2056534" y="2726128"/>
            <a:ext cx="1383600" cy="112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730"/>
              <a:buFont typeface="Arial"/>
              <a:buNone/>
            </a:pPr>
            <a:r>
              <a:rPr b="1" i="0" lang="en-GB" sz="730" u="none" cap="none" strike="noStrike">
                <a:solidFill>
                  <a:srgbClr val="FFFFFF"/>
                </a:solidFill>
                <a:latin typeface="Calibri"/>
                <a:ea typeface="Calibri"/>
                <a:cs typeface="Calibri"/>
                <a:sym typeface="Calibri"/>
              </a:rPr>
              <a:t> Multi-tenant Resource Sharing</a:t>
            </a:r>
            <a:endParaRPr b="0" i="0" sz="930" u="none" cap="none" strike="noStrike">
              <a:solidFill>
                <a:srgbClr val="000000"/>
              </a:solidFill>
              <a:latin typeface="Arial"/>
              <a:ea typeface="Arial"/>
              <a:cs typeface="Arial"/>
              <a:sym typeface="Arial"/>
            </a:endParaRPr>
          </a:p>
        </p:txBody>
      </p:sp>
      <p:sp>
        <p:nvSpPr>
          <p:cNvPr id="439" name="Google Shape;439;p6"/>
          <p:cNvSpPr txBox="1"/>
          <p:nvPr/>
        </p:nvSpPr>
        <p:spPr>
          <a:xfrm>
            <a:off x="3728985" y="2726128"/>
            <a:ext cx="1383600" cy="112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730"/>
              <a:buFont typeface="Arial"/>
              <a:buNone/>
            </a:pPr>
            <a:r>
              <a:rPr b="1" i="0" lang="en-GB" sz="730" u="none" cap="none" strike="noStrike">
                <a:solidFill>
                  <a:srgbClr val="FFFFFF"/>
                </a:solidFill>
                <a:latin typeface="Calibri"/>
                <a:ea typeface="Calibri"/>
                <a:cs typeface="Calibri"/>
                <a:sym typeface="Calibri"/>
              </a:rPr>
              <a:t> High Throughput Scheduling</a:t>
            </a:r>
            <a:endParaRPr b="0" i="0" sz="930" u="none" cap="none" strike="noStrike">
              <a:solidFill>
                <a:srgbClr val="000000"/>
              </a:solidFill>
              <a:latin typeface="Arial"/>
              <a:ea typeface="Arial"/>
              <a:cs typeface="Arial"/>
              <a:sym typeface="Arial"/>
            </a:endParaRPr>
          </a:p>
        </p:txBody>
      </p:sp>
      <p:sp>
        <p:nvSpPr>
          <p:cNvPr id="440" name="Google Shape;440;p6"/>
          <p:cNvSpPr txBox="1"/>
          <p:nvPr/>
        </p:nvSpPr>
        <p:spPr>
          <a:xfrm>
            <a:off x="5252836" y="2728490"/>
            <a:ext cx="1383600" cy="112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730"/>
              <a:buFont typeface="Arial"/>
              <a:buNone/>
            </a:pPr>
            <a:r>
              <a:rPr b="1" i="0" lang="en-GB" sz="730" u="none" cap="none" strike="noStrike">
                <a:solidFill>
                  <a:srgbClr val="FFFFFF"/>
                </a:solidFill>
                <a:latin typeface="Calibri"/>
                <a:ea typeface="Calibri"/>
                <a:cs typeface="Calibri"/>
                <a:sym typeface="Calibri"/>
              </a:rPr>
              <a:t> Multi-cloud &amp; Federation</a:t>
            </a:r>
            <a:endParaRPr b="1" i="0" sz="730" u="none" cap="none" strike="noStrike">
              <a:solidFill>
                <a:srgbClr val="FFFFFF"/>
              </a:solidFill>
              <a:latin typeface="Calibri"/>
              <a:ea typeface="Calibri"/>
              <a:cs typeface="Calibri"/>
              <a:sym typeface="Calibri"/>
            </a:endParaRPr>
          </a:p>
        </p:txBody>
      </p:sp>
      <p:sp>
        <p:nvSpPr>
          <p:cNvPr id="441" name="Google Shape;441;p6"/>
          <p:cNvSpPr txBox="1"/>
          <p:nvPr/>
        </p:nvSpPr>
        <p:spPr>
          <a:xfrm>
            <a:off x="1977500" y="2876342"/>
            <a:ext cx="1384500" cy="267900"/>
          </a:xfrm>
          <a:prstGeom prst="rect">
            <a:avLst/>
          </a:prstGeom>
          <a:noFill/>
          <a:ln>
            <a:noFill/>
          </a:ln>
        </p:spPr>
        <p:txBody>
          <a:bodyPr anchorCtr="0" anchor="t" bIns="0" lIns="25250" spcFirstLastPara="1" rIns="0" wrap="square" tIns="0">
            <a:spAutoFit/>
          </a:bodyPr>
          <a:lstStyle/>
          <a:p>
            <a:pPr indent="-59055" lvl="0" marL="59055" marR="0" rtl="0" algn="l">
              <a:lnSpc>
                <a:spcPct val="114000"/>
              </a:lnSpc>
              <a:spcBef>
                <a:spcPts val="0"/>
              </a:spcBef>
              <a:spcAft>
                <a:spcPts val="0"/>
              </a:spcAft>
              <a:buClr>
                <a:srgbClr val="FFFFFF"/>
              </a:buClr>
              <a:buSzPts val="530"/>
              <a:buFont typeface="Arial"/>
              <a:buChar char="•"/>
            </a:pPr>
            <a:r>
              <a:rPr b="0" i="0" lang="en-GB" sz="530" u="none" cap="none" strike="noStrike">
                <a:solidFill>
                  <a:srgbClr val="FFFFFF"/>
                </a:solidFill>
                <a:latin typeface="Calibri"/>
                <a:ea typeface="Calibri"/>
                <a:cs typeface="Calibri"/>
                <a:sym typeface="Calibri"/>
              </a:rPr>
              <a:t>Hierarchical Queue Management</a:t>
            </a:r>
            <a:endParaRPr b="0" i="0" sz="930" u="none" cap="none" strike="noStrike">
              <a:solidFill>
                <a:srgbClr val="000000"/>
              </a:solidFill>
              <a:latin typeface="Arial"/>
              <a:ea typeface="Arial"/>
              <a:cs typeface="Arial"/>
              <a:sym typeface="Arial"/>
            </a:endParaRPr>
          </a:p>
          <a:p>
            <a:pPr indent="-59055" lvl="0" marL="59055" marR="0" rtl="0" algn="l">
              <a:lnSpc>
                <a:spcPct val="114000"/>
              </a:lnSpc>
              <a:spcBef>
                <a:spcPts val="0"/>
              </a:spcBef>
              <a:spcAft>
                <a:spcPts val="0"/>
              </a:spcAft>
              <a:buClr>
                <a:srgbClr val="FFFFFF"/>
              </a:buClr>
              <a:buSzPts val="530"/>
              <a:buFont typeface="Arial"/>
              <a:buChar char="•"/>
            </a:pPr>
            <a:r>
              <a:rPr b="0" i="0" lang="en-GB" sz="530" u="none" cap="none" strike="noStrike">
                <a:solidFill>
                  <a:srgbClr val="FFFFFF"/>
                </a:solidFill>
                <a:latin typeface="Calibri"/>
                <a:ea typeface="Calibri"/>
                <a:cs typeface="Calibri"/>
                <a:sym typeface="Calibri"/>
              </a:rPr>
              <a:t>SLO-aware Preemption</a:t>
            </a:r>
            <a:endParaRPr b="0" i="0" sz="930" u="none" cap="none" strike="noStrike">
              <a:solidFill>
                <a:srgbClr val="000000"/>
              </a:solidFill>
              <a:latin typeface="Arial"/>
              <a:ea typeface="Arial"/>
              <a:cs typeface="Arial"/>
              <a:sym typeface="Arial"/>
            </a:endParaRPr>
          </a:p>
          <a:p>
            <a:pPr indent="-59055" lvl="0" marL="59055" marR="0" rtl="0" algn="l">
              <a:lnSpc>
                <a:spcPct val="114000"/>
              </a:lnSpc>
              <a:spcBef>
                <a:spcPts val="0"/>
              </a:spcBef>
              <a:spcAft>
                <a:spcPts val="0"/>
              </a:spcAft>
              <a:buClr>
                <a:srgbClr val="FFFFFF"/>
              </a:buClr>
              <a:buSzPts val="530"/>
              <a:buFont typeface="Arial"/>
              <a:buChar char="•"/>
            </a:pPr>
            <a:r>
              <a:rPr b="0" i="0" lang="en-GB" sz="530" u="none" cap="none" strike="noStrike">
                <a:solidFill>
                  <a:srgbClr val="FFFFFF"/>
                </a:solidFill>
                <a:latin typeface="Calibri"/>
                <a:ea typeface="Calibri"/>
                <a:cs typeface="Calibri"/>
                <a:sym typeface="Calibri"/>
              </a:rPr>
              <a:t>Dynamic Resource Oversubscription</a:t>
            </a:r>
            <a:endParaRPr b="0" i="0" sz="930" u="none" cap="none" strike="noStrike">
              <a:solidFill>
                <a:srgbClr val="000000"/>
              </a:solidFill>
              <a:latin typeface="Arial"/>
              <a:ea typeface="Arial"/>
              <a:cs typeface="Arial"/>
              <a:sym typeface="Arial"/>
            </a:endParaRPr>
          </a:p>
        </p:txBody>
      </p:sp>
      <p:sp>
        <p:nvSpPr>
          <p:cNvPr id="442" name="Google Shape;442;p6"/>
          <p:cNvSpPr txBox="1"/>
          <p:nvPr/>
        </p:nvSpPr>
        <p:spPr>
          <a:xfrm>
            <a:off x="5777757" y="1343184"/>
            <a:ext cx="1017300" cy="112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730"/>
              <a:buFont typeface="Arial"/>
              <a:buNone/>
            </a:pPr>
            <a:r>
              <a:rPr b="1" i="0" lang="en-GB" sz="730" u="none" cap="none" strike="noStrike">
                <a:solidFill>
                  <a:srgbClr val="1F2937"/>
                </a:solidFill>
                <a:latin typeface="Calibri"/>
                <a:ea typeface="Calibri"/>
                <a:cs typeface="Calibri"/>
                <a:sym typeface="Calibri"/>
              </a:rPr>
              <a:t>Big Data &amp; HPC</a:t>
            </a:r>
            <a:endParaRPr b="1" i="0" sz="730" u="none" cap="none" strike="noStrike">
              <a:solidFill>
                <a:srgbClr val="1F2937"/>
              </a:solidFill>
              <a:latin typeface="Calibri"/>
              <a:ea typeface="Calibri"/>
              <a:cs typeface="Calibri"/>
              <a:sym typeface="Calibri"/>
            </a:endParaRPr>
          </a:p>
        </p:txBody>
      </p:sp>
      <p:sp>
        <p:nvSpPr>
          <p:cNvPr id="443" name="Google Shape;443;p6"/>
          <p:cNvSpPr txBox="1"/>
          <p:nvPr/>
        </p:nvSpPr>
        <p:spPr>
          <a:xfrm>
            <a:off x="3645222" y="2876342"/>
            <a:ext cx="1384500" cy="267900"/>
          </a:xfrm>
          <a:prstGeom prst="rect">
            <a:avLst/>
          </a:prstGeom>
          <a:noFill/>
          <a:ln>
            <a:noFill/>
          </a:ln>
        </p:spPr>
        <p:txBody>
          <a:bodyPr anchorCtr="0" anchor="t" bIns="0" lIns="25250" spcFirstLastPara="1" rIns="0" wrap="square" tIns="0">
            <a:spAutoFit/>
          </a:bodyPr>
          <a:lstStyle/>
          <a:p>
            <a:pPr indent="-59055" lvl="0" marL="59055" marR="0" rtl="0" algn="l">
              <a:lnSpc>
                <a:spcPct val="114000"/>
              </a:lnSpc>
              <a:spcBef>
                <a:spcPts val="0"/>
              </a:spcBef>
              <a:spcAft>
                <a:spcPts val="0"/>
              </a:spcAft>
              <a:buClr>
                <a:srgbClr val="FFFFFF"/>
              </a:buClr>
              <a:buSzPts val="530"/>
              <a:buFont typeface="Arial"/>
              <a:buChar char="•"/>
            </a:pPr>
            <a:r>
              <a:rPr b="0" i="0" lang="en-GB" sz="530" u="none" cap="none" strike="noStrike">
                <a:solidFill>
                  <a:srgbClr val="FFFFFF"/>
                </a:solidFill>
                <a:latin typeface="Calibri"/>
                <a:ea typeface="Calibri"/>
                <a:cs typeface="Calibri"/>
                <a:sym typeface="Calibri"/>
              </a:rPr>
              <a:t>Gang Scheduling / Binpack</a:t>
            </a:r>
            <a:endParaRPr b="0" i="0" sz="530" u="none" cap="none" strike="noStrike">
              <a:solidFill>
                <a:srgbClr val="FFFFFF"/>
              </a:solidFill>
              <a:latin typeface="Calibri"/>
              <a:ea typeface="Calibri"/>
              <a:cs typeface="Calibri"/>
              <a:sym typeface="Calibri"/>
            </a:endParaRPr>
          </a:p>
          <a:p>
            <a:pPr indent="-59055" lvl="0" marL="59055" marR="0" rtl="0" algn="l">
              <a:lnSpc>
                <a:spcPct val="114000"/>
              </a:lnSpc>
              <a:spcBef>
                <a:spcPts val="0"/>
              </a:spcBef>
              <a:spcAft>
                <a:spcPts val="0"/>
              </a:spcAft>
              <a:buClr>
                <a:srgbClr val="FFFFFF"/>
              </a:buClr>
              <a:buSzPts val="530"/>
              <a:buFont typeface="Arial"/>
              <a:buChar char="•"/>
            </a:pPr>
            <a:r>
              <a:rPr b="0" i="0" lang="en-GB" sz="530" u="none" cap="none" strike="noStrike">
                <a:solidFill>
                  <a:srgbClr val="FFFFFF"/>
                </a:solidFill>
                <a:latin typeface="Calibri"/>
                <a:ea typeface="Calibri"/>
                <a:cs typeface="Calibri"/>
                <a:sym typeface="Calibri"/>
              </a:rPr>
              <a:t>Fair Scheduling (FairShare / DRF)</a:t>
            </a:r>
            <a:endParaRPr b="0" i="0" sz="930" u="none" cap="none" strike="noStrike">
              <a:solidFill>
                <a:srgbClr val="000000"/>
              </a:solidFill>
              <a:latin typeface="Arial"/>
              <a:ea typeface="Arial"/>
              <a:cs typeface="Arial"/>
              <a:sym typeface="Arial"/>
            </a:endParaRPr>
          </a:p>
          <a:p>
            <a:pPr indent="-59055" lvl="0" marL="59055" marR="0" rtl="0" algn="l">
              <a:lnSpc>
                <a:spcPct val="114000"/>
              </a:lnSpc>
              <a:spcBef>
                <a:spcPts val="0"/>
              </a:spcBef>
              <a:spcAft>
                <a:spcPts val="0"/>
              </a:spcAft>
              <a:buClr>
                <a:srgbClr val="FFFFFF"/>
              </a:buClr>
              <a:buSzPts val="530"/>
              <a:buFont typeface="Arial"/>
              <a:buChar char="•"/>
            </a:pPr>
            <a:r>
              <a:rPr b="0" i="0" lang="en-GB" sz="530" u="none" cap="none" strike="noStrike">
                <a:solidFill>
                  <a:srgbClr val="FFFFFF"/>
                </a:solidFill>
                <a:latin typeface="Calibri"/>
                <a:ea typeface="Calibri"/>
                <a:cs typeface="Calibri"/>
                <a:sym typeface="Calibri"/>
              </a:rPr>
              <a:t>AI Topology Awareness (All-Reduce Opt)</a:t>
            </a:r>
            <a:endParaRPr b="0" i="0" sz="930" u="none" cap="none" strike="noStrike">
              <a:solidFill>
                <a:srgbClr val="000000"/>
              </a:solidFill>
              <a:latin typeface="Arial"/>
              <a:ea typeface="Arial"/>
              <a:cs typeface="Arial"/>
              <a:sym typeface="Arial"/>
            </a:endParaRPr>
          </a:p>
        </p:txBody>
      </p:sp>
      <p:sp>
        <p:nvSpPr>
          <p:cNvPr id="444" name="Google Shape;444;p6"/>
          <p:cNvSpPr txBox="1"/>
          <p:nvPr/>
        </p:nvSpPr>
        <p:spPr>
          <a:xfrm>
            <a:off x="5194720" y="2876342"/>
            <a:ext cx="1649700" cy="360900"/>
          </a:xfrm>
          <a:prstGeom prst="rect">
            <a:avLst/>
          </a:prstGeom>
          <a:noFill/>
          <a:ln>
            <a:noFill/>
          </a:ln>
        </p:spPr>
        <p:txBody>
          <a:bodyPr anchorCtr="0" anchor="t" bIns="0" lIns="25250" spcFirstLastPara="1" rIns="0" wrap="square" tIns="0">
            <a:spAutoFit/>
          </a:bodyPr>
          <a:lstStyle/>
          <a:p>
            <a:pPr indent="-59055" lvl="0" marL="59055" marR="0" rtl="0" algn="l">
              <a:lnSpc>
                <a:spcPct val="114000"/>
              </a:lnSpc>
              <a:spcBef>
                <a:spcPts val="0"/>
              </a:spcBef>
              <a:spcAft>
                <a:spcPts val="0"/>
              </a:spcAft>
              <a:buClr>
                <a:srgbClr val="FFFFFF"/>
              </a:buClr>
              <a:buSzPts val="530"/>
              <a:buFont typeface="Arial"/>
              <a:buChar char="•"/>
            </a:pPr>
            <a:r>
              <a:rPr b="0" i="0" lang="en-GB" sz="530" u="none" cap="none" strike="noStrike">
                <a:solidFill>
                  <a:srgbClr val="FFFFFF"/>
                </a:solidFill>
                <a:latin typeface="Calibri"/>
                <a:ea typeface="Calibri"/>
                <a:cs typeface="Calibri"/>
                <a:sym typeface="Calibri"/>
              </a:rPr>
              <a:t>Multi-cluster Job Orchestration</a:t>
            </a:r>
            <a:endParaRPr b="0" i="0" sz="930" u="none" cap="none" strike="noStrike">
              <a:solidFill>
                <a:srgbClr val="000000"/>
              </a:solidFill>
              <a:latin typeface="Arial"/>
              <a:ea typeface="Arial"/>
              <a:cs typeface="Arial"/>
              <a:sym typeface="Arial"/>
            </a:endParaRPr>
          </a:p>
          <a:p>
            <a:pPr indent="-59055" lvl="0" marL="59055" marR="0" rtl="0" algn="l">
              <a:lnSpc>
                <a:spcPct val="114000"/>
              </a:lnSpc>
              <a:spcBef>
                <a:spcPts val="0"/>
              </a:spcBef>
              <a:spcAft>
                <a:spcPts val="0"/>
              </a:spcAft>
              <a:buClr>
                <a:srgbClr val="FFFFFF"/>
              </a:buClr>
              <a:buSzPts val="530"/>
              <a:buFont typeface="Arial"/>
              <a:buChar char="•"/>
            </a:pPr>
            <a:r>
              <a:rPr b="0" i="0" lang="en-GB" sz="530" u="none" cap="none" strike="noStrike">
                <a:solidFill>
                  <a:srgbClr val="FFFFFF"/>
                </a:solidFill>
                <a:latin typeface="Calibri"/>
                <a:ea typeface="Calibri"/>
                <a:cs typeface="Calibri"/>
                <a:sym typeface="Calibri"/>
              </a:rPr>
              <a:t>Adaptive Decomposition for Hyper-scale Training</a:t>
            </a:r>
            <a:endParaRPr b="0" i="0" sz="930" u="none" cap="none" strike="noStrike">
              <a:solidFill>
                <a:srgbClr val="000000"/>
              </a:solidFill>
              <a:latin typeface="Arial"/>
              <a:ea typeface="Arial"/>
              <a:cs typeface="Arial"/>
              <a:sym typeface="Arial"/>
            </a:endParaRPr>
          </a:p>
          <a:p>
            <a:pPr indent="-59055" lvl="0" marL="59055" marR="0" rtl="0" algn="l">
              <a:lnSpc>
                <a:spcPct val="114000"/>
              </a:lnSpc>
              <a:spcBef>
                <a:spcPts val="0"/>
              </a:spcBef>
              <a:spcAft>
                <a:spcPts val="0"/>
              </a:spcAft>
              <a:buClr>
                <a:srgbClr val="FFFFFF"/>
              </a:buClr>
              <a:buSzPts val="530"/>
              <a:buFont typeface="Arial"/>
              <a:buChar char="•"/>
            </a:pPr>
            <a:r>
              <a:rPr b="0" i="0" lang="en-GB" sz="530" u="none" cap="none" strike="noStrike">
                <a:solidFill>
                  <a:srgbClr val="FFFFFF"/>
                </a:solidFill>
                <a:latin typeface="Calibri"/>
                <a:ea typeface="Calibri"/>
                <a:cs typeface="Calibri"/>
                <a:sym typeface="Calibri"/>
              </a:rPr>
              <a:t>Cross-domain Resource Sharing &amp; Training Over Heterogeneous Clusters</a:t>
            </a:r>
            <a:endParaRPr b="0" i="0" sz="93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7"/>
          <p:cNvSpPr txBox="1"/>
          <p:nvPr>
            <p:ph type="title"/>
          </p:nvPr>
        </p:nvSpPr>
        <p:spPr>
          <a:xfrm>
            <a:off x="311785" y="1940560"/>
            <a:ext cx="5160010" cy="84201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3600"/>
              <a:buNone/>
            </a:pPr>
            <a:r>
              <a:rPr lang="en-GB"/>
              <a:t>Scalable and Efficient Foundation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8"/>
          <p:cNvSpPr txBox="1"/>
          <p:nvPr>
            <p:ph type="title"/>
          </p:nvPr>
        </p:nvSpPr>
        <p:spPr>
          <a:xfrm>
            <a:off x="311785" y="0"/>
            <a:ext cx="6699250" cy="104775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GB"/>
              <a:t>Agent scheduler: </a:t>
            </a:r>
            <a:r>
              <a:rPr lang="en-GB">
                <a:solidFill>
                  <a:srgbClr val="FFFFFF"/>
                </a:solidFill>
              </a:rPr>
              <a:t>Fast Scheduling for AI Agent Workloads</a:t>
            </a:r>
            <a:endParaRPr>
              <a:solidFill>
                <a:srgbClr val="FFFFFF"/>
              </a:solidFill>
            </a:endParaRPr>
          </a:p>
        </p:txBody>
      </p:sp>
      <p:sp>
        <p:nvSpPr>
          <p:cNvPr id="455" name="Google Shape;455;p8"/>
          <p:cNvSpPr txBox="1"/>
          <p:nvPr>
            <p:ph idx="4294967295" type="body"/>
          </p:nvPr>
        </p:nvSpPr>
        <p:spPr>
          <a:xfrm>
            <a:off x="175575" y="1403600"/>
            <a:ext cx="4917300" cy="3002700"/>
          </a:xfrm>
          <a:prstGeom prst="rect">
            <a:avLst/>
          </a:prstGeom>
          <a:noFill/>
          <a:ln>
            <a:noFill/>
          </a:ln>
        </p:spPr>
        <p:txBody>
          <a:bodyPr anchorCtr="0" anchor="t" bIns="0" lIns="0" spcFirstLastPara="1" rIns="0" wrap="square" tIns="0">
            <a:noAutofit/>
          </a:bodyPr>
          <a:lstStyle/>
          <a:p>
            <a:pPr indent="-330200" lvl="0" marL="457200" rtl="0" algn="l">
              <a:lnSpc>
                <a:spcPct val="136000"/>
              </a:lnSpc>
              <a:spcBef>
                <a:spcPts val="0"/>
              </a:spcBef>
              <a:spcAft>
                <a:spcPts val="0"/>
              </a:spcAft>
              <a:buClr>
                <a:schemeClr val="dk1"/>
              </a:buClr>
              <a:buSzPts val="1600"/>
              <a:buChar char="●"/>
            </a:pPr>
            <a:r>
              <a:rPr b="1" lang="en-GB" sz="1600">
                <a:solidFill>
                  <a:srgbClr val="FF0000"/>
                </a:solidFill>
                <a:latin typeface="Arial"/>
                <a:ea typeface="Arial"/>
                <a:cs typeface="Arial"/>
                <a:sym typeface="Arial"/>
              </a:rPr>
              <a:t>Dedicated fast scheduling</a:t>
            </a:r>
            <a:r>
              <a:rPr lang="en-GB" sz="1600">
                <a:solidFill>
                  <a:schemeClr val="dk1"/>
                </a:solidFill>
              </a:rPr>
              <a:t> path for latency-sensitive workloads (e.g. agent workloads)</a:t>
            </a:r>
            <a:endParaRPr sz="1600">
              <a:solidFill>
                <a:schemeClr val="dk1"/>
              </a:solidFill>
            </a:endParaRPr>
          </a:p>
          <a:p>
            <a:pPr indent="-330200" lvl="0" marL="457200" rtl="0" algn="l">
              <a:lnSpc>
                <a:spcPct val="136000"/>
              </a:lnSpc>
              <a:spcBef>
                <a:spcPts val="0"/>
              </a:spcBef>
              <a:spcAft>
                <a:spcPts val="0"/>
              </a:spcAft>
              <a:buClr>
                <a:schemeClr val="dk1"/>
              </a:buClr>
              <a:buSzPts val="1600"/>
              <a:buChar char="●"/>
            </a:pPr>
            <a:r>
              <a:rPr lang="en-GB" sz="1600">
                <a:solidFill>
                  <a:schemeClr val="dk1"/>
                </a:solidFill>
              </a:rPr>
              <a:t>Multi-worker parallel scheduling</a:t>
            </a:r>
            <a:endParaRPr sz="1600">
              <a:solidFill>
                <a:schemeClr val="dk1"/>
              </a:solidFill>
            </a:endParaRPr>
          </a:p>
          <a:p>
            <a:pPr indent="-330200" lvl="0" marL="457200" rtl="0" algn="l">
              <a:lnSpc>
                <a:spcPct val="136000"/>
              </a:lnSpc>
              <a:spcBef>
                <a:spcPts val="0"/>
              </a:spcBef>
              <a:spcAft>
                <a:spcPts val="0"/>
              </a:spcAft>
              <a:buClr>
                <a:schemeClr val="dk1"/>
              </a:buClr>
              <a:buSzPts val="1600"/>
              <a:buChar char="●"/>
            </a:pPr>
            <a:r>
              <a:rPr lang="en-GB" sz="1600">
                <a:solidFill>
                  <a:schemeClr val="dk1"/>
                </a:solidFill>
              </a:rPr>
              <a:t>Optimistic concurrency + conflict-aware binding</a:t>
            </a:r>
            <a:endParaRPr sz="1600">
              <a:solidFill>
                <a:schemeClr val="dk1"/>
              </a:solidFill>
            </a:endParaRPr>
          </a:p>
          <a:p>
            <a:pPr indent="-330200" lvl="0" marL="457200" rtl="0" algn="l">
              <a:lnSpc>
                <a:spcPct val="136000"/>
              </a:lnSpc>
              <a:spcBef>
                <a:spcPts val="0"/>
              </a:spcBef>
              <a:spcAft>
                <a:spcPts val="0"/>
              </a:spcAft>
              <a:buClr>
                <a:schemeClr val="dk1"/>
              </a:buClr>
              <a:buSzPts val="1600"/>
              <a:buChar char="●"/>
            </a:pPr>
            <a:r>
              <a:rPr lang="en-GB" sz="1600">
                <a:solidFill>
                  <a:schemeClr val="dk1"/>
                </a:solidFill>
              </a:rPr>
              <a:t>Optimized Scheduling Queue: Enhanced queue mechanism with urgent retry support</a:t>
            </a:r>
            <a:endParaRPr sz="1600">
              <a:solidFill>
                <a:schemeClr val="dk1"/>
              </a:solidFill>
            </a:endParaRPr>
          </a:p>
          <a:p>
            <a:pPr indent="-330200" lvl="0" marL="457200" rtl="0" algn="l">
              <a:lnSpc>
                <a:spcPct val="136000"/>
              </a:lnSpc>
              <a:spcBef>
                <a:spcPts val="0"/>
              </a:spcBef>
              <a:spcAft>
                <a:spcPts val="0"/>
              </a:spcAft>
              <a:buClr>
                <a:schemeClr val="dk1"/>
              </a:buClr>
              <a:buSzPts val="1600"/>
              <a:buChar char="●"/>
            </a:pPr>
            <a:r>
              <a:rPr lang="en-GB" sz="1600">
                <a:solidFill>
                  <a:schemeClr val="dk1"/>
                </a:solidFill>
              </a:rPr>
              <a:t>Seamless coordination with Volcano batch scheduler via Sharding Controller</a:t>
            </a:r>
            <a:endParaRPr sz="1600">
              <a:solidFill>
                <a:schemeClr val="dk1"/>
              </a:solidFill>
            </a:endParaRPr>
          </a:p>
        </p:txBody>
      </p:sp>
      <p:pic>
        <p:nvPicPr>
          <p:cNvPr id="456" name="Google Shape;456;p8" title="agent-scheduler.png"/>
          <p:cNvPicPr preferRelativeResize="0"/>
          <p:nvPr/>
        </p:nvPicPr>
        <p:blipFill rotWithShape="1">
          <a:blip r:embed="rId3">
            <a:alphaModFix/>
          </a:blip>
          <a:srcRect b="0" l="0" r="0" t="0"/>
          <a:stretch/>
        </p:blipFill>
        <p:spPr>
          <a:xfrm>
            <a:off x="5270500" y="1114425"/>
            <a:ext cx="3667760" cy="389445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9"/>
          <p:cNvSpPr txBox="1"/>
          <p:nvPr>
            <p:ph type="title"/>
          </p:nvPr>
        </p:nvSpPr>
        <p:spPr>
          <a:xfrm>
            <a:off x="311785" y="0"/>
            <a:ext cx="6699250" cy="1047750"/>
          </a:xfrm>
          <a:prstGeom prst="rect">
            <a:avLst/>
          </a:prstGeom>
          <a:noFill/>
          <a:ln>
            <a:noFill/>
          </a:ln>
        </p:spPr>
        <p:txBody>
          <a:bodyPr anchorCtr="0" anchor="ctr" bIns="0" lIns="0" spcFirstLastPara="1" rIns="0" wrap="square" tIns="0">
            <a:normAutofit fontScale="90000"/>
          </a:bodyPr>
          <a:lstStyle/>
          <a:p>
            <a:pPr indent="0" lvl="0" marL="0" rtl="0" algn="l">
              <a:lnSpc>
                <a:spcPct val="100000"/>
              </a:lnSpc>
              <a:spcBef>
                <a:spcPts val="0"/>
              </a:spcBef>
              <a:spcAft>
                <a:spcPts val="0"/>
              </a:spcAft>
              <a:buSzPct val="111111"/>
              <a:buNone/>
            </a:pPr>
            <a:r>
              <a:rPr lang="en-GB"/>
              <a:t>  </a:t>
            </a:r>
            <a:r>
              <a:rPr lang="en-GB">
                <a:solidFill>
                  <a:srgbClr val="FFFFFF"/>
                </a:solidFill>
              </a:rPr>
              <a:t>Scalable Multi-Scheduler with Dynamic </a:t>
            </a:r>
            <a:br>
              <a:rPr lang="en-GB">
                <a:solidFill>
                  <a:srgbClr val="FFFFFF"/>
                </a:solidFill>
              </a:rPr>
            </a:br>
            <a:r>
              <a:rPr lang="en-GB">
                <a:solidFill>
                  <a:srgbClr val="FFFFFF"/>
                </a:solidFill>
              </a:rPr>
              <a:t>  Node Scheduling Shard</a:t>
            </a:r>
            <a:endParaRPr>
              <a:solidFill>
                <a:srgbClr val="FFFFFF"/>
              </a:solidFill>
            </a:endParaRPr>
          </a:p>
        </p:txBody>
      </p:sp>
      <p:pic>
        <p:nvPicPr>
          <p:cNvPr id="462" name="Google Shape;462;p9"/>
          <p:cNvPicPr preferRelativeResize="0"/>
          <p:nvPr/>
        </p:nvPicPr>
        <p:blipFill rotWithShape="1">
          <a:blip r:embed="rId3">
            <a:alphaModFix/>
          </a:blip>
          <a:srcRect b="0" l="0" r="0" t="0"/>
          <a:stretch/>
        </p:blipFill>
        <p:spPr>
          <a:xfrm>
            <a:off x="5179695" y="1158875"/>
            <a:ext cx="3852545" cy="3910965"/>
          </a:xfrm>
          <a:prstGeom prst="rect">
            <a:avLst/>
          </a:prstGeom>
          <a:noFill/>
          <a:ln>
            <a:noFill/>
          </a:ln>
        </p:spPr>
      </p:pic>
      <p:sp>
        <p:nvSpPr>
          <p:cNvPr id="463" name="Google Shape;463;p9"/>
          <p:cNvSpPr txBox="1"/>
          <p:nvPr>
            <p:ph idx="4294967295" type="body"/>
          </p:nvPr>
        </p:nvSpPr>
        <p:spPr>
          <a:xfrm>
            <a:off x="175575" y="1335650"/>
            <a:ext cx="4764900" cy="3002700"/>
          </a:xfrm>
          <a:prstGeom prst="rect">
            <a:avLst/>
          </a:prstGeom>
          <a:noFill/>
          <a:ln>
            <a:noFill/>
          </a:ln>
        </p:spPr>
        <p:txBody>
          <a:bodyPr anchorCtr="0" anchor="t" bIns="0" lIns="0" spcFirstLastPara="1" rIns="0" wrap="square" tIns="0">
            <a:noAutofit/>
          </a:bodyPr>
          <a:lstStyle/>
          <a:p>
            <a:pPr indent="0" lvl="0" marL="0" rtl="0" algn="ctr">
              <a:lnSpc>
                <a:spcPct val="136000"/>
              </a:lnSpc>
              <a:spcBef>
                <a:spcPts val="1000"/>
              </a:spcBef>
              <a:spcAft>
                <a:spcPts val="0"/>
              </a:spcAft>
              <a:buSzPts val="1800"/>
              <a:buNone/>
            </a:pPr>
            <a:r>
              <a:rPr b="1" lang="en-GB" sz="1600">
                <a:solidFill>
                  <a:schemeClr val="dk1"/>
                </a:solidFill>
              </a:rPr>
              <a:t>Specialized Scheduling, Resource Optimization</a:t>
            </a:r>
            <a:endParaRPr b="1" sz="1600">
              <a:solidFill>
                <a:schemeClr val="dk1"/>
              </a:solidFill>
            </a:endParaRPr>
          </a:p>
          <a:p>
            <a:pPr indent="0" lvl="0" marL="0" rtl="0" algn="ctr">
              <a:lnSpc>
                <a:spcPct val="136000"/>
              </a:lnSpc>
              <a:spcBef>
                <a:spcPts val="0"/>
              </a:spcBef>
              <a:spcAft>
                <a:spcPts val="0"/>
              </a:spcAft>
              <a:buSzPts val="1800"/>
              <a:buNone/>
            </a:pPr>
            <a:r>
              <a:rPr b="1" lang="en-GB" sz="1600">
                <a:solidFill>
                  <a:schemeClr val="dk1"/>
                </a:solidFill>
              </a:rPr>
              <a:t>Scalability, Workload Isolation</a:t>
            </a:r>
            <a:endParaRPr sz="1600">
              <a:solidFill>
                <a:schemeClr val="dk1"/>
              </a:solidFill>
            </a:endParaRPr>
          </a:p>
          <a:p>
            <a:pPr indent="-330200" lvl="0" marL="457200" rtl="0" algn="l">
              <a:lnSpc>
                <a:spcPct val="136000"/>
              </a:lnSpc>
              <a:spcBef>
                <a:spcPts val="1000"/>
              </a:spcBef>
              <a:spcAft>
                <a:spcPts val="0"/>
              </a:spcAft>
              <a:buClr>
                <a:schemeClr val="dk1"/>
              </a:buClr>
              <a:buSzPts val="1600"/>
              <a:buChar char="●"/>
            </a:pPr>
            <a:r>
              <a:rPr lang="en-GB" sz="1600">
                <a:solidFill>
                  <a:schemeClr val="dk1"/>
                </a:solidFill>
              </a:rPr>
              <a:t>Sharding Controller dynamically computes node pools based on extensible policies rather than inefficient static hard partitioning.</a:t>
            </a:r>
            <a:endParaRPr sz="1600">
              <a:solidFill>
                <a:schemeClr val="dk1"/>
              </a:solidFill>
            </a:endParaRPr>
          </a:p>
          <a:p>
            <a:pPr indent="-330200" lvl="0" marL="457200" rtl="0" algn="l">
              <a:lnSpc>
                <a:spcPct val="136000"/>
              </a:lnSpc>
              <a:spcBef>
                <a:spcPts val="1000"/>
              </a:spcBef>
              <a:spcAft>
                <a:spcPts val="0"/>
              </a:spcAft>
              <a:buClr>
                <a:schemeClr val="dk1"/>
              </a:buClr>
              <a:buSzPts val="1600"/>
              <a:buChar char="●"/>
            </a:pPr>
            <a:r>
              <a:rPr lang="en-GB" sz="1600">
                <a:solidFill>
                  <a:schemeClr val="dk1"/>
                </a:solidFill>
              </a:rPr>
              <a:t>Enables flexible scheduler combinations (e.g., multiple Batch Schedulers, or Agent + Batch) coordinating via the NodeShard CRD.</a:t>
            </a:r>
            <a:endParaRPr sz="16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
          <p:cNvSpPr txBox="1"/>
          <p:nvPr>
            <p:ph idx="4294967295" type="title"/>
          </p:nvPr>
        </p:nvSpPr>
        <p:spPr>
          <a:xfrm>
            <a:off x="0" y="0"/>
            <a:ext cx="9144000" cy="1047900"/>
          </a:xfrm>
          <a:prstGeom prst="rect">
            <a:avLst/>
          </a:prstGeom>
          <a:solidFill>
            <a:schemeClr val="accent1"/>
          </a:solid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GB">
                <a:solidFill>
                  <a:schemeClr val="lt1"/>
                </a:solidFill>
              </a:rPr>
              <a:t>  NodeShard CRD</a:t>
            </a:r>
            <a:endParaRPr>
              <a:solidFill>
                <a:srgbClr val="FFFFFF"/>
              </a:solidFill>
            </a:endParaRPr>
          </a:p>
        </p:txBody>
      </p:sp>
      <p:sp>
        <p:nvSpPr>
          <p:cNvPr id="469" name="Google Shape;469;p10"/>
          <p:cNvSpPr txBox="1"/>
          <p:nvPr>
            <p:ph idx="4294967295" type="body"/>
          </p:nvPr>
        </p:nvSpPr>
        <p:spPr>
          <a:xfrm>
            <a:off x="146685" y="1282065"/>
            <a:ext cx="6010275" cy="1397635"/>
          </a:xfrm>
          <a:prstGeom prst="rect">
            <a:avLst/>
          </a:prstGeom>
          <a:noFill/>
          <a:ln>
            <a:noFill/>
          </a:ln>
        </p:spPr>
        <p:txBody>
          <a:bodyPr anchorCtr="0" anchor="t" bIns="0" lIns="0" spcFirstLastPara="1" rIns="0" wrap="square" tIns="0">
            <a:noAutofit/>
          </a:bodyPr>
          <a:lstStyle/>
          <a:p>
            <a:pPr indent="-330200" lvl="0" marL="457200" rtl="0" algn="l">
              <a:lnSpc>
                <a:spcPct val="136000"/>
              </a:lnSpc>
              <a:spcBef>
                <a:spcPts val="0"/>
              </a:spcBef>
              <a:spcAft>
                <a:spcPts val="0"/>
              </a:spcAft>
              <a:buClr>
                <a:schemeClr val="dk1"/>
              </a:buClr>
              <a:buSzPts val="1600"/>
              <a:buChar char="●"/>
            </a:pPr>
            <a:r>
              <a:rPr lang="en-GB" sz="1500">
                <a:solidFill>
                  <a:schemeClr val="dk1"/>
                </a:solidFill>
              </a:rPr>
              <a:t>NodeShard CRD becomes the coordination contract</a:t>
            </a:r>
            <a:endParaRPr sz="1500">
              <a:solidFill>
                <a:schemeClr val="dk1"/>
              </a:solidFill>
            </a:endParaRPr>
          </a:p>
          <a:p>
            <a:pPr indent="-330200" lvl="0" marL="457200" rtl="0" algn="l">
              <a:lnSpc>
                <a:spcPct val="136000"/>
              </a:lnSpc>
              <a:spcBef>
                <a:spcPts val="0"/>
              </a:spcBef>
              <a:spcAft>
                <a:spcPts val="0"/>
              </a:spcAft>
              <a:buClr>
                <a:schemeClr val="dk1"/>
              </a:buClr>
              <a:buSzPts val="1600"/>
              <a:buChar char="●"/>
            </a:pPr>
            <a:r>
              <a:rPr b="1" lang="en-GB" sz="1500">
                <a:solidFill>
                  <a:schemeClr val="dk1"/>
                </a:solidFill>
                <a:latin typeface="Arial"/>
                <a:ea typeface="Arial"/>
                <a:cs typeface="Arial"/>
                <a:sym typeface="Arial"/>
              </a:rPr>
              <a:t>Dynamic Candidate Node Pools</a:t>
            </a:r>
            <a:r>
              <a:rPr lang="en-GB" sz="1500">
                <a:solidFill>
                  <a:schemeClr val="dk1"/>
                </a:solidFill>
              </a:rPr>
              <a:t>: Replaces static hard-partitioning with dynamic node pools, improving cluster utilization.</a:t>
            </a:r>
            <a:endParaRPr sz="1500">
              <a:solidFill>
                <a:schemeClr val="dk1"/>
              </a:solidFill>
            </a:endParaRPr>
          </a:p>
          <a:p>
            <a:pPr indent="-330200" lvl="0" marL="457200" rtl="0" algn="l">
              <a:lnSpc>
                <a:spcPct val="136000"/>
              </a:lnSpc>
              <a:spcBef>
                <a:spcPts val="0"/>
              </a:spcBef>
              <a:spcAft>
                <a:spcPts val="0"/>
              </a:spcAft>
              <a:buClr>
                <a:schemeClr val="dk1"/>
              </a:buClr>
              <a:buSzPts val="1600"/>
              <a:buChar char="●"/>
            </a:pPr>
            <a:r>
              <a:rPr b="1" lang="en-GB" sz="1500">
                <a:solidFill>
                  <a:schemeClr val="dk1"/>
                </a:solidFill>
                <a:latin typeface="Arial"/>
                <a:ea typeface="Arial"/>
                <a:cs typeface="Arial"/>
                <a:sym typeface="Arial"/>
              </a:rPr>
              <a:t>Pluggable Sharding Strategies</a:t>
            </a:r>
            <a:r>
              <a:rPr lang="en-GB" sz="1500">
                <a:solidFill>
                  <a:schemeClr val="dk1"/>
                </a:solidFill>
              </a:rPr>
              <a:t>: Extensible policy design to compute candidate nodes (e.g., CPU utilization strategy available now).</a:t>
            </a:r>
            <a:endParaRPr sz="1500">
              <a:solidFill>
                <a:schemeClr val="dk1"/>
              </a:solidFill>
            </a:endParaRPr>
          </a:p>
        </p:txBody>
      </p:sp>
      <p:pic>
        <p:nvPicPr>
          <p:cNvPr id="470" name="Google Shape;470;p10"/>
          <p:cNvPicPr preferRelativeResize="0"/>
          <p:nvPr/>
        </p:nvPicPr>
        <p:blipFill rotWithShape="1">
          <a:blip r:embed="rId3">
            <a:alphaModFix/>
          </a:blip>
          <a:srcRect b="21004" l="14854" r="17629" t="18150"/>
          <a:stretch/>
        </p:blipFill>
        <p:spPr>
          <a:xfrm>
            <a:off x="3567730" y="3127960"/>
            <a:ext cx="2135699" cy="1670375"/>
          </a:xfrm>
          <a:prstGeom prst="rect">
            <a:avLst/>
          </a:prstGeom>
          <a:noFill/>
          <a:ln>
            <a:noFill/>
          </a:ln>
        </p:spPr>
      </p:pic>
      <p:pic>
        <p:nvPicPr>
          <p:cNvPr id="471" name="Google Shape;471;p10"/>
          <p:cNvPicPr preferRelativeResize="0"/>
          <p:nvPr/>
        </p:nvPicPr>
        <p:blipFill rotWithShape="1">
          <a:blip r:embed="rId4">
            <a:alphaModFix/>
          </a:blip>
          <a:srcRect b="20881" l="16608" r="17276" t="16186"/>
          <a:stretch/>
        </p:blipFill>
        <p:spPr>
          <a:xfrm>
            <a:off x="1494855" y="3128150"/>
            <a:ext cx="1927850" cy="1630649"/>
          </a:xfrm>
          <a:prstGeom prst="rect">
            <a:avLst/>
          </a:prstGeom>
          <a:noFill/>
          <a:ln>
            <a:noFill/>
          </a:ln>
        </p:spPr>
      </p:pic>
      <p:pic>
        <p:nvPicPr>
          <p:cNvPr id="472" name="Google Shape;472;p10" title="carbon (3).png"/>
          <p:cNvPicPr preferRelativeResize="0"/>
          <p:nvPr/>
        </p:nvPicPr>
        <p:blipFill rotWithShape="1">
          <a:blip r:embed="rId5">
            <a:alphaModFix/>
          </a:blip>
          <a:srcRect b="9024" l="11929" r="11845" t="9755"/>
          <a:stretch/>
        </p:blipFill>
        <p:spPr>
          <a:xfrm>
            <a:off x="6333255" y="1231800"/>
            <a:ext cx="2594675" cy="3218126"/>
          </a:xfrm>
          <a:prstGeom prst="rect">
            <a:avLst/>
          </a:prstGeom>
          <a:noFill/>
          <a:ln>
            <a:noFill/>
          </a:ln>
        </p:spPr>
      </p:pic>
      <p:sp>
        <p:nvSpPr>
          <p:cNvPr id="473" name="Google Shape;473;p10"/>
          <p:cNvSpPr txBox="1"/>
          <p:nvPr/>
        </p:nvSpPr>
        <p:spPr>
          <a:xfrm>
            <a:off x="6757670" y="4547870"/>
            <a:ext cx="1961515" cy="3067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 Node Shard Example</a:t>
            </a:r>
            <a:endParaRPr b="0" i="0" sz="1400" u="none" cap="none" strike="noStrike">
              <a:solidFill>
                <a:srgbClr val="000000"/>
              </a:solidFill>
              <a:latin typeface="Arial"/>
              <a:ea typeface="Arial"/>
              <a:cs typeface="Arial"/>
              <a:sym typeface="Arial"/>
            </a:endParaRPr>
          </a:p>
        </p:txBody>
      </p:sp>
      <p:sp>
        <p:nvSpPr>
          <p:cNvPr id="474" name="Google Shape;474;p10"/>
          <p:cNvSpPr txBox="1"/>
          <p:nvPr/>
        </p:nvSpPr>
        <p:spPr>
          <a:xfrm>
            <a:off x="2576195" y="4798060"/>
            <a:ext cx="3636010" cy="321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500" u="none" cap="none" strike="noStrike">
                <a:solidFill>
                  <a:schemeClr val="dk1"/>
                </a:solidFill>
                <a:latin typeface="Arial"/>
                <a:ea typeface="Arial"/>
                <a:cs typeface="Arial"/>
                <a:sym typeface="Arial"/>
              </a:rPr>
              <a:t>Sharding Configuration</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11"/>
          <p:cNvSpPr txBox="1"/>
          <p:nvPr>
            <p:ph type="title"/>
          </p:nvPr>
        </p:nvSpPr>
        <p:spPr>
          <a:xfrm>
            <a:off x="311700" y="0"/>
            <a:ext cx="6949800" cy="10479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GB"/>
              <a:t>What’s new in Volcano Colocation</a:t>
            </a:r>
            <a:endParaRPr>
              <a:solidFill>
                <a:srgbClr val="FFFFFF"/>
              </a:solidFill>
            </a:endParaRPr>
          </a:p>
        </p:txBody>
      </p:sp>
      <p:pic>
        <p:nvPicPr>
          <p:cNvPr descr="图形用户界面, 应用程序&#10;&#10;AI 生成的内容可能不正确。" id="480" name="Google Shape;480;p11"/>
          <p:cNvPicPr preferRelativeResize="0"/>
          <p:nvPr/>
        </p:nvPicPr>
        <p:blipFill rotWithShape="1">
          <a:blip r:embed="rId3">
            <a:alphaModFix/>
          </a:blip>
          <a:srcRect b="0" l="0" r="0" t="0"/>
          <a:stretch/>
        </p:blipFill>
        <p:spPr>
          <a:xfrm>
            <a:off x="47775" y="1598066"/>
            <a:ext cx="5999450" cy="2638250"/>
          </a:xfrm>
          <a:prstGeom prst="rect">
            <a:avLst/>
          </a:prstGeom>
          <a:noFill/>
          <a:ln>
            <a:noFill/>
          </a:ln>
        </p:spPr>
      </p:pic>
      <p:sp>
        <p:nvSpPr>
          <p:cNvPr id="481" name="Google Shape;481;p11"/>
          <p:cNvSpPr txBox="1"/>
          <p:nvPr>
            <p:ph idx="1" type="body"/>
          </p:nvPr>
        </p:nvSpPr>
        <p:spPr>
          <a:xfrm>
            <a:off x="6136525" y="1047740"/>
            <a:ext cx="3007500" cy="401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lang="en-GB" sz="1600"/>
              <a:t>Different QoS Model:</a:t>
            </a:r>
            <a:endParaRPr sz="1600"/>
          </a:p>
          <a:p>
            <a:pPr indent="0" lvl="0" marL="171450" rtl="0" algn="l">
              <a:lnSpc>
                <a:spcPct val="100000"/>
              </a:lnSpc>
              <a:spcBef>
                <a:spcPts val="0"/>
              </a:spcBef>
              <a:spcAft>
                <a:spcPts val="0"/>
              </a:spcAft>
              <a:buSzPts val="1800"/>
              <a:buNone/>
            </a:pPr>
            <a:r>
              <a:rPr lang="en-GB"/>
              <a:t>LC (Latency Critical)</a:t>
            </a:r>
            <a:endParaRPr/>
          </a:p>
          <a:p>
            <a:pPr indent="0" lvl="0" marL="171450" rtl="0" algn="l">
              <a:lnSpc>
                <a:spcPct val="100000"/>
              </a:lnSpc>
              <a:spcBef>
                <a:spcPts val="0"/>
              </a:spcBef>
              <a:spcAft>
                <a:spcPts val="0"/>
              </a:spcAft>
              <a:buSzPts val="1800"/>
              <a:buNone/>
            </a:pPr>
            <a:r>
              <a:rPr lang="en-GB"/>
              <a:t>HLS (Highly Latency Sensitive)</a:t>
            </a:r>
            <a:endParaRPr/>
          </a:p>
          <a:p>
            <a:pPr indent="0" lvl="0" marL="171450" rtl="0" algn="l">
              <a:lnSpc>
                <a:spcPct val="100000"/>
              </a:lnSpc>
              <a:spcBef>
                <a:spcPts val="0"/>
              </a:spcBef>
              <a:spcAft>
                <a:spcPts val="0"/>
              </a:spcAft>
              <a:buSzPts val="1800"/>
              <a:buNone/>
            </a:pPr>
            <a:r>
              <a:rPr lang="en-GB"/>
              <a:t>LS (Latency Sensitive)</a:t>
            </a:r>
            <a:endParaRPr/>
          </a:p>
          <a:p>
            <a:pPr indent="0" lvl="0" marL="171450" rtl="0" algn="l">
              <a:lnSpc>
                <a:spcPct val="100000"/>
              </a:lnSpc>
              <a:spcBef>
                <a:spcPts val="0"/>
              </a:spcBef>
              <a:spcAft>
                <a:spcPts val="0"/>
              </a:spcAft>
              <a:buSzPts val="1800"/>
              <a:buNone/>
            </a:pPr>
            <a:r>
              <a:rPr lang="en-GB"/>
              <a:t>BE (Best Effort)</a:t>
            </a:r>
            <a:endParaRPr/>
          </a:p>
          <a:p>
            <a:pPr indent="0" lvl="0" marL="0" rtl="0" algn="l">
              <a:lnSpc>
                <a:spcPct val="100000"/>
              </a:lnSpc>
              <a:spcBef>
                <a:spcPts val="1000"/>
              </a:spcBef>
              <a:spcAft>
                <a:spcPts val="0"/>
              </a:spcAft>
              <a:buSzPts val="1800"/>
              <a:buNone/>
            </a:pPr>
            <a:r>
              <a:rPr lang="en-GB" sz="1600"/>
              <a:t>Multi-Workload support</a:t>
            </a:r>
            <a:endParaRPr sz="1600"/>
          </a:p>
          <a:p>
            <a:pPr indent="0" lvl="0" marL="171450" rtl="0" algn="l">
              <a:lnSpc>
                <a:spcPct val="150000"/>
              </a:lnSpc>
              <a:spcBef>
                <a:spcPts val="0"/>
              </a:spcBef>
              <a:spcAft>
                <a:spcPts val="0"/>
              </a:spcAft>
              <a:buSzPts val="1800"/>
              <a:buNone/>
            </a:pPr>
            <a:r>
              <a:rPr lang="en-GB">
                <a:solidFill>
                  <a:schemeClr val="dk1"/>
                </a:solidFill>
              </a:rPr>
              <a:t>Microservices | AI | Big Data | HPC</a:t>
            </a:r>
            <a:endParaRPr>
              <a:solidFill>
                <a:schemeClr val="dk1"/>
              </a:solidFill>
            </a:endParaRPr>
          </a:p>
          <a:p>
            <a:pPr indent="0" lvl="0" marL="0" rtl="0" algn="l">
              <a:lnSpc>
                <a:spcPct val="100000"/>
              </a:lnSpc>
              <a:spcBef>
                <a:spcPts val="0"/>
              </a:spcBef>
              <a:spcAft>
                <a:spcPts val="0"/>
              </a:spcAft>
              <a:buSzPts val="1800"/>
              <a:buNone/>
            </a:pPr>
            <a:r>
              <a:t/>
            </a:r>
            <a:endParaRPr sz="1600"/>
          </a:p>
          <a:p>
            <a:pPr indent="0" lvl="0" marL="0" rtl="0" algn="l">
              <a:lnSpc>
                <a:spcPct val="100000"/>
              </a:lnSpc>
              <a:spcBef>
                <a:spcPts val="0"/>
              </a:spcBef>
              <a:spcAft>
                <a:spcPts val="0"/>
              </a:spcAft>
              <a:buSzPts val="1800"/>
              <a:buNone/>
            </a:pPr>
            <a:r>
              <a:rPr lang="en-GB" sz="1600"/>
              <a:t>Comprehensive QoS guarantees</a:t>
            </a:r>
            <a:endParaRPr sz="1600"/>
          </a:p>
          <a:p>
            <a:pPr indent="0" lvl="0" marL="171450" rtl="0" algn="l">
              <a:lnSpc>
                <a:spcPct val="100000"/>
              </a:lnSpc>
              <a:spcBef>
                <a:spcPts val="0"/>
              </a:spcBef>
              <a:spcAft>
                <a:spcPts val="0"/>
              </a:spcAft>
              <a:buClr>
                <a:schemeClr val="dk1"/>
              </a:buClr>
              <a:buSzPts val="1200"/>
              <a:buFont typeface="Arial"/>
              <a:buNone/>
            </a:pPr>
            <a:r>
              <a:rPr lang="en-GB">
                <a:solidFill>
                  <a:schemeClr val="dk1"/>
                </a:solidFill>
              </a:rPr>
              <a:t>Protects online services by suppressing or evicting offline jobs during resource contention</a:t>
            </a:r>
            <a:endParaRPr>
              <a:solidFill>
                <a:schemeClr val="dk1"/>
              </a:solidFill>
            </a:endParaRPr>
          </a:p>
          <a:p>
            <a:pPr indent="0" lvl="0" marL="0" rtl="0" algn="l">
              <a:lnSpc>
                <a:spcPct val="130000"/>
              </a:lnSpc>
              <a:spcBef>
                <a:spcPts val="1000"/>
              </a:spcBef>
              <a:spcAft>
                <a:spcPts val="0"/>
              </a:spcAft>
              <a:buSzPts val="1800"/>
              <a:buNone/>
            </a:pPr>
            <a:r>
              <a:rPr lang="en-GB" sz="1600"/>
              <a:t>Dynamic Oversubscription</a:t>
            </a:r>
            <a:endParaRPr sz="1600"/>
          </a:p>
          <a:p>
            <a:pPr indent="0" lvl="0" marL="171450" rtl="0" algn="l">
              <a:lnSpc>
                <a:spcPct val="150000"/>
              </a:lnSpc>
              <a:spcBef>
                <a:spcPts val="0"/>
              </a:spcBef>
              <a:spcAft>
                <a:spcPts val="0"/>
              </a:spcAft>
              <a:buSzPts val="1800"/>
              <a:buNone/>
            </a:pPr>
            <a:r>
              <a:rPr lang="en-GB"/>
              <a:t>+30% </a:t>
            </a:r>
            <a:r>
              <a:rPr lang="en-GB"/>
              <a:t>utilization</a:t>
            </a:r>
            <a:r>
              <a:rPr lang="en-GB"/>
              <a:t> via real-time reclaim</a:t>
            </a:r>
            <a:endParaRPr/>
          </a:p>
          <a:p>
            <a:pPr indent="0" lvl="0" marL="0" rtl="0" algn="l">
              <a:lnSpc>
                <a:spcPct val="100000"/>
              </a:lnSpc>
              <a:spcBef>
                <a:spcPts val="0"/>
              </a:spcBef>
              <a:spcAft>
                <a:spcPts val="0"/>
              </a:spcAft>
              <a:buClr>
                <a:schemeClr val="dk1"/>
              </a:buClr>
              <a:buSzPts val="1100"/>
              <a:buFont typeface="Arial"/>
              <a:buNone/>
            </a:pPr>
            <a:r>
              <a:rPr lang="en-GB" sz="1600">
                <a:solidFill>
                  <a:schemeClr val="dk1"/>
                </a:solidFill>
              </a:rPr>
              <a:t>CPU Burst</a:t>
            </a:r>
            <a:endParaRPr sz="1600"/>
          </a:p>
          <a:p>
            <a:pPr indent="0" lvl="0" marL="0" rtl="0" algn="l">
              <a:lnSpc>
                <a:spcPct val="150000"/>
              </a:lnSpc>
              <a:spcBef>
                <a:spcPts val="0"/>
              </a:spcBef>
              <a:spcAft>
                <a:spcPts val="0"/>
              </a:spcAft>
              <a:buClr>
                <a:schemeClr val="dk1"/>
              </a:buClr>
              <a:buSzPts val="1200"/>
              <a:buFont typeface="Arial"/>
              <a:buNone/>
            </a:pPr>
            <a:r>
              <a:rPr lang="en-GB">
                <a:solidFill>
                  <a:schemeClr val="dk1"/>
                </a:solidFill>
              </a:rPr>
              <a:t>      Allow to temporarily exceed CPU limits</a:t>
            </a:r>
            <a:endParaRPr>
              <a:solidFill>
                <a:schemeClr val="dk1"/>
              </a:solidFill>
            </a:endParaRPr>
          </a:p>
          <a:p>
            <a:pPr indent="0" lvl="0" marL="0" rtl="0" algn="l">
              <a:lnSpc>
                <a:spcPct val="130000"/>
              </a:lnSpc>
              <a:spcBef>
                <a:spcPts val="0"/>
              </a:spcBef>
              <a:spcAft>
                <a:spcPts val="0"/>
              </a:spcAft>
              <a:buSzPts val="1800"/>
              <a:buNone/>
            </a:pPr>
            <a:r>
              <a:t/>
            </a:r>
            <a:endParaRPr>
              <a:solidFill>
                <a:schemeClr val="dk1"/>
              </a:solidFill>
            </a:endParaRPr>
          </a:p>
          <a:p>
            <a:pPr indent="0" lvl="0" marL="0" rtl="0" algn="l">
              <a:lnSpc>
                <a:spcPct val="130000"/>
              </a:lnSpc>
              <a:spcBef>
                <a:spcPts val="0"/>
              </a:spcBef>
              <a:spcAft>
                <a:spcPts val="0"/>
              </a:spcAft>
              <a:buSzPts val="1800"/>
              <a:buNone/>
            </a:pPr>
            <a:r>
              <a:t/>
            </a:r>
            <a:endParaRPr sz="1600"/>
          </a:p>
        </p:txBody>
      </p:sp>
      <p:sp>
        <p:nvSpPr>
          <p:cNvPr id="482" name="Google Shape;482;p11"/>
          <p:cNvSpPr/>
          <p:nvPr/>
        </p:nvSpPr>
        <p:spPr>
          <a:xfrm>
            <a:off x="8438450" y="1425825"/>
            <a:ext cx="124500" cy="468000"/>
          </a:xfrm>
          <a:prstGeom prst="rightBrace">
            <a:avLst>
              <a:gd fmla="val 93976"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11"/>
          <p:cNvSpPr txBox="1"/>
          <p:nvPr/>
        </p:nvSpPr>
        <p:spPr>
          <a:xfrm>
            <a:off x="8563000" y="1475175"/>
            <a:ext cx="14739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dk2"/>
                </a:solidFill>
                <a:latin typeface="Arial"/>
                <a:ea typeface="Arial"/>
                <a:cs typeface="Arial"/>
                <a:sym typeface="Arial"/>
              </a:rPr>
              <a:t>Online</a:t>
            </a:r>
            <a:endParaRPr b="0" i="0" sz="1200" u="none" cap="none" strike="noStrike">
              <a:solidFill>
                <a:schemeClr val="dk2"/>
              </a:solidFill>
              <a:latin typeface="Arial"/>
              <a:ea typeface="Arial"/>
              <a:cs typeface="Arial"/>
              <a:sym typeface="Arial"/>
            </a:endParaRPr>
          </a:p>
        </p:txBody>
      </p:sp>
      <p:cxnSp>
        <p:nvCxnSpPr>
          <p:cNvPr id="484" name="Google Shape;484;p11"/>
          <p:cNvCxnSpPr/>
          <p:nvPr/>
        </p:nvCxnSpPr>
        <p:spPr>
          <a:xfrm>
            <a:off x="7477250" y="2035525"/>
            <a:ext cx="1085700" cy="8100"/>
          </a:xfrm>
          <a:prstGeom prst="straightConnector1">
            <a:avLst/>
          </a:prstGeom>
          <a:noFill/>
          <a:ln cap="flat" cmpd="sng" w="9525">
            <a:solidFill>
              <a:schemeClr val="dk2"/>
            </a:solidFill>
            <a:prstDash val="solid"/>
            <a:round/>
            <a:headEnd len="sm" w="sm" type="none"/>
            <a:tailEnd len="med" w="med" type="triangle"/>
          </a:ln>
        </p:spPr>
      </p:cxnSp>
      <p:sp>
        <p:nvSpPr>
          <p:cNvPr id="485" name="Google Shape;485;p11"/>
          <p:cNvSpPr txBox="1"/>
          <p:nvPr/>
        </p:nvSpPr>
        <p:spPr>
          <a:xfrm>
            <a:off x="8563000" y="1854925"/>
            <a:ext cx="14739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dk2"/>
                </a:solidFill>
                <a:latin typeface="Arial"/>
                <a:ea typeface="Arial"/>
                <a:cs typeface="Arial"/>
                <a:sym typeface="Arial"/>
              </a:rPr>
              <a:t>Offline</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12"/>
          <p:cNvSpPr txBox="1"/>
          <p:nvPr>
            <p:ph type="title"/>
          </p:nvPr>
        </p:nvSpPr>
        <p:spPr>
          <a:xfrm>
            <a:off x="311700" y="0"/>
            <a:ext cx="6949800" cy="10479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GB"/>
              <a:t>What’s new in Volcano Colocation</a:t>
            </a:r>
            <a:endParaRPr>
              <a:solidFill>
                <a:srgbClr val="FFFFFF"/>
              </a:solidFill>
            </a:endParaRPr>
          </a:p>
        </p:txBody>
      </p:sp>
      <p:sp>
        <p:nvSpPr>
          <p:cNvPr id="491" name="Google Shape;491;p12"/>
          <p:cNvSpPr txBox="1"/>
          <p:nvPr>
            <p:ph idx="1" type="body"/>
          </p:nvPr>
        </p:nvSpPr>
        <p:spPr>
          <a:xfrm>
            <a:off x="278050" y="1220377"/>
            <a:ext cx="5240400" cy="3664200"/>
          </a:xfrm>
          <a:prstGeom prst="rect">
            <a:avLst/>
          </a:prstGeom>
          <a:noFill/>
          <a:ln>
            <a:noFill/>
          </a:ln>
        </p:spPr>
        <p:txBody>
          <a:bodyPr anchorCtr="0" anchor="t" bIns="0" lIns="0" spcFirstLastPara="1" rIns="0" wrap="square" tIns="0">
            <a:noAutofit/>
          </a:bodyPr>
          <a:lstStyle/>
          <a:p>
            <a:pPr indent="-330200" lvl="0" marL="457200" rtl="0" algn="l">
              <a:lnSpc>
                <a:spcPct val="150000"/>
              </a:lnSpc>
              <a:spcBef>
                <a:spcPts val="0"/>
              </a:spcBef>
              <a:spcAft>
                <a:spcPts val="0"/>
              </a:spcAft>
              <a:buClr>
                <a:schemeClr val="dk1"/>
              </a:buClr>
              <a:buSzPts val="1600"/>
              <a:buChar char="●"/>
            </a:pPr>
            <a:r>
              <a:rPr lang="en-GB" sz="1400">
                <a:solidFill>
                  <a:schemeClr val="dk1"/>
                </a:solidFill>
              </a:rPr>
              <a:t>Expanded OS Support: Fully decoupled from specific distros, </a:t>
            </a:r>
            <a:r>
              <a:rPr b="1" lang="en-GB" sz="1400">
                <a:solidFill>
                  <a:schemeClr val="dk1"/>
                </a:solidFill>
                <a:latin typeface="Arial"/>
                <a:ea typeface="Arial"/>
                <a:cs typeface="Arial"/>
                <a:sym typeface="Arial"/>
              </a:rPr>
              <a:t>now supporting generic operating systems (Ubuntu, CentOS, etc.).</a:t>
            </a:r>
            <a:endParaRPr b="1" sz="1400">
              <a:solidFill>
                <a:schemeClr val="dk1"/>
              </a:solidFill>
              <a:latin typeface="Arial"/>
              <a:ea typeface="Arial"/>
              <a:cs typeface="Arial"/>
              <a:sym typeface="Arial"/>
            </a:endParaRPr>
          </a:p>
          <a:p>
            <a:pPr indent="-330200" lvl="0" marL="457200" rtl="0" algn="l">
              <a:lnSpc>
                <a:spcPct val="150000"/>
              </a:lnSpc>
              <a:spcBef>
                <a:spcPts val="0"/>
              </a:spcBef>
              <a:spcAft>
                <a:spcPts val="0"/>
              </a:spcAft>
              <a:buClr>
                <a:schemeClr val="dk1"/>
              </a:buClr>
              <a:buSzPts val="1600"/>
              <a:buChar char="●"/>
            </a:pPr>
            <a:r>
              <a:rPr lang="en-GB" sz="1400">
                <a:solidFill>
                  <a:schemeClr val="dk1"/>
                </a:solidFill>
              </a:rPr>
              <a:t>Dynamic CPU Throttling &amp; Burst: Adaptive CPU quota adjustment for offline pods to protect online workloads, plus CPU Burst for latency-sensitive tasks.</a:t>
            </a:r>
            <a:endParaRPr sz="1400">
              <a:solidFill>
                <a:schemeClr val="dk1"/>
              </a:solidFill>
            </a:endParaRPr>
          </a:p>
          <a:p>
            <a:pPr indent="-330200" lvl="0" marL="457200" rtl="0" algn="l">
              <a:lnSpc>
                <a:spcPct val="150000"/>
              </a:lnSpc>
              <a:spcBef>
                <a:spcPts val="0"/>
              </a:spcBef>
              <a:spcAft>
                <a:spcPts val="0"/>
              </a:spcAft>
              <a:buClr>
                <a:schemeClr val="dk1"/>
              </a:buClr>
              <a:buSzPts val="1600"/>
              <a:buChar char="●"/>
            </a:pPr>
            <a:r>
              <a:rPr lang="en-GB" sz="1400">
                <a:solidFill>
                  <a:schemeClr val="dk1"/>
                </a:solidFill>
              </a:rPr>
              <a:t>Full Cgroup v2 Integration: Auto-detects cgroup versions and natively implements v2 resource managers.</a:t>
            </a:r>
            <a:endParaRPr sz="1400">
              <a:solidFill>
                <a:schemeClr val="dk1"/>
              </a:solidFill>
            </a:endParaRPr>
          </a:p>
          <a:p>
            <a:pPr indent="-330200" lvl="0" marL="457200" rtl="0" algn="l">
              <a:lnSpc>
                <a:spcPct val="150000"/>
              </a:lnSpc>
              <a:spcBef>
                <a:spcPts val="0"/>
              </a:spcBef>
              <a:spcAft>
                <a:spcPts val="0"/>
              </a:spcAft>
              <a:buClr>
                <a:schemeClr val="dk1"/>
              </a:buClr>
              <a:buSzPts val="1600"/>
              <a:buChar char="●"/>
            </a:pPr>
            <a:r>
              <a:rPr lang="en-GB" sz="1400">
                <a:solidFill>
                  <a:schemeClr val="dk1"/>
                </a:solidFill>
              </a:rPr>
              <a:t>Fine-grained Memory QoS</a:t>
            </a:r>
            <a:endParaRPr sz="1400">
              <a:solidFill>
                <a:schemeClr val="dk1"/>
              </a:solidFill>
            </a:endParaRPr>
          </a:p>
          <a:p>
            <a:pPr indent="-330200" lvl="0" marL="457200" rtl="0" algn="l">
              <a:lnSpc>
                <a:spcPct val="150000"/>
              </a:lnSpc>
              <a:spcBef>
                <a:spcPts val="0"/>
              </a:spcBef>
              <a:spcAft>
                <a:spcPts val="0"/>
              </a:spcAft>
              <a:buClr>
                <a:schemeClr val="dk1"/>
              </a:buClr>
              <a:buSzPts val="1600"/>
              <a:buChar char="●"/>
            </a:pPr>
            <a:r>
              <a:rPr lang="en-GB" sz="1400">
                <a:solidFill>
                  <a:schemeClr val="dk1"/>
                </a:solidFill>
              </a:rPr>
              <a:t>Declarative Policy API: Introduced ColocationConfiguration CRD </a:t>
            </a:r>
            <a:endParaRPr sz="1400">
              <a:solidFill>
                <a:schemeClr val="dk1"/>
              </a:solidFill>
            </a:endParaRPr>
          </a:p>
        </p:txBody>
      </p:sp>
      <p:pic>
        <p:nvPicPr>
          <p:cNvPr id="492" name="Google Shape;492;p12" title="carbon (4).png"/>
          <p:cNvPicPr preferRelativeResize="0"/>
          <p:nvPr/>
        </p:nvPicPr>
        <p:blipFill rotWithShape="1">
          <a:blip r:embed="rId3">
            <a:alphaModFix/>
          </a:blip>
          <a:srcRect b="11519" l="13455" r="12410" t="12895"/>
          <a:stretch/>
        </p:blipFill>
        <p:spPr>
          <a:xfrm>
            <a:off x="5944200" y="1293395"/>
            <a:ext cx="3095624" cy="3123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13"/>
          <p:cNvSpPr txBox="1"/>
          <p:nvPr>
            <p:ph type="title"/>
          </p:nvPr>
        </p:nvSpPr>
        <p:spPr>
          <a:xfrm>
            <a:off x="311785" y="1940560"/>
            <a:ext cx="6553835" cy="84201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3600"/>
              <a:buNone/>
            </a:pPr>
            <a:r>
              <a:rPr lang="en-GB">
                <a:solidFill>
                  <a:srgbClr val="FFFFFF"/>
                </a:solidFill>
              </a:rPr>
              <a:t>Volcano Topology Aware Scheduling: </a:t>
            </a:r>
            <a:r>
              <a:rPr lang="en-GB"/>
              <a:t>What’s new?</a:t>
            </a:r>
            <a:endParaRPr>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4"/>
          <p:cNvSpPr txBox="1"/>
          <p:nvPr>
            <p:ph type="title"/>
          </p:nvPr>
        </p:nvSpPr>
        <p:spPr>
          <a:xfrm>
            <a:off x="311700" y="0"/>
            <a:ext cx="6949800" cy="10479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GB">
                <a:solidFill>
                  <a:srgbClr val="FFFFFF"/>
                </a:solidFill>
              </a:rPr>
              <a:t>Volcano Topology Aware Scheduling</a:t>
            </a:r>
            <a:endParaRPr>
              <a:solidFill>
                <a:srgbClr val="FFFFFF"/>
              </a:solidFill>
            </a:endParaRPr>
          </a:p>
        </p:txBody>
      </p:sp>
      <p:pic>
        <p:nvPicPr>
          <p:cNvPr id="503" name="Google Shape;503;p14" title="carbon (9).png"/>
          <p:cNvPicPr preferRelativeResize="0"/>
          <p:nvPr/>
        </p:nvPicPr>
        <p:blipFill rotWithShape="1">
          <a:blip r:embed="rId3">
            <a:alphaModFix/>
          </a:blip>
          <a:srcRect b="0" l="3391" r="0" t="0"/>
          <a:stretch/>
        </p:blipFill>
        <p:spPr>
          <a:xfrm>
            <a:off x="6421200" y="1047900"/>
            <a:ext cx="2722800" cy="2245051"/>
          </a:xfrm>
          <a:prstGeom prst="rect">
            <a:avLst/>
          </a:prstGeom>
          <a:noFill/>
          <a:ln>
            <a:noFill/>
          </a:ln>
        </p:spPr>
      </p:pic>
      <p:pic>
        <p:nvPicPr>
          <p:cNvPr id="504" name="Google Shape;504;p14" title="carbon (10).png"/>
          <p:cNvPicPr preferRelativeResize="0"/>
          <p:nvPr/>
        </p:nvPicPr>
        <p:blipFill rotWithShape="1">
          <a:blip r:embed="rId4">
            <a:alphaModFix/>
          </a:blip>
          <a:srcRect b="0" l="5758" r="0" t="0"/>
          <a:stretch/>
        </p:blipFill>
        <p:spPr>
          <a:xfrm>
            <a:off x="6421200" y="2952325"/>
            <a:ext cx="2722800" cy="2191176"/>
          </a:xfrm>
          <a:prstGeom prst="rect">
            <a:avLst/>
          </a:prstGeom>
          <a:noFill/>
          <a:ln>
            <a:noFill/>
          </a:ln>
        </p:spPr>
      </p:pic>
      <p:sp>
        <p:nvSpPr>
          <p:cNvPr id="505" name="Google Shape;505;p14"/>
          <p:cNvSpPr txBox="1"/>
          <p:nvPr>
            <p:ph idx="1" type="body"/>
          </p:nvPr>
        </p:nvSpPr>
        <p:spPr>
          <a:xfrm>
            <a:off x="311875" y="2035895"/>
            <a:ext cx="6421200" cy="1673100"/>
          </a:xfrm>
          <a:prstGeom prst="rect">
            <a:avLst/>
          </a:prstGeom>
          <a:noFill/>
          <a:ln>
            <a:noFill/>
          </a:ln>
        </p:spPr>
        <p:txBody>
          <a:bodyPr anchorCtr="0" anchor="t" bIns="0" lIns="0" spcFirstLastPara="1" rIns="0" wrap="square" tIns="0">
            <a:noAutofit/>
          </a:bodyPr>
          <a:lstStyle/>
          <a:p>
            <a:pPr indent="-317500" lvl="0" marL="457200" rtl="0" algn="l">
              <a:lnSpc>
                <a:spcPct val="150000"/>
              </a:lnSpc>
              <a:spcBef>
                <a:spcPts val="0"/>
              </a:spcBef>
              <a:spcAft>
                <a:spcPts val="0"/>
              </a:spcAft>
              <a:buClr>
                <a:schemeClr val="dk1"/>
              </a:buClr>
              <a:buSzPts val="1400"/>
              <a:buChar char="●"/>
            </a:pPr>
            <a:r>
              <a:rPr lang="en-GB" sz="1400">
                <a:solidFill>
                  <a:schemeClr val="dk1"/>
                </a:solidFill>
              </a:rPr>
              <a:t>v1.12: HyperNode-based topology-aware scheduling reaches alpha</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GB" sz="1400">
                <a:solidFill>
                  <a:schemeClr val="dk1"/>
                </a:solidFill>
              </a:rPr>
              <a:t>v1.13: label-based HyperNode auto-discovery added</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GB" sz="1400">
                <a:solidFill>
                  <a:schemeClr val="dk1"/>
                </a:solidFill>
              </a:rPr>
              <a:t>v1.14: richer subgroup-level constraints and gang coordination; HyperNode-level binpacking reduces fragmentation </a:t>
            </a:r>
            <a:endParaRPr sz="1400">
              <a:solidFill>
                <a:schemeClr val="dk1"/>
              </a:solidFill>
            </a:endParaRPr>
          </a:p>
          <a:p>
            <a:pPr indent="0" lvl="0" marL="0" rtl="0" algn="l">
              <a:lnSpc>
                <a:spcPct val="150000"/>
              </a:lnSpc>
              <a:spcBef>
                <a:spcPts val="0"/>
              </a:spcBef>
              <a:spcAft>
                <a:spcPts val="0"/>
              </a:spcAft>
              <a:buSzPts val="1800"/>
              <a:buNone/>
            </a:pPr>
            <a:r>
              <a:t/>
            </a:r>
            <a:endParaRPr sz="1400">
              <a:solidFill>
                <a:schemeClr val="dk1"/>
              </a:solidFill>
            </a:endParaRPr>
          </a:p>
        </p:txBody>
      </p:sp>
      <p:grpSp>
        <p:nvGrpSpPr>
          <p:cNvPr id="506" name="Google Shape;506;p14"/>
          <p:cNvGrpSpPr/>
          <p:nvPr/>
        </p:nvGrpSpPr>
        <p:grpSpPr>
          <a:xfrm>
            <a:off x="2808448" y="3449861"/>
            <a:ext cx="3837519" cy="1264640"/>
            <a:chOff x="9534" y="1222312"/>
            <a:chExt cx="6535285" cy="2472415"/>
          </a:xfrm>
        </p:grpSpPr>
        <p:grpSp>
          <p:nvGrpSpPr>
            <p:cNvPr id="507" name="Google Shape;507;p14"/>
            <p:cNvGrpSpPr/>
            <p:nvPr/>
          </p:nvGrpSpPr>
          <p:grpSpPr>
            <a:xfrm>
              <a:off x="9534" y="1222312"/>
              <a:ext cx="4521109" cy="2472415"/>
              <a:chOff x="9534" y="1222312"/>
              <a:chExt cx="4521109" cy="2472415"/>
            </a:xfrm>
          </p:grpSpPr>
          <p:sp>
            <p:nvSpPr>
              <p:cNvPr id="508" name="Google Shape;508;p14"/>
              <p:cNvSpPr/>
              <p:nvPr/>
            </p:nvSpPr>
            <p:spPr>
              <a:xfrm>
                <a:off x="1823731" y="1222312"/>
                <a:ext cx="589500" cy="353100"/>
              </a:xfrm>
              <a:prstGeom prst="roundRect">
                <a:avLst>
                  <a:gd fmla="val 16667" name="adj"/>
                </a:avLst>
              </a:prstGeom>
              <a:solidFill>
                <a:srgbClr val="92D050"/>
              </a:solidFill>
              <a:ln cap="flat" cmpd="sng" w="9525">
                <a:solidFill>
                  <a:srgbClr val="000000"/>
                </a:solidFill>
                <a:prstDash val="solid"/>
                <a:round/>
                <a:headEnd len="sm" w="sm" type="none"/>
                <a:tailEnd len="sm" w="sm" type="none"/>
              </a:ln>
            </p:spPr>
            <p:txBody>
              <a:bodyPr anchorCtr="0" anchor="ctr" bIns="26825" lIns="53675" spcFirstLastPara="1" rIns="53675" wrap="square" tIns="26825">
                <a:noAutofit/>
              </a:bodyPr>
              <a:lstStyle/>
              <a:p>
                <a:pPr indent="0" lvl="0" marL="0" marR="0" rtl="0" algn="ctr">
                  <a:lnSpc>
                    <a:spcPct val="100000"/>
                  </a:lnSpc>
                  <a:spcBef>
                    <a:spcPts val="0"/>
                  </a:spcBef>
                  <a:spcAft>
                    <a:spcPts val="0"/>
                  </a:spcAft>
                  <a:buClr>
                    <a:srgbClr val="000000"/>
                  </a:buClr>
                  <a:buSzPts val="822"/>
                  <a:buFont typeface="Arial"/>
                  <a:buNone/>
                </a:pPr>
                <a:r>
                  <a:rPr b="0" i="0" lang="en-GB" sz="820" u="none" cap="none" strike="noStrike">
                    <a:solidFill>
                      <a:srgbClr val="000000"/>
                    </a:solidFill>
                    <a:latin typeface="Arial"/>
                    <a:ea typeface="Arial"/>
                    <a:cs typeface="Arial"/>
                    <a:sym typeface="Arial"/>
                  </a:rPr>
                  <a:t>S6</a:t>
                </a:r>
                <a:endParaRPr b="0" i="0" sz="820" u="none" cap="none" strike="noStrike">
                  <a:solidFill>
                    <a:srgbClr val="000000"/>
                  </a:solidFill>
                  <a:latin typeface="Arial"/>
                  <a:ea typeface="Arial"/>
                  <a:cs typeface="Arial"/>
                  <a:sym typeface="Arial"/>
                </a:endParaRPr>
              </a:p>
            </p:txBody>
          </p:sp>
          <p:sp>
            <p:nvSpPr>
              <p:cNvPr id="509" name="Google Shape;509;p14"/>
              <p:cNvSpPr/>
              <p:nvPr/>
            </p:nvSpPr>
            <p:spPr>
              <a:xfrm>
                <a:off x="2993156" y="1729691"/>
                <a:ext cx="589500" cy="353100"/>
              </a:xfrm>
              <a:prstGeom prst="roundRect">
                <a:avLst>
                  <a:gd fmla="val 16667" name="adj"/>
                </a:avLst>
              </a:prstGeom>
              <a:solidFill>
                <a:srgbClr val="92D050"/>
              </a:solidFill>
              <a:ln cap="flat" cmpd="sng" w="9525">
                <a:solidFill>
                  <a:srgbClr val="000000"/>
                </a:solidFill>
                <a:prstDash val="solid"/>
                <a:round/>
                <a:headEnd len="sm" w="sm" type="none"/>
                <a:tailEnd len="sm" w="sm" type="none"/>
              </a:ln>
            </p:spPr>
            <p:txBody>
              <a:bodyPr anchorCtr="0" anchor="ctr" bIns="26825" lIns="53675" spcFirstLastPara="1" rIns="53675" wrap="square" tIns="26825">
                <a:noAutofit/>
              </a:bodyPr>
              <a:lstStyle/>
              <a:p>
                <a:pPr indent="0" lvl="0" marL="0" marR="0" rtl="0" algn="ctr">
                  <a:lnSpc>
                    <a:spcPct val="100000"/>
                  </a:lnSpc>
                  <a:spcBef>
                    <a:spcPts val="0"/>
                  </a:spcBef>
                  <a:spcAft>
                    <a:spcPts val="0"/>
                  </a:spcAft>
                  <a:buClr>
                    <a:srgbClr val="000000"/>
                  </a:buClr>
                  <a:buSzPts val="822"/>
                  <a:buFont typeface="Arial"/>
                  <a:buNone/>
                </a:pPr>
                <a:r>
                  <a:rPr b="0" i="0" lang="en-GB" sz="820" u="none" cap="none" strike="noStrike">
                    <a:solidFill>
                      <a:srgbClr val="000000"/>
                    </a:solidFill>
                    <a:latin typeface="Arial"/>
                    <a:ea typeface="Arial"/>
                    <a:cs typeface="Arial"/>
                    <a:sym typeface="Arial"/>
                  </a:rPr>
                  <a:t>S5</a:t>
                </a:r>
                <a:endParaRPr b="0" i="0" sz="820" u="none" cap="none" strike="noStrike">
                  <a:solidFill>
                    <a:srgbClr val="000000"/>
                  </a:solidFill>
                  <a:latin typeface="Arial"/>
                  <a:ea typeface="Arial"/>
                  <a:cs typeface="Arial"/>
                  <a:sym typeface="Arial"/>
                </a:endParaRPr>
              </a:p>
            </p:txBody>
          </p:sp>
          <p:sp>
            <p:nvSpPr>
              <p:cNvPr id="510" name="Google Shape;510;p14"/>
              <p:cNvSpPr/>
              <p:nvPr/>
            </p:nvSpPr>
            <p:spPr>
              <a:xfrm>
                <a:off x="957744" y="1729691"/>
                <a:ext cx="589500" cy="353100"/>
              </a:xfrm>
              <a:prstGeom prst="roundRect">
                <a:avLst>
                  <a:gd fmla="val 16667" name="adj"/>
                </a:avLst>
              </a:prstGeom>
              <a:solidFill>
                <a:srgbClr val="92D050"/>
              </a:solidFill>
              <a:ln cap="flat" cmpd="sng" w="9525">
                <a:solidFill>
                  <a:srgbClr val="000000"/>
                </a:solidFill>
                <a:prstDash val="solid"/>
                <a:round/>
                <a:headEnd len="sm" w="sm" type="none"/>
                <a:tailEnd len="sm" w="sm" type="none"/>
              </a:ln>
            </p:spPr>
            <p:txBody>
              <a:bodyPr anchorCtr="0" anchor="ctr" bIns="26825" lIns="53675" spcFirstLastPara="1" rIns="53675" wrap="square" tIns="26825">
                <a:noAutofit/>
              </a:bodyPr>
              <a:lstStyle/>
              <a:p>
                <a:pPr indent="0" lvl="0" marL="0" marR="0" rtl="0" algn="ctr">
                  <a:lnSpc>
                    <a:spcPct val="100000"/>
                  </a:lnSpc>
                  <a:spcBef>
                    <a:spcPts val="0"/>
                  </a:spcBef>
                  <a:spcAft>
                    <a:spcPts val="0"/>
                  </a:spcAft>
                  <a:buClr>
                    <a:srgbClr val="000000"/>
                  </a:buClr>
                  <a:buSzPts val="822"/>
                  <a:buFont typeface="Arial"/>
                  <a:buNone/>
                </a:pPr>
                <a:r>
                  <a:rPr b="0" i="0" lang="en-GB" sz="820" u="none" cap="none" strike="noStrike">
                    <a:solidFill>
                      <a:srgbClr val="000000"/>
                    </a:solidFill>
                    <a:latin typeface="Arial"/>
                    <a:ea typeface="Arial"/>
                    <a:cs typeface="Arial"/>
                    <a:sym typeface="Arial"/>
                  </a:rPr>
                  <a:t>S4</a:t>
                </a:r>
                <a:endParaRPr b="0" i="0" sz="820" u="none" cap="none" strike="noStrike">
                  <a:solidFill>
                    <a:srgbClr val="000000"/>
                  </a:solidFill>
                  <a:latin typeface="Arial"/>
                  <a:ea typeface="Arial"/>
                  <a:cs typeface="Arial"/>
                  <a:sym typeface="Arial"/>
                </a:endParaRPr>
              </a:p>
            </p:txBody>
          </p:sp>
          <p:cxnSp>
            <p:nvCxnSpPr>
              <p:cNvPr id="511" name="Google Shape;511;p14"/>
              <p:cNvCxnSpPr>
                <a:stCxn id="508" idx="2"/>
                <a:endCxn id="510" idx="0"/>
              </p:cNvCxnSpPr>
              <p:nvPr/>
            </p:nvCxnSpPr>
            <p:spPr>
              <a:xfrm flipH="1">
                <a:off x="1252381" y="1575412"/>
                <a:ext cx="866100" cy="154200"/>
              </a:xfrm>
              <a:prstGeom prst="straightConnector1">
                <a:avLst/>
              </a:prstGeom>
              <a:noFill/>
              <a:ln cap="flat" cmpd="sng" w="9525">
                <a:solidFill>
                  <a:srgbClr val="52B7E7"/>
                </a:solidFill>
                <a:prstDash val="solid"/>
                <a:round/>
                <a:headEnd len="sm" w="sm" type="none"/>
                <a:tailEnd len="sm" w="sm" type="none"/>
              </a:ln>
            </p:spPr>
          </p:cxnSp>
          <p:cxnSp>
            <p:nvCxnSpPr>
              <p:cNvPr id="512" name="Google Shape;512;p14"/>
              <p:cNvCxnSpPr>
                <a:stCxn id="508" idx="2"/>
                <a:endCxn id="509" idx="0"/>
              </p:cNvCxnSpPr>
              <p:nvPr/>
            </p:nvCxnSpPr>
            <p:spPr>
              <a:xfrm>
                <a:off x="2118481" y="1575412"/>
                <a:ext cx="1169400" cy="154200"/>
              </a:xfrm>
              <a:prstGeom prst="straightConnector1">
                <a:avLst/>
              </a:prstGeom>
              <a:noFill/>
              <a:ln cap="flat" cmpd="sng" w="9525">
                <a:solidFill>
                  <a:srgbClr val="52B7E7"/>
                </a:solidFill>
                <a:prstDash val="solid"/>
                <a:round/>
                <a:headEnd len="sm" w="sm" type="none"/>
                <a:tailEnd len="sm" w="sm" type="none"/>
              </a:ln>
            </p:spPr>
          </p:cxnSp>
          <p:sp>
            <p:nvSpPr>
              <p:cNvPr id="513" name="Google Shape;513;p14"/>
              <p:cNvSpPr/>
              <p:nvPr/>
            </p:nvSpPr>
            <p:spPr>
              <a:xfrm>
                <a:off x="1528887" y="2366713"/>
                <a:ext cx="589500" cy="353100"/>
              </a:xfrm>
              <a:prstGeom prst="roundRect">
                <a:avLst>
                  <a:gd fmla="val 16667" name="adj"/>
                </a:avLst>
              </a:prstGeom>
              <a:solidFill>
                <a:srgbClr val="92D050"/>
              </a:solidFill>
              <a:ln cap="flat" cmpd="sng" w="9525">
                <a:solidFill>
                  <a:srgbClr val="000000"/>
                </a:solidFill>
                <a:prstDash val="solid"/>
                <a:round/>
                <a:headEnd len="sm" w="sm" type="none"/>
                <a:tailEnd len="sm" w="sm" type="none"/>
              </a:ln>
            </p:spPr>
            <p:txBody>
              <a:bodyPr anchorCtr="0" anchor="ctr" bIns="26825" lIns="53675" spcFirstLastPara="1" rIns="53675" wrap="square" tIns="26825">
                <a:noAutofit/>
              </a:bodyPr>
              <a:lstStyle/>
              <a:p>
                <a:pPr indent="0" lvl="0" marL="0" marR="0" rtl="0" algn="ctr">
                  <a:lnSpc>
                    <a:spcPct val="100000"/>
                  </a:lnSpc>
                  <a:spcBef>
                    <a:spcPts val="0"/>
                  </a:spcBef>
                  <a:spcAft>
                    <a:spcPts val="0"/>
                  </a:spcAft>
                  <a:buClr>
                    <a:srgbClr val="000000"/>
                  </a:buClr>
                  <a:buSzPts val="822"/>
                  <a:buFont typeface="Arial"/>
                  <a:buNone/>
                </a:pPr>
                <a:r>
                  <a:rPr b="0" i="0" lang="en-GB" sz="820" u="none" cap="none" strike="noStrike">
                    <a:solidFill>
                      <a:srgbClr val="000000"/>
                    </a:solidFill>
                    <a:latin typeface="Arial"/>
                    <a:ea typeface="Arial"/>
                    <a:cs typeface="Arial"/>
                    <a:sym typeface="Arial"/>
                  </a:rPr>
                  <a:t>S1</a:t>
                </a:r>
                <a:endParaRPr b="0" i="0" sz="820" u="none" cap="none" strike="noStrike">
                  <a:solidFill>
                    <a:srgbClr val="000000"/>
                  </a:solidFill>
                  <a:latin typeface="Arial"/>
                  <a:ea typeface="Arial"/>
                  <a:cs typeface="Arial"/>
                  <a:sym typeface="Arial"/>
                </a:endParaRPr>
              </a:p>
            </p:txBody>
          </p:sp>
          <p:sp>
            <p:nvSpPr>
              <p:cNvPr id="514" name="Google Shape;514;p14"/>
              <p:cNvSpPr/>
              <p:nvPr/>
            </p:nvSpPr>
            <p:spPr>
              <a:xfrm>
                <a:off x="307787" y="2366713"/>
                <a:ext cx="589500" cy="353100"/>
              </a:xfrm>
              <a:prstGeom prst="roundRect">
                <a:avLst>
                  <a:gd fmla="val 16667" name="adj"/>
                </a:avLst>
              </a:prstGeom>
              <a:solidFill>
                <a:srgbClr val="92D050"/>
              </a:solidFill>
              <a:ln cap="flat" cmpd="sng" w="9525">
                <a:solidFill>
                  <a:srgbClr val="000000"/>
                </a:solidFill>
                <a:prstDash val="solid"/>
                <a:round/>
                <a:headEnd len="sm" w="sm" type="none"/>
                <a:tailEnd len="sm" w="sm" type="none"/>
              </a:ln>
            </p:spPr>
            <p:txBody>
              <a:bodyPr anchorCtr="0" anchor="ctr" bIns="26825" lIns="53675" spcFirstLastPara="1" rIns="53675" wrap="square" tIns="26825">
                <a:noAutofit/>
              </a:bodyPr>
              <a:lstStyle/>
              <a:p>
                <a:pPr indent="0" lvl="0" marL="0" marR="0" rtl="0" algn="ctr">
                  <a:lnSpc>
                    <a:spcPct val="100000"/>
                  </a:lnSpc>
                  <a:spcBef>
                    <a:spcPts val="0"/>
                  </a:spcBef>
                  <a:spcAft>
                    <a:spcPts val="0"/>
                  </a:spcAft>
                  <a:buClr>
                    <a:srgbClr val="000000"/>
                  </a:buClr>
                  <a:buSzPts val="822"/>
                  <a:buFont typeface="Arial"/>
                  <a:buNone/>
                </a:pPr>
                <a:r>
                  <a:rPr b="0" i="0" lang="en-GB" sz="820" u="none" cap="none" strike="noStrike">
                    <a:solidFill>
                      <a:srgbClr val="000000"/>
                    </a:solidFill>
                    <a:latin typeface="Arial"/>
                    <a:ea typeface="Arial"/>
                    <a:cs typeface="Arial"/>
                    <a:sym typeface="Arial"/>
                  </a:rPr>
                  <a:t>S0</a:t>
                </a:r>
                <a:endParaRPr b="0" i="0" sz="820" u="none" cap="none" strike="noStrike">
                  <a:solidFill>
                    <a:srgbClr val="000000"/>
                  </a:solidFill>
                  <a:latin typeface="Arial"/>
                  <a:ea typeface="Arial"/>
                  <a:cs typeface="Arial"/>
                  <a:sym typeface="Arial"/>
                </a:endParaRPr>
              </a:p>
            </p:txBody>
          </p:sp>
          <p:sp>
            <p:nvSpPr>
              <p:cNvPr id="515" name="Google Shape;515;p14"/>
              <p:cNvSpPr/>
              <p:nvPr/>
            </p:nvSpPr>
            <p:spPr>
              <a:xfrm>
                <a:off x="2403609" y="2363138"/>
                <a:ext cx="589500" cy="353100"/>
              </a:xfrm>
              <a:prstGeom prst="roundRect">
                <a:avLst>
                  <a:gd fmla="val 16667" name="adj"/>
                </a:avLst>
              </a:prstGeom>
              <a:solidFill>
                <a:srgbClr val="92D050"/>
              </a:solidFill>
              <a:ln cap="flat" cmpd="sng" w="9525">
                <a:solidFill>
                  <a:srgbClr val="000000"/>
                </a:solidFill>
                <a:prstDash val="solid"/>
                <a:round/>
                <a:headEnd len="sm" w="sm" type="none"/>
                <a:tailEnd len="sm" w="sm" type="none"/>
              </a:ln>
            </p:spPr>
            <p:txBody>
              <a:bodyPr anchorCtr="0" anchor="ctr" bIns="26825" lIns="53675" spcFirstLastPara="1" rIns="53675" wrap="square" tIns="26825">
                <a:noAutofit/>
              </a:bodyPr>
              <a:lstStyle/>
              <a:p>
                <a:pPr indent="0" lvl="0" marL="0" marR="0" rtl="0" algn="ctr">
                  <a:lnSpc>
                    <a:spcPct val="100000"/>
                  </a:lnSpc>
                  <a:spcBef>
                    <a:spcPts val="0"/>
                  </a:spcBef>
                  <a:spcAft>
                    <a:spcPts val="0"/>
                  </a:spcAft>
                  <a:buClr>
                    <a:srgbClr val="000000"/>
                  </a:buClr>
                  <a:buSzPts val="822"/>
                  <a:buFont typeface="Arial"/>
                  <a:buNone/>
                </a:pPr>
                <a:r>
                  <a:rPr b="0" i="0" lang="en-GB" sz="820" u="none" cap="none" strike="noStrike">
                    <a:solidFill>
                      <a:srgbClr val="000000"/>
                    </a:solidFill>
                    <a:latin typeface="Arial"/>
                    <a:ea typeface="Arial"/>
                    <a:cs typeface="Arial"/>
                    <a:sym typeface="Arial"/>
                  </a:rPr>
                  <a:t>S2</a:t>
                </a:r>
                <a:endParaRPr b="0" i="0" sz="820" u="none" cap="none" strike="noStrike">
                  <a:solidFill>
                    <a:srgbClr val="000000"/>
                  </a:solidFill>
                  <a:latin typeface="Arial"/>
                  <a:ea typeface="Arial"/>
                  <a:cs typeface="Arial"/>
                  <a:sym typeface="Arial"/>
                </a:endParaRPr>
              </a:p>
            </p:txBody>
          </p:sp>
          <p:sp>
            <p:nvSpPr>
              <p:cNvPr id="516" name="Google Shape;516;p14"/>
              <p:cNvSpPr/>
              <p:nvPr/>
            </p:nvSpPr>
            <p:spPr>
              <a:xfrm>
                <a:off x="3601174" y="2359348"/>
                <a:ext cx="589500" cy="353100"/>
              </a:xfrm>
              <a:prstGeom prst="roundRect">
                <a:avLst>
                  <a:gd fmla="val 16667" name="adj"/>
                </a:avLst>
              </a:prstGeom>
              <a:solidFill>
                <a:srgbClr val="92D050"/>
              </a:solidFill>
              <a:ln cap="flat" cmpd="sng" w="9525">
                <a:solidFill>
                  <a:srgbClr val="000000"/>
                </a:solidFill>
                <a:prstDash val="solid"/>
                <a:round/>
                <a:headEnd len="sm" w="sm" type="none"/>
                <a:tailEnd len="sm" w="sm" type="none"/>
              </a:ln>
            </p:spPr>
            <p:txBody>
              <a:bodyPr anchorCtr="0" anchor="ctr" bIns="26825" lIns="53675" spcFirstLastPara="1" rIns="53675" wrap="square" tIns="26825">
                <a:noAutofit/>
              </a:bodyPr>
              <a:lstStyle/>
              <a:p>
                <a:pPr indent="0" lvl="0" marL="0" marR="0" rtl="0" algn="ctr">
                  <a:lnSpc>
                    <a:spcPct val="100000"/>
                  </a:lnSpc>
                  <a:spcBef>
                    <a:spcPts val="0"/>
                  </a:spcBef>
                  <a:spcAft>
                    <a:spcPts val="0"/>
                  </a:spcAft>
                  <a:buClr>
                    <a:srgbClr val="000000"/>
                  </a:buClr>
                  <a:buSzPts val="822"/>
                  <a:buFont typeface="Arial"/>
                  <a:buNone/>
                </a:pPr>
                <a:r>
                  <a:rPr b="0" i="0" lang="en-GB" sz="820" u="none" cap="none" strike="noStrike">
                    <a:solidFill>
                      <a:srgbClr val="000000"/>
                    </a:solidFill>
                    <a:latin typeface="Arial"/>
                    <a:ea typeface="Arial"/>
                    <a:cs typeface="Arial"/>
                    <a:sym typeface="Arial"/>
                  </a:rPr>
                  <a:t>S3</a:t>
                </a:r>
                <a:endParaRPr b="0" i="0" sz="820" u="none" cap="none" strike="noStrike">
                  <a:solidFill>
                    <a:srgbClr val="000000"/>
                  </a:solidFill>
                  <a:latin typeface="Arial"/>
                  <a:ea typeface="Arial"/>
                  <a:cs typeface="Arial"/>
                  <a:sym typeface="Arial"/>
                </a:endParaRPr>
              </a:p>
            </p:txBody>
          </p:sp>
          <p:cxnSp>
            <p:nvCxnSpPr>
              <p:cNvPr id="517" name="Google Shape;517;p14"/>
              <p:cNvCxnSpPr>
                <a:stCxn id="510" idx="2"/>
                <a:endCxn id="514" idx="0"/>
              </p:cNvCxnSpPr>
              <p:nvPr/>
            </p:nvCxnSpPr>
            <p:spPr>
              <a:xfrm flipH="1">
                <a:off x="602394" y="2082791"/>
                <a:ext cx="650100" cy="283800"/>
              </a:xfrm>
              <a:prstGeom prst="straightConnector1">
                <a:avLst/>
              </a:prstGeom>
              <a:noFill/>
              <a:ln cap="flat" cmpd="sng" w="9525">
                <a:solidFill>
                  <a:srgbClr val="52B7E7"/>
                </a:solidFill>
                <a:prstDash val="solid"/>
                <a:round/>
                <a:headEnd len="sm" w="sm" type="none"/>
                <a:tailEnd len="sm" w="sm" type="none"/>
              </a:ln>
            </p:spPr>
          </p:cxnSp>
          <p:cxnSp>
            <p:nvCxnSpPr>
              <p:cNvPr id="518" name="Google Shape;518;p14"/>
              <p:cNvCxnSpPr>
                <a:stCxn id="510" idx="2"/>
                <a:endCxn id="513" idx="0"/>
              </p:cNvCxnSpPr>
              <p:nvPr/>
            </p:nvCxnSpPr>
            <p:spPr>
              <a:xfrm>
                <a:off x="1252494" y="2082791"/>
                <a:ext cx="571200" cy="283800"/>
              </a:xfrm>
              <a:prstGeom prst="straightConnector1">
                <a:avLst/>
              </a:prstGeom>
              <a:noFill/>
              <a:ln cap="flat" cmpd="sng" w="9525">
                <a:solidFill>
                  <a:srgbClr val="52B7E7"/>
                </a:solidFill>
                <a:prstDash val="solid"/>
                <a:round/>
                <a:headEnd len="sm" w="sm" type="none"/>
                <a:tailEnd len="sm" w="sm" type="none"/>
              </a:ln>
            </p:spPr>
          </p:cxnSp>
          <p:cxnSp>
            <p:nvCxnSpPr>
              <p:cNvPr id="519" name="Google Shape;519;p14"/>
              <p:cNvCxnSpPr>
                <a:endCxn id="515" idx="0"/>
              </p:cNvCxnSpPr>
              <p:nvPr/>
            </p:nvCxnSpPr>
            <p:spPr>
              <a:xfrm flipH="1">
                <a:off x="2698359" y="2082938"/>
                <a:ext cx="616200" cy="280200"/>
              </a:xfrm>
              <a:prstGeom prst="straightConnector1">
                <a:avLst/>
              </a:prstGeom>
              <a:noFill/>
              <a:ln cap="flat" cmpd="sng" w="9525">
                <a:solidFill>
                  <a:srgbClr val="52B7E7"/>
                </a:solidFill>
                <a:prstDash val="solid"/>
                <a:round/>
                <a:headEnd len="sm" w="sm" type="none"/>
                <a:tailEnd len="sm" w="sm" type="none"/>
              </a:ln>
            </p:spPr>
          </p:cxnSp>
          <p:cxnSp>
            <p:nvCxnSpPr>
              <p:cNvPr id="520" name="Google Shape;520;p14"/>
              <p:cNvCxnSpPr>
                <a:stCxn id="509" idx="2"/>
                <a:endCxn id="516" idx="0"/>
              </p:cNvCxnSpPr>
              <p:nvPr/>
            </p:nvCxnSpPr>
            <p:spPr>
              <a:xfrm>
                <a:off x="3287906" y="2082791"/>
                <a:ext cx="608100" cy="276600"/>
              </a:xfrm>
              <a:prstGeom prst="straightConnector1">
                <a:avLst/>
              </a:prstGeom>
              <a:noFill/>
              <a:ln cap="flat" cmpd="sng" w="9525">
                <a:solidFill>
                  <a:srgbClr val="52B7E7"/>
                </a:solidFill>
                <a:prstDash val="solid"/>
                <a:round/>
                <a:headEnd len="sm" w="sm" type="none"/>
                <a:tailEnd len="sm" w="sm" type="none"/>
              </a:ln>
            </p:spPr>
          </p:cxnSp>
          <p:sp>
            <p:nvSpPr>
              <p:cNvPr id="521" name="Google Shape;521;p14"/>
              <p:cNvSpPr/>
              <p:nvPr/>
            </p:nvSpPr>
            <p:spPr>
              <a:xfrm>
                <a:off x="9534" y="3010755"/>
                <a:ext cx="284100" cy="659700"/>
              </a:xfrm>
              <a:prstGeom prst="roundRect">
                <a:avLst>
                  <a:gd fmla="val 16667" name="adj"/>
                </a:avLst>
              </a:prstGeom>
              <a:solidFill>
                <a:srgbClr val="9AD6F2"/>
              </a:solidFill>
              <a:ln cap="flat" cmpd="sng" w="9525">
                <a:solidFill>
                  <a:srgbClr val="000000"/>
                </a:solidFill>
                <a:prstDash val="solid"/>
                <a:round/>
                <a:headEnd len="sm" w="sm" type="none"/>
                <a:tailEnd len="sm" w="sm" type="none"/>
              </a:ln>
            </p:spPr>
            <p:txBody>
              <a:bodyPr anchorCtr="0" anchor="ctr" bIns="26825" lIns="53675" spcFirstLastPara="1" rIns="53675" wrap="square" tIns="26825">
                <a:noAutofit/>
              </a:bodyPr>
              <a:lstStyle/>
              <a:p>
                <a:pPr indent="0" lvl="0" marL="0" marR="0" rtl="0" algn="ctr">
                  <a:lnSpc>
                    <a:spcPct val="100000"/>
                  </a:lnSpc>
                  <a:spcBef>
                    <a:spcPts val="0"/>
                  </a:spcBef>
                  <a:spcAft>
                    <a:spcPts val="0"/>
                  </a:spcAft>
                  <a:buClr>
                    <a:srgbClr val="000000"/>
                  </a:buClr>
                  <a:buSzPts val="822"/>
                  <a:buFont typeface="Arial"/>
                  <a:buNone/>
                </a:pPr>
                <a:r>
                  <a:t/>
                </a:r>
                <a:endParaRPr b="0" i="0" sz="820" u="none" cap="none" strike="noStrike">
                  <a:solidFill>
                    <a:srgbClr val="000000"/>
                  </a:solidFill>
                  <a:latin typeface="Arial"/>
                  <a:ea typeface="Arial"/>
                  <a:cs typeface="Arial"/>
                  <a:sym typeface="Arial"/>
                </a:endParaRPr>
              </a:p>
            </p:txBody>
          </p:sp>
          <p:sp>
            <p:nvSpPr>
              <p:cNvPr id="522" name="Google Shape;522;p14"/>
              <p:cNvSpPr/>
              <p:nvPr/>
            </p:nvSpPr>
            <p:spPr>
              <a:xfrm>
                <a:off x="460551" y="3004918"/>
                <a:ext cx="284100" cy="659700"/>
              </a:xfrm>
              <a:prstGeom prst="roundRect">
                <a:avLst>
                  <a:gd fmla="val 16667" name="adj"/>
                </a:avLst>
              </a:prstGeom>
              <a:solidFill>
                <a:srgbClr val="9AD6F2"/>
              </a:solidFill>
              <a:ln cap="flat" cmpd="sng" w="9525">
                <a:solidFill>
                  <a:srgbClr val="000000"/>
                </a:solidFill>
                <a:prstDash val="solid"/>
                <a:round/>
                <a:headEnd len="sm" w="sm" type="none"/>
                <a:tailEnd len="sm" w="sm" type="none"/>
              </a:ln>
            </p:spPr>
            <p:txBody>
              <a:bodyPr anchorCtr="0" anchor="ctr" bIns="26825" lIns="53675" spcFirstLastPara="1" rIns="53675" wrap="square" tIns="26825">
                <a:noAutofit/>
              </a:bodyPr>
              <a:lstStyle/>
              <a:p>
                <a:pPr indent="0" lvl="0" marL="0" marR="0" rtl="0" algn="ctr">
                  <a:lnSpc>
                    <a:spcPct val="100000"/>
                  </a:lnSpc>
                  <a:spcBef>
                    <a:spcPts val="0"/>
                  </a:spcBef>
                  <a:spcAft>
                    <a:spcPts val="0"/>
                  </a:spcAft>
                  <a:buClr>
                    <a:srgbClr val="000000"/>
                  </a:buClr>
                  <a:buSzPts val="822"/>
                  <a:buFont typeface="Arial"/>
                  <a:buNone/>
                </a:pPr>
                <a:r>
                  <a:t/>
                </a:r>
                <a:endParaRPr b="0" i="0" sz="820" u="none" cap="none" strike="noStrike">
                  <a:solidFill>
                    <a:srgbClr val="000000"/>
                  </a:solidFill>
                  <a:latin typeface="Arial"/>
                  <a:ea typeface="Arial"/>
                  <a:cs typeface="Arial"/>
                  <a:sym typeface="Arial"/>
                </a:endParaRPr>
              </a:p>
            </p:txBody>
          </p:sp>
          <p:sp>
            <p:nvSpPr>
              <p:cNvPr id="523" name="Google Shape;523;p14"/>
              <p:cNvSpPr/>
              <p:nvPr/>
            </p:nvSpPr>
            <p:spPr>
              <a:xfrm>
                <a:off x="2549224" y="3023074"/>
                <a:ext cx="284100" cy="659700"/>
              </a:xfrm>
              <a:prstGeom prst="roundRect">
                <a:avLst>
                  <a:gd fmla="val 16667" name="adj"/>
                </a:avLst>
              </a:prstGeom>
              <a:solidFill>
                <a:srgbClr val="9AD6F2"/>
              </a:solidFill>
              <a:ln cap="flat" cmpd="sng" w="9525">
                <a:solidFill>
                  <a:srgbClr val="000000"/>
                </a:solidFill>
                <a:prstDash val="solid"/>
                <a:round/>
                <a:headEnd len="sm" w="sm" type="none"/>
                <a:tailEnd len="sm" w="sm" type="none"/>
              </a:ln>
            </p:spPr>
            <p:txBody>
              <a:bodyPr anchorCtr="0" anchor="ctr" bIns="26825" lIns="53675" spcFirstLastPara="1" rIns="53675" wrap="square" tIns="26825">
                <a:noAutofit/>
              </a:bodyPr>
              <a:lstStyle/>
              <a:p>
                <a:pPr indent="0" lvl="0" marL="0" marR="0" rtl="0" algn="ctr">
                  <a:lnSpc>
                    <a:spcPct val="100000"/>
                  </a:lnSpc>
                  <a:spcBef>
                    <a:spcPts val="0"/>
                  </a:spcBef>
                  <a:spcAft>
                    <a:spcPts val="0"/>
                  </a:spcAft>
                  <a:buClr>
                    <a:srgbClr val="000000"/>
                  </a:buClr>
                  <a:buSzPts val="822"/>
                  <a:buFont typeface="Arial"/>
                  <a:buNone/>
                </a:pPr>
                <a:r>
                  <a:t/>
                </a:r>
                <a:endParaRPr b="0" i="0" sz="820" u="none" cap="none" strike="noStrike">
                  <a:solidFill>
                    <a:srgbClr val="000000"/>
                  </a:solidFill>
                  <a:latin typeface="Arial"/>
                  <a:ea typeface="Arial"/>
                  <a:cs typeface="Arial"/>
                  <a:sym typeface="Arial"/>
                </a:endParaRPr>
              </a:p>
            </p:txBody>
          </p:sp>
          <p:sp>
            <p:nvSpPr>
              <p:cNvPr id="524" name="Google Shape;524;p14"/>
              <p:cNvSpPr/>
              <p:nvPr/>
            </p:nvSpPr>
            <p:spPr>
              <a:xfrm>
                <a:off x="1697243" y="3035027"/>
                <a:ext cx="284100" cy="659700"/>
              </a:xfrm>
              <a:prstGeom prst="roundRect">
                <a:avLst>
                  <a:gd fmla="val 16667" name="adj"/>
                </a:avLst>
              </a:prstGeom>
              <a:solidFill>
                <a:srgbClr val="9AD6F2"/>
              </a:solidFill>
              <a:ln cap="flat" cmpd="sng" w="9525">
                <a:solidFill>
                  <a:srgbClr val="000000"/>
                </a:solidFill>
                <a:prstDash val="solid"/>
                <a:round/>
                <a:headEnd len="sm" w="sm" type="none"/>
                <a:tailEnd len="sm" w="sm" type="none"/>
              </a:ln>
            </p:spPr>
            <p:txBody>
              <a:bodyPr anchorCtr="0" anchor="ctr" bIns="26825" lIns="53675" spcFirstLastPara="1" rIns="53675" wrap="square" tIns="26825">
                <a:noAutofit/>
              </a:bodyPr>
              <a:lstStyle/>
              <a:p>
                <a:pPr indent="0" lvl="0" marL="0" marR="0" rtl="0" algn="ctr">
                  <a:lnSpc>
                    <a:spcPct val="100000"/>
                  </a:lnSpc>
                  <a:spcBef>
                    <a:spcPts val="0"/>
                  </a:spcBef>
                  <a:spcAft>
                    <a:spcPts val="0"/>
                  </a:spcAft>
                  <a:buClr>
                    <a:srgbClr val="000000"/>
                  </a:buClr>
                  <a:buSzPts val="822"/>
                  <a:buFont typeface="Arial"/>
                  <a:buNone/>
                </a:pPr>
                <a:r>
                  <a:t/>
                </a:r>
                <a:endParaRPr b="0" i="0" sz="820" u="none" cap="none" strike="noStrike">
                  <a:solidFill>
                    <a:srgbClr val="000000"/>
                  </a:solidFill>
                  <a:latin typeface="Arial"/>
                  <a:ea typeface="Arial"/>
                  <a:cs typeface="Arial"/>
                  <a:sym typeface="Arial"/>
                </a:endParaRPr>
              </a:p>
            </p:txBody>
          </p:sp>
          <p:sp>
            <p:nvSpPr>
              <p:cNvPr id="525" name="Google Shape;525;p14"/>
              <p:cNvSpPr/>
              <p:nvPr/>
            </p:nvSpPr>
            <p:spPr>
              <a:xfrm>
                <a:off x="1230619" y="3028966"/>
                <a:ext cx="284100" cy="659700"/>
              </a:xfrm>
              <a:prstGeom prst="roundRect">
                <a:avLst>
                  <a:gd fmla="val 16667" name="adj"/>
                </a:avLst>
              </a:prstGeom>
              <a:solidFill>
                <a:srgbClr val="9AD6F2"/>
              </a:solidFill>
              <a:ln cap="flat" cmpd="sng" w="9525">
                <a:solidFill>
                  <a:srgbClr val="000000"/>
                </a:solidFill>
                <a:prstDash val="solid"/>
                <a:round/>
                <a:headEnd len="sm" w="sm" type="none"/>
                <a:tailEnd len="sm" w="sm" type="none"/>
              </a:ln>
            </p:spPr>
            <p:txBody>
              <a:bodyPr anchorCtr="0" anchor="ctr" bIns="26825" lIns="53675" spcFirstLastPara="1" rIns="53675" wrap="square" tIns="26825">
                <a:noAutofit/>
              </a:bodyPr>
              <a:lstStyle/>
              <a:p>
                <a:pPr indent="0" lvl="0" marL="0" marR="0" rtl="0" algn="ctr">
                  <a:lnSpc>
                    <a:spcPct val="100000"/>
                  </a:lnSpc>
                  <a:spcBef>
                    <a:spcPts val="0"/>
                  </a:spcBef>
                  <a:spcAft>
                    <a:spcPts val="0"/>
                  </a:spcAft>
                  <a:buClr>
                    <a:srgbClr val="000000"/>
                  </a:buClr>
                  <a:buSzPts val="822"/>
                  <a:buFont typeface="Arial"/>
                  <a:buNone/>
                </a:pPr>
                <a:r>
                  <a:t/>
                </a:r>
                <a:endParaRPr b="0" i="0" sz="820" u="none" cap="none" strike="noStrike">
                  <a:solidFill>
                    <a:srgbClr val="000000"/>
                  </a:solidFill>
                  <a:latin typeface="Arial"/>
                  <a:ea typeface="Arial"/>
                  <a:cs typeface="Arial"/>
                  <a:sym typeface="Arial"/>
                </a:endParaRPr>
              </a:p>
            </p:txBody>
          </p:sp>
          <p:sp>
            <p:nvSpPr>
              <p:cNvPr id="526" name="Google Shape;526;p14"/>
              <p:cNvSpPr/>
              <p:nvPr/>
            </p:nvSpPr>
            <p:spPr>
              <a:xfrm>
                <a:off x="3753938" y="3023074"/>
                <a:ext cx="284100" cy="659700"/>
              </a:xfrm>
              <a:prstGeom prst="roundRect">
                <a:avLst>
                  <a:gd fmla="val 16667" name="adj"/>
                </a:avLst>
              </a:prstGeom>
              <a:solidFill>
                <a:srgbClr val="9AD6F2"/>
              </a:solidFill>
              <a:ln cap="flat" cmpd="sng" w="9525">
                <a:solidFill>
                  <a:srgbClr val="000000"/>
                </a:solidFill>
                <a:prstDash val="solid"/>
                <a:round/>
                <a:headEnd len="sm" w="sm" type="none"/>
                <a:tailEnd len="sm" w="sm" type="none"/>
              </a:ln>
            </p:spPr>
            <p:txBody>
              <a:bodyPr anchorCtr="0" anchor="ctr" bIns="26825" lIns="53675" spcFirstLastPara="1" rIns="53675" wrap="square" tIns="26825">
                <a:noAutofit/>
              </a:bodyPr>
              <a:lstStyle/>
              <a:p>
                <a:pPr indent="0" lvl="0" marL="0" marR="0" rtl="0" algn="ctr">
                  <a:lnSpc>
                    <a:spcPct val="100000"/>
                  </a:lnSpc>
                  <a:spcBef>
                    <a:spcPts val="0"/>
                  </a:spcBef>
                  <a:spcAft>
                    <a:spcPts val="0"/>
                  </a:spcAft>
                  <a:buClr>
                    <a:srgbClr val="000000"/>
                  </a:buClr>
                  <a:buSzPts val="822"/>
                  <a:buFont typeface="Arial"/>
                  <a:buNone/>
                </a:pPr>
                <a:r>
                  <a:t/>
                </a:r>
                <a:endParaRPr b="0" i="0" sz="820" u="none" cap="none" strike="noStrike">
                  <a:solidFill>
                    <a:srgbClr val="000000"/>
                  </a:solidFill>
                  <a:latin typeface="Arial"/>
                  <a:ea typeface="Arial"/>
                  <a:cs typeface="Arial"/>
                  <a:sym typeface="Arial"/>
                </a:endParaRPr>
              </a:p>
            </p:txBody>
          </p:sp>
          <p:sp>
            <p:nvSpPr>
              <p:cNvPr id="527" name="Google Shape;527;p14"/>
              <p:cNvSpPr/>
              <p:nvPr/>
            </p:nvSpPr>
            <p:spPr>
              <a:xfrm>
                <a:off x="2985592" y="3023074"/>
                <a:ext cx="284100" cy="659700"/>
              </a:xfrm>
              <a:prstGeom prst="roundRect">
                <a:avLst>
                  <a:gd fmla="val 16667" name="adj"/>
                </a:avLst>
              </a:prstGeom>
              <a:solidFill>
                <a:srgbClr val="9AD6F2"/>
              </a:solidFill>
              <a:ln cap="flat" cmpd="sng" w="9525">
                <a:solidFill>
                  <a:srgbClr val="000000"/>
                </a:solidFill>
                <a:prstDash val="solid"/>
                <a:round/>
                <a:headEnd len="sm" w="sm" type="none"/>
                <a:tailEnd len="sm" w="sm" type="none"/>
              </a:ln>
            </p:spPr>
            <p:txBody>
              <a:bodyPr anchorCtr="0" anchor="ctr" bIns="26825" lIns="53675" spcFirstLastPara="1" rIns="53675" wrap="square" tIns="26825">
                <a:noAutofit/>
              </a:bodyPr>
              <a:lstStyle/>
              <a:p>
                <a:pPr indent="0" lvl="0" marL="0" marR="0" rtl="0" algn="ctr">
                  <a:lnSpc>
                    <a:spcPct val="100000"/>
                  </a:lnSpc>
                  <a:spcBef>
                    <a:spcPts val="0"/>
                  </a:spcBef>
                  <a:spcAft>
                    <a:spcPts val="0"/>
                  </a:spcAft>
                  <a:buClr>
                    <a:srgbClr val="000000"/>
                  </a:buClr>
                  <a:buSzPts val="822"/>
                  <a:buFont typeface="Arial"/>
                  <a:buNone/>
                </a:pPr>
                <a:r>
                  <a:t/>
                </a:r>
                <a:endParaRPr b="0" i="0" sz="820" u="none" cap="none" strike="noStrike">
                  <a:solidFill>
                    <a:srgbClr val="000000"/>
                  </a:solidFill>
                  <a:latin typeface="Arial"/>
                  <a:ea typeface="Arial"/>
                  <a:cs typeface="Arial"/>
                  <a:sym typeface="Arial"/>
                </a:endParaRPr>
              </a:p>
            </p:txBody>
          </p:sp>
          <p:sp>
            <p:nvSpPr>
              <p:cNvPr id="528" name="Google Shape;528;p14"/>
              <p:cNvSpPr/>
              <p:nvPr/>
            </p:nvSpPr>
            <p:spPr>
              <a:xfrm>
                <a:off x="4246543" y="3023073"/>
                <a:ext cx="284100" cy="659700"/>
              </a:xfrm>
              <a:prstGeom prst="roundRect">
                <a:avLst>
                  <a:gd fmla="val 16667" name="adj"/>
                </a:avLst>
              </a:prstGeom>
              <a:solidFill>
                <a:srgbClr val="9AD6F2"/>
              </a:solidFill>
              <a:ln cap="flat" cmpd="sng" w="9525">
                <a:solidFill>
                  <a:srgbClr val="000000"/>
                </a:solidFill>
                <a:prstDash val="solid"/>
                <a:round/>
                <a:headEnd len="sm" w="sm" type="none"/>
                <a:tailEnd len="sm" w="sm" type="none"/>
              </a:ln>
            </p:spPr>
            <p:txBody>
              <a:bodyPr anchorCtr="0" anchor="ctr" bIns="26825" lIns="53675" spcFirstLastPara="1" rIns="53675" wrap="square" tIns="26825">
                <a:noAutofit/>
              </a:bodyPr>
              <a:lstStyle/>
              <a:p>
                <a:pPr indent="0" lvl="0" marL="0" marR="0" rtl="0" algn="ctr">
                  <a:lnSpc>
                    <a:spcPct val="100000"/>
                  </a:lnSpc>
                  <a:spcBef>
                    <a:spcPts val="0"/>
                  </a:spcBef>
                  <a:spcAft>
                    <a:spcPts val="0"/>
                  </a:spcAft>
                  <a:buClr>
                    <a:srgbClr val="000000"/>
                  </a:buClr>
                  <a:buSzPts val="822"/>
                  <a:buFont typeface="Arial"/>
                  <a:buNone/>
                </a:pPr>
                <a:r>
                  <a:t/>
                </a:r>
                <a:endParaRPr b="0" i="0" sz="820" u="none" cap="none" strike="noStrike">
                  <a:solidFill>
                    <a:srgbClr val="000000"/>
                  </a:solidFill>
                  <a:latin typeface="Arial"/>
                  <a:ea typeface="Arial"/>
                  <a:cs typeface="Arial"/>
                  <a:sym typeface="Arial"/>
                </a:endParaRPr>
              </a:p>
            </p:txBody>
          </p:sp>
          <p:cxnSp>
            <p:nvCxnSpPr>
              <p:cNvPr id="529" name="Google Shape;529;p14"/>
              <p:cNvCxnSpPr>
                <a:endCxn id="521" idx="0"/>
              </p:cNvCxnSpPr>
              <p:nvPr/>
            </p:nvCxnSpPr>
            <p:spPr>
              <a:xfrm flipH="1">
                <a:off x="151584" y="2723955"/>
                <a:ext cx="458400" cy="286800"/>
              </a:xfrm>
              <a:prstGeom prst="straightConnector1">
                <a:avLst/>
              </a:prstGeom>
              <a:noFill/>
              <a:ln cap="flat" cmpd="sng" w="9525">
                <a:solidFill>
                  <a:srgbClr val="52B7E7"/>
                </a:solidFill>
                <a:prstDash val="solid"/>
                <a:round/>
                <a:headEnd len="sm" w="sm" type="none"/>
                <a:tailEnd len="sm" w="sm" type="none"/>
              </a:ln>
            </p:spPr>
          </p:cxnSp>
          <p:cxnSp>
            <p:nvCxnSpPr>
              <p:cNvPr id="530" name="Google Shape;530;p14"/>
              <p:cNvCxnSpPr>
                <a:stCxn id="522" idx="0"/>
                <a:endCxn id="514" idx="2"/>
              </p:cNvCxnSpPr>
              <p:nvPr/>
            </p:nvCxnSpPr>
            <p:spPr>
              <a:xfrm rot="10800000">
                <a:off x="602601" y="2719918"/>
                <a:ext cx="0" cy="285000"/>
              </a:xfrm>
              <a:prstGeom prst="straightConnector1">
                <a:avLst/>
              </a:prstGeom>
              <a:noFill/>
              <a:ln cap="flat" cmpd="sng" w="9525">
                <a:solidFill>
                  <a:srgbClr val="52B7E7"/>
                </a:solidFill>
                <a:prstDash val="solid"/>
                <a:round/>
                <a:headEnd len="sm" w="sm" type="none"/>
                <a:tailEnd len="sm" w="sm" type="none"/>
              </a:ln>
            </p:spPr>
          </p:cxnSp>
          <p:cxnSp>
            <p:nvCxnSpPr>
              <p:cNvPr id="531" name="Google Shape;531;p14"/>
              <p:cNvCxnSpPr>
                <a:stCxn id="513" idx="2"/>
              </p:cNvCxnSpPr>
              <p:nvPr/>
            </p:nvCxnSpPr>
            <p:spPr>
              <a:xfrm flipH="1">
                <a:off x="1394637" y="2719813"/>
                <a:ext cx="429000" cy="307500"/>
              </a:xfrm>
              <a:prstGeom prst="straightConnector1">
                <a:avLst/>
              </a:prstGeom>
              <a:noFill/>
              <a:ln cap="flat" cmpd="sng" w="9525">
                <a:solidFill>
                  <a:srgbClr val="52B7E7"/>
                </a:solidFill>
                <a:prstDash val="solid"/>
                <a:round/>
                <a:headEnd len="sm" w="sm" type="none"/>
                <a:tailEnd len="sm" w="sm" type="none"/>
              </a:ln>
            </p:spPr>
          </p:cxnSp>
          <p:cxnSp>
            <p:nvCxnSpPr>
              <p:cNvPr id="532" name="Google Shape;532;p14"/>
              <p:cNvCxnSpPr>
                <a:stCxn id="513" idx="2"/>
                <a:endCxn id="524" idx="0"/>
              </p:cNvCxnSpPr>
              <p:nvPr/>
            </p:nvCxnSpPr>
            <p:spPr>
              <a:xfrm>
                <a:off x="1823637" y="2719813"/>
                <a:ext cx="15600" cy="315300"/>
              </a:xfrm>
              <a:prstGeom prst="straightConnector1">
                <a:avLst/>
              </a:prstGeom>
              <a:noFill/>
              <a:ln cap="flat" cmpd="sng" w="9525">
                <a:solidFill>
                  <a:srgbClr val="52B7E7"/>
                </a:solidFill>
                <a:prstDash val="solid"/>
                <a:round/>
                <a:headEnd len="sm" w="sm" type="none"/>
                <a:tailEnd len="sm" w="sm" type="none"/>
              </a:ln>
            </p:spPr>
          </p:cxnSp>
          <p:cxnSp>
            <p:nvCxnSpPr>
              <p:cNvPr id="533" name="Google Shape;533;p14"/>
              <p:cNvCxnSpPr>
                <a:endCxn id="527" idx="0"/>
              </p:cNvCxnSpPr>
              <p:nvPr/>
            </p:nvCxnSpPr>
            <p:spPr>
              <a:xfrm>
                <a:off x="2710642" y="2723674"/>
                <a:ext cx="417000" cy="299400"/>
              </a:xfrm>
              <a:prstGeom prst="straightConnector1">
                <a:avLst/>
              </a:prstGeom>
              <a:noFill/>
              <a:ln cap="flat" cmpd="sng" w="9525">
                <a:solidFill>
                  <a:srgbClr val="52B7E7"/>
                </a:solidFill>
                <a:prstDash val="solid"/>
                <a:round/>
                <a:headEnd len="sm" w="sm" type="none"/>
                <a:tailEnd len="sm" w="sm" type="none"/>
              </a:ln>
            </p:spPr>
          </p:cxnSp>
          <p:cxnSp>
            <p:nvCxnSpPr>
              <p:cNvPr id="534" name="Google Shape;534;p14"/>
              <p:cNvCxnSpPr>
                <a:stCxn id="515" idx="2"/>
                <a:endCxn id="523" idx="0"/>
              </p:cNvCxnSpPr>
              <p:nvPr/>
            </p:nvCxnSpPr>
            <p:spPr>
              <a:xfrm flipH="1">
                <a:off x="2691159" y="2716238"/>
                <a:ext cx="7200" cy="306900"/>
              </a:xfrm>
              <a:prstGeom prst="straightConnector1">
                <a:avLst/>
              </a:prstGeom>
              <a:noFill/>
              <a:ln cap="flat" cmpd="sng" w="9525">
                <a:solidFill>
                  <a:srgbClr val="52B7E7"/>
                </a:solidFill>
                <a:prstDash val="solid"/>
                <a:round/>
                <a:headEnd len="sm" w="sm" type="none"/>
                <a:tailEnd len="sm" w="sm" type="none"/>
              </a:ln>
            </p:spPr>
          </p:cxnSp>
          <p:cxnSp>
            <p:nvCxnSpPr>
              <p:cNvPr id="535" name="Google Shape;535;p14"/>
              <p:cNvCxnSpPr>
                <a:endCxn id="526" idx="0"/>
              </p:cNvCxnSpPr>
              <p:nvPr/>
            </p:nvCxnSpPr>
            <p:spPr>
              <a:xfrm flipH="1">
                <a:off x="3895988" y="2723374"/>
                <a:ext cx="46500" cy="299700"/>
              </a:xfrm>
              <a:prstGeom prst="straightConnector1">
                <a:avLst/>
              </a:prstGeom>
              <a:noFill/>
              <a:ln cap="flat" cmpd="sng" w="9525">
                <a:solidFill>
                  <a:srgbClr val="52B7E7"/>
                </a:solidFill>
                <a:prstDash val="solid"/>
                <a:round/>
                <a:headEnd len="sm" w="sm" type="none"/>
                <a:tailEnd len="sm" w="sm" type="none"/>
              </a:ln>
            </p:spPr>
          </p:cxnSp>
          <p:cxnSp>
            <p:nvCxnSpPr>
              <p:cNvPr id="536" name="Google Shape;536;p14"/>
              <p:cNvCxnSpPr>
                <a:endCxn id="528" idx="0"/>
              </p:cNvCxnSpPr>
              <p:nvPr/>
            </p:nvCxnSpPr>
            <p:spPr>
              <a:xfrm>
                <a:off x="3937993" y="2714073"/>
                <a:ext cx="450600" cy="309000"/>
              </a:xfrm>
              <a:prstGeom prst="straightConnector1">
                <a:avLst/>
              </a:prstGeom>
              <a:noFill/>
              <a:ln cap="flat" cmpd="sng" w="9525">
                <a:solidFill>
                  <a:srgbClr val="52B7E7"/>
                </a:solidFill>
                <a:prstDash val="solid"/>
                <a:round/>
                <a:headEnd len="sm" w="sm" type="none"/>
                <a:tailEnd len="sm" w="sm" type="none"/>
              </a:ln>
            </p:spPr>
          </p:cxnSp>
        </p:grpSp>
        <p:sp>
          <p:nvSpPr>
            <p:cNvPr id="537" name="Google Shape;537;p14"/>
            <p:cNvSpPr txBox="1"/>
            <p:nvPr/>
          </p:nvSpPr>
          <p:spPr>
            <a:xfrm>
              <a:off x="4512319" y="3150807"/>
              <a:ext cx="2032500" cy="318000"/>
            </a:xfrm>
            <a:prstGeom prst="rect">
              <a:avLst/>
            </a:prstGeom>
            <a:noFill/>
            <a:ln>
              <a:noFill/>
            </a:ln>
          </p:spPr>
          <p:txBody>
            <a:bodyPr anchorCtr="0" anchor="t" bIns="26825" lIns="53675" spcFirstLastPara="1" rIns="53675" wrap="square" tIns="26825">
              <a:spAutoFit/>
            </a:bodyPr>
            <a:lstStyle/>
            <a:p>
              <a:pPr indent="0" lvl="0" marL="0" marR="0" rtl="0" algn="l">
                <a:lnSpc>
                  <a:spcPct val="100000"/>
                </a:lnSpc>
                <a:spcBef>
                  <a:spcPts val="0"/>
                </a:spcBef>
                <a:spcAft>
                  <a:spcPts val="0"/>
                </a:spcAft>
                <a:buClr>
                  <a:srgbClr val="000000"/>
                </a:buClr>
                <a:buSzPts val="705"/>
                <a:buFont typeface="Arial"/>
                <a:buNone/>
              </a:pPr>
              <a:r>
                <a:rPr b="0" i="0" lang="en-GB" sz="705" u="none" cap="none" strike="noStrike">
                  <a:solidFill>
                    <a:srgbClr val="000000"/>
                  </a:solidFill>
                  <a:latin typeface="Arial"/>
                  <a:ea typeface="Arial"/>
                  <a:cs typeface="Arial"/>
                  <a:sym typeface="Arial"/>
                </a:rPr>
                <a:t>  Leaf: Actual Nodes</a:t>
              </a:r>
              <a:endParaRPr b="0" i="0" sz="705" u="none" cap="none" strike="noStrike">
                <a:solidFill>
                  <a:srgbClr val="000000"/>
                </a:solidFill>
                <a:latin typeface="Arial"/>
                <a:ea typeface="Arial"/>
                <a:cs typeface="Arial"/>
                <a:sym typeface="Arial"/>
              </a:endParaRPr>
            </a:p>
          </p:txBody>
        </p:sp>
        <p:sp>
          <p:nvSpPr>
            <p:cNvPr id="538" name="Google Shape;538;p14"/>
            <p:cNvSpPr txBox="1"/>
            <p:nvPr/>
          </p:nvSpPr>
          <p:spPr>
            <a:xfrm>
              <a:off x="4531481" y="2397401"/>
              <a:ext cx="863700" cy="318000"/>
            </a:xfrm>
            <a:prstGeom prst="rect">
              <a:avLst/>
            </a:prstGeom>
            <a:noFill/>
            <a:ln>
              <a:noFill/>
            </a:ln>
          </p:spPr>
          <p:txBody>
            <a:bodyPr anchorCtr="0" anchor="t" bIns="26825" lIns="53675" spcFirstLastPara="1" rIns="53675" wrap="square" tIns="26825">
              <a:spAutoFit/>
            </a:bodyPr>
            <a:lstStyle/>
            <a:p>
              <a:pPr indent="0" lvl="0" marL="0" marR="0" rtl="0" algn="l">
                <a:lnSpc>
                  <a:spcPct val="100000"/>
                </a:lnSpc>
                <a:spcBef>
                  <a:spcPts val="0"/>
                </a:spcBef>
                <a:spcAft>
                  <a:spcPts val="0"/>
                </a:spcAft>
                <a:buClr>
                  <a:srgbClr val="000000"/>
                </a:buClr>
                <a:buSzPts val="705"/>
                <a:buFont typeface="Arial"/>
                <a:buNone/>
              </a:pPr>
              <a:r>
                <a:rPr b="0" i="0" lang="en-GB" sz="705" u="none" cap="none" strike="noStrike">
                  <a:solidFill>
                    <a:srgbClr val="000000"/>
                  </a:solidFill>
                  <a:latin typeface="Arial"/>
                  <a:ea typeface="Arial"/>
                  <a:cs typeface="Arial"/>
                  <a:sym typeface="Arial"/>
                </a:rPr>
                <a:t>Switch 0</a:t>
              </a:r>
              <a:endParaRPr b="0" i="0" sz="705" u="none" cap="none" strike="noStrike">
                <a:solidFill>
                  <a:srgbClr val="000000"/>
                </a:solidFill>
                <a:latin typeface="Arial"/>
                <a:ea typeface="Arial"/>
                <a:cs typeface="Arial"/>
                <a:sym typeface="Arial"/>
              </a:endParaRPr>
            </a:p>
          </p:txBody>
        </p:sp>
        <p:sp>
          <p:nvSpPr>
            <p:cNvPr id="539" name="Google Shape;539;p14"/>
            <p:cNvSpPr txBox="1"/>
            <p:nvPr/>
          </p:nvSpPr>
          <p:spPr>
            <a:xfrm>
              <a:off x="4533393" y="1241312"/>
              <a:ext cx="863700" cy="318000"/>
            </a:xfrm>
            <a:prstGeom prst="rect">
              <a:avLst/>
            </a:prstGeom>
            <a:noFill/>
            <a:ln>
              <a:noFill/>
            </a:ln>
          </p:spPr>
          <p:txBody>
            <a:bodyPr anchorCtr="0" anchor="t" bIns="26825" lIns="53675" spcFirstLastPara="1" rIns="53675" wrap="square" tIns="26825">
              <a:spAutoFit/>
            </a:bodyPr>
            <a:lstStyle/>
            <a:p>
              <a:pPr indent="0" lvl="0" marL="0" marR="0" rtl="0" algn="l">
                <a:lnSpc>
                  <a:spcPct val="100000"/>
                </a:lnSpc>
                <a:spcBef>
                  <a:spcPts val="0"/>
                </a:spcBef>
                <a:spcAft>
                  <a:spcPts val="0"/>
                </a:spcAft>
                <a:buClr>
                  <a:srgbClr val="000000"/>
                </a:buClr>
                <a:buSzPts val="705"/>
                <a:buFont typeface="Arial"/>
                <a:buNone/>
              </a:pPr>
              <a:r>
                <a:rPr b="0" i="0" lang="en-GB" sz="705" u="none" cap="none" strike="noStrike">
                  <a:solidFill>
                    <a:srgbClr val="000000"/>
                  </a:solidFill>
                  <a:latin typeface="Arial"/>
                  <a:ea typeface="Arial"/>
                  <a:cs typeface="Arial"/>
                  <a:sym typeface="Arial"/>
                </a:rPr>
                <a:t>Switch 2</a:t>
              </a:r>
              <a:endParaRPr b="0" i="0" sz="705" u="none" cap="none" strike="noStrike">
                <a:solidFill>
                  <a:srgbClr val="000000"/>
                </a:solidFill>
                <a:latin typeface="Arial"/>
                <a:ea typeface="Arial"/>
                <a:cs typeface="Arial"/>
                <a:sym typeface="Arial"/>
              </a:endParaRPr>
            </a:p>
          </p:txBody>
        </p:sp>
        <p:sp>
          <p:nvSpPr>
            <p:cNvPr id="540" name="Google Shape;540;p14"/>
            <p:cNvSpPr txBox="1"/>
            <p:nvPr/>
          </p:nvSpPr>
          <p:spPr>
            <a:xfrm>
              <a:off x="4546600" y="1771242"/>
              <a:ext cx="863700" cy="318000"/>
            </a:xfrm>
            <a:prstGeom prst="rect">
              <a:avLst/>
            </a:prstGeom>
            <a:noFill/>
            <a:ln>
              <a:noFill/>
            </a:ln>
          </p:spPr>
          <p:txBody>
            <a:bodyPr anchorCtr="0" anchor="t" bIns="26825" lIns="53675" spcFirstLastPara="1" rIns="53675" wrap="square" tIns="26825">
              <a:spAutoFit/>
            </a:bodyPr>
            <a:lstStyle/>
            <a:p>
              <a:pPr indent="0" lvl="0" marL="0" marR="0" rtl="0" algn="l">
                <a:lnSpc>
                  <a:spcPct val="100000"/>
                </a:lnSpc>
                <a:spcBef>
                  <a:spcPts val="0"/>
                </a:spcBef>
                <a:spcAft>
                  <a:spcPts val="0"/>
                </a:spcAft>
                <a:buClr>
                  <a:srgbClr val="000000"/>
                </a:buClr>
                <a:buSzPts val="705"/>
                <a:buFont typeface="Arial"/>
                <a:buNone/>
              </a:pPr>
              <a:r>
                <a:rPr b="0" i="0" lang="en-GB" sz="705" u="none" cap="none" strike="noStrike">
                  <a:solidFill>
                    <a:srgbClr val="000000"/>
                  </a:solidFill>
                  <a:latin typeface="Arial"/>
                  <a:ea typeface="Arial"/>
                  <a:cs typeface="Arial"/>
                  <a:sym typeface="Arial"/>
                </a:rPr>
                <a:t>Switch 1</a:t>
              </a:r>
              <a:endParaRPr b="0" i="0" sz="705" u="none" cap="none" strike="noStrike">
                <a:solidFill>
                  <a:srgbClr val="000000"/>
                </a:solidFill>
                <a:latin typeface="Arial"/>
                <a:ea typeface="Arial"/>
                <a:cs typeface="Arial"/>
                <a:sym typeface="Arial"/>
              </a:endParaRPr>
            </a:p>
          </p:txBody>
        </p:sp>
      </p:grpSp>
      <p:sp>
        <p:nvSpPr>
          <p:cNvPr id="541" name="Google Shape;541;p14"/>
          <p:cNvSpPr txBox="1"/>
          <p:nvPr/>
        </p:nvSpPr>
        <p:spPr>
          <a:xfrm>
            <a:off x="2718750" y="4738282"/>
            <a:ext cx="345900" cy="135600"/>
          </a:xfrm>
          <a:prstGeom prst="rect">
            <a:avLst/>
          </a:prstGeom>
          <a:noFill/>
          <a:ln>
            <a:noFill/>
          </a:ln>
        </p:spPr>
        <p:txBody>
          <a:bodyPr anchorCtr="0" anchor="t" bIns="26825" lIns="53675" spcFirstLastPara="1" rIns="53675" wrap="square" tIns="26825">
            <a:spAutoFit/>
          </a:bodyPr>
          <a:lstStyle/>
          <a:p>
            <a:pPr indent="0" lvl="0" marL="0" marR="0" rtl="0" algn="l">
              <a:lnSpc>
                <a:spcPct val="100000"/>
              </a:lnSpc>
              <a:spcBef>
                <a:spcPts val="0"/>
              </a:spcBef>
              <a:spcAft>
                <a:spcPts val="0"/>
              </a:spcAft>
              <a:buClr>
                <a:srgbClr val="000000"/>
              </a:buClr>
              <a:buSzPts val="528"/>
              <a:buFont typeface="Arial"/>
              <a:buNone/>
            </a:pPr>
            <a:r>
              <a:rPr b="0" i="0" lang="en-GB" sz="530" u="none" cap="none" strike="noStrike">
                <a:solidFill>
                  <a:srgbClr val="000000"/>
                </a:solidFill>
                <a:latin typeface="Arial"/>
                <a:ea typeface="Arial"/>
                <a:cs typeface="Arial"/>
                <a:sym typeface="Arial"/>
              </a:rPr>
              <a:t>Node0</a:t>
            </a:r>
            <a:endParaRPr b="0" i="0" sz="530" u="none" cap="none" strike="noStrike">
              <a:solidFill>
                <a:srgbClr val="000000"/>
              </a:solidFill>
              <a:latin typeface="Arial"/>
              <a:ea typeface="Arial"/>
              <a:cs typeface="Arial"/>
              <a:sym typeface="Arial"/>
            </a:endParaRPr>
          </a:p>
        </p:txBody>
      </p:sp>
      <p:sp>
        <p:nvSpPr>
          <p:cNvPr id="542" name="Google Shape;542;p14"/>
          <p:cNvSpPr txBox="1"/>
          <p:nvPr/>
        </p:nvSpPr>
        <p:spPr>
          <a:xfrm>
            <a:off x="3013157" y="4735296"/>
            <a:ext cx="345900" cy="135600"/>
          </a:xfrm>
          <a:prstGeom prst="rect">
            <a:avLst/>
          </a:prstGeom>
          <a:noFill/>
          <a:ln>
            <a:noFill/>
          </a:ln>
        </p:spPr>
        <p:txBody>
          <a:bodyPr anchorCtr="0" anchor="t" bIns="26825" lIns="53675" spcFirstLastPara="1" rIns="53675" wrap="square" tIns="26825">
            <a:spAutoFit/>
          </a:bodyPr>
          <a:lstStyle/>
          <a:p>
            <a:pPr indent="0" lvl="0" marL="0" marR="0" rtl="0" algn="l">
              <a:lnSpc>
                <a:spcPct val="100000"/>
              </a:lnSpc>
              <a:spcBef>
                <a:spcPts val="0"/>
              </a:spcBef>
              <a:spcAft>
                <a:spcPts val="0"/>
              </a:spcAft>
              <a:buClr>
                <a:srgbClr val="000000"/>
              </a:buClr>
              <a:buSzPts val="528"/>
              <a:buFont typeface="Arial"/>
              <a:buNone/>
            </a:pPr>
            <a:r>
              <a:rPr b="0" i="0" lang="en-GB" sz="530" u="none" cap="none" strike="noStrike">
                <a:solidFill>
                  <a:srgbClr val="000000"/>
                </a:solidFill>
                <a:latin typeface="Arial"/>
                <a:ea typeface="Arial"/>
                <a:cs typeface="Arial"/>
                <a:sym typeface="Arial"/>
              </a:rPr>
              <a:t>Node1</a:t>
            </a:r>
            <a:endParaRPr b="0" i="0" sz="530" u="none" cap="none" strike="noStrike">
              <a:solidFill>
                <a:srgbClr val="000000"/>
              </a:solidFill>
              <a:latin typeface="Arial"/>
              <a:ea typeface="Arial"/>
              <a:cs typeface="Arial"/>
              <a:sym typeface="Arial"/>
            </a:endParaRPr>
          </a:p>
        </p:txBody>
      </p:sp>
      <p:sp>
        <p:nvSpPr>
          <p:cNvPr id="543" name="Google Shape;543;p14"/>
          <p:cNvSpPr txBox="1"/>
          <p:nvPr/>
        </p:nvSpPr>
        <p:spPr>
          <a:xfrm>
            <a:off x="3478054" y="4743818"/>
            <a:ext cx="328500" cy="128700"/>
          </a:xfrm>
          <a:prstGeom prst="rect">
            <a:avLst/>
          </a:prstGeom>
          <a:noFill/>
          <a:ln>
            <a:noFill/>
          </a:ln>
        </p:spPr>
        <p:txBody>
          <a:bodyPr anchorCtr="0" anchor="t" bIns="25450" lIns="50950" spcFirstLastPara="1" rIns="50950" wrap="square" tIns="25450">
            <a:spAutoFit/>
          </a:bodyPr>
          <a:lstStyle/>
          <a:p>
            <a:pPr indent="0" lvl="0" marL="0" marR="0" rtl="0" algn="l">
              <a:lnSpc>
                <a:spcPct val="100000"/>
              </a:lnSpc>
              <a:spcBef>
                <a:spcPts val="0"/>
              </a:spcBef>
              <a:spcAft>
                <a:spcPts val="0"/>
              </a:spcAft>
              <a:buClr>
                <a:srgbClr val="000000"/>
              </a:buClr>
              <a:buSzPts val="501"/>
              <a:buFont typeface="Arial"/>
              <a:buNone/>
            </a:pPr>
            <a:r>
              <a:rPr b="0" i="0" lang="en-GB" sz="500" u="none" cap="none" strike="noStrike">
                <a:solidFill>
                  <a:srgbClr val="000000"/>
                </a:solidFill>
                <a:latin typeface="Arial"/>
                <a:ea typeface="Arial"/>
                <a:cs typeface="Arial"/>
                <a:sym typeface="Arial"/>
              </a:rPr>
              <a:t>Node2</a:t>
            </a:r>
            <a:endParaRPr b="0" i="0" sz="500" u="none" cap="none" strike="noStrike">
              <a:solidFill>
                <a:srgbClr val="000000"/>
              </a:solidFill>
              <a:latin typeface="Arial"/>
              <a:ea typeface="Arial"/>
              <a:cs typeface="Arial"/>
              <a:sym typeface="Arial"/>
            </a:endParaRPr>
          </a:p>
        </p:txBody>
      </p:sp>
      <p:sp>
        <p:nvSpPr>
          <p:cNvPr id="544" name="Google Shape;544;p14"/>
          <p:cNvSpPr txBox="1"/>
          <p:nvPr/>
        </p:nvSpPr>
        <p:spPr>
          <a:xfrm>
            <a:off x="3759064" y="4743823"/>
            <a:ext cx="328500" cy="128700"/>
          </a:xfrm>
          <a:prstGeom prst="rect">
            <a:avLst/>
          </a:prstGeom>
          <a:noFill/>
          <a:ln>
            <a:noFill/>
          </a:ln>
        </p:spPr>
        <p:txBody>
          <a:bodyPr anchorCtr="0" anchor="t" bIns="25450" lIns="50950" spcFirstLastPara="1" rIns="50950" wrap="square" tIns="25450">
            <a:spAutoFit/>
          </a:bodyPr>
          <a:lstStyle/>
          <a:p>
            <a:pPr indent="0" lvl="0" marL="0" marR="0" rtl="0" algn="l">
              <a:lnSpc>
                <a:spcPct val="100000"/>
              </a:lnSpc>
              <a:spcBef>
                <a:spcPts val="0"/>
              </a:spcBef>
              <a:spcAft>
                <a:spcPts val="0"/>
              </a:spcAft>
              <a:buClr>
                <a:srgbClr val="000000"/>
              </a:buClr>
              <a:buSzPts val="501"/>
              <a:buFont typeface="Arial"/>
              <a:buNone/>
            </a:pPr>
            <a:r>
              <a:rPr b="0" i="0" lang="en-GB" sz="500" u="none" cap="none" strike="noStrike">
                <a:solidFill>
                  <a:srgbClr val="000000"/>
                </a:solidFill>
                <a:latin typeface="Arial"/>
                <a:ea typeface="Arial"/>
                <a:cs typeface="Arial"/>
                <a:sym typeface="Arial"/>
              </a:rPr>
              <a:t>Node3</a:t>
            </a:r>
            <a:endParaRPr b="0" i="0" sz="500" u="none" cap="none" strike="noStrike">
              <a:solidFill>
                <a:srgbClr val="000000"/>
              </a:solidFill>
              <a:latin typeface="Arial"/>
              <a:ea typeface="Arial"/>
              <a:cs typeface="Arial"/>
              <a:sym typeface="Arial"/>
            </a:endParaRPr>
          </a:p>
        </p:txBody>
      </p:sp>
      <p:sp>
        <p:nvSpPr>
          <p:cNvPr id="545" name="Google Shape;545;p14"/>
          <p:cNvSpPr txBox="1"/>
          <p:nvPr/>
        </p:nvSpPr>
        <p:spPr>
          <a:xfrm>
            <a:off x="4219869" y="4740734"/>
            <a:ext cx="345900" cy="135600"/>
          </a:xfrm>
          <a:prstGeom prst="rect">
            <a:avLst/>
          </a:prstGeom>
          <a:noFill/>
          <a:ln>
            <a:noFill/>
          </a:ln>
        </p:spPr>
        <p:txBody>
          <a:bodyPr anchorCtr="0" anchor="t" bIns="26825" lIns="53675" spcFirstLastPara="1" rIns="53675" wrap="square" tIns="26825">
            <a:spAutoFit/>
          </a:bodyPr>
          <a:lstStyle/>
          <a:p>
            <a:pPr indent="0" lvl="0" marL="0" marR="0" rtl="0" algn="l">
              <a:lnSpc>
                <a:spcPct val="100000"/>
              </a:lnSpc>
              <a:spcBef>
                <a:spcPts val="0"/>
              </a:spcBef>
              <a:spcAft>
                <a:spcPts val="0"/>
              </a:spcAft>
              <a:buClr>
                <a:srgbClr val="000000"/>
              </a:buClr>
              <a:buSzPts val="528"/>
              <a:buFont typeface="Arial"/>
              <a:buNone/>
            </a:pPr>
            <a:r>
              <a:rPr b="0" i="0" lang="en-GB" sz="530" u="none" cap="none" strike="noStrike">
                <a:solidFill>
                  <a:srgbClr val="000000"/>
                </a:solidFill>
                <a:latin typeface="Arial"/>
                <a:ea typeface="Arial"/>
                <a:cs typeface="Arial"/>
                <a:sym typeface="Arial"/>
              </a:rPr>
              <a:t>Node4</a:t>
            </a:r>
            <a:endParaRPr b="0" i="0" sz="530" u="none" cap="none" strike="noStrike">
              <a:solidFill>
                <a:srgbClr val="000000"/>
              </a:solidFill>
              <a:latin typeface="Arial"/>
              <a:ea typeface="Arial"/>
              <a:cs typeface="Arial"/>
              <a:sym typeface="Arial"/>
            </a:endParaRPr>
          </a:p>
        </p:txBody>
      </p:sp>
      <p:sp>
        <p:nvSpPr>
          <p:cNvPr id="546" name="Google Shape;546;p14"/>
          <p:cNvSpPr txBox="1"/>
          <p:nvPr/>
        </p:nvSpPr>
        <p:spPr>
          <a:xfrm>
            <a:off x="5240968" y="4732004"/>
            <a:ext cx="345900" cy="135600"/>
          </a:xfrm>
          <a:prstGeom prst="rect">
            <a:avLst/>
          </a:prstGeom>
          <a:noFill/>
          <a:ln>
            <a:noFill/>
          </a:ln>
        </p:spPr>
        <p:txBody>
          <a:bodyPr anchorCtr="0" anchor="t" bIns="26825" lIns="53675" spcFirstLastPara="1" rIns="53675" wrap="square" tIns="26825">
            <a:spAutoFit/>
          </a:bodyPr>
          <a:lstStyle/>
          <a:p>
            <a:pPr indent="0" lvl="0" marL="0" marR="0" rtl="0" algn="l">
              <a:lnSpc>
                <a:spcPct val="100000"/>
              </a:lnSpc>
              <a:spcBef>
                <a:spcPts val="0"/>
              </a:spcBef>
              <a:spcAft>
                <a:spcPts val="0"/>
              </a:spcAft>
              <a:buClr>
                <a:srgbClr val="000000"/>
              </a:buClr>
              <a:buSzPts val="528"/>
              <a:buFont typeface="Arial"/>
              <a:buNone/>
            </a:pPr>
            <a:r>
              <a:rPr b="0" i="0" lang="en-GB" sz="530" u="none" cap="none" strike="noStrike">
                <a:solidFill>
                  <a:srgbClr val="000000"/>
                </a:solidFill>
                <a:latin typeface="Arial"/>
                <a:ea typeface="Arial"/>
                <a:cs typeface="Arial"/>
                <a:sym typeface="Arial"/>
              </a:rPr>
              <a:t>Node7</a:t>
            </a:r>
            <a:endParaRPr b="0" i="0" sz="530" u="none" cap="none" strike="noStrike">
              <a:solidFill>
                <a:srgbClr val="000000"/>
              </a:solidFill>
              <a:latin typeface="Arial"/>
              <a:ea typeface="Arial"/>
              <a:cs typeface="Arial"/>
              <a:sym typeface="Arial"/>
            </a:endParaRPr>
          </a:p>
        </p:txBody>
      </p:sp>
      <p:sp>
        <p:nvSpPr>
          <p:cNvPr id="547" name="Google Shape;547;p14"/>
          <p:cNvSpPr txBox="1"/>
          <p:nvPr/>
        </p:nvSpPr>
        <p:spPr>
          <a:xfrm>
            <a:off x="4938567" y="4735296"/>
            <a:ext cx="345900" cy="135600"/>
          </a:xfrm>
          <a:prstGeom prst="rect">
            <a:avLst/>
          </a:prstGeom>
          <a:noFill/>
          <a:ln>
            <a:noFill/>
          </a:ln>
        </p:spPr>
        <p:txBody>
          <a:bodyPr anchorCtr="0" anchor="t" bIns="26825" lIns="53675" spcFirstLastPara="1" rIns="53675" wrap="square" tIns="26825">
            <a:spAutoFit/>
          </a:bodyPr>
          <a:lstStyle/>
          <a:p>
            <a:pPr indent="0" lvl="0" marL="0" marR="0" rtl="0" algn="l">
              <a:lnSpc>
                <a:spcPct val="100000"/>
              </a:lnSpc>
              <a:spcBef>
                <a:spcPts val="0"/>
              </a:spcBef>
              <a:spcAft>
                <a:spcPts val="0"/>
              </a:spcAft>
              <a:buClr>
                <a:srgbClr val="000000"/>
              </a:buClr>
              <a:buSzPts val="528"/>
              <a:buFont typeface="Arial"/>
              <a:buNone/>
            </a:pPr>
            <a:r>
              <a:rPr b="0" i="0" lang="en-GB" sz="530" u="none" cap="none" strike="noStrike">
                <a:solidFill>
                  <a:srgbClr val="000000"/>
                </a:solidFill>
                <a:latin typeface="Arial"/>
                <a:ea typeface="Arial"/>
                <a:cs typeface="Arial"/>
                <a:sym typeface="Arial"/>
              </a:rPr>
              <a:t>Node6</a:t>
            </a:r>
            <a:endParaRPr b="0" i="0" sz="530" u="none" cap="none" strike="noStrike">
              <a:solidFill>
                <a:srgbClr val="000000"/>
              </a:solidFill>
              <a:latin typeface="Arial"/>
              <a:ea typeface="Arial"/>
              <a:cs typeface="Arial"/>
              <a:sym typeface="Arial"/>
            </a:endParaRPr>
          </a:p>
        </p:txBody>
      </p:sp>
      <p:sp>
        <p:nvSpPr>
          <p:cNvPr id="548" name="Google Shape;548;p14"/>
          <p:cNvSpPr txBox="1"/>
          <p:nvPr/>
        </p:nvSpPr>
        <p:spPr>
          <a:xfrm>
            <a:off x="4487480" y="4736949"/>
            <a:ext cx="345900" cy="135600"/>
          </a:xfrm>
          <a:prstGeom prst="rect">
            <a:avLst/>
          </a:prstGeom>
          <a:noFill/>
          <a:ln>
            <a:noFill/>
          </a:ln>
        </p:spPr>
        <p:txBody>
          <a:bodyPr anchorCtr="0" anchor="t" bIns="26825" lIns="53675" spcFirstLastPara="1" rIns="53675" wrap="square" tIns="26825">
            <a:spAutoFit/>
          </a:bodyPr>
          <a:lstStyle/>
          <a:p>
            <a:pPr indent="0" lvl="0" marL="0" marR="0" rtl="0" algn="l">
              <a:lnSpc>
                <a:spcPct val="100000"/>
              </a:lnSpc>
              <a:spcBef>
                <a:spcPts val="0"/>
              </a:spcBef>
              <a:spcAft>
                <a:spcPts val="0"/>
              </a:spcAft>
              <a:buClr>
                <a:srgbClr val="000000"/>
              </a:buClr>
              <a:buSzPts val="528"/>
              <a:buFont typeface="Arial"/>
              <a:buNone/>
            </a:pPr>
            <a:r>
              <a:rPr b="0" i="0" lang="en-GB" sz="530" u="none" cap="none" strike="noStrike">
                <a:solidFill>
                  <a:srgbClr val="000000"/>
                </a:solidFill>
                <a:latin typeface="Arial"/>
                <a:ea typeface="Arial"/>
                <a:cs typeface="Arial"/>
                <a:sym typeface="Arial"/>
              </a:rPr>
              <a:t>Node5</a:t>
            </a:r>
            <a:endParaRPr b="0" i="0" sz="530" u="none" cap="none" strike="noStrike">
              <a:solidFill>
                <a:srgbClr val="000000"/>
              </a:solidFill>
              <a:latin typeface="Arial"/>
              <a:ea typeface="Arial"/>
              <a:cs typeface="Arial"/>
              <a:sym typeface="Arial"/>
            </a:endParaRPr>
          </a:p>
        </p:txBody>
      </p:sp>
      <p:sp>
        <p:nvSpPr>
          <p:cNvPr id="549" name="Google Shape;549;p14"/>
          <p:cNvSpPr txBox="1"/>
          <p:nvPr>
            <p:ph idx="1" type="body"/>
          </p:nvPr>
        </p:nvSpPr>
        <p:spPr>
          <a:xfrm>
            <a:off x="168275" y="3293110"/>
            <a:ext cx="2723515" cy="162306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SzPts val="1800"/>
              <a:buNone/>
            </a:pPr>
            <a:r>
              <a:t/>
            </a:r>
            <a:endParaRPr b="1" sz="1000">
              <a:solidFill>
                <a:schemeClr val="dk1"/>
              </a:solidFill>
            </a:endParaRPr>
          </a:p>
          <a:p>
            <a:pPr indent="0" lvl="0" marL="0" rtl="0" algn="l">
              <a:lnSpc>
                <a:spcPct val="150000"/>
              </a:lnSpc>
              <a:spcBef>
                <a:spcPts val="0"/>
              </a:spcBef>
              <a:spcAft>
                <a:spcPts val="0"/>
              </a:spcAft>
              <a:buSzPts val="1800"/>
              <a:buNone/>
            </a:pPr>
            <a:r>
              <a:rPr b="1" lang="en-GB" sz="1000">
                <a:solidFill>
                  <a:schemeClr val="dk1"/>
                </a:solidFill>
              </a:rPr>
              <a:t>Non-Leaf HyperNodes</a:t>
            </a:r>
            <a:r>
              <a:rPr lang="en-GB" sz="1000">
                <a:solidFill>
                  <a:schemeClr val="dk1"/>
                </a:solidFill>
              </a:rPr>
              <a:t> (s4, s5, s6):     </a:t>
            </a:r>
            <a:endParaRPr sz="1000">
              <a:solidFill>
                <a:schemeClr val="dk1"/>
              </a:solidFill>
            </a:endParaRPr>
          </a:p>
          <a:p>
            <a:pPr indent="0" lvl="0" marL="228600" rtl="0" algn="l">
              <a:lnSpc>
                <a:spcPct val="150000"/>
              </a:lnSpc>
              <a:spcBef>
                <a:spcPts val="0"/>
              </a:spcBef>
              <a:spcAft>
                <a:spcPts val="0"/>
              </a:spcAft>
              <a:buSzPts val="1800"/>
              <a:buNone/>
            </a:pPr>
            <a:r>
              <a:rPr lang="en-GB" sz="1000">
                <a:solidFill>
                  <a:schemeClr val="dk1"/>
                </a:solidFill>
              </a:rPr>
              <a:t>Represent other HyperNodes.</a:t>
            </a:r>
            <a:endParaRPr sz="1000">
              <a:solidFill>
                <a:schemeClr val="dk1"/>
              </a:solidFill>
            </a:endParaRPr>
          </a:p>
          <a:p>
            <a:pPr indent="0" lvl="0" marL="0" rtl="0" algn="l">
              <a:lnSpc>
                <a:spcPct val="150000"/>
              </a:lnSpc>
              <a:spcBef>
                <a:spcPts val="0"/>
              </a:spcBef>
              <a:spcAft>
                <a:spcPts val="0"/>
              </a:spcAft>
              <a:buSzPts val="1800"/>
              <a:buNone/>
            </a:pPr>
            <a:r>
              <a:rPr b="1" lang="en-GB" sz="1000">
                <a:solidFill>
                  <a:schemeClr val="dk1"/>
                </a:solidFill>
              </a:rPr>
              <a:t>Leaf HyperNodes </a:t>
            </a:r>
            <a:r>
              <a:rPr lang="en-GB" sz="1000">
                <a:solidFill>
                  <a:schemeClr val="dk1"/>
                </a:solidFill>
              </a:rPr>
              <a:t>(Node[01])</a:t>
            </a:r>
            <a:r>
              <a:rPr b="1" lang="en-GB" sz="1000">
                <a:solidFill>
                  <a:schemeClr val="dk1"/>
                </a:solidFill>
              </a:rPr>
              <a:t>:</a:t>
            </a:r>
            <a:endParaRPr b="1" sz="1000">
              <a:solidFill>
                <a:schemeClr val="dk1"/>
              </a:solidFill>
            </a:endParaRPr>
          </a:p>
          <a:p>
            <a:pPr indent="0" lvl="0" marL="228600" rtl="0" algn="l">
              <a:lnSpc>
                <a:spcPct val="150000"/>
              </a:lnSpc>
              <a:spcBef>
                <a:spcPts val="0"/>
              </a:spcBef>
              <a:spcAft>
                <a:spcPts val="0"/>
              </a:spcAft>
              <a:buSzPts val="1800"/>
              <a:buNone/>
            </a:pPr>
            <a:r>
              <a:rPr lang="en-GB" sz="1000">
                <a:solidFill>
                  <a:schemeClr val="dk1"/>
                </a:solidFill>
              </a:rPr>
              <a:t>Whose members are actual cluster nodes.</a:t>
            </a:r>
            <a:endParaRPr sz="1000">
              <a:solidFill>
                <a:schemeClr val="dk1"/>
              </a:solidFill>
            </a:endParaRPr>
          </a:p>
          <a:p>
            <a:pPr indent="0" lvl="0" marL="228600" rtl="0" algn="l">
              <a:lnSpc>
                <a:spcPct val="150000"/>
              </a:lnSpc>
              <a:spcBef>
                <a:spcPts val="0"/>
              </a:spcBef>
              <a:spcAft>
                <a:spcPts val="0"/>
              </a:spcAft>
              <a:buSzPts val="1800"/>
              <a:buNone/>
            </a:pPr>
            <a:r>
              <a:rPr lang="en-GB" sz="1000">
                <a:solidFill>
                  <a:schemeClr val="dk1"/>
                </a:solidFill>
              </a:rPr>
              <a:t>Standardizing Cluster Topologies via Performance Domains</a:t>
            </a:r>
            <a:endParaRPr sz="1000">
              <a:solidFill>
                <a:schemeClr val="dk1"/>
              </a:solidFill>
            </a:endParaRPr>
          </a:p>
        </p:txBody>
      </p:sp>
      <p:sp>
        <p:nvSpPr>
          <p:cNvPr id="550" name="Google Shape;550;p14"/>
          <p:cNvSpPr txBox="1"/>
          <p:nvPr/>
        </p:nvSpPr>
        <p:spPr>
          <a:xfrm>
            <a:off x="227965" y="1047910"/>
            <a:ext cx="5106600" cy="954300"/>
          </a:xfrm>
          <a:prstGeom prst="rect">
            <a:avLst/>
          </a:prstGeom>
          <a:noFill/>
          <a:ln>
            <a:noFill/>
          </a:ln>
        </p:spPr>
        <p:txBody>
          <a:bodyPr anchorCtr="0" anchor="t" bIns="45700" lIns="91425" spcFirstLastPara="1" rIns="91425" wrap="square" tIns="45700">
            <a:spAutoFit/>
          </a:bodyPr>
          <a:lstStyle/>
          <a:p>
            <a:pPr indent="0" lvl="0" marL="139700" marR="0" rtl="0" algn="l">
              <a:lnSpc>
                <a:spcPct val="150000"/>
              </a:lnSpc>
              <a:spcBef>
                <a:spcPts val="0"/>
              </a:spcBef>
              <a:spcAft>
                <a:spcPts val="0"/>
              </a:spcAft>
              <a:buClr>
                <a:schemeClr val="dk1"/>
              </a:buClr>
              <a:buSzPts val="1400"/>
              <a:buFont typeface="Arial"/>
              <a:buNone/>
            </a:pPr>
            <a:r>
              <a:rPr b="0" i="0" lang="en-GB" sz="1400" u="none" cap="none" strike="noStrike">
                <a:solidFill>
                  <a:schemeClr val="dk1"/>
                </a:solidFill>
                <a:latin typeface="Arial"/>
                <a:ea typeface="Arial"/>
                <a:cs typeface="Arial"/>
                <a:sym typeface="Arial"/>
              </a:rPr>
              <a:t>Large-scale AI clusters lack unified topology abstraction, requiring optimized intra- and inter-node configurations for maximum performance</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15"/>
          <p:cNvSpPr txBox="1"/>
          <p:nvPr>
            <p:ph type="title"/>
          </p:nvPr>
        </p:nvSpPr>
        <p:spPr>
          <a:xfrm>
            <a:off x="233680" y="0"/>
            <a:ext cx="8075295" cy="104775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GB">
                <a:solidFill>
                  <a:srgbClr val="FFFFFF"/>
                </a:solidFill>
              </a:rPr>
              <a:t>Multi-Level Network Topology Scheduling</a:t>
            </a:r>
            <a:endParaRPr>
              <a:solidFill>
                <a:srgbClr val="FFFFFF"/>
              </a:solidFill>
            </a:endParaRPr>
          </a:p>
        </p:txBody>
      </p:sp>
      <p:pic>
        <p:nvPicPr>
          <p:cNvPr descr="volcano_subgroup_topology.drawio" id="556" name="Google Shape;556;p15"/>
          <p:cNvPicPr preferRelativeResize="0"/>
          <p:nvPr/>
        </p:nvPicPr>
        <p:blipFill rotWithShape="1">
          <a:blip r:embed="rId3">
            <a:alphaModFix/>
          </a:blip>
          <a:srcRect b="0" l="0" r="0" t="0"/>
          <a:stretch/>
        </p:blipFill>
        <p:spPr>
          <a:xfrm>
            <a:off x="305435" y="1282065"/>
            <a:ext cx="5601335" cy="3375025"/>
          </a:xfrm>
          <a:prstGeom prst="rect">
            <a:avLst/>
          </a:prstGeom>
          <a:noFill/>
          <a:ln>
            <a:noFill/>
          </a:ln>
        </p:spPr>
      </p:pic>
      <p:pic>
        <p:nvPicPr>
          <p:cNvPr descr="carbon (5)" id="557" name="Google Shape;557;p15"/>
          <p:cNvPicPr preferRelativeResize="0"/>
          <p:nvPr/>
        </p:nvPicPr>
        <p:blipFill rotWithShape="1">
          <a:blip r:embed="rId4">
            <a:alphaModFix/>
          </a:blip>
          <a:srcRect b="0" l="0" r="0" t="0"/>
          <a:stretch/>
        </p:blipFill>
        <p:spPr>
          <a:xfrm>
            <a:off x="6024245" y="1047750"/>
            <a:ext cx="2872740" cy="2654935"/>
          </a:xfrm>
          <a:prstGeom prst="rect">
            <a:avLst/>
          </a:prstGeom>
          <a:noFill/>
          <a:ln>
            <a:noFill/>
          </a:ln>
        </p:spPr>
      </p:pic>
      <p:sp>
        <p:nvSpPr>
          <p:cNvPr id="558" name="Google Shape;558;p15"/>
          <p:cNvSpPr/>
          <p:nvPr/>
        </p:nvSpPr>
        <p:spPr>
          <a:xfrm>
            <a:off x="6762750" y="3809365"/>
            <a:ext cx="1395095" cy="484505"/>
          </a:xfrm>
          <a:prstGeom prst="roundRect">
            <a:avLst>
              <a:gd fmla="val 16667" name="adj"/>
            </a:avLst>
          </a:prstGeom>
          <a:solidFill>
            <a:schemeClr val="accent1"/>
          </a:solidFill>
          <a:ln cap="flat" cmpd="sng" w="25400">
            <a:solidFill>
              <a:srgbClr val="CF5D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800" u="none" cap="none" strike="noStrike">
                <a:solidFill>
                  <a:schemeClr val="lt1"/>
                </a:solidFill>
                <a:latin typeface="Arial"/>
                <a:ea typeface="Arial"/>
                <a:cs typeface="Arial"/>
                <a:sym typeface="Arial"/>
              </a:rPr>
              <a:t>PodGroup</a:t>
            </a:r>
            <a:endParaRPr b="0" i="0" sz="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None/>
            </a:pPr>
            <a:r>
              <a:rPr b="0" i="0" lang="en-GB" sz="800" u="none" cap="none" strike="noStrike">
                <a:solidFill>
                  <a:schemeClr val="lt1"/>
                </a:solidFill>
                <a:latin typeface="Arial"/>
                <a:ea typeface="Arial"/>
                <a:cs typeface="Arial"/>
                <a:sym typeface="Arial"/>
              </a:rPr>
              <a:t>(highestTierAllowed: 3</a:t>
            </a:r>
            <a:br>
              <a:rPr b="0" i="0" lang="en-GB" sz="800" u="none" cap="none" strike="noStrike">
                <a:solidFill>
                  <a:schemeClr val="lt1"/>
                </a:solidFill>
                <a:latin typeface="Arial"/>
                <a:ea typeface="Arial"/>
                <a:cs typeface="Arial"/>
                <a:sym typeface="Arial"/>
              </a:rPr>
            </a:br>
            <a:r>
              <a:rPr b="0" i="0" lang="en-GB" sz="800" u="none" cap="none" strike="noStrike">
                <a:solidFill>
                  <a:schemeClr val="lt1"/>
                </a:solidFill>
                <a:latin typeface="Arial"/>
                <a:ea typeface="Arial"/>
                <a:cs typeface="Arial"/>
                <a:sym typeface="Arial"/>
              </a:rPr>
              <a:t>minMember:8)</a:t>
            </a:r>
            <a:endParaRPr b="0" i="0" sz="800" u="none" cap="none" strike="noStrike">
              <a:solidFill>
                <a:schemeClr val="lt1"/>
              </a:solidFill>
              <a:latin typeface="Arial"/>
              <a:ea typeface="Arial"/>
              <a:cs typeface="Arial"/>
              <a:sym typeface="Arial"/>
            </a:endParaRPr>
          </a:p>
        </p:txBody>
      </p:sp>
      <p:sp>
        <p:nvSpPr>
          <p:cNvPr id="559" name="Google Shape;559;p15"/>
          <p:cNvSpPr/>
          <p:nvPr/>
        </p:nvSpPr>
        <p:spPr>
          <a:xfrm>
            <a:off x="5871210" y="4535170"/>
            <a:ext cx="1344295" cy="485140"/>
          </a:xfrm>
          <a:prstGeom prst="roundRect">
            <a:avLst>
              <a:gd fmla="val 16667" name="adj"/>
            </a:avLst>
          </a:prstGeom>
          <a:solidFill>
            <a:schemeClr val="accent1"/>
          </a:solidFill>
          <a:ln cap="flat" cmpd="sng" w="25400">
            <a:solidFill>
              <a:srgbClr val="CF5D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800" u="none" cap="none" strike="noStrike">
                <a:solidFill>
                  <a:schemeClr val="lt1"/>
                </a:solidFill>
                <a:latin typeface="Arial"/>
                <a:ea typeface="Arial"/>
                <a:cs typeface="Arial"/>
                <a:sym typeface="Arial"/>
              </a:rPr>
              <a:t>SubGroup-prefill</a:t>
            </a:r>
            <a:endParaRPr b="0" i="0" sz="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None/>
            </a:pPr>
            <a:r>
              <a:rPr b="0" i="0" lang="en-GB" sz="800" u="none" cap="none" strike="noStrike">
                <a:solidFill>
                  <a:schemeClr val="lt1"/>
                </a:solidFill>
                <a:latin typeface="Arial"/>
                <a:ea typeface="Arial"/>
                <a:cs typeface="Arial"/>
                <a:sym typeface="Arial"/>
              </a:rPr>
              <a:t>(highestTierAllowed: 1</a:t>
            </a:r>
            <a:br>
              <a:rPr b="0" i="0" lang="en-GB" sz="800" u="none" cap="none" strike="noStrike">
                <a:solidFill>
                  <a:schemeClr val="lt1"/>
                </a:solidFill>
                <a:latin typeface="Arial"/>
                <a:ea typeface="Arial"/>
                <a:cs typeface="Arial"/>
                <a:sym typeface="Arial"/>
              </a:rPr>
            </a:br>
            <a:r>
              <a:rPr b="0" i="0" lang="en-GB" sz="800" u="none" cap="none" strike="noStrike">
                <a:solidFill>
                  <a:schemeClr val="lt1"/>
                </a:solidFill>
                <a:latin typeface="Arial"/>
                <a:ea typeface="Arial"/>
                <a:cs typeface="Arial"/>
                <a:sym typeface="Arial"/>
              </a:rPr>
              <a:t>minMember:4)</a:t>
            </a:r>
            <a:endParaRPr b="0" i="0" sz="800" u="none" cap="none" strike="noStrike">
              <a:solidFill>
                <a:schemeClr val="lt1"/>
              </a:solidFill>
              <a:latin typeface="Arial"/>
              <a:ea typeface="Arial"/>
              <a:cs typeface="Arial"/>
              <a:sym typeface="Arial"/>
            </a:endParaRPr>
          </a:p>
        </p:txBody>
      </p:sp>
      <p:sp>
        <p:nvSpPr>
          <p:cNvPr id="560" name="Google Shape;560;p15"/>
          <p:cNvSpPr/>
          <p:nvPr/>
        </p:nvSpPr>
        <p:spPr>
          <a:xfrm>
            <a:off x="7710170" y="4535170"/>
            <a:ext cx="1344930" cy="485140"/>
          </a:xfrm>
          <a:prstGeom prst="roundRect">
            <a:avLst>
              <a:gd fmla="val 16667" name="adj"/>
            </a:avLst>
          </a:prstGeom>
          <a:solidFill>
            <a:schemeClr val="accent1"/>
          </a:solidFill>
          <a:ln cap="flat" cmpd="sng" w="25400">
            <a:solidFill>
              <a:srgbClr val="CF5D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800" u="none" cap="none" strike="noStrike">
                <a:solidFill>
                  <a:schemeClr val="lt1"/>
                </a:solidFill>
                <a:latin typeface="Arial"/>
                <a:ea typeface="Arial"/>
                <a:cs typeface="Arial"/>
                <a:sym typeface="Arial"/>
              </a:rPr>
              <a:t>SubGroup-Decode</a:t>
            </a:r>
            <a:endParaRPr b="0" i="0" sz="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None/>
            </a:pPr>
            <a:r>
              <a:rPr b="0" i="0" lang="en-GB" sz="800" u="none" cap="none" strike="noStrike">
                <a:solidFill>
                  <a:schemeClr val="lt1"/>
                </a:solidFill>
                <a:latin typeface="Arial"/>
                <a:ea typeface="Arial"/>
                <a:cs typeface="Arial"/>
                <a:sym typeface="Arial"/>
              </a:rPr>
              <a:t>(highestTierAllowed: 2</a:t>
            </a:r>
            <a:br>
              <a:rPr b="0" i="0" lang="en-GB" sz="800" u="none" cap="none" strike="noStrike">
                <a:solidFill>
                  <a:schemeClr val="lt1"/>
                </a:solidFill>
                <a:latin typeface="Arial"/>
                <a:ea typeface="Arial"/>
                <a:cs typeface="Arial"/>
                <a:sym typeface="Arial"/>
              </a:rPr>
            </a:br>
            <a:r>
              <a:rPr b="0" i="0" lang="en-GB" sz="800" u="none" cap="none" strike="noStrike">
                <a:solidFill>
                  <a:schemeClr val="lt1"/>
                </a:solidFill>
                <a:latin typeface="Arial"/>
                <a:ea typeface="Arial"/>
                <a:cs typeface="Arial"/>
                <a:sym typeface="Arial"/>
              </a:rPr>
              <a:t>minMember:4)</a:t>
            </a:r>
            <a:endParaRPr b="0" i="0" sz="800" u="none" cap="none" strike="noStrike">
              <a:solidFill>
                <a:schemeClr val="lt1"/>
              </a:solidFill>
              <a:latin typeface="Arial"/>
              <a:ea typeface="Arial"/>
              <a:cs typeface="Arial"/>
              <a:sym typeface="Arial"/>
            </a:endParaRPr>
          </a:p>
        </p:txBody>
      </p:sp>
      <p:cxnSp>
        <p:nvCxnSpPr>
          <p:cNvPr id="561" name="Google Shape;561;p15"/>
          <p:cNvCxnSpPr>
            <a:stCxn id="558" idx="2"/>
            <a:endCxn id="559" idx="0"/>
          </p:cNvCxnSpPr>
          <p:nvPr/>
        </p:nvCxnSpPr>
        <p:spPr>
          <a:xfrm flipH="1">
            <a:off x="6543498" y="4293870"/>
            <a:ext cx="916800" cy="241200"/>
          </a:xfrm>
          <a:prstGeom prst="straightConnector1">
            <a:avLst/>
          </a:prstGeom>
          <a:noFill/>
          <a:ln cap="flat" cmpd="sng" w="25400">
            <a:solidFill>
              <a:schemeClr val="accent1"/>
            </a:solidFill>
            <a:prstDash val="solid"/>
            <a:round/>
            <a:headEnd len="sm" w="sm" type="none"/>
            <a:tailEnd len="sm" w="sm" type="none"/>
          </a:ln>
        </p:spPr>
      </p:cxnSp>
      <p:cxnSp>
        <p:nvCxnSpPr>
          <p:cNvPr id="562" name="Google Shape;562;p15"/>
          <p:cNvCxnSpPr>
            <a:stCxn id="558" idx="2"/>
            <a:endCxn id="560" idx="0"/>
          </p:cNvCxnSpPr>
          <p:nvPr/>
        </p:nvCxnSpPr>
        <p:spPr>
          <a:xfrm>
            <a:off x="7460298" y="4293870"/>
            <a:ext cx="922200" cy="241200"/>
          </a:xfrm>
          <a:prstGeom prst="straightConnector1">
            <a:avLst/>
          </a:prstGeom>
          <a:noFill/>
          <a:ln cap="flat" cmpd="sng" w="25400">
            <a:solidFill>
              <a:schemeClr val="accent1"/>
            </a:solidFill>
            <a:prstDash val="solid"/>
            <a:round/>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16"/>
          <p:cNvSpPr txBox="1"/>
          <p:nvPr>
            <p:ph type="title"/>
          </p:nvPr>
        </p:nvSpPr>
        <p:spPr>
          <a:xfrm>
            <a:off x="311700" y="0"/>
            <a:ext cx="6949800" cy="10479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GB">
                <a:solidFill>
                  <a:srgbClr val="FFFFFF"/>
                </a:solidFill>
              </a:rPr>
              <a:t>Volcano Topology Aware Scheduling</a:t>
            </a:r>
            <a:r>
              <a:rPr lang="en-GB">
                <a:solidFill>
                  <a:srgbClr val="FFFFFF"/>
                </a:solidFill>
                <a:latin typeface="SimSun"/>
                <a:ea typeface="SimSun"/>
                <a:cs typeface="SimSun"/>
                <a:sym typeface="SimSun"/>
              </a:rPr>
              <a:t>：</a:t>
            </a:r>
            <a:br>
              <a:rPr lang="en-GB">
                <a:solidFill>
                  <a:srgbClr val="FFFFFF"/>
                </a:solidFill>
              </a:rPr>
            </a:br>
            <a:r>
              <a:rPr lang="en-GB">
                <a:solidFill>
                  <a:srgbClr val="FFFFFF"/>
                </a:solidFill>
              </a:rPr>
              <a:t>HyperNode Pluggable Auto-Discovery</a:t>
            </a:r>
            <a:endParaRPr>
              <a:solidFill>
                <a:srgbClr val="FFFFFF"/>
              </a:solidFill>
            </a:endParaRPr>
          </a:p>
        </p:txBody>
      </p:sp>
      <p:sp>
        <p:nvSpPr>
          <p:cNvPr id="568" name="Google Shape;568;p16"/>
          <p:cNvSpPr/>
          <p:nvPr/>
        </p:nvSpPr>
        <p:spPr>
          <a:xfrm>
            <a:off x="162560" y="1169035"/>
            <a:ext cx="2459990" cy="3744595"/>
          </a:xfrm>
          <a:prstGeom prst="roundRect">
            <a:avLst>
              <a:gd fmla="val 16667" name="adj"/>
            </a:avLst>
          </a:prstGeom>
          <a:noFill/>
          <a:ln cap="flat" cmpd="sng" w="254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Arial"/>
              <a:ea typeface="Arial"/>
              <a:cs typeface="Arial"/>
              <a:sym typeface="Arial"/>
            </a:endParaRPr>
          </a:p>
        </p:txBody>
      </p:sp>
      <p:pic>
        <p:nvPicPr>
          <p:cNvPr id="569" name="Google Shape;569;p16"/>
          <p:cNvPicPr preferRelativeResize="0"/>
          <p:nvPr/>
        </p:nvPicPr>
        <p:blipFill rotWithShape="1">
          <a:blip r:embed="rId3">
            <a:alphaModFix/>
          </a:blip>
          <a:srcRect b="0" l="0" r="0" t="0"/>
          <a:stretch/>
        </p:blipFill>
        <p:spPr>
          <a:xfrm>
            <a:off x="233045" y="1501775"/>
            <a:ext cx="1188085" cy="763270"/>
          </a:xfrm>
          <a:prstGeom prst="rect">
            <a:avLst/>
          </a:prstGeom>
          <a:noFill/>
          <a:ln>
            <a:noFill/>
          </a:ln>
        </p:spPr>
      </p:pic>
      <p:sp>
        <p:nvSpPr>
          <p:cNvPr id="570" name="Google Shape;570;p16"/>
          <p:cNvSpPr txBox="1"/>
          <p:nvPr/>
        </p:nvSpPr>
        <p:spPr>
          <a:xfrm>
            <a:off x="382905" y="1282700"/>
            <a:ext cx="2953385" cy="485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400"/>
              <a:buFont typeface="Arial"/>
              <a:buNone/>
            </a:pPr>
            <a:r>
              <a:rPr b="0" i="0" lang="en-GB" sz="1000" u="none" cap="none" strike="noStrike">
                <a:solidFill>
                  <a:srgbClr val="595959"/>
                </a:solidFill>
                <a:latin typeface="Arial"/>
                <a:ea typeface="Arial"/>
                <a:cs typeface="Arial"/>
                <a:sym typeface="Arial"/>
              </a:rPr>
              <a:t>AI Cluster &amp; Cloud Environment</a:t>
            </a:r>
            <a:endParaRPr b="0" i="0" sz="1000" u="none" cap="none" strike="noStrike">
              <a:solidFill>
                <a:srgbClr val="595959"/>
              </a:solidFill>
              <a:latin typeface="Arial"/>
              <a:ea typeface="Arial"/>
              <a:cs typeface="Arial"/>
              <a:sym typeface="Arial"/>
            </a:endParaRPr>
          </a:p>
        </p:txBody>
      </p:sp>
      <p:pic>
        <p:nvPicPr>
          <p:cNvPr descr="6535def5-349e-4f76-baed-0bfc4fbe92ba" id="571" name="Google Shape;571;p16"/>
          <p:cNvPicPr preferRelativeResize="0"/>
          <p:nvPr/>
        </p:nvPicPr>
        <p:blipFill rotWithShape="1">
          <a:blip r:embed="rId4">
            <a:alphaModFix/>
          </a:blip>
          <a:srcRect b="0" l="0" r="0" t="0"/>
          <a:stretch/>
        </p:blipFill>
        <p:spPr>
          <a:xfrm>
            <a:off x="1310640" y="1654810"/>
            <a:ext cx="1242060" cy="400685"/>
          </a:xfrm>
          <a:prstGeom prst="rect">
            <a:avLst/>
          </a:prstGeom>
          <a:noFill/>
          <a:ln>
            <a:noFill/>
          </a:ln>
        </p:spPr>
      </p:pic>
      <p:sp>
        <p:nvSpPr>
          <p:cNvPr id="572" name="Google Shape;572;p16"/>
          <p:cNvSpPr/>
          <p:nvPr/>
        </p:nvSpPr>
        <p:spPr>
          <a:xfrm>
            <a:off x="334010" y="2265045"/>
            <a:ext cx="2218690" cy="831215"/>
          </a:xfrm>
          <a:prstGeom prst="rect">
            <a:avLst/>
          </a:prstGeom>
          <a:solidFill>
            <a:srgbClr val="4472C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FFFFFF"/>
                </a:solidFill>
                <a:latin typeface="Arial"/>
                <a:ea typeface="Arial"/>
                <a:cs typeface="Arial"/>
                <a:sym typeface="Arial"/>
              </a:rPr>
              <a:t>On-Premise：</a:t>
            </a:r>
            <a:endParaRPr b="1"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FFFFFF"/>
                </a:solidFill>
                <a:latin typeface="Arial"/>
                <a:ea typeface="Arial"/>
                <a:cs typeface="Arial"/>
                <a:sym typeface="Arial"/>
              </a:rPr>
              <a:t>1. </a:t>
            </a:r>
            <a:r>
              <a:rPr b="1" i="0" lang="en-GB" sz="1000" u="none" cap="none" strike="noStrike">
                <a:solidFill>
                  <a:srgbClr val="FFFFFF"/>
                </a:solidFill>
                <a:latin typeface="Arial"/>
                <a:ea typeface="Arial"/>
                <a:cs typeface="Arial"/>
                <a:sym typeface="Arial"/>
              </a:rPr>
              <a:t>NVLink</a:t>
            </a:r>
            <a:r>
              <a:rPr b="0" i="0" lang="en-GB" sz="1000" u="none" cap="none" strike="noStrike">
                <a:solidFill>
                  <a:srgbClr val="FFFFFF"/>
                </a:solidFill>
                <a:latin typeface="Arial"/>
                <a:ea typeface="Arial"/>
                <a:cs typeface="Arial"/>
                <a:sym typeface="Arial"/>
              </a:rPr>
              <a:t> Fabric Manager API</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FFFFFF"/>
                </a:solidFill>
                <a:latin typeface="Arial"/>
                <a:ea typeface="Arial"/>
                <a:cs typeface="Arial"/>
                <a:sym typeface="Arial"/>
              </a:rPr>
              <a:t>2. </a:t>
            </a:r>
            <a:r>
              <a:rPr b="1" i="0" lang="en-GB" sz="1000" u="none" cap="none" strike="noStrike">
                <a:solidFill>
                  <a:srgbClr val="FFFFFF"/>
                </a:solidFill>
                <a:latin typeface="Arial"/>
                <a:ea typeface="Arial"/>
                <a:cs typeface="Arial"/>
                <a:sym typeface="Arial"/>
              </a:rPr>
              <a:t>IB</a:t>
            </a:r>
            <a:r>
              <a:rPr b="0" i="0" lang="en-GB" sz="1000" u="none" cap="none" strike="noStrike">
                <a:solidFill>
                  <a:srgbClr val="FFFFFF"/>
                </a:solidFill>
                <a:latin typeface="Arial"/>
                <a:ea typeface="Arial"/>
                <a:cs typeface="Arial"/>
                <a:sym typeface="Arial"/>
              </a:rPr>
              <a:t> Subnet Manager (OpenSM)</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FFFFFF"/>
                </a:solidFill>
                <a:latin typeface="Arial"/>
                <a:ea typeface="Arial"/>
                <a:cs typeface="Arial"/>
                <a:sym typeface="Arial"/>
              </a:rPr>
              <a:t>3. </a:t>
            </a:r>
            <a:r>
              <a:rPr b="1" i="0" lang="en-GB" sz="1000" u="none" cap="none" strike="noStrike">
                <a:solidFill>
                  <a:srgbClr val="FFFFFF"/>
                </a:solidFill>
                <a:latin typeface="Arial"/>
                <a:ea typeface="Arial"/>
                <a:cs typeface="Arial"/>
                <a:sym typeface="Arial"/>
              </a:rPr>
              <a:t>RoCE</a:t>
            </a:r>
            <a:r>
              <a:rPr b="0" i="0" lang="en-GB" sz="1000" u="none" cap="none" strike="noStrike">
                <a:solidFill>
                  <a:srgbClr val="FFFFFF"/>
                </a:solidFill>
                <a:latin typeface="Arial"/>
                <a:ea typeface="Arial"/>
                <a:cs typeface="Arial"/>
                <a:sym typeface="Arial"/>
              </a:rPr>
              <a:t> LLDP/CDP</a:t>
            </a:r>
            <a:endParaRPr b="0" i="0" sz="1000" u="none" cap="none" strike="noStrike">
              <a:solidFill>
                <a:srgbClr val="FFFFFF"/>
              </a:solidFill>
              <a:latin typeface="Arial"/>
              <a:ea typeface="Arial"/>
              <a:cs typeface="Arial"/>
              <a:sym typeface="Arial"/>
            </a:endParaRPr>
          </a:p>
        </p:txBody>
      </p:sp>
      <p:sp>
        <p:nvSpPr>
          <p:cNvPr id="573" name="Google Shape;573;p16"/>
          <p:cNvSpPr/>
          <p:nvPr/>
        </p:nvSpPr>
        <p:spPr>
          <a:xfrm>
            <a:off x="503555" y="3990975"/>
            <a:ext cx="1804035" cy="692785"/>
          </a:xfrm>
          <a:prstGeom prst="rect">
            <a:avLst/>
          </a:prstGeom>
          <a:solidFill>
            <a:srgbClr val="4472C4"/>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FFFFFF"/>
                </a:solidFill>
                <a:latin typeface="Arial"/>
                <a:ea typeface="Arial"/>
                <a:cs typeface="Arial"/>
                <a:sym typeface="Arial"/>
              </a:rPr>
              <a:t>Cloud：</a:t>
            </a:r>
            <a:endParaRPr b="1"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FFFFFF"/>
                </a:solidFill>
                <a:latin typeface="Arial"/>
                <a:ea typeface="Arial"/>
                <a:cs typeface="Arial"/>
                <a:sym typeface="Arial"/>
              </a:rPr>
              <a:t>1. Cloud Provider APIs</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FFFFFF"/>
                </a:solidFill>
                <a:latin typeface="Arial"/>
                <a:ea typeface="Arial"/>
                <a:cs typeface="Arial"/>
                <a:sym typeface="Arial"/>
              </a:rPr>
              <a:t>2. DPU/SmartNIC Telemetry</a:t>
            </a:r>
            <a:endParaRPr b="0" i="0" sz="1000" u="none" cap="none" strike="noStrike">
              <a:solidFill>
                <a:srgbClr val="FFFFFF"/>
              </a:solidFill>
              <a:latin typeface="Arial"/>
              <a:ea typeface="Arial"/>
              <a:cs typeface="Arial"/>
              <a:sym typeface="Arial"/>
            </a:endParaRPr>
          </a:p>
        </p:txBody>
      </p:sp>
      <p:pic>
        <p:nvPicPr>
          <p:cNvPr descr="00330cde-fb42-4146-9bcd-8c6a0bc5a912" id="574" name="Google Shape;574;p16"/>
          <p:cNvPicPr preferRelativeResize="0"/>
          <p:nvPr/>
        </p:nvPicPr>
        <p:blipFill rotWithShape="1">
          <a:blip r:embed="rId5">
            <a:alphaModFix/>
          </a:blip>
          <a:srcRect b="0" l="0" r="0" t="0"/>
          <a:stretch/>
        </p:blipFill>
        <p:spPr>
          <a:xfrm>
            <a:off x="295275" y="3141980"/>
            <a:ext cx="2257425" cy="913765"/>
          </a:xfrm>
          <a:prstGeom prst="rect">
            <a:avLst/>
          </a:prstGeom>
          <a:noFill/>
          <a:ln>
            <a:noFill/>
          </a:ln>
        </p:spPr>
      </p:pic>
      <p:sp>
        <p:nvSpPr>
          <p:cNvPr id="575" name="Google Shape;575;p16"/>
          <p:cNvSpPr/>
          <p:nvPr/>
        </p:nvSpPr>
        <p:spPr>
          <a:xfrm>
            <a:off x="3336290" y="1169035"/>
            <a:ext cx="2526030" cy="3745230"/>
          </a:xfrm>
          <a:prstGeom prst="roundRect">
            <a:avLst>
              <a:gd fmla="val 16667" name="adj"/>
            </a:avLst>
          </a:prstGeom>
          <a:noFill/>
          <a:ln cap="flat" cmpd="sng" w="254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Arial"/>
              <a:ea typeface="Arial"/>
              <a:cs typeface="Arial"/>
              <a:sym typeface="Arial"/>
            </a:endParaRPr>
          </a:p>
        </p:txBody>
      </p:sp>
      <p:pic>
        <p:nvPicPr>
          <p:cNvPr id="576" name="Google Shape;576;p16"/>
          <p:cNvPicPr preferRelativeResize="0"/>
          <p:nvPr/>
        </p:nvPicPr>
        <p:blipFill rotWithShape="1">
          <a:blip r:embed="rId6">
            <a:alphaModFix/>
          </a:blip>
          <a:srcRect b="0" l="0" r="0" t="0"/>
          <a:stretch/>
        </p:blipFill>
        <p:spPr>
          <a:xfrm>
            <a:off x="4385310" y="1207770"/>
            <a:ext cx="542925" cy="427355"/>
          </a:xfrm>
          <a:prstGeom prst="rect">
            <a:avLst/>
          </a:prstGeom>
          <a:noFill/>
          <a:ln>
            <a:noFill/>
          </a:ln>
        </p:spPr>
      </p:pic>
      <p:sp>
        <p:nvSpPr>
          <p:cNvPr id="577" name="Google Shape;577;p16"/>
          <p:cNvSpPr txBox="1"/>
          <p:nvPr/>
        </p:nvSpPr>
        <p:spPr>
          <a:xfrm>
            <a:off x="3908425" y="1635125"/>
            <a:ext cx="1463040" cy="37528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400"/>
              <a:buFont typeface="Arial"/>
              <a:buNone/>
            </a:pPr>
            <a:r>
              <a:rPr b="0" i="0" lang="en-GB" sz="1000" u="none" cap="none" strike="noStrike">
                <a:solidFill>
                  <a:srgbClr val="595959"/>
                </a:solidFill>
                <a:latin typeface="Arial"/>
                <a:ea typeface="Arial"/>
                <a:cs typeface="Arial"/>
                <a:sym typeface="Arial"/>
              </a:rPr>
              <a:t>Vocano Control Plane</a:t>
            </a:r>
            <a:endParaRPr b="0" i="0" sz="1000" u="none" cap="none" strike="noStrike">
              <a:solidFill>
                <a:srgbClr val="595959"/>
              </a:solidFill>
              <a:latin typeface="Arial"/>
              <a:ea typeface="Arial"/>
              <a:cs typeface="Arial"/>
              <a:sym typeface="Arial"/>
            </a:endParaRPr>
          </a:p>
        </p:txBody>
      </p:sp>
      <p:grpSp>
        <p:nvGrpSpPr>
          <p:cNvPr id="578" name="Google Shape;578;p16"/>
          <p:cNvGrpSpPr/>
          <p:nvPr/>
        </p:nvGrpSpPr>
        <p:grpSpPr>
          <a:xfrm>
            <a:off x="3535045" y="2055495"/>
            <a:ext cx="850265" cy="2628265"/>
            <a:chOff x="1859913" y="1655545"/>
            <a:chExt cx="1262420" cy="1471395"/>
          </a:xfrm>
        </p:grpSpPr>
        <p:sp>
          <p:nvSpPr>
            <p:cNvPr id="579" name="Google Shape;579;p16"/>
            <p:cNvSpPr/>
            <p:nvPr/>
          </p:nvSpPr>
          <p:spPr>
            <a:xfrm>
              <a:off x="1859913" y="1655545"/>
              <a:ext cx="1262420" cy="1471395"/>
            </a:xfrm>
            <a:prstGeom prst="rect">
              <a:avLst/>
            </a:prstGeom>
            <a:solidFill>
              <a:srgbClr val="4472C4"/>
            </a:solid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0" i="0" lang="en-GB" sz="1000" u="none" cap="none" strike="noStrike">
                  <a:solidFill>
                    <a:srgbClr val="FFFFFF"/>
                  </a:solidFill>
                  <a:latin typeface="Arial"/>
                  <a:ea typeface="Arial"/>
                  <a:cs typeface="Arial"/>
                  <a:sym typeface="Arial"/>
                </a:rPr>
                <a:t>Discovery Manager</a:t>
              </a:r>
              <a:endParaRPr b="0" i="0" sz="1000" u="none" cap="none" strike="noStrike">
                <a:solidFill>
                  <a:srgbClr val="FFFFFF"/>
                </a:solidFill>
                <a:latin typeface="Arial"/>
                <a:ea typeface="Arial"/>
                <a:cs typeface="Arial"/>
                <a:sym typeface="Arial"/>
              </a:endParaRPr>
            </a:p>
          </p:txBody>
        </p:sp>
        <p:sp>
          <p:nvSpPr>
            <p:cNvPr id="580" name="Google Shape;580;p16"/>
            <p:cNvSpPr/>
            <p:nvPr/>
          </p:nvSpPr>
          <p:spPr>
            <a:xfrm>
              <a:off x="1994734" y="2207629"/>
              <a:ext cx="1037089" cy="274442"/>
            </a:xfrm>
            <a:prstGeom prst="rect">
              <a:avLst/>
            </a:prstGeom>
            <a:solidFill>
              <a:srgbClr val="4472C4"/>
            </a:solidFill>
            <a:ln cap="flat" cmpd="sng" w="12700">
              <a:solidFill>
                <a:srgbClr val="1C3052"/>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0" i="0" lang="en-GB" sz="1000" u="none" cap="none" strike="noStrike">
                  <a:solidFill>
                    <a:srgbClr val="FFFFFF"/>
                  </a:solidFill>
                  <a:latin typeface="Arial"/>
                  <a:ea typeface="Arial"/>
                  <a:cs typeface="Arial"/>
                  <a:sym typeface="Arial"/>
                </a:rPr>
                <a:t>NodeLabels</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GB" sz="1000" u="none" cap="none" strike="noStrike">
                  <a:solidFill>
                    <a:srgbClr val="FFFFFF"/>
                  </a:solidFill>
                  <a:latin typeface="Arial"/>
                  <a:ea typeface="Arial"/>
                  <a:cs typeface="Arial"/>
                  <a:sym typeface="Arial"/>
                </a:rPr>
                <a:t>Discoverer</a:t>
              </a:r>
              <a:endParaRPr b="0" i="0" sz="1000" u="none" cap="none" strike="noStrike">
                <a:solidFill>
                  <a:srgbClr val="FFFFFF"/>
                </a:solidFill>
                <a:latin typeface="Arial"/>
                <a:ea typeface="Arial"/>
                <a:cs typeface="Arial"/>
                <a:sym typeface="Arial"/>
              </a:endParaRPr>
            </a:p>
          </p:txBody>
        </p:sp>
        <p:sp>
          <p:nvSpPr>
            <p:cNvPr id="581" name="Google Shape;581;p16"/>
            <p:cNvSpPr/>
            <p:nvPr/>
          </p:nvSpPr>
          <p:spPr>
            <a:xfrm>
              <a:off x="1990964" y="1868487"/>
              <a:ext cx="1008805" cy="274442"/>
            </a:xfrm>
            <a:prstGeom prst="rect">
              <a:avLst/>
            </a:prstGeom>
            <a:solidFill>
              <a:srgbClr val="4472C4"/>
            </a:solidFill>
            <a:ln cap="flat" cmpd="sng" w="12700">
              <a:solidFill>
                <a:srgbClr val="1C3052"/>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0" i="0" lang="en-GB" sz="1000" u="none" cap="none" strike="noStrike">
                  <a:solidFill>
                    <a:srgbClr val="FFFFFF"/>
                  </a:solidFill>
                  <a:latin typeface="Arial"/>
                  <a:ea typeface="Arial"/>
                  <a:cs typeface="Arial"/>
                  <a:sym typeface="Arial"/>
                </a:rPr>
                <a:t>UFM</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GB" sz="1000" u="none" cap="none" strike="noStrike">
                  <a:solidFill>
                    <a:srgbClr val="FFFFFF"/>
                  </a:solidFill>
                  <a:latin typeface="Arial"/>
                  <a:ea typeface="Arial"/>
                  <a:cs typeface="Arial"/>
                  <a:sym typeface="Arial"/>
                </a:rPr>
                <a:t>Discoverer</a:t>
              </a:r>
              <a:endParaRPr b="0" i="0" sz="1000" u="none" cap="none" strike="noStrike">
                <a:solidFill>
                  <a:srgbClr val="FFFFFF"/>
                </a:solidFill>
                <a:latin typeface="Arial"/>
                <a:ea typeface="Arial"/>
                <a:cs typeface="Arial"/>
                <a:sym typeface="Arial"/>
              </a:endParaRPr>
            </a:p>
          </p:txBody>
        </p:sp>
        <p:sp>
          <p:nvSpPr>
            <p:cNvPr id="582" name="Google Shape;582;p16"/>
            <p:cNvSpPr/>
            <p:nvPr/>
          </p:nvSpPr>
          <p:spPr>
            <a:xfrm>
              <a:off x="1994735" y="2542150"/>
              <a:ext cx="1032375" cy="274442"/>
            </a:xfrm>
            <a:prstGeom prst="rect">
              <a:avLst/>
            </a:prstGeom>
            <a:solidFill>
              <a:srgbClr val="4472C4"/>
            </a:solidFill>
            <a:ln cap="flat" cmpd="sng" w="12700">
              <a:solidFill>
                <a:srgbClr val="1C3052"/>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0" i="0" lang="en-GB" sz="1000" u="none" cap="none" strike="noStrike">
                  <a:solidFill>
                    <a:srgbClr val="FFFFFF"/>
                  </a:solidFill>
                  <a:latin typeface="Arial"/>
                  <a:ea typeface="Arial"/>
                  <a:cs typeface="Arial"/>
                  <a:sym typeface="Arial"/>
                </a:rPr>
                <a:t>RoCE</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GB" sz="1000" u="none" cap="none" strike="noStrike">
                  <a:solidFill>
                    <a:srgbClr val="FFFFFF"/>
                  </a:solidFill>
                  <a:latin typeface="Arial"/>
                  <a:ea typeface="Arial"/>
                  <a:cs typeface="Arial"/>
                  <a:sym typeface="Arial"/>
                </a:rPr>
                <a:t>Discoverer</a:t>
              </a:r>
              <a:endParaRPr b="0" i="0" sz="1000" u="none" cap="none" strike="noStrike">
                <a:solidFill>
                  <a:srgbClr val="FFFFFF"/>
                </a:solidFill>
                <a:latin typeface="Arial"/>
                <a:ea typeface="Arial"/>
                <a:cs typeface="Arial"/>
                <a:sym typeface="Arial"/>
              </a:endParaRPr>
            </a:p>
          </p:txBody>
        </p:sp>
      </p:grpSp>
      <p:sp>
        <p:nvSpPr>
          <p:cNvPr id="583" name="Google Shape;583;p16"/>
          <p:cNvSpPr/>
          <p:nvPr/>
        </p:nvSpPr>
        <p:spPr>
          <a:xfrm>
            <a:off x="3625215" y="4236720"/>
            <a:ext cx="699135" cy="336550"/>
          </a:xfrm>
          <a:prstGeom prst="rect">
            <a:avLst/>
          </a:prstGeom>
          <a:solidFill>
            <a:srgbClr val="4472C4"/>
          </a:solidFill>
          <a:ln cap="flat" cmpd="sng" w="12700">
            <a:solidFill>
              <a:srgbClr val="1C3052"/>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0" i="0" lang="en-GB" sz="1000" u="none" cap="none" strike="noStrike">
                <a:solidFill>
                  <a:srgbClr val="FFFFFF"/>
                </a:solidFill>
                <a:latin typeface="Arial"/>
                <a:ea typeface="Arial"/>
                <a:cs typeface="Arial"/>
                <a:sym typeface="Arial"/>
              </a:rPr>
              <a:t>other</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GB" sz="1000" u="none" cap="none" strike="noStrike">
                <a:solidFill>
                  <a:srgbClr val="FFFFFF"/>
                </a:solidFill>
                <a:latin typeface="Arial"/>
                <a:ea typeface="Arial"/>
                <a:cs typeface="Arial"/>
                <a:sym typeface="Arial"/>
              </a:rPr>
              <a:t>Discoverers</a:t>
            </a:r>
            <a:endParaRPr b="0" i="0" sz="1000" u="none" cap="none" strike="noStrike">
              <a:solidFill>
                <a:srgbClr val="FFFFFF"/>
              </a:solidFill>
              <a:latin typeface="Arial"/>
              <a:ea typeface="Arial"/>
              <a:cs typeface="Arial"/>
              <a:sym typeface="Arial"/>
            </a:endParaRPr>
          </a:p>
        </p:txBody>
      </p:sp>
      <p:sp>
        <p:nvSpPr>
          <p:cNvPr id="584" name="Google Shape;584;p16"/>
          <p:cNvSpPr/>
          <p:nvPr/>
        </p:nvSpPr>
        <p:spPr>
          <a:xfrm>
            <a:off x="4991100" y="3066415"/>
            <a:ext cx="791845" cy="572770"/>
          </a:xfrm>
          <a:prstGeom prst="rect">
            <a:avLst/>
          </a:prstGeom>
          <a:solidFill>
            <a:srgbClr val="4472C4"/>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GB" sz="900" u="none" cap="none" strike="noStrike">
                <a:solidFill>
                  <a:srgbClr val="FFFFFF"/>
                </a:solidFill>
                <a:latin typeface="Arial"/>
                <a:ea typeface="Arial"/>
                <a:cs typeface="Arial"/>
                <a:sym typeface="Arial"/>
              </a:rPr>
              <a:t>HyperNode</a:t>
            </a:r>
            <a:br>
              <a:rPr b="0" i="0" lang="en-GB" sz="900" u="none" cap="none" strike="noStrike">
                <a:solidFill>
                  <a:srgbClr val="FFFFFF"/>
                </a:solidFill>
                <a:latin typeface="Arial"/>
                <a:ea typeface="Arial"/>
                <a:cs typeface="Arial"/>
                <a:sym typeface="Arial"/>
              </a:rPr>
            </a:br>
            <a:r>
              <a:rPr b="0" i="0" lang="en-GB" sz="900" u="none" cap="none" strike="noStrike">
                <a:solidFill>
                  <a:srgbClr val="FFFFFF"/>
                </a:solidFill>
                <a:latin typeface="Arial"/>
                <a:ea typeface="Arial"/>
                <a:cs typeface="Arial"/>
                <a:sym typeface="Arial"/>
              </a:rPr>
              <a:t>Controller</a:t>
            </a:r>
            <a:endParaRPr b="0" i="0" sz="900" u="none" cap="none" strike="noStrike">
              <a:solidFill>
                <a:srgbClr val="FFFFFF"/>
              </a:solidFill>
              <a:latin typeface="Arial"/>
              <a:ea typeface="Arial"/>
              <a:cs typeface="Arial"/>
              <a:sym typeface="Arial"/>
            </a:endParaRPr>
          </a:p>
        </p:txBody>
      </p:sp>
      <p:grpSp>
        <p:nvGrpSpPr>
          <p:cNvPr id="585" name="Google Shape;585;p16"/>
          <p:cNvGrpSpPr/>
          <p:nvPr/>
        </p:nvGrpSpPr>
        <p:grpSpPr>
          <a:xfrm>
            <a:off x="2603500" y="2631440"/>
            <a:ext cx="840105" cy="665480"/>
            <a:chOff x="5098" y="3843"/>
            <a:chExt cx="1323" cy="1048"/>
          </a:xfrm>
        </p:grpSpPr>
        <p:cxnSp>
          <p:nvCxnSpPr>
            <p:cNvPr id="586" name="Google Shape;586;p16"/>
            <p:cNvCxnSpPr/>
            <p:nvPr/>
          </p:nvCxnSpPr>
          <p:spPr>
            <a:xfrm>
              <a:off x="5176" y="4891"/>
              <a:ext cx="1167" cy="0"/>
            </a:xfrm>
            <a:prstGeom prst="straightConnector1">
              <a:avLst/>
            </a:prstGeom>
            <a:noFill/>
            <a:ln cap="flat" cmpd="sng" w="31750">
              <a:solidFill>
                <a:srgbClr val="44C380"/>
              </a:solidFill>
              <a:prstDash val="solid"/>
              <a:round/>
              <a:headEnd len="sm" w="sm" type="none"/>
              <a:tailEnd len="med" w="med" type="stealth"/>
            </a:ln>
          </p:spPr>
        </p:cxnSp>
        <p:sp>
          <p:nvSpPr>
            <p:cNvPr id="587" name="Google Shape;587;p16"/>
            <p:cNvSpPr txBox="1"/>
            <p:nvPr/>
          </p:nvSpPr>
          <p:spPr>
            <a:xfrm>
              <a:off x="5098" y="3843"/>
              <a:ext cx="1323" cy="67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GB" sz="1000" u="none" cap="none" strike="noStrike">
                  <a:solidFill>
                    <a:srgbClr val="000000"/>
                  </a:solidFill>
                  <a:latin typeface="Arial"/>
                  <a:ea typeface="Arial"/>
                  <a:cs typeface="Arial"/>
                  <a:sym typeface="Arial"/>
                </a:rPr>
                <a:t>Report Network Topology</a:t>
              </a:r>
              <a:endParaRPr b="0" i="0" sz="1000" u="none" cap="none" strike="noStrike">
                <a:solidFill>
                  <a:srgbClr val="000000"/>
                </a:solidFill>
                <a:latin typeface="Arial"/>
                <a:ea typeface="Arial"/>
                <a:cs typeface="Arial"/>
                <a:sym typeface="Arial"/>
              </a:endParaRPr>
            </a:p>
          </p:txBody>
        </p:sp>
      </p:grpSp>
      <p:cxnSp>
        <p:nvCxnSpPr>
          <p:cNvPr id="588" name="Google Shape;588;p16"/>
          <p:cNvCxnSpPr/>
          <p:nvPr/>
        </p:nvCxnSpPr>
        <p:spPr>
          <a:xfrm>
            <a:off x="4413885" y="3302000"/>
            <a:ext cx="680085" cy="0"/>
          </a:xfrm>
          <a:prstGeom prst="straightConnector1">
            <a:avLst/>
          </a:prstGeom>
          <a:noFill/>
          <a:ln cap="flat" cmpd="sng" w="31750">
            <a:solidFill>
              <a:srgbClr val="44C380"/>
            </a:solidFill>
            <a:prstDash val="solid"/>
            <a:round/>
            <a:headEnd len="sm" w="sm" type="none"/>
            <a:tailEnd len="med" w="med" type="stealth"/>
          </a:ln>
        </p:spPr>
      </p:cxnSp>
      <p:sp>
        <p:nvSpPr>
          <p:cNvPr id="589" name="Google Shape;589;p16"/>
          <p:cNvSpPr txBox="1"/>
          <p:nvPr/>
        </p:nvSpPr>
        <p:spPr>
          <a:xfrm>
            <a:off x="7566660" y="2532380"/>
            <a:ext cx="3526790" cy="914400"/>
          </a:xfrm>
          <a:prstGeom prst="rect">
            <a:avLst/>
          </a:prstGeom>
          <a:noFill/>
          <a:ln>
            <a:noFill/>
          </a:ln>
        </p:spPr>
        <p:txBody>
          <a:bodyPr anchorCtr="0" anchor="t" bIns="45700" lIns="91425" spcFirstLastPara="1" rIns="91425" wrap="square" tIns="45700">
            <a:noAutofit/>
          </a:bodyPr>
          <a:lstStyle/>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rgbClr val="595959"/>
              </a:solidFill>
              <a:latin typeface="Arial"/>
              <a:ea typeface="Arial"/>
              <a:cs typeface="Arial"/>
              <a:sym typeface="Arial"/>
            </a:endParaRPr>
          </a:p>
        </p:txBody>
      </p:sp>
      <p:sp>
        <p:nvSpPr>
          <p:cNvPr id="590" name="Google Shape;590;p16"/>
          <p:cNvSpPr txBox="1"/>
          <p:nvPr/>
        </p:nvSpPr>
        <p:spPr>
          <a:xfrm>
            <a:off x="4382770" y="2586990"/>
            <a:ext cx="968375" cy="4267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GB" sz="1000" u="none" cap="none" strike="noStrike">
                <a:solidFill>
                  <a:srgbClr val="000000"/>
                </a:solidFill>
                <a:latin typeface="Arial"/>
                <a:ea typeface="Arial"/>
                <a:cs typeface="Arial"/>
                <a:sym typeface="Arial"/>
              </a:rPr>
              <a:t>Update HyperNode Hierarchy Tree</a:t>
            </a:r>
            <a:endParaRPr b="0" i="0" sz="1000" u="none" cap="none" strike="noStrike">
              <a:solidFill>
                <a:srgbClr val="000000"/>
              </a:solidFill>
              <a:latin typeface="Arial"/>
              <a:ea typeface="Arial"/>
              <a:cs typeface="Arial"/>
              <a:sym typeface="Arial"/>
            </a:endParaRPr>
          </a:p>
        </p:txBody>
      </p:sp>
      <p:cxnSp>
        <p:nvCxnSpPr>
          <p:cNvPr id="591" name="Google Shape;591;p16"/>
          <p:cNvCxnSpPr/>
          <p:nvPr/>
        </p:nvCxnSpPr>
        <p:spPr>
          <a:xfrm>
            <a:off x="5897880" y="3269615"/>
            <a:ext cx="622935" cy="0"/>
          </a:xfrm>
          <a:prstGeom prst="straightConnector1">
            <a:avLst/>
          </a:prstGeom>
          <a:noFill/>
          <a:ln cap="flat" cmpd="sng" w="31750">
            <a:solidFill>
              <a:srgbClr val="44C380"/>
            </a:solidFill>
            <a:prstDash val="solid"/>
            <a:round/>
            <a:headEnd len="sm" w="sm" type="none"/>
            <a:tailEnd len="med" w="med" type="stealth"/>
          </a:ln>
        </p:spPr>
      </p:cxnSp>
      <p:sp>
        <p:nvSpPr>
          <p:cNvPr id="592" name="Google Shape;592;p16"/>
          <p:cNvSpPr txBox="1"/>
          <p:nvPr/>
        </p:nvSpPr>
        <p:spPr>
          <a:xfrm>
            <a:off x="7085965" y="2842895"/>
            <a:ext cx="826135" cy="4267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593" name="Google Shape;593;p16"/>
          <p:cNvSpPr txBox="1"/>
          <p:nvPr/>
        </p:nvSpPr>
        <p:spPr>
          <a:xfrm>
            <a:off x="5822315" y="2631440"/>
            <a:ext cx="878840" cy="4267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GB" sz="1000" u="none" cap="none" strike="noStrike">
                <a:solidFill>
                  <a:srgbClr val="000000"/>
                </a:solidFill>
                <a:latin typeface="Arial"/>
                <a:ea typeface="Arial"/>
                <a:cs typeface="Arial"/>
                <a:sym typeface="Arial"/>
              </a:rPr>
              <a:t>Create</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GB" sz="1000" u="none" cap="none" strike="noStrike">
                <a:solidFill>
                  <a:srgbClr val="000000"/>
                </a:solidFill>
                <a:latin typeface="Arial"/>
                <a:ea typeface="Arial"/>
                <a:cs typeface="Arial"/>
                <a:sym typeface="Arial"/>
              </a:rPr>
              <a:t>/Update</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GB" sz="1000" u="none" cap="none" strike="noStrike">
                <a:solidFill>
                  <a:srgbClr val="000000"/>
                </a:solidFill>
                <a:latin typeface="Arial"/>
                <a:ea typeface="Arial"/>
                <a:cs typeface="Arial"/>
                <a:sym typeface="Arial"/>
              </a:rPr>
              <a:t>HyperNode</a:t>
            </a:r>
            <a:endParaRPr b="0" i="0" sz="1000" u="none" cap="none" strike="noStrike">
              <a:solidFill>
                <a:srgbClr val="000000"/>
              </a:solidFill>
              <a:latin typeface="Arial"/>
              <a:ea typeface="Arial"/>
              <a:cs typeface="Arial"/>
              <a:sym typeface="Arial"/>
            </a:endParaRPr>
          </a:p>
        </p:txBody>
      </p:sp>
      <p:sp>
        <p:nvSpPr>
          <p:cNvPr id="594" name="Google Shape;594;p16"/>
          <p:cNvSpPr/>
          <p:nvPr/>
        </p:nvSpPr>
        <p:spPr>
          <a:xfrm>
            <a:off x="6576060" y="1169035"/>
            <a:ext cx="2526030" cy="3745230"/>
          </a:xfrm>
          <a:prstGeom prst="roundRect">
            <a:avLst>
              <a:gd fmla="val 16667" name="adj"/>
            </a:avLst>
          </a:prstGeom>
          <a:noFill/>
          <a:ln cap="flat" cmpd="sng" w="254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Arial"/>
              <a:ea typeface="Arial"/>
              <a:cs typeface="Arial"/>
              <a:sym typeface="Arial"/>
            </a:endParaRPr>
          </a:p>
        </p:txBody>
      </p:sp>
      <p:sp>
        <p:nvSpPr>
          <p:cNvPr id="595" name="Google Shape;595;p16"/>
          <p:cNvSpPr/>
          <p:nvPr/>
        </p:nvSpPr>
        <p:spPr>
          <a:xfrm>
            <a:off x="6786880" y="1207770"/>
            <a:ext cx="2172335" cy="3149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595959"/>
                </a:solidFill>
                <a:latin typeface="Arial"/>
                <a:ea typeface="Arial"/>
                <a:cs typeface="Arial"/>
                <a:sym typeface="Arial"/>
              </a:rPr>
              <a:t>HyerNode API Objects</a:t>
            </a:r>
            <a:endParaRPr b="0" i="0" sz="1200" u="none" cap="none" strike="noStrike">
              <a:solidFill>
                <a:srgbClr val="595959"/>
              </a:solidFill>
              <a:latin typeface="Arial"/>
              <a:ea typeface="Arial"/>
              <a:cs typeface="Arial"/>
              <a:sym typeface="Arial"/>
            </a:endParaRPr>
          </a:p>
        </p:txBody>
      </p:sp>
      <p:pic>
        <p:nvPicPr>
          <p:cNvPr id="596" name="Google Shape;596;p16" title="carbon (13).png"/>
          <p:cNvPicPr preferRelativeResize="0"/>
          <p:nvPr/>
        </p:nvPicPr>
        <p:blipFill rotWithShape="1">
          <a:blip r:embed="rId7">
            <a:alphaModFix/>
          </a:blip>
          <a:srcRect b="12254" l="11276" r="11384" t="11867"/>
          <a:stretch/>
        </p:blipFill>
        <p:spPr>
          <a:xfrm>
            <a:off x="6635750" y="2010412"/>
            <a:ext cx="2412900" cy="22294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17"/>
          <p:cNvSpPr txBox="1"/>
          <p:nvPr>
            <p:ph type="title"/>
          </p:nvPr>
        </p:nvSpPr>
        <p:spPr>
          <a:xfrm>
            <a:off x="311700" y="0"/>
            <a:ext cx="6949800" cy="10479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GB">
                <a:solidFill>
                  <a:srgbClr val="FFFFFF"/>
                </a:solidFill>
              </a:rPr>
              <a:t>Volcano Topology Aware Scheduling:</a:t>
            </a:r>
            <a:br>
              <a:rPr lang="en-GB">
                <a:solidFill>
                  <a:srgbClr val="FFFFFF"/>
                </a:solidFill>
              </a:rPr>
            </a:br>
            <a:r>
              <a:rPr lang="en-GB"/>
              <a:t>What’s</a:t>
            </a:r>
            <a:r>
              <a:rPr lang="en-GB">
                <a:solidFill>
                  <a:srgbClr val="FFFFFF"/>
                </a:solidFill>
              </a:rPr>
              <a:t> Next?</a:t>
            </a:r>
            <a:endParaRPr>
              <a:solidFill>
                <a:srgbClr val="FFFFFF"/>
              </a:solidFill>
            </a:endParaRPr>
          </a:p>
        </p:txBody>
      </p:sp>
      <p:pic>
        <p:nvPicPr>
          <p:cNvPr id="602" name="Google Shape;602;p17"/>
          <p:cNvPicPr preferRelativeResize="0"/>
          <p:nvPr/>
        </p:nvPicPr>
        <p:blipFill rotWithShape="1">
          <a:blip r:embed="rId3">
            <a:alphaModFix/>
          </a:blip>
          <a:srcRect b="0" l="0" r="0" t="0"/>
          <a:stretch/>
        </p:blipFill>
        <p:spPr>
          <a:xfrm>
            <a:off x="639445" y="1344930"/>
            <a:ext cx="4479290" cy="2182495"/>
          </a:xfrm>
          <a:prstGeom prst="rect">
            <a:avLst/>
          </a:prstGeom>
          <a:noFill/>
          <a:ln>
            <a:noFill/>
          </a:ln>
        </p:spPr>
      </p:pic>
      <p:pic>
        <p:nvPicPr>
          <p:cNvPr id="603" name="Google Shape;603;p17"/>
          <p:cNvPicPr preferRelativeResize="0"/>
          <p:nvPr/>
        </p:nvPicPr>
        <p:blipFill rotWithShape="1">
          <a:blip r:embed="rId4">
            <a:alphaModFix/>
          </a:blip>
          <a:srcRect b="0" l="0" r="0" t="0"/>
          <a:stretch/>
        </p:blipFill>
        <p:spPr>
          <a:xfrm>
            <a:off x="5696585" y="1344930"/>
            <a:ext cx="2720340" cy="2182495"/>
          </a:xfrm>
          <a:prstGeom prst="rect">
            <a:avLst/>
          </a:prstGeom>
          <a:noFill/>
          <a:ln>
            <a:noFill/>
          </a:ln>
        </p:spPr>
      </p:pic>
      <p:sp>
        <p:nvSpPr>
          <p:cNvPr descr="7b0a202020202262756c6c6574223a20227b5c2263617465676f727949645c223a5c225c222c5c2274656d706c61746549645c223a32303233313730337d220a7d0a" id="604" name="Google Shape;604;p17"/>
          <p:cNvSpPr txBox="1"/>
          <p:nvPr>
            <p:ph idx="1" type="body"/>
          </p:nvPr>
        </p:nvSpPr>
        <p:spPr>
          <a:xfrm>
            <a:off x="708095" y="3824445"/>
            <a:ext cx="8036700" cy="1249800"/>
          </a:xfrm>
          <a:prstGeom prst="rect">
            <a:avLst/>
          </a:prstGeom>
          <a:noFill/>
          <a:ln>
            <a:noFill/>
          </a:ln>
        </p:spPr>
        <p:txBody>
          <a:bodyPr anchorCtr="0" anchor="t" bIns="0" lIns="0" spcFirstLastPara="1" rIns="0" wrap="square" tIns="0">
            <a:noAutofit/>
          </a:bodyPr>
          <a:lstStyle/>
          <a:p>
            <a:pPr indent="-191599" lvl="0" marL="269999" rtl="0" algn="l">
              <a:lnSpc>
                <a:spcPct val="150000"/>
              </a:lnSpc>
              <a:spcBef>
                <a:spcPts val="0"/>
              </a:spcBef>
              <a:spcAft>
                <a:spcPts val="0"/>
              </a:spcAft>
              <a:buSzPts val="1600"/>
              <a:buFont typeface="Arial"/>
              <a:buAutoNum type="arabicPeriod"/>
            </a:pPr>
            <a:r>
              <a:rPr lang="en-GB" sz="1600">
                <a:latin typeface="Arial"/>
                <a:ea typeface="Arial"/>
                <a:cs typeface="Arial"/>
                <a:sym typeface="Arial"/>
              </a:rPr>
              <a:t>Expand fields and capabilities, and collaborate with other resources (e.g. DRA) to</a:t>
            </a:r>
            <a:r>
              <a:rPr lang="en-GB" sz="1600"/>
              <a:t> </a:t>
            </a:r>
            <a:r>
              <a:rPr lang="en-GB" sz="1600">
                <a:latin typeface="Arial"/>
                <a:ea typeface="Arial"/>
                <a:cs typeface="Arial"/>
                <a:sym typeface="Arial"/>
              </a:rPr>
              <a:t>support more networking schemes, such as multi rail, 3D torus topologies</a:t>
            </a:r>
            <a:endParaRPr sz="160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18"/>
          <p:cNvSpPr txBox="1"/>
          <p:nvPr>
            <p:ph type="title"/>
          </p:nvPr>
        </p:nvSpPr>
        <p:spPr>
          <a:xfrm>
            <a:off x="311700" y="0"/>
            <a:ext cx="6949800" cy="10479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GB">
                <a:solidFill>
                  <a:srgbClr val="FFFFFF"/>
                </a:solidFill>
              </a:rPr>
              <a:t>Volcano Topology Aware Scheduling:</a:t>
            </a:r>
            <a:br>
              <a:rPr lang="en-GB">
                <a:solidFill>
                  <a:srgbClr val="FFFFFF"/>
                </a:solidFill>
              </a:rPr>
            </a:br>
            <a:r>
              <a:rPr lang="en-GB"/>
              <a:t>What’s</a:t>
            </a:r>
            <a:r>
              <a:rPr lang="en-GB">
                <a:solidFill>
                  <a:srgbClr val="FFFFFF"/>
                </a:solidFill>
              </a:rPr>
              <a:t> Next?</a:t>
            </a:r>
            <a:endParaRPr>
              <a:solidFill>
                <a:srgbClr val="FFFFFF"/>
              </a:solidFill>
            </a:endParaRPr>
          </a:p>
        </p:txBody>
      </p:sp>
      <p:sp>
        <p:nvSpPr>
          <p:cNvPr descr="7b0a202020202262756c6c6574223a20227b5c2263617465676f727949645c223a5c225c222c5c2274656d706c61746549645c223a32303233313730337d220a7d0a" id="610" name="Google Shape;610;p18"/>
          <p:cNvSpPr txBox="1"/>
          <p:nvPr>
            <p:ph idx="1" type="body"/>
          </p:nvPr>
        </p:nvSpPr>
        <p:spPr>
          <a:xfrm>
            <a:off x="420375" y="1176023"/>
            <a:ext cx="8036700" cy="748200"/>
          </a:xfrm>
          <a:prstGeom prst="rect">
            <a:avLst/>
          </a:prstGeom>
          <a:noFill/>
          <a:ln>
            <a:noFill/>
          </a:ln>
        </p:spPr>
        <p:txBody>
          <a:bodyPr anchorCtr="0" anchor="t" bIns="0" lIns="0" spcFirstLastPara="1" rIns="0" wrap="square" tIns="0">
            <a:noAutofit/>
          </a:bodyPr>
          <a:lstStyle/>
          <a:p>
            <a:pPr indent="-269999" lvl="0" marL="809999" rtl="0" algn="l">
              <a:lnSpc>
                <a:spcPct val="150000"/>
              </a:lnSpc>
              <a:spcBef>
                <a:spcPts val="0"/>
              </a:spcBef>
              <a:spcAft>
                <a:spcPts val="0"/>
              </a:spcAft>
              <a:buSzPts val="1800"/>
              <a:buFont typeface="Arial"/>
              <a:buNone/>
            </a:pPr>
            <a:r>
              <a:rPr lang="en-GB" sz="1600">
                <a:latin typeface="Arial"/>
                <a:ea typeface="Arial"/>
                <a:cs typeface="Arial"/>
                <a:sym typeface="Arial"/>
              </a:rPr>
              <a:t>2. Integrate more network topology discovery tools to fully automate HyperNode and reduce the configuration pressure of admins</a:t>
            </a:r>
            <a:endParaRPr sz="1600">
              <a:latin typeface="Arial"/>
              <a:ea typeface="Arial"/>
              <a:cs typeface="Arial"/>
              <a:sym typeface="Arial"/>
            </a:endParaRPr>
          </a:p>
        </p:txBody>
      </p:sp>
      <p:sp>
        <p:nvSpPr>
          <p:cNvPr descr="7b0a202020202262756c6c6574223a20227b5c2263617465676f727949645c223a5c225c222c5c2274656d706c61746549645c223a32303233313730337d220a7d0a" id="611" name="Google Shape;611;p18"/>
          <p:cNvSpPr txBox="1"/>
          <p:nvPr/>
        </p:nvSpPr>
        <p:spPr>
          <a:xfrm>
            <a:off x="864870" y="2007235"/>
            <a:ext cx="6159600" cy="747900"/>
          </a:xfrm>
          <a:prstGeom prst="rect">
            <a:avLst/>
          </a:prstGeom>
          <a:noFill/>
          <a:ln>
            <a:noFill/>
          </a:ln>
        </p:spPr>
        <p:txBody>
          <a:bodyPr anchorCtr="0" anchor="t" bIns="0" lIns="0" spcFirstLastPara="1" rIns="0" wrap="square" tIns="0">
            <a:noAutofit/>
          </a:bodyPr>
          <a:lstStyle/>
          <a:p>
            <a:pPr indent="-171450" lvl="0" marL="400050" marR="0" rtl="0" algn="l">
              <a:lnSpc>
                <a:spcPct val="150000"/>
              </a:lnSpc>
              <a:spcBef>
                <a:spcPts val="0"/>
              </a:spcBef>
              <a:spcAft>
                <a:spcPts val="0"/>
              </a:spcAft>
              <a:buClr>
                <a:schemeClr val="dk2"/>
              </a:buClr>
              <a:buSzPts val="1800"/>
              <a:buFont typeface="Arial"/>
              <a:buChar char="•"/>
            </a:pPr>
            <a:r>
              <a:rPr b="0" i="0" lang="en-GB" sz="1300" u="none" cap="none" strike="noStrike">
                <a:solidFill>
                  <a:schemeClr val="dk2"/>
                </a:solidFill>
                <a:latin typeface="Arial"/>
                <a:ea typeface="Arial"/>
                <a:cs typeface="Arial"/>
                <a:sym typeface="Arial"/>
              </a:rPr>
              <a:t>Standard Network Protocols:</a:t>
            </a:r>
            <a:endParaRPr b="0" i="0" sz="1300" u="none" cap="none" strike="noStrike">
              <a:solidFill>
                <a:schemeClr val="dk2"/>
              </a:solidFill>
              <a:latin typeface="Arial"/>
              <a:ea typeface="Arial"/>
              <a:cs typeface="Arial"/>
              <a:sym typeface="Arial"/>
            </a:endParaRPr>
          </a:p>
          <a:p>
            <a:pPr indent="0" lvl="0" marL="540000" marR="0" rtl="0" algn="l">
              <a:lnSpc>
                <a:spcPct val="150000"/>
              </a:lnSpc>
              <a:spcBef>
                <a:spcPts val="0"/>
              </a:spcBef>
              <a:spcAft>
                <a:spcPts val="0"/>
              </a:spcAft>
              <a:buClr>
                <a:schemeClr val="dk2"/>
              </a:buClr>
              <a:buSzPts val="1800"/>
              <a:buFont typeface="Arial"/>
              <a:buNone/>
            </a:pPr>
            <a:r>
              <a:rPr b="0" i="0" lang="en-GB" sz="1300" u="none" cap="none" strike="noStrike">
                <a:solidFill>
                  <a:schemeClr val="dk2"/>
                </a:solidFill>
                <a:latin typeface="Arial"/>
                <a:ea typeface="Arial"/>
                <a:cs typeface="Arial"/>
                <a:sym typeface="Arial"/>
              </a:rPr>
              <a:t>LLDP / SNMP for generic Ethernet and RoCEv2 networks.</a:t>
            </a:r>
            <a:endParaRPr b="0" i="0" sz="1300" u="none" cap="none" strike="noStrike">
              <a:solidFill>
                <a:schemeClr val="dk2"/>
              </a:solidFill>
              <a:latin typeface="Arial"/>
              <a:ea typeface="Arial"/>
              <a:cs typeface="Arial"/>
              <a:sym typeface="Arial"/>
            </a:endParaRPr>
          </a:p>
          <a:p>
            <a:pPr indent="-171450" lvl="0" marL="400050" marR="0" rtl="0" algn="l">
              <a:lnSpc>
                <a:spcPct val="150000"/>
              </a:lnSpc>
              <a:spcBef>
                <a:spcPts val="0"/>
              </a:spcBef>
              <a:spcAft>
                <a:spcPts val="0"/>
              </a:spcAft>
              <a:buClr>
                <a:schemeClr val="dk2"/>
              </a:buClr>
              <a:buSzPts val="1800"/>
              <a:buFont typeface="Arial"/>
              <a:buChar char="•"/>
            </a:pPr>
            <a:r>
              <a:rPr b="0" i="0" lang="en-GB" sz="1300" u="none" cap="none" strike="noStrike">
                <a:solidFill>
                  <a:schemeClr val="dk2"/>
                </a:solidFill>
                <a:latin typeface="Arial"/>
                <a:ea typeface="Arial"/>
                <a:cs typeface="Arial"/>
                <a:sym typeface="Arial"/>
              </a:rPr>
              <a:t>Open Source Providers:</a:t>
            </a:r>
            <a:endParaRPr b="0" i="0" sz="1300" u="none" cap="none" strike="noStrike">
              <a:solidFill>
                <a:schemeClr val="dk2"/>
              </a:solidFill>
              <a:latin typeface="Arial"/>
              <a:ea typeface="Arial"/>
              <a:cs typeface="Arial"/>
              <a:sym typeface="Arial"/>
            </a:endParaRPr>
          </a:p>
          <a:p>
            <a:pPr indent="0" lvl="0" marL="540000" marR="0" rtl="0" algn="l">
              <a:lnSpc>
                <a:spcPct val="150000"/>
              </a:lnSpc>
              <a:spcBef>
                <a:spcPts val="0"/>
              </a:spcBef>
              <a:spcAft>
                <a:spcPts val="0"/>
              </a:spcAft>
              <a:buClr>
                <a:schemeClr val="dk2"/>
              </a:buClr>
              <a:buSzPts val="1800"/>
              <a:buFont typeface="Arial"/>
              <a:buNone/>
            </a:pPr>
            <a:r>
              <a:rPr b="0" i="0" lang="en-GB" sz="1300" u="none" cap="none" strike="noStrike">
                <a:solidFill>
                  <a:schemeClr val="dk2"/>
                </a:solidFill>
                <a:latin typeface="Arial"/>
                <a:ea typeface="Arial"/>
                <a:cs typeface="Arial"/>
                <a:sym typeface="Arial"/>
              </a:rPr>
              <a:t>NVIDIA Topograph, and DCIM (Data Center Infrastructure Management) systems.</a:t>
            </a:r>
            <a:endParaRPr b="0" i="0" sz="1300" u="none" cap="none" strike="noStrike">
              <a:solidFill>
                <a:schemeClr val="dk2"/>
              </a:solidFill>
              <a:latin typeface="Arial"/>
              <a:ea typeface="Arial"/>
              <a:cs typeface="Arial"/>
              <a:sym typeface="Arial"/>
            </a:endParaRPr>
          </a:p>
          <a:p>
            <a:pPr indent="-171450" lvl="0" marL="400050" marR="0" rtl="0" algn="l">
              <a:lnSpc>
                <a:spcPct val="150000"/>
              </a:lnSpc>
              <a:spcBef>
                <a:spcPts val="0"/>
              </a:spcBef>
              <a:spcAft>
                <a:spcPts val="0"/>
              </a:spcAft>
              <a:buClr>
                <a:schemeClr val="dk2"/>
              </a:buClr>
              <a:buSzPts val="1800"/>
              <a:buFont typeface="Arial"/>
              <a:buChar char="•"/>
            </a:pPr>
            <a:r>
              <a:rPr b="0" i="0" lang="en-GB" sz="1300" u="none" cap="none" strike="noStrike">
                <a:solidFill>
                  <a:schemeClr val="dk2"/>
                </a:solidFill>
                <a:latin typeface="Arial"/>
                <a:ea typeface="Arial"/>
                <a:cs typeface="Arial"/>
                <a:sym typeface="Arial"/>
              </a:rPr>
              <a:t>Cloud &amp; Fabric Managers:</a:t>
            </a:r>
            <a:endParaRPr b="0" i="0" sz="1300" u="none" cap="none" strike="noStrike">
              <a:solidFill>
                <a:schemeClr val="dk2"/>
              </a:solidFill>
              <a:latin typeface="Arial"/>
              <a:ea typeface="Arial"/>
              <a:cs typeface="Arial"/>
              <a:sym typeface="Arial"/>
            </a:endParaRPr>
          </a:p>
          <a:p>
            <a:pPr indent="0" lvl="0" marL="540000" marR="0" rtl="0" algn="l">
              <a:lnSpc>
                <a:spcPct val="150000"/>
              </a:lnSpc>
              <a:spcBef>
                <a:spcPts val="0"/>
              </a:spcBef>
              <a:spcAft>
                <a:spcPts val="0"/>
              </a:spcAft>
              <a:buClr>
                <a:schemeClr val="dk2"/>
              </a:buClr>
              <a:buSzPts val="1800"/>
              <a:buFont typeface="Arial"/>
              <a:buNone/>
            </a:pPr>
            <a:r>
              <a:rPr b="0" i="0" lang="en-GB" sz="1300" u="none" cap="none" strike="noStrike">
                <a:solidFill>
                  <a:schemeClr val="dk2"/>
                </a:solidFill>
                <a:latin typeface="Arial"/>
                <a:ea typeface="Arial"/>
                <a:cs typeface="Arial"/>
                <a:sym typeface="Arial"/>
              </a:rPr>
              <a:t>Public cloud topology APIs (AWS, GCP, etc.).</a:t>
            </a:r>
            <a:endParaRPr b="0" i="0" sz="1300" u="none" cap="none" strike="noStrike">
              <a:solidFill>
                <a:schemeClr val="dk2"/>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19"/>
          <p:cNvSpPr txBox="1"/>
          <p:nvPr>
            <p:ph type="title"/>
          </p:nvPr>
        </p:nvSpPr>
        <p:spPr>
          <a:xfrm>
            <a:off x="311700" y="0"/>
            <a:ext cx="6949800" cy="10479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GB">
                <a:solidFill>
                  <a:srgbClr val="FFFFFF"/>
                </a:solidFill>
              </a:rPr>
              <a:t>What's Next: The HyperNode Initiative</a:t>
            </a:r>
            <a:endParaRPr>
              <a:solidFill>
                <a:srgbClr val="FFFFFF"/>
              </a:solidFill>
            </a:endParaRPr>
          </a:p>
        </p:txBody>
      </p:sp>
      <p:sp>
        <p:nvSpPr>
          <p:cNvPr descr="7b0a202020202262756c6c6574223a20227b5c2263617465676f727949645c223a5c225c222c5c2274656d706c61746549645c223a32303233313730337d220a7d0a" id="617" name="Google Shape;617;p19"/>
          <p:cNvSpPr txBox="1"/>
          <p:nvPr>
            <p:ph idx="1" type="body"/>
          </p:nvPr>
        </p:nvSpPr>
        <p:spPr>
          <a:xfrm>
            <a:off x="247650" y="1360170"/>
            <a:ext cx="5055235" cy="1249680"/>
          </a:xfrm>
          <a:prstGeom prst="rect">
            <a:avLst/>
          </a:prstGeom>
          <a:noFill/>
          <a:ln>
            <a:noFill/>
          </a:ln>
        </p:spPr>
        <p:txBody>
          <a:bodyPr anchorCtr="0" anchor="t" bIns="0" lIns="0" spcFirstLastPara="1" rIns="0" wrap="square" tIns="0">
            <a:noAutofit/>
          </a:bodyPr>
          <a:lstStyle/>
          <a:p>
            <a:pPr indent="0" lvl="0" marL="228600" rtl="0" algn="l">
              <a:lnSpc>
                <a:spcPct val="150000"/>
              </a:lnSpc>
              <a:spcBef>
                <a:spcPts val="0"/>
              </a:spcBef>
              <a:spcAft>
                <a:spcPts val="0"/>
              </a:spcAft>
              <a:buSzPts val="1800"/>
              <a:buFont typeface="Arial"/>
              <a:buNone/>
            </a:pPr>
            <a:r>
              <a:rPr lang="en-GB" sz="1600">
                <a:latin typeface="Arial"/>
                <a:ea typeface="Arial"/>
                <a:cs typeface="Arial"/>
                <a:sym typeface="Arial"/>
              </a:rPr>
              <a:t>3. Promote HyperNode as a </a:t>
            </a:r>
            <a:r>
              <a:rPr b="1" lang="en-GB" sz="1600">
                <a:latin typeface="Arial"/>
                <a:ea typeface="Arial"/>
                <a:cs typeface="Arial"/>
                <a:sym typeface="Arial"/>
              </a:rPr>
              <a:t>K8s First-Class Citizen</a:t>
            </a:r>
            <a:endParaRPr b="1" sz="1600">
              <a:latin typeface="Arial"/>
              <a:ea typeface="Arial"/>
              <a:cs typeface="Arial"/>
              <a:sym typeface="Arial"/>
            </a:endParaRPr>
          </a:p>
        </p:txBody>
      </p:sp>
      <p:sp>
        <p:nvSpPr>
          <p:cNvPr descr="7b0a202020202262756c6c6574223a20227b5c2263617465676f727949645c223a5c225c222c5c2274656d706c61746549645c223a32303233313730337d220a7d0a" id="618" name="Google Shape;618;p19"/>
          <p:cNvSpPr txBox="1"/>
          <p:nvPr/>
        </p:nvSpPr>
        <p:spPr>
          <a:xfrm>
            <a:off x="456675" y="2141850"/>
            <a:ext cx="5055300" cy="994500"/>
          </a:xfrm>
          <a:prstGeom prst="rect">
            <a:avLst/>
          </a:prstGeom>
          <a:noFill/>
          <a:ln>
            <a:noFill/>
          </a:ln>
        </p:spPr>
        <p:txBody>
          <a:bodyPr anchorCtr="0" anchor="t" bIns="0" lIns="0" spcFirstLastPara="1" rIns="0" wrap="square" tIns="0">
            <a:noAutofit/>
          </a:bodyPr>
          <a:lstStyle/>
          <a:p>
            <a:pPr indent="-146050" lvl="0" marL="89999" marR="0" rtl="0" algn="l">
              <a:lnSpc>
                <a:spcPct val="150000"/>
              </a:lnSpc>
              <a:spcBef>
                <a:spcPts val="0"/>
              </a:spcBef>
              <a:spcAft>
                <a:spcPts val="0"/>
              </a:spcAft>
              <a:buClr>
                <a:schemeClr val="dk2"/>
              </a:buClr>
              <a:buSzPts val="1400"/>
              <a:buFont typeface="Arial"/>
              <a:buChar char="•"/>
            </a:pPr>
            <a:r>
              <a:rPr b="0" i="0" lang="en-GB" u="none" cap="none" strike="noStrike">
                <a:solidFill>
                  <a:schemeClr val="dk2"/>
                </a:solidFill>
                <a:latin typeface="Arial"/>
                <a:ea typeface="Arial"/>
                <a:cs typeface="Arial"/>
                <a:sym typeface="Arial"/>
              </a:rPr>
              <a:t>Extract HyperNode:</a:t>
            </a:r>
            <a:endParaRPr b="0" i="0" u="none" cap="none" strike="noStrike">
              <a:solidFill>
                <a:schemeClr val="dk2"/>
              </a:solidFill>
              <a:latin typeface="Arial"/>
              <a:ea typeface="Arial"/>
              <a:cs typeface="Arial"/>
              <a:sym typeface="Arial"/>
            </a:endParaRPr>
          </a:p>
          <a:p>
            <a:pPr indent="0" lvl="0" marL="360000" marR="0" rtl="0" algn="l">
              <a:lnSpc>
                <a:spcPct val="150000"/>
              </a:lnSpc>
              <a:spcBef>
                <a:spcPts val="0"/>
              </a:spcBef>
              <a:spcAft>
                <a:spcPts val="0"/>
              </a:spcAft>
              <a:buClr>
                <a:schemeClr val="dk2"/>
              </a:buClr>
              <a:buSzPts val="1800"/>
              <a:buFont typeface="Arial"/>
              <a:buNone/>
            </a:pPr>
            <a:r>
              <a:rPr b="0" i="0" lang="en-GB" u="none" cap="none" strike="noStrike">
                <a:solidFill>
                  <a:schemeClr val="dk2"/>
                </a:solidFill>
                <a:latin typeface="Arial"/>
                <a:ea typeface="Arial"/>
                <a:cs typeface="Arial"/>
                <a:sym typeface="Arial"/>
              </a:rPr>
              <a:t>Decouple Volcano's HyperNode into an independent, vendor-neutral API standard.</a:t>
            </a:r>
            <a:endParaRPr b="0" i="0" u="none" cap="none" strike="noStrike">
              <a:solidFill>
                <a:schemeClr val="dk2"/>
              </a:solidFill>
              <a:latin typeface="Arial"/>
              <a:ea typeface="Arial"/>
              <a:cs typeface="Arial"/>
              <a:sym typeface="Arial"/>
            </a:endParaRPr>
          </a:p>
          <a:p>
            <a:pPr indent="-146050" lvl="0" marL="89999" marR="0" rtl="0" algn="l">
              <a:lnSpc>
                <a:spcPct val="150000"/>
              </a:lnSpc>
              <a:spcBef>
                <a:spcPts val="0"/>
              </a:spcBef>
              <a:spcAft>
                <a:spcPts val="0"/>
              </a:spcAft>
              <a:buClr>
                <a:schemeClr val="dk2"/>
              </a:buClr>
              <a:buSzPts val="1400"/>
              <a:buFont typeface="Arial"/>
              <a:buChar char="•"/>
            </a:pPr>
            <a:r>
              <a:rPr b="0" i="0" lang="en-GB" u="none" cap="none" strike="noStrike">
                <a:solidFill>
                  <a:schemeClr val="dk2"/>
                </a:solidFill>
                <a:latin typeface="Arial"/>
                <a:ea typeface="Arial"/>
                <a:cs typeface="Arial"/>
                <a:sym typeface="Arial"/>
              </a:rPr>
              <a:t>Call for Co-creation HyperNode Initiative:</a:t>
            </a:r>
            <a:endParaRPr b="0" i="0" u="none" cap="none" strike="noStrike">
              <a:solidFill>
                <a:schemeClr val="dk2"/>
              </a:solidFill>
              <a:latin typeface="Arial"/>
              <a:ea typeface="Arial"/>
              <a:cs typeface="Arial"/>
              <a:sym typeface="Arial"/>
            </a:endParaRPr>
          </a:p>
          <a:p>
            <a:pPr indent="0" lvl="0" marL="360000" marR="0" rtl="0" algn="l">
              <a:lnSpc>
                <a:spcPct val="150000"/>
              </a:lnSpc>
              <a:spcBef>
                <a:spcPts val="0"/>
              </a:spcBef>
              <a:spcAft>
                <a:spcPts val="0"/>
              </a:spcAft>
              <a:buClr>
                <a:schemeClr val="dk2"/>
              </a:buClr>
              <a:buSzPts val="1800"/>
              <a:buFont typeface="Arial"/>
              <a:buNone/>
            </a:pPr>
            <a:r>
              <a:rPr b="0" i="0" lang="en-GB" u="none" cap="none" strike="noStrike">
                <a:solidFill>
                  <a:schemeClr val="dk2"/>
                </a:solidFill>
                <a:latin typeface="Arial"/>
                <a:ea typeface="Arial"/>
                <a:cs typeface="Arial"/>
                <a:sym typeface="Arial"/>
              </a:rPr>
              <a:t>Co-create HyperNode initiatives (e.g., via CNCF TOC) to jointly define and manage HyperNode standards.</a:t>
            </a:r>
            <a:endParaRPr b="0" i="0" u="none" cap="none" strike="noStrike">
              <a:solidFill>
                <a:schemeClr val="dk2"/>
              </a:solidFill>
              <a:latin typeface="Arial"/>
              <a:ea typeface="Arial"/>
              <a:cs typeface="Arial"/>
              <a:sym typeface="Arial"/>
            </a:endParaRPr>
          </a:p>
          <a:p>
            <a:pPr indent="0" lvl="0" marL="228600" marR="0" rtl="0" algn="l">
              <a:lnSpc>
                <a:spcPct val="150000"/>
              </a:lnSpc>
              <a:spcBef>
                <a:spcPts val="0"/>
              </a:spcBef>
              <a:spcAft>
                <a:spcPts val="0"/>
              </a:spcAft>
              <a:buClr>
                <a:schemeClr val="dk2"/>
              </a:buClr>
              <a:buSzPts val="1800"/>
              <a:buFont typeface="Arial"/>
              <a:buNone/>
            </a:pPr>
            <a:r>
              <a:t/>
            </a:r>
            <a:endParaRPr b="0" i="0" sz="1300" u="none" cap="none" strike="noStrike">
              <a:solidFill>
                <a:schemeClr val="dk2"/>
              </a:solidFill>
              <a:latin typeface="Arial"/>
              <a:ea typeface="Arial"/>
              <a:cs typeface="Arial"/>
              <a:sym typeface="Arial"/>
            </a:endParaRPr>
          </a:p>
        </p:txBody>
      </p:sp>
      <p:pic>
        <p:nvPicPr>
          <p:cNvPr id="619" name="Google Shape;619;p19"/>
          <p:cNvPicPr preferRelativeResize="0"/>
          <p:nvPr/>
        </p:nvPicPr>
        <p:blipFill rotWithShape="1">
          <a:blip r:embed="rId3">
            <a:alphaModFix/>
          </a:blip>
          <a:srcRect b="0" l="0" r="0" t="0"/>
          <a:stretch/>
        </p:blipFill>
        <p:spPr>
          <a:xfrm>
            <a:off x="5781040" y="1360170"/>
            <a:ext cx="708660" cy="676275"/>
          </a:xfrm>
          <a:prstGeom prst="rect">
            <a:avLst/>
          </a:prstGeom>
          <a:noFill/>
          <a:ln>
            <a:noFill/>
          </a:ln>
        </p:spPr>
      </p:pic>
      <p:pic>
        <p:nvPicPr>
          <p:cNvPr id="620" name="Google Shape;620;p19"/>
          <p:cNvPicPr preferRelativeResize="0"/>
          <p:nvPr/>
        </p:nvPicPr>
        <p:blipFill rotWithShape="1">
          <a:blip r:embed="rId4">
            <a:alphaModFix/>
          </a:blip>
          <a:srcRect b="0" l="0" r="0" t="0"/>
          <a:stretch/>
        </p:blipFill>
        <p:spPr>
          <a:xfrm>
            <a:off x="6849745" y="1396365"/>
            <a:ext cx="894715" cy="615950"/>
          </a:xfrm>
          <a:prstGeom prst="rect">
            <a:avLst/>
          </a:prstGeom>
          <a:noFill/>
          <a:ln>
            <a:noFill/>
          </a:ln>
        </p:spPr>
      </p:pic>
      <p:pic>
        <p:nvPicPr>
          <p:cNvPr id="621" name="Google Shape;621;p19"/>
          <p:cNvPicPr preferRelativeResize="0"/>
          <p:nvPr/>
        </p:nvPicPr>
        <p:blipFill rotWithShape="1">
          <a:blip r:embed="rId5">
            <a:alphaModFix/>
          </a:blip>
          <a:srcRect b="0" l="0" r="0" t="0"/>
          <a:stretch/>
        </p:blipFill>
        <p:spPr>
          <a:xfrm>
            <a:off x="8038465" y="1299845"/>
            <a:ext cx="753745" cy="712470"/>
          </a:xfrm>
          <a:prstGeom prst="rect">
            <a:avLst/>
          </a:prstGeom>
          <a:noFill/>
          <a:ln>
            <a:noFill/>
          </a:ln>
        </p:spPr>
      </p:pic>
      <p:sp>
        <p:nvSpPr>
          <p:cNvPr id="622" name="Google Shape;622;p19"/>
          <p:cNvSpPr txBox="1"/>
          <p:nvPr/>
        </p:nvSpPr>
        <p:spPr>
          <a:xfrm>
            <a:off x="5586730" y="2093595"/>
            <a:ext cx="1097280" cy="82994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Kueue:</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Topology CRD+</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Node Label</a:t>
            </a:r>
            <a:endParaRPr b="0" i="0" sz="1200" u="none" cap="none" strike="noStrike">
              <a:solidFill>
                <a:srgbClr val="000000"/>
              </a:solidFill>
              <a:latin typeface="Arial"/>
              <a:ea typeface="Arial"/>
              <a:cs typeface="Arial"/>
              <a:sym typeface="Arial"/>
            </a:endParaRPr>
          </a:p>
        </p:txBody>
      </p:sp>
      <p:sp>
        <p:nvSpPr>
          <p:cNvPr id="623" name="Google Shape;623;p19"/>
          <p:cNvSpPr txBox="1"/>
          <p:nvPr/>
        </p:nvSpPr>
        <p:spPr>
          <a:xfrm>
            <a:off x="6633845" y="2141855"/>
            <a:ext cx="1325880" cy="6451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KAI Scheduler:</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Topology CRD+</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Node Label</a:t>
            </a:r>
            <a:endParaRPr b="0" i="0" sz="1200" u="none" cap="none" strike="noStrike">
              <a:solidFill>
                <a:srgbClr val="000000"/>
              </a:solidFill>
              <a:latin typeface="Arial"/>
              <a:ea typeface="Arial"/>
              <a:cs typeface="Arial"/>
              <a:sym typeface="Arial"/>
            </a:endParaRPr>
          </a:p>
        </p:txBody>
      </p:sp>
      <p:sp>
        <p:nvSpPr>
          <p:cNvPr id="624" name="Google Shape;624;p19"/>
          <p:cNvSpPr txBox="1"/>
          <p:nvPr/>
        </p:nvSpPr>
        <p:spPr>
          <a:xfrm>
            <a:off x="7825740" y="2036445"/>
            <a:ext cx="1157605" cy="10147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Koordinator:</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ClusterNetworkTopology CRD+</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Node Label</a:t>
            </a:r>
            <a:endParaRPr b="0" i="0" sz="1200" u="none" cap="none" strike="noStrike">
              <a:solidFill>
                <a:srgbClr val="000000"/>
              </a:solidFill>
              <a:latin typeface="Arial"/>
              <a:ea typeface="Arial"/>
              <a:cs typeface="Arial"/>
              <a:sym typeface="Arial"/>
            </a:endParaRPr>
          </a:p>
        </p:txBody>
      </p:sp>
      <p:sp>
        <p:nvSpPr>
          <p:cNvPr id="625" name="Google Shape;625;p19"/>
          <p:cNvSpPr/>
          <p:nvPr/>
        </p:nvSpPr>
        <p:spPr>
          <a:xfrm>
            <a:off x="5442585" y="1068070"/>
            <a:ext cx="3525520" cy="1983740"/>
          </a:xfrm>
          <a:prstGeom prst="roundRect">
            <a:avLst>
              <a:gd fmla="val 16667" name="adj"/>
            </a:avLst>
          </a:prstGeom>
          <a:noFill/>
          <a:ln cap="flat" cmpd="sng" w="12700">
            <a:solidFill>
              <a:srgbClr val="BA5C0F"/>
            </a:solidFill>
            <a:prstDash val="dot"/>
            <a:round/>
            <a:headEnd len="sm" w="sm" type="none"/>
            <a:tailEnd len="sm" w="sm" type="none"/>
          </a:ln>
        </p:spPr>
        <p:txBody>
          <a:bodyPr anchorCtr="0" anchor="t" bIns="45700" lIns="91425" spcFirstLastPara="1" rIns="91425" wrap="square" tIns="45700">
            <a:noAutofit/>
          </a:bodyPr>
          <a:lstStyle/>
          <a:p>
            <a:pPr indent="0" lvl="0" marL="0" marR="0" rtl="0" algn="ctr">
              <a:lnSpc>
                <a:spcPct val="60000"/>
              </a:lnSpc>
              <a:spcBef>
                <a:spcPts val="0"/>
              </a:spcBef>
              <a:spcAft>
                <a:spcPts val="0"/>
              </a:spcAft>
              <a:buNone/>
            </a:pPr>
            <a:r>
              <a:rPr b="0" i="0" lang="en-GB" sz="1400" u="none" cap="none" strike="noStrike">
                <a:solidFill>
                  <a:schemeClr val="accent1"/>
                </a:solidFill>
                <a:latin typeface="Arial"/>
                <a:ea typeface="Arial"/>
                <a:cs typeface="Arial"/>
                <a:sym typeface="Arial"/>
              </a:rPr>
              <a:t>Node Label</a:t>
            </a:r>
            <a:endParaRPr b="0" i="0" sz="1400" u="none" cap="none" strike="noStrike">
              <a:solidFill>
                <a:schemeClr val="accent1"/>
              </a:solidFill>
              <a:latin typeface="Arial"/>
              <a:ea typeface="Arial"/>
              <a:cs typeface="Arial"/>
              <a:sym typeface="Arial"/>
            </a:endParaRPr>
          </a:p>
        </p:txBody>
      </p:sp>
      <p:sp>
        <p:nvSpPr>
          <p:cNvPr id="626" name="Google Shape;626;p19"/>
          <p:cNvSpPr/>
          <p:nvPr/>
        </p:nvSpPr>
        <p:spPr>
          <a:xfrm>
            <a:off x="5443220" y="3164840"/>
            <a:ext cx="3524250" cy="1929130"/>
          </a:xfrm>
          <a:prstGeom prst="roundRect">
            <a:avLst>
              <a:gd fmla="val 16667" name="adj"/>
            </a:avLst>
          </a:prstGeom>
          <a:noFill/>
          <a:ln cap="flat" cmpd="sng" w="12700">
            <a:solidFill>
              <a:srgbClr val="BA5C0F"/>
            </a:solidFill>
            <a:prstDash val="dot"/>
            <a:round/>
            <a:headEnd len="sm" w="sm" type="none"/>
            <a:tailEnd len="sm" w="sm" type="none"/>
          </a:ln>
        </p:spPr>
        <p:txBody>
          <a:bodyPr anchorCtr="0" anchor="t" bIns="45700" lIns="91425" spcFirstLastPara="1" rIns="91425" wrap="square" tIns="45700">
            <a:noAutofit/>
          </a:bodyPr>
          <a:lstStyle/>
          <a:p>
            <a:pPr indent="0" lvl="0" marL="0" marR="0" rtl="0" algn="ctr">
              <a:lnSpc>
                <a:spcPct val="60000"/>
              </a:lnSpc>
              <a:spcBef>
                <a:spcPts val="0"/>
              </a:spcBef>
              <a:spcAft>
                <a:spcPts val="0"/>
              </a:spcAft>
              <a:buNone/>
            </a:pPr>
            <a:r>
              <a:rPr b="0" i="0" lang="en-GB" sz="1400" u="none" cap="none" strike="noStrike">
                <a:solidFill>
                  <a:schemeClr val="accent1"/>
                </a:solidFill>
                <a:latin typeface="Arial"/>
                <a:ea typeface="Arial"/>
                <a:cs typeface="Arial"/>
                <a:sym typeface="Arial"/>
              </a:rPr>
              <a:t>HyperNode CRD</a:t>
            </a:r>
            <a:endParaRPr b="0" i="0" sz="1400" u="none" cap="none" strike="noStrike">
              <a:solidFill>
                <a:schemeClr val="accent1"/>
              </a:solidFill>
              <a:latin typeface="Arial"/>
              <a:ea typeface="Arial"/>
              <a:cs typeface="Arial"/>
              <a:sym typeface="Arial"/>
            </a:endParaRPr>
          </a:p>
        </p:txBody>
      </p:sp>
      <p:pic>
        <p:nvPicPr>
          <p:cNvPr id="627" name="Google Shape;627;p19"/>
          <p:cNvPicPr preferRelativeResize="0"/>
          <p:nvPr/>
        </p:nvPicPr>
        <p:blipFill rotWithShape="1">
          <a:blip r:embed="rId6">
            <a:alphaModFix/>
          </a:blip>
          <a:srcRect b="0" l="0" r="0" t="0"/>
          <a:stretch/>
        </p:blipFill>
        <p:spPr>
          <a:xfrm>
            <a:off x="6306185" y="3544570"/>
            <a:ext cx="1903730" cy="340995"/>
          </a:xfrm>
          <a:prstGeom prst="rect">
            <a:avLst/>
          </a:prstGeom>
          <a:noFill/>
          <a:ln>
            <a:noFill/>
          </a:ln>
        </p:spPr>
      </p:pic>
      <p:sp>
        <p:nvSpPr>
          <p:cNvPr id="628" name="Google Shape;628;p19"/>
          <p:cNvSpPr txBox="1"/>
          <p:nvPr/>
        </p:nvSpPr>
        <p:spPr>
          <a:xfrm>
            <a:off x="5602605" y="3848735"/>
            <a:ext cx="3380740" cy="124523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GB" sz="1000" u="none" cap="none" strike="noStrike">
                <a:solidFill>
                  <a:srgbClr val="000000"/>
                </a:solidFill>
                <a:latin typeface="Arial"/>
                <a:ea typeface="Arial"/>
                <a:cs typeface="Arial"/>
                <a:sym typeface="Arial"/>
              </a:rPr>
              <a:t>(1) Both Node Labels and auto-discovery are supported</a:t>
            </a:r>
            <a:endParaRPr b="0" i="0" sz="10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None/>
            </a:pPr>
            <a:r>
              <a:rPr b="0" i="0" lang="en-GB" sz="1000" u="none" cap="none" strike="noStrike">
                <a:solidFill>
                  <a:srgbClr val="000000"/>
                </a:solidFill>
                <a:latin typeface="Arial"/>
                <a:ea typeface="Arial"/>
                <a:cs typeface="Arial"/>
                <a:sym typeface="Arial"/>
              </a:rPr>
              <a:t>(2) HyperNode level health monitoring, network congestion status monitoring</a:t>
            </a:r>
            <a:endParaRPr b="0" i="0" sz="10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None/>
            </a:pPr>
            <a:r>
              <a:rPr b="0" i="0" lang="en-GB" sz="1000" u="none" cap="none" strike="noStrike">
                <a:solidFill>
                  <a:srgbClr val="000000"/>
                </a:solidFill>
                <a:latin typeface="Arial"/>
                <a:ea typeface="Arial"/>
                <a:cs typeface="Arial"/>
                <a:sym typeface="Arial"/>
              </a:rPr>
              <a:t>(3) HyperNode level bin-pack and other customize scheduling policies </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20"/>
          <p:cNvSpPr txBox="1"/>
          <p:nvPr>
            <p:ph type="title"/>
          </p:nvPr>
        </p:nvSpPr>
        <p:spPr>
          <a:xfrm>
            <a:off x="311700" y="1940538"/>
            <a:ext cx="8520600" cy="8418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3600"/>
              <a:buNone/>
            </a:pPr>
            <a:r>
              <a:rPr lang="en-GB"/>
              <a:t>Kthena: Kubernetes-Native LLM Serving Platform</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21"/>
          <p:cNvSpPr txBox="1"/>
          <p:nvPr>
            <p:ph type="title"/>
          </p:nvPr>
        </p:nvSpPr>
        <p:spPr>
          <a:xfrm>
            <a:off x="311700" y="0"/>
            <a:ext cx="6949800" cy="10479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GB"/>
              <a:t>Kthena: Kubernetes-Native LLM Serving Platform</a:t>
            </a:r>
            <a:endParaRPr/>
          </a:p>
        </p:txBody>
      </p:sp>
      <p:sp>
        <p:nvSpPr>
          <p:cNvPr id="639" name="Google Shape;639;p21"/>
          <p:cNvSpPr txBox="1"/>
          <p:nvPr>
            <p:ph idx="1" type="body"/>
          </p:nvPr>
        </p:nvSpPr>
        <p:spPr>
          <a:xfrm>
            <a:off x="4714250" y="1138913"/>
            <a:ext cx="4269900" cy="3882300"/>
          </a:xfrm>
          <a:prstGeom prst="rect">
            <a:avLst/>
          </a:prstGeom>
          <a:noFill/>
          <a:ln>
            <a:noFill/>
          </a:ln>
        </p:spPr>
        <p:txBody>
          <a:bodyPr anchorCtr="0" anchor="t" bIns="0" lIns="0" spcFirstLastPara="1" rIns="0" wrap="square" tIns="0">
            <a:noAutofit/>
          </a:bodyPr>
          <a:lstStyle/>
          <a:p>
            <a:pPr indent="-228600" lvl="0" marL="457200" rtl="0" algn="l">
              <a:lnSpc>
                <a:spcPct val="130000"/>
              </a:lnSpc>
              <a:spcBef>
                <a:spcPts val="0"/>
              </a:spcBef>
              <a:spcAft>
                <a:spcPts val="0"/>
              </a:spcAft>
              <a:buSzPts val="1800"/>
              <a:buNone/>
            </a:pPr>
            <a:r>
              <a:rPr b="1" lang="en-GB" sz="1400">
                <a:solidFill>
                  <a:srgbClr val="FF0000"/>
                </a:solidFill>
                <a:latin typeface="Arial"/>
                <a:ea typeface="Arial"/>
                <a:cs typeface="Arial"/>
                <a:sym typeface="Arial"/>
              </a:rPr>
              <a:t>1. Declarative Control Plane</a:t>
            </a:r>
            <a:endParaRPr b="1" sz="1400">
              <a:solidFill>
                <a:srgbClr val="FF0000"/>
              </a:solidFill>
              <a:latin typeface="Arial"/>
              <a:ea typeface="Arial"/>
              <a:cs typeface="Arial"/>
              <a:sym typeface="Arial"/>
            </a:endParaRPr>
          </a:p>
          <a:p>
            <a:pPr indent="-228600" lvl="0" marL="457200" rtl="0" algn="l">
              <a:lnSpc>
                <a:spcPct val="100000"/>
              </a:lnSpc>
              <a:spcBef>
                <a:spcPts val="0"/>
              </a:spcBef>
              <a:spcAft>
                <a:spcPts val="0"/>
              </a:spcAft>
              <a:buSzPts val="1800"/>
              <a:buFont typeface="Arial"/>
              <a:buChar char="•"/>
            </a:pPr>
            <a:r>
              <a:rPr lang="en-GB" sz="1100"/>
              <a:t>Supports vLLM, SGLang, Triton, TorchServe, MindIE (Support both standard and prefill-decode disaggregated)</a:t>
            </a:r>
            <a:endParaRPr sz="1100"/>
          </a:p>
          <a:p>
            <a:pPr indent="-228600" lvl="0" marL="457200" rtl="0" algn="l">
              <a:lnSpc>
                <a:spcPct val="100000"/>
              </a:lnSpc>
              <a:spcBef>
                <a:spcPts val="0"/>
              </a:spcBef>
              <a:spcAft>
                <a:spcPts val="0"/>
              </a:spcAft>
              <a:buSzPts val="1800"/>
              <a:buFont typeface="Arial"/>
              <a:buChar char="•"/>
            </a:pPr>
            <a:r>
              <a:rPr lang="en-GB" sz="1100"/>
              <a:t>Autoscaling on token throughput, queue depth, CPU/GPU, and budget</a:t>
            </a:r>
            <a:endParaRPr sz="1100"/>
          </a:p>
          <a:p>
            <a:pPr indent="-298450" lvl="0" marL="457200" rtl="0" algn="l">
              <a:lnSpc>
                <a:spcPct val="100000"/>
              </a:lnSpc>
              <a:spcBef>
                <a:spcPts val="0"/>
              </a:spcBef>
              <a:spcAft>
                <a:spcPts val="0"/>
              </a:spcAft>
              <a:buSzPts val="1100"/>
              <a:buChar char="•"/>
            </a:pPr>
            <a:r>
              <a:rPr lang="en-GB" sz="1100"/>
              <a:t>Rolling updates, canary, failover, dynamic LoRA management</a:t>
            </a:r>
            <a:endParaRPr sz="1100"/>
          </a:p>
          <a:p>
            <a:pPr indent="-228600" lvl="0" marL="457200" rtl="0" algn="l">
              <a:lnSpc>
                <a:spcPct val="150000"/>
              </a:lnSpc>
              <a:spcBef>
                <a:spcPts val="1000"/>
              </a:spcBef>
              <a:spcAft>
                <a:spcPts val="0"/>
              </a:spcAft>
              <a:buSzPts val="1800"/>
              <a:buNone/>
            </a:pPr>
            <a:r>
              <a:rPr b="1" lang="en-GB" sz="1400">
                <a:solidFill>
                  <a:srgbClr val="FF0000"/>
                </a:solidFill>
                <a:latin typeface="Arial"/>
                <a:ea typeface="Arial"/>
                <a:cs typeface="Arial"/>
                <a:sym typeface="Arial"/>
              </a:rPr>
              <a:t>2. Intelligent Data Plane</a:t>
            </a:r>
            <a:endParaRPr b="1" sz="1400">
              <a:solidFill>
                <a:srgbClr val="FF0000"/>
              </a:solidFill>
              <a:latin typeface="Arial"/>
              <a:ea typeface="Arial"/>
              <a:cs typeface="Arial"/>
              <a:sym typeface="Arial"/>
            </a:endParaRPr>
          </a:p>
          <a:p>
            <a:pPr indent="-228600" lvl="0" marL="457200" rtl="0" algn="l">
              <a:lnSpc>
                <a:spcPct val="100000"/>
              </a:lnSpc>
              <a:spcBef>
                <a:spcPts val="0"/>
              </a:spcBef>
              <a:spcAft>
                <a:spcPts val="0"/>
              </a:spcAft>
              <a:buSzPts val="1800"/>
              <a:buFont typeface="Arial"/>
              <a:buChar char="•"/>
            </a:pPr>
            <a:r>
              <a:rPr lang="en-GB" sz="1100"/>
              <a:t>KV-cache, prefix-cache, PD-group aware routing via Redis</a:t>
            </a:r>
            <a:endParaRPr sz="1100"/>
          </a:p>
          <a:p>
            <a:pPr indent="-228600" lvl="0" marL="457200" rtl="0" algn="l">
              <a:lnSpc>
                <a:spcPct val="100000"/>
              </a:lnSpc>
              <a:spcBef>
                <a:spcPts val="0"/>
              </a:spcBef>
              <a:spcAft>
                <a:spcPts val="0"/>
              </a:spcAft>
              <a:buSzPts val="1800"/>
              <a:buFont typeface="Arial"/>
              <a:buChar char="•"/>
            </a:pPr>
            <a:r>
              <a:rPr lang="en-GB" sz="1100"/>
              <a:t>Pluggable KV connectors (LMCache, NIXL, Mooncake) for PD disaggregation</a:t>
            </a:r>
            <a:endParaRPr sz="1100"/>
          </a:p>
          <a:p>
            <a:pPr indent="-228600" lvl="0" marL="457200" rtl="0" algn="l">
              <a:lnSpc>
                <a:spcPct val="100000"/>
              </a:lnSpc>
              <a:spcBef>
                <a:spcPts val="0"/>
              </a:spcBef>
              <a:spcAft>
                <a:spcPts val="0"/>
              </a:spcAft>
              <a:buSzPts val="1800"/>
              <a:buFont typeface="Arial"/>
              <a:buChar char="•"/>
            </a:pPr>
            <a:r>
              <a:rPr lang="en-GB" sz="1100"/>
              <a:t>Token rate limiting, weighted traffic</a:t>
            </a:r>
            <a:endParaRPr sz="1100"/>
          </a:p>
          <a:p>
            <a:pPr indent="-228600" lvl="0" marL="457200" rtl="0" algn="l">
              <a:lnSpc>
                <a:spcPct val="150000"/>
              </a:lnSpc>
              <a:spcBef>
                <a:spcPts val="1000"/>
              </a:spcBef>
              <a:spcAft>
                <a:spcPts val="0"/>
              </a:spcAft>
              <a:buSzPts val="1800"/>
              <a:buNone/>
            </a:pPr>
            <a:r>
              <a:rPr b="1" lang="en-GB" sz="1400">
                <a:solidFill>
                  <a:srgbClr val="FF0000"/>
                </a:solidFill>
                <a:latin typeface="Arial"/>
                <a:ea typeface="Arial"/>
                <a:cs typeface="Arial"/>
                <a:sym typeface="Arial"/>
              </a:rPr>
              <a:t>3. Volcano-Native Scheduling</a:t>
            </a:r>
            <a:endParaRPr b="1" sz="1400">
              <a:solidFill>
                <a:srgbClr val="FF0000"/>
              </a:solidFill>
              <a:latin typeface="Arial"/>
              <a:ea typeface="Arial"/>
              <a:cs typeface="Arial"/>
              <a:sym typeface="Arial"/>
            </a:endParaRPr>
          </a:p>
          <a:p>
            <a:pPr indent="-228600" lvl="0" marL="457200" rtl="0" algn="l">
              <a:lnSpc>
                <a:spcPct val="100000"/>
              </a:lnSpc>
              <a:spcBef>
                <a:spcPts val="0"/>
              </a:spcBef>
              <a:spcAft>
                <a:spcPts val="0"/>
              </a:spcAft>
              <a:buSzPts val="1800"/>
              <a:buFont typeface="Arial"/>
              <a:buChar char="•"/>
            </a:pPr>
            <a:r>
              <a:rPr lang="en-GB" sz="1100"/>
              <a:t>Gang scheduling for atomic xPyD deployment</a:t>
            </a:r>
            <a:endParaRPr sz="1100"/>
          </a:p>
          <a:p>
            <a:pPr indent="-228600" lvl="0" marL="457200" rtl="0" algn="l">
              <a:lnSpc>
                <a:spcPct val="100000"/>
              </a:lnSpc>
              <a:spcBef>
                <a:spcPts val="0"/>
              </a:spcBef>
              <a:spcAft>
                <a:spcPts val="0"/>
              </a:spcAft>
              <a:buSzPts val="1800"/>
              <a:buFont typeface="Arial"/>
              <a:buChar char="•"/>
            </a:pPr>
            <a:r>
              <a:rPr lang="en-GB" sz="1100"/>
              <a:t>Two-level network topology-aware scheduling (ServingGroup and Role)</a:t>
            </a:r>
            <a:endParaRPr sz="1100"/>
          </a:p>
        </p:txBody>
      </p:sp>
      <p:pic>
        <p:nvPicPr>
          <p:cNvPr descr="architecture_overview.drawio" id="640" name="Google Shape;640;p21"/>
          <p:cNvPicPr preferRelativeResize="0"/>
          <p:nvPr/>
        </p:nvPicPr>
        <p:blipFill rotWithShape="1">
          <a:blip r:embed="rId3">
            <a:alphaModFix/>
          </a:blip>
          <a:srcRect b="0" l="0" r="0" t="0"/>
          <a:stretch/>
        </p:blipFill>
        <p:spPr>
          <a:xfrm>
            <a:off x="220345" y="1047750"/>
            <a:ext cx="4493894" cy="406463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22"/>
          <p:cNvSpPr txBox="1"/>
          <p:nvPr>
            <p:ph type="title"/>
          </p:nvPr>
        </p:nvSpPr>
        <p:spPr>
          <a:xfrm>
            <a:off x="311700" y="0"/>
            <a:ext cx="6949800" cy="10479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GB"/>
              <a:t>Kthena: Native Prefill-Decode Disaggregation </a:t>
            </a:r>
            <a:endParaRPr/>
          </a:p>
        </p:txBody>
      </p:sp>
      <p:sp>
        <p:nvSpPr>
          <p:cNvPr descr="7b0a202020202262756c6c6574223a20227b5c2263617465676f727949645c223a5c225c222c5c2274656d706c61746549645c223a32303233313730337d220a7d0a" id="646" name="Google Shape;646;p22"/>
          <p:cNvSpPr txBox="1"/>
          <p:nvPr>
            <p:ph idx="1" type="body"/>
          </p:nvPr>
        </p:nvSpPr>
        <p:spPr>
          <a:xfrm>
            <a:off x="5876925" y="1544325"/>
            <a:ext cx="3084000" cy="3535800"/>
          </a:xfrm>
          <a:prstGeom prst="rect">
            <a:avLst/>
          </a:prstGeom>
          <a:noFill/>
          <a:ln>
            <a:noFill/>
          </a:ln>
        </p:spPr>
        <p:txBody>
          <a:bodyPr anchorCtr="0" anchor="t" bIns="0" lIns="0" spcFirstLastPara="1" rIns="0" wrap="square" tIns="0">
            <a:noAutofit/>
          </a:bodyPr>
          <a:lstStyle/>
          <a:p>
            <a:pPr indent="-228600" lvl="0" marL="457200" rtl="0" algn="l">
              <a:lnSpc>
                <a:spcPct val="130000"/>
              </a:lnSpc>
              <a:spcBef>
                <a:spcPts val="0"/>
              </a:spcBef>
              <a:spcAft>
                <a:spcPts val="0"/>
              </a:spcAft>
              <a:buSzPts val="1800"/>
              <a:buFont typeface="Arial"/>
              <a:buChar char="•"/>
            </a:pPr>
            <a:r>
              <a:rPr lang="en-GB" sz="1100"/>
              <a:t>ServingGroup as atomic scheduling unit for xPyD (1P1D, 1P3D, etc.)</a:t>
            </a:r>
            <a:endParaRPr sz="1100"/>
          </a:p>
          <a:p>
            <a:pPr indent="-228600" lvl="0" marL="457200" rtl="0" algn="l">
              <a:lnSpc>
                <a:spcPct val="130000"/>
              </a:lnSpc>
              <a:spcBef>
                <a:spcPts val="0"/>
              </a:spcBef>
              <a:spcAft>
                <a:spcPts val="0"/>
              </a:spcAft>
              <a:buSzPts val="1800"/>
              <a:buFont typeface="Arial"/>
              <a:buChar char="•"/>
            </a:pPr>
            <a:r>
              <a:rPr lang="en-GB" sz="1100"/>
              <a:t>Gang Scheduling: all pods in a PD group scheduled together or not at all</a:t>
            </a:r>
            <a:endParaRPr sz="1100"/>
          </a:p>
          <a:p>
            <a:pPr indent="-228600" lvl="0" marL="457200" rtl="0" algn="l">
              <a:lnSpc>
                <a:spcPct val="130000"/>
              </a:lnSpc>
              <a:spcBef>
                <a:spcPts val="0"/>
              </a:spcBef>
              <a:spcAft>
                <a:spcPts val="0"/>
              </a:spcAft>
              <a:buSzPts val="1800"/>
              <a:buFont typeface="Arial"/>
              <a:buChar char="•"/>
            </a:pPr>
            <a:r>
              <a:rPr lang="en-GB" sz="1100"/>
              <a:t>Multi-level network topology-aware scheduling:</a:t>
            </a:r>
            <a:endParaRPr sz="1100"/>
          </a:p>
          <a:p>
            <a:pPr indent="0" lvl="0" marL="228600" rtl="0" algn="l">
              <a:lnSpc>
                <a:spcPct val="130000"/>
              </a:lnSpc>
              <a:spcBef>
                <a:spcPts val="0"/>
              </a:spcBef>
              <a:spcAft>
                <a:spcPts val="0"/>
              </a:spcAft>
              <a:buSzPts val="1800"/>
              <a:buFont typeface="Arial"/>
              <a:buNone/>
            </a:pPr>
            <a:r>
              <a:rPr lang="en-GB" sz="1100"/>
              <a:t>      </a:t>
            </a:r>
            <a:r>
              <a:rPr b="1" lang="en-GB" sz="1000">
                <a:latin typeface="Arial"/>
                <a:ea typeface="Arial"/>
                <a:cs typeface="Arial"/>
                <a:sym typeface="Arial"/>
              </a:rPr>
              <a:t>ServingGroup level</a:t>
            </a:r>
            <a:r>
              <a:rPr lang="en-GB" sz="1000"/>
              <a:t>: co-locate entire PD  </a:t>
            </a:r>
            <a:endParaRPr sz="1000"/>
          </a:p>
          <a:p>
            <a:pPr indent="457200" lvl="0" marL="0" rtl="0" algn="l">
              <a:lnSpc>
                <a:spcPct val="130000"/>
              </a:lnSpc>
              <a:spcBef>
                <a:spcPts val="0"/>
              </a:spcBef>
              <a:spcAft>
                <a:spcPts val="0"/>
              </a:spcAft>
              <a:buSzPts val="1800"/>
              <a:buFont typeface="Arial"/>
              <a:buNone/>
            </a:pPr>
            <a:r>
              <a:rPr lang="en-GB" sz="1000"/>
              <a:t>group in same HyperNode</a:t>
            </a:r>
            <a:endParaRPr sz="1000"/>
          </a:p>
          <a:p>
            <a:pPr indent="0" lvl="0" marL="228600" rtl="0" algn="l">
              <a:lnSpc>
                <a:spcPct val="130000"/>
              </a:lnSpc>
              <a:spcBef>
                <a:spcPts val="0"/>
              </a:spcBef>
              <a:spcAft>
                <a:spcPts val="0"/>
              </a:spcAft>
              <a:buSzPts val="1800"/>
              <a:buFont typeface="Arial"/>
              <a:buNone/>
            </a:pPr>
            <a:r>
              <a:rPr lang="en-GB" sz="1000"/>
              <a:t>       </a:t>
            </a:r>
            <a:r>
              <a:rPr b="1" lang="en-GB" sz="1000">
                <a:latin typeface="Arial"/>
                <a:ea typeface="Arial"/>
                <a:cs typeface="Arial"/>
                <a:sym typeface="Arial"/>
              </a:rPr>
              <a:t>Role level</a:t>
            </a:r>
            <a:r>
              <a:rPr lang="en-GB" sz="1000"/>
              <a:t>: co-locate Entry + Worker within </a:t>
            </a:r>
            <a:endParaRPr sz="1000"/>
          </a:p>
          <a:p>
            <a:pPr indent="457200" lvl="0" marL="0" rtl="0" algn="l">
              <a:lnSpc>
                <a:spcPct val="130000"/>
              </a:lnSpc>
              <a:spcBef>
                <a:spcPts val="0"/>
              </a:spcBef>
              <a:spcAft>
                <a:spcPts val="0"/>
              </a:spcAft>
              <a:buSzPts val="1800"/>
              <a:buFont typeface="Arial"/>
              <a:buNone/>
            </a:pPr>
            <a:r>
              <a:rPr lang="en-GB" sz="1000"/>
              <a:t>each Prefill/Decode role</a:t>
            </a:r>
            <a:endParaRPr sz="1000"/>
          </a:p>
          <a:p>
            <a:pPr indent="-228600" lvl="0" marL="457200" rtl="0" algn="l">
              <a:lnSpc>
                <a:spcPct val="130000"/>
              </a:lnSpc>
              <a:spcBef>
                <a:spcPts val="0"/>
              </a:spcBef>
              <a:spcAft>
                <a:spcPts val="0"/>
              </a:spcAft>
              <a:buSzPts val="1800"/>
              <a:buFont typeface="Arial"/>
              <a:buChar char="•"/>
            </a:pPr>
            <a:r>
              <a:rPr lang="en-GB" sz="1100"/>
              <a:t>Pluggable KV Connectors (LMCache, NIXL, Mooncake) for KV cache transfer between P and D</a:t>
            </a:r>
            <a:endParaRPr sz="1100"/>
          </a:p>
        </p:txBody>
      </p:sp>
      <p:pic>
        <p:nvPicPr>
          <p:cNvPr descr="model-serving-enhanced.drawio" id="647" name="Google Shape;647;p22"/>
          <p:cNvPicPr preferRelativeResize="0"/>
          <p:nvPr/>
        </p:nvPicPr>
        <p:blipFill rotWithShape="1">
          <a:blip r:embed="rId3">
            <a:alphaModFix/>
          </a:blip>
          <a:srcRect b="0" l="0" r="0" t="0"/>
          <a:stretch/>
        </p:blipFill>
        <p:spPr>
          <a:xfrm>
            <a:off x="179070" y="1281430"/>
            <a:ext cx="5511802" cy="366839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23"/>
          <p:cNvSpPr txBox="1"/>
          <p:nvPr>
            <p:ph type="title"/>
          </p:nvPr>
        </p:nvSpPr>
        <p:spPr>
          <a:xfrm>
            <a:off x="311700" y="0"/>
            <a:ext cx="6949800" cy="10479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GB"/>
              <a:t>Kthena Router: LLM-Native Intelligent Routing </a:t>
            </a:r>
            <a:endParaRPr/>
          </a:p>
        </p:txBody>
      </p:sp>
      <p:pic>
        <p:nvPicPr>
          <p:cNvPr descr="router-enhanced.drawio" id="653" name="Google Shape;653;p23"/>
          <p:cNvPicPr preferRelativeResize="0"/>
          <p:nvPr/>
        </p:nvPicPr>
        <p:blipFill rotWithShape="1">
          <a:blip r:embed="rId3">
            <a:alphaModFix/>
          </a:blip>
          <a:srcRect b="0" l="0" r="0" t="0"/>
          <a:stretch/>
        </p:blipFill>
        <p:spPr>
          <a:xfrm>
            <a:off x="361950" y="1165860"/>
            <a:ext cx="4685030" cy="3811906"/>
          </a:xfrm>
          <a:prstGeom prst="rect">
            <a:avLst/>
          </a:prstGeom>
          <a:noFill/>
          <a:ln>
            <a:noFill/>
          </a:ln>
        </p:spPr>
      </p:pic>
      <p:sp>
        <p:nvSpPr>
          <p:cNvPr descr="7b0a202020202262756c6c6574223a20227b5c2263617465676f727949645c223a5c225c222c5c2274656d706c61746549645c223a32303233313730337d220a7d0a" id="654" name="Google Shape;654;p23"/>
          <p:cNvSpPr txBox="1"/>
          <p:nvPr>
            <p:ph idx="1" type="body"/>
          </p:nvPr>
        </p:nvSpPr>
        <p:spPr>
          <a:xfrm>
            <a:off x="4904105" y="1165860"/>
            <a:ext cx="4521900" cy="3486300"/>
          </a:xfrm>
          <a:prstGeom prst="rect">
            <a:avLst/>
          </a:prstGeom>
          <a:noFill/>
          <a:ln>
            <a:noFill/>
          </a:ln>
        </p:spPr>
        <p:txBody>
          <a:bodyPr anchorCtr="0" anchor="t" bIns="0" lIns="0" spcFirstLastPara="1" rIns="0" wrap="square" tIns="0">
            <a:noAutofit/>
          </a:bodyPr>
          <a:lstStyle/>
          <a:p>
            <a:pPr indent="0" lvl="0" marL="228600" rtl="0" algn="l">
              <a:lnSpc>
                <a:spcPct val="100000"/>
              </a:lnSpc>
              <a:spcBef>
                <a:spcPts val="0"/>
              </a:spcBef>
              <a:spcAft>
                <a:spcPts val="0"/>
              </a:spcAft>
              <a:buSzPts val="1800"/>
              <a:buFont typeface="Arial"/>
              <a:buNone/>
            </a:pPr>
            <a:r>
              <a:rPr b="1" lang="en-GB" sz="1400">
                <a:solidFill>
                  <a:srgbClr val="FF0000"/>
                </a:solidFill>
                <a:latin typeface="Arial"/>
                <a:ea typeface="Arial"/>
                <a:cs typeface="Arial"/>
                <a:sym typeface="Arial"/>
              </a:rPr>
              <a:t>Smart Pluggable Routing Engine</a:t>
            </a:r>
            <a:endParaRPr sz="1400">
              <a:solidFill>
                <a:srgbClr val="FF0000"/>
              </a:solidFill>
            </a:endParaRPr>
          </a:p>
          <a:p>
            <a:pPr indent="-228600" lvl="0" marL="457200" rtl="0" algn="l">
              <a:lnSpc>
                <a:spcPct val="80000"/>
              </a:lnSpc>
              <a:spcBef>
                <a:spcPts val="0"/>
              </a:spcBef>
              <a:spcAft>
                <a:spcPts val="0"/>
              </a:spcAft>
              <a:buSzPts val="1800"/>
              <a:buFont typeface="Arial"/>
              <a:buChar char="•"/>
            </a:pPr>
            <a:r>
              <a:rPr i="1" lang="en-GB" sz="1000">
                <a:latin typeface="Arial"/>
                <a:ea typeface="Arial"/>
                <a:cs typeface="Arial"/>
                <a:sym typeface="Arial"/>
              </a:rPr>
              <a:t>prefix-cache</a:t>
            </a:r>
            <a:r>
              <a:rPr lang="en-GB" sz="1000"/>
              <a:t> — route to pod with matching prompt prefix</a:t>
            </a:r>
            <a:endParaRPr sz="1000"/>
          </a:p>
          <a:p>
            <a:pPr indent="-228600" lvl="0" marL="457200" rtl="0" algn="l">
              <a:lnSpc>
                <a:spcPct val="80000"/>
              </a:lnSpc>
              <a:spcBef>
                <a:spcPts val="0"/>
              </a:spcBef>
              <a:spcAft>
                <a:spcPts val="0"/>
              </a:spcAft>
              <a:buSzPts val="1800"/>
              <a:buFont typeface="Arial"/>
              <a:buChar char="•"/>
            </a:pPr>
            <a:r>
              <a:rPr i="1" lang="en-GB" sz="1000">
                <a:latin typeface="Arial"/>
                <a:ea typeface="Arial"/>
                <a:cs typeface="Arial"/>
                <a:sym typeface="Arial"/>
              </a:rPr>
              <a:t>kvcache-aware</a:t>
            </a:r>
            <a:r>
              <a:rPr lang="en-GB" sz="1000"/>
              <a:t> — Redis-based distributed KV block matching</a:t>
            </a:r>
            <a:endParaRPr sz="1000"/>
          </a:p>
          <a:p>
            <a:pPr indent="-228600" lvl="0" marL="457200" rtl="0" algn="l">
              <a:lnSpc>
                <a:spcPct val="80000"/>
              </a:lnSpc>
              <a:spcBef>
                <a:spcPts val="0"/>
              </a:spcBef>
              <a:spcAft>
                <a:spcPts val="0"/>
              </a:spcAft>
              <a:buSzPts val="1800"/>
              <a:buFont typeface="Arial"/>
              <a:buChar char="•"/>
            </a:pPr>
            <a:r>
              <a:rPr i="1" lang="en-GB" sz="1000">
                <a:latin typeface="Arial"/>
                <a:ea typeface="Arial"/>
                <a:cs typeface="Arial"/>
                <a:sym typeface="Arial"/>
              </a:rPr>
              <a:t>least-request</a:t>
            </a:r>
            <a:r>
              <a:rPr lang="en-GB" sz="1000"/>
              <a:t> — avoid pods with long queues</a:t>
            </a:r>
            <a:endParaRPr sz="1000"/>
          </a:p>
          <a:p>
            <a:pPr indent="-228600" lvl="0" marL="457200" rtl="0" algn="l">
              <a:lnSpc>
                <a:spcPct val="80000"/>
              </a:lnSpc>
              <a:spcBef>
                <a:spcPts val="0"/>
              </a:spcBef>
              <a:spcAft>
                <a:spcPts val="0"/>
              </a:spcAft>
              <a:buSzPts val="1800"/>
              <a:buFont typeface="Arial"/>
              <a:buChar char="•"/>
            </a:pPr>
            <a:r>
              <a:rPr i="1" lang="en-GB" sz="1000">
                <a:latin typeface="Arial"/>
                <a:ea typeface="Arial"/>
                <a:cs typeface="Arial"/>
                <a:sym typeface="Arial"/>
              </a:rPr>
              <a:t>least-latency</a:t>
            </a:r>
            <a:r>
              <a:rPr lang="en-GB" sz="1000"/>
              <a:t> — prefer lower TTFT / TPOT</a:t>
            </a:r>
            <a:endParaRPr sz="1000"/>
          </a:p>
          <a:p>
            <a:pPr indent="-228600" lvl="0" marL="457200" rtl="0" algn="l">
              <a:lnSpc>
                <a:spcPct val="80000"/>
              </a:lnSpc>
              <a:spcBef>
                <a:spcPts val="0"/>
              </a:spcBef>
              <a:spcAft>
                <a:spcPts val="0"/>
              </a:spcAft>
              <a:buSzPts val="1800"/>
              <a:buFont typeface="Arial"/>
              <a:buChar char="•"/>
            </a:pPr>
            <a:r>
              <a:rPr i="1" lang="en-GB" sz="1000">
                <a:latin typeface="Arial"/>
                <a:ea typeface="Arial"/>
                <a:cs typeface="Arial"/>
                <a:sym typeface="Arial"/>
              </a:rPr>
              <a:t>lora-affinity</a:t>
            </a:r>
            <a:r>
              <a:rPr lang="en-GB" sz="1000"/>
              <a:t> — route to LoRA-loaded pod</a:t>
            </a:r>
            <a:endParaRPr sz="1000"/>
          </a:p>
          <a:p>
            <a:pPr indent="-228600" lvl="0" marL="457200" rtl="0" algn="l">
              <a:lnSpc>
                <a:spcPct val="80000"/>
              </a:lnSpc>
              <a:spcBef>
                <a:spcPts val="0"/>
              </a:spcBef>
              <a:spcAft>
                <a:spcPts val="0"/>
              </a:spcAft>
              <a:buSzPts val="1800"/>
              <a:buFont typeface="Arial"/>
              <a:buChar char="•"/>
            </a:pPr>
            <a:r>
              <a:rPr i="1" lang="en-GB" sz="1000">
                <a:latin typeface="Arial"/>
                <a:ea typeface="Arial"/>
                <a:cs typeface="Arial"/>
                <a:sym typeface="Arial"/>
              </a:rPr>
              <a:t>gpu-usage</a:t>
            </a:r>
            <a:r>
              <a:rPr lang="en-GB" sz="1000"/>
              <a:t> — prefer free GPU KV cache</a:t>
            </a:r>
            <a:endParaRPr sz="1000"/>
          </a:p>
          <a:p>
            <a:pPr indent="-114300" lvl="0" marL="457200" rtl="0" algn="l">
              <a:lnSpc>
                <a:spcPct val="130000"/>
              </a:lnSpc>
              <a:spcBef>
                <a:spcPts val="0"/>
              </a:spcBef>
              <a:spcAft>
                <a:spcPts val="0"/>
              </a:spcAft>
              <a:buSzPts val="1800"/>
              <a:buFont typeface="Arial"/>
              <a:buNone/>
            </a:pPr>
            <a:r>
              <a:t/>
            </a:r>
            <a:endParaRPr sz="1100"/>
          </a:p>
          <a:p>
            <a:pPr indent="0" lvl="0" marL="228600" rtl="0" algn="l">
              <a:lnSpc>
                <a:spcPct val="130000"/>
              </a:lnSpc>
              <a:spcBef>
                <a:spcPts val="0"/>
              </a:spcBef>
              <a:spcAft>
                <a:spcPts val="0"/>
              </a:spcAft>
              <a:buSzPts val="1800"/>
              <a:buFont typeface="Arial"/>
              <a:buNone/>
            </a:pPr>
            <a:r>
              <a:rPr b="1" lang="en-GB" sz="1400">
                <a:solidFill>
                  <a:srgbClr val="FF0000"/>
                </a:solidFill>
                <a:latin typeface="Arial"/>
                <a:ea typeface="Arial"/>
                <a:cs typeface="Arial"/>
                <a:sym typeface="Arial"/>
              </a:rPr>
              <a:t>Token-Level Traffic Management</a:t>
            </a:r>
            <a:endParaRPr b="1" sz="1100">
              <a:solidFill>
                <a:srgbClr val="FF0000"/>
              </a:solidFill>
              <a:latin typeface="Arial"/>
              <a:ea typeface="Arial"/>
              <a:cs typeface="Arial"/>
              <a:sym typeface="Arial"/>
            </a:endParaRPr>
          </a:p>
          <a:p>
            <a:pPr indent="-228600" lvl="0" marL="457200" rtl="0" algn="l">
              <a:lnSpc>
                <a:spcPct val="90000"/>
              </a:lnSpc>
              <a:spcBef>
                <a:spcPts val="0"/>
              </a:spcBef>
              <a:spcAft>
                <a:spcPts val="0"/>
              </a:spcAft>
              <a:buSzPts val="1800"/>
              <a:buFont typeface="Arial"/>
              <a:buChar char="•"/>
            </a:pPr>
            <a:r>
              <a:rPr lang="en-GB" sz="1000"/>
              <a:t>Token-based rate limiting (input + output, local + global Redis)</a:t>
            </a:r>
            <a:endParaRPr sz="1000"/>
          </a:p>
          <a:p>
            <a:pPr indent="-228600" lvl="0" marL="457200" rtl="0" algn="l">
              <a:lnSpc>
                <a:spcPct val="90000"/>
              </a:lnSpc>
              <a:spcBef>
                <a:spcPts val="0"/>
              </a:spcBef>
              <a:spcAft>
                <a:spcPts val="0"/>
              </a:spcAft>
              <a:buSzPts val="1800"/>
              <a:buFont typeface="Arial"/>
              <a:buChar char="•"/>
            </a:pPr>
            <a:r>
              <a:rPr lang="en-GB" sz="1000"/>
              <a:t>Per-user fairness on historical token usage</a:t>
            </a:r>
            <a:endParaRPr sz="1000"/>
          </a:p>
          <a:p>
            <a:pPr indent="-228600" lvl="0" marL="457200" rtl="0" algn="l">
              <a:lnSpc>
                <a:spcPct val="90000"/>
              </a:lnSpc>
              <a:spcBef>
                <a:spcPts val="0"/>
              </a:spcBef>
              <a:spcAft>
                <a:spcPts val="0"/>
              </a:spcAft>
              <a:buSzPts val="1800"/>
              <a:buFont typeface="Arial"/>
              <a:buChar char="•"/>
            </a:pPr>
            <a:r>
              <a:rPr lang="en-GB" sz="1000"/>
              <a:t>Weighted splitting for canary / A-B / multi-LoRA</a:t>
            </a:r>
            <a:endParaRPr sz="1000"/>
          </a:p>
          <a:p>
            <a:pPr indent="0" lvl="0" marL="0" rtl="0" algn="l">
              <a:lnSpc>
                <a:spcPct val="100000"/>
              </a:lnSpc>
              <a:spcBef>
                <a:spcPts val="0"/>
              </a:spcBef>
              <a:spcAft>
                <a:spcPts val="0"/>
              </a:spcAft>
              <a:buNone/>
            </a:pPr>
            <a:r>
              <a:t/>
            </a:r>
            <a:endParaRPr sz="1000"/>
          </a:p>
          <a:p>
            <a:pPr indent="0" lvl="0" marL="228600" rtl="0" algn="l">
              <a:lnSpc>
                <a:spcPct val="100000"/>
              </a:lnSpc>
              <a:spcBef>
                <a:spcPts val="0"/>
              </a:spcBef>
              <a:spcAft>
                <a:spcPts val="0"/>
              </a:spcAft>
              <a:buSzPts val="1800"/>
              <a:buFont typeface="Arial"/>
              <a:buNone/>
            </a:pPr>
            <a:r>
              <a:rPr b="1" lang="en-GB" sz="1400">
                <a:solidFill>
                  <a:srgbClr val="FF0000"/>
                </a:solidFill>
                <a:latin typeface="Arial"/>
                <a:ea typeface="Arial"/>
                <a:cs typeface="Arial"/>
                <a:sym typeface="Arial"/>
              </a:rPr>
              <a:t>Native PD Disaggregation Routing</a:t>
            </a:r>
            <a:endParaRPr b="1" sz="1100">
              <a:solidFill>
                <a:srgbClr val="FF0000"/>
              </a:solidFill>
              <a:latin typeface="Arial"/>
              <a:ea typeface="Arial"/>
              <a:cs typeface="Arial"/>
              <a:sym typeface="Arial"/>
            </a:endParaRPr>
          </a:p>
          <a:p>
            <a:pPr indent="-228600" lvl="0" marL="457200" rtl="0" algn="l">
              <a:lnSpc>
                <a:spcPct val="90000"/>
              </a:lnSpc>
              <a:spcBef>
                <a:spcPts val="0"/>
              </a:spcBef>
              <a:spcAft>
                <a:spcPts val="0"/>
              </a:spcAft>
              <a:buSzPts val="1800"/>
              <a:buFont typeface="Arial"/>
              <a:buChar char="•"/>
            </a:pPr>
            <a:r>
              <a:rPr lang="en-GB" sz="1000"/>
              <a:t>PD-group aware request splitting (Prefill then Decode)</a:t>
            </a:r>
            <a:endParaRPr sz="1000"/>
          </a:p>
          <a:p>
            <a:pPr indent="-228600" lvl="0" marL="457200" rtl="0" algn="l">
              <a:lnSpc>
                <a:spcPct val="90000"/>
              </a:lnSpc>
              <a:spcBef>
                <a:spcPts val="0"/>
              </a:spcBef>
              <a:spcAft>
                <a:spcPts val="0"/>
              </a:spcAft>
              <a:buSzPts val="1800"/>
              <a:buFont typeface="Arial"/>
              <a:buChar char="•"/>
            </a:pPr>
            <a:r>
              <a:rPr lang="en-GB" sz="1000"/>
              <a:t>KV Connectors: HTTP / NIXL / LMCache / Mooncake</a:t>
            </a:r>
            <a:endParaRPr sz="1000"/>
          </a:p>
          <a:p>
            <a:pPr indent="-228600" lvl="0" marL="457200" rtl="0" algn="l">
              <a:lnSpc>
                <a:spcPct val="90000"/>
              </a:lnSpc>
              <a:spcBef>
                <a:spcPts val="0"/>
              </a:spcBef>
              <a:spcAft>
                <a:spcPts val="0"/>
              </a:spcAft>
              <a:buSzPts val="1800"/>
              <a:buFont typeface="Arial"/>
              <a:buChar char="•"/>
            </a:pPr>
            <a:r>
              <a:rPr lang="en-GB" sz="1000"/>
              <a:t>Independent scoring per phase, automatic KV transfer</a:t>
            </a:r>
            <a:endParaRPr sz="1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24"/>
          <p:cNvSpPr txBox="1"/>
          <p:nvPr>
            <p:ph type="title"/>
          </p:nvPr>
        </p:nvSpPr>
        <p:spPr>
          <a:xfrm>
            <a:off x="222165" y="2315823"/>
            <a:ext cx="8520600" cy="8418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3600"/>
              <a:buNone/>
            </a:pPr>
            <a:r>
              <a:rPr lang="en-GB"/>
              <a:t>AgentCube: A Kubernetes-Native Platform for AI Agent Workloads</a:t>
            </a:r>
            <a:br>
              <a:rPr lang="en-GB"/>
            </a:br>
            <a:br>
              <a:rPr lang="en-GB"/>
            </a:br>
            <a:r>
              <a:rPr lang="en-GB"/>
              <a:t>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25"/>
          <p:cNvSpPr txBox="1"/>
          <p:nvPr>
            <p:ph type="title"/>
          </p:nvPr>
        </p:nvSpPr>
        <p:spPr>
          <a:xfrm>
            <a:off x="311700" y="322580"/>
            <a:ext cx="6949800" cy="1047900"/>
          </a:xfrm>
          <a:prstGeom prst="rect">
            <a:avLst/>
          </a:prstGeom>
          <a:noFill/>
          <a:ln>
            <a:noFill/>
          </a:ln>
        </p:spPr>
        <p:txBody>
          <a:bodyPr anchorCtr="0" anchor="ctr" bIns="0" lIns="0" spcFirstLastPara="1" rIns="0" wrap="square" tIns="0">
            <a:normAutofit fontScale="90000"/>
          </a:bodyPr>
          <a:lstStyle/>
          <a:p>
            <a:pPr indent="0" lvl="0" marL="0" rtl="0" algn="l">
              <a:lnSpc>
                <a:spcPct val="100000"/>
              </a:lnSpc>
              <a:spcBef>
                <a:spcPts val="0"/>
              </a:spcBef>
              <a:spcAft>
                <a:spcPts val="0"/>
              </a:spcAft>
              <a:buSzPct val="111000"/>
              <a:buNone/>
            </a:pPr>
            <a:r>
              <a:rPr lang="en-GB"/>
              <a:t>AgentCube: A Kubernetes-Native Platform for AI Agent Workloads</a:t>
            </a:r>
            <a:br>
              <a:rPr lang="en-GB"/>
            </a:br>
            <a:br>
              <a:rPr lang="en-GB"/>
            </a:br>
            <a:endParaRPr/>
          </a:p>
        </p:txBody>
      </p:sp>
      <p:pic>
        <p:nvPicPr>
          <p:cNvPr descr="/private/var/folders/hz/t40lx2tn3yjgwmd5y9by4ld40000gn/T/com.kingsoft.wpsoffice.mac/picturecompress_20260313180913/output_1.pngoutput_1" id="665" name="Google Shape;665;p25"/>
          <p:cNvPicPr preferRelativeResize="0"/>
          <p:nvPr/>
        </p:nvPicPr>
        <p:blipFill rotWithShape="1">
          <a:blip r:embed="rId3">
            <a:alphaModFix/>
          </a:blip>
          <a:srcRect b="0" l="0" r="0" t="0"/>
          <a:stretch/>
        </p:blipFill>
        <p:spPr>
          <a:xfrm>
            <a:off x="912495" y="1148080"/>
            <a:ext cx="7158358" cy="399542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26"/>
          <p:cNvSpPr txBox="1"/>
          <p:nvPr>
            <p:ph type="title"/>
          </p:nvPr>
        </p:nvSpPr>
        <p:spPr>
          <a:xfrm>
            <a:off x="311700" y="322580"/>
            <a:ext cx="6949800" cy="1047900"/>
          </a:xfrm>
          <a:prstGeom prst="rect">
            <a:avLst/>
          </a:prstGeom>
          <a:noFill/>
          <a:ln>
            <a:noFill/>
          </a:ln>
        </p:spPr>
        <p:txBody>
          <a:bodyPr anchorCtr="0" anchor="ctr" bIns="0" lIns="0" spcFirstLastPara="1" rIns="0" wrap="square" tIns="0">
            <a:normAutofit fontScale="90000"/>
          </a:bodyPr>
          <a:lstStyle/>
          <a:p>
            <a:pPr indent="0" lvl="0" marL="0" rtl="0" algn="l">
              <a:lnSpc>
                <a:spcPct val="100000"/>
              </a:lnSpc>
              <a:spcBef>
                <a:spcPts val="0"/>
              </a:spcBef>
              <a:spcAft>
                <a:spcPts val="0"/>
              </a:spcAft>
              <a:buSzPct val="111000"/>
              <a:buNone/>
            </a:pPr>
            <a:r>
              <a:rPr lang="en-GB"/>
              <a:t>AgentCube: A Kubernetes-Native Platform for AI Agent Workloads</a:t>
            </a:r>
            <a:br>
              <a:rPr lang="en-GB"/>
            </a:br>
            <a:br>
              <a:rPr lang="en-GB"/>
            </a:br>
            <a:endParaRPr/>
          </a:p>
        </p:txBody>
      </p:sp>
      <p:pic>
        <p:nvPicPr>
          <p:cNvPr descr="agentcube-ecosystem.drawio" id="671" name="Google Shape;671;p26"/>
          <p:cNvPicPr preferRelativeResize="0"/>
          <p:nvPr/>
        </p:nvPicPr>
        <p:blipFill rotWithShape="1">
          <a:blip r:embed="rId3">
            <a:alphaModFix/>
          </a:blip>
          <a:srcRect b="0" l="0" r="0" t="0"/>
          <a:stretch/>
        </p:blipFill>
        <p:spPr>
          <a:xfrm>
            <a:off x="1595755" y="1115695"/>
            <a:ext cx="5841366" cy="2912110"/>
          </a:xfrm>
          <a:prstGeom prst="rect">
            <a:avLst/>
          </a:prstGeom>
          <a:noFill/>
          <a:ln>
            <a:noFill/>
          </a:ln>
        </p:spPr>
      </p:pic>
      <p:sp>
        <p:nvSpPr>
          <p:cNvPr descr="7b0a202020202262756c6c6574223a20227b5c2263617465676f727949645c223a5c225c222c5c2274656d706c61746549645c223a32303233313730337d220a7d0a" id="672" name="Google Shape;672;p26"/>
          <p:cNvSpPr txBox="1"/>
          <p:nvPr>
            <p:ph idx="1" type="body"/>
          </p:nvPr>
        </p:nvSpPr>
        <p:spPr>
          <a:xfrm>
            <a:off x="1978400" y="4027800"/>
            <a:ext cx="5841300" cy="747900"/>
          </a:xfrm>
          <a:prstGeom prst="rect">
            <a:avLst/>
          </a:prstGeom>
          <a:noFill/>
          <a:ln>
            <a:noFill/>
          </a:ln>
        </p:spPr>
        <p:txBody>
          <a:bodyPr anchorCtr="0" anchor="t" bIns="0" lIns="0" spcFirstLastPara="1" rIns="0" wrap="square" tIns="0">
            <a:noAutofit/>
          </a:bodyPr>
          <a:lstStyle/>
          <a:p>
            <a:pPr indent="-171450" lvl="0" marL="400050" rtl="0" algn="l">
              <a:lnSpc>
                <a:spcPct val="150000"/>
              </a:lnSpc>
              <a:spcBef>
                <a:spcPts val="0"/>
              </a:spcBef>
              <a:spcAft>
                <a:spcPts val="0"/>
              </a:spcAft>
              <a:buSzPts val="1800"/>
              <a:buFont typeface="Arial"/>
              <a:buChar char="•"/>
            </a:pPr>
            <a:r>
              <a:rPr b="1" lang="en-GB" sz="1400">
                <a:latin typeface="Arial"/>
                <a:ea typeface="Arial"/>
                <a:cs typeface="Arial"/>
                <a:sym typeface="Arial"/>
              </a:rPr>
              <a:t>Session-aware</a:t>
            </a:r>
            <a:r>
              <a:rPr lang="en-GB" sz="1400"/>
              <a:t> routing and lifecycle management</a:t>
            </a:r>
            <a:endParaRPr sz="1400"/>
          </a:p>
          <a:p>
            <a:pPr indent="-171450" lvl="0" marL="400050" rtl="0" algn="l">
              <a:lnSpc>
                <a:spcPct val="150000"/>
              </a:lnSpc>
              <a:spcBef>
                <a:spcPts val="0"/>
              </a:spcBef>
              <a:spcAft>
                <a:spcPts val="0"/>
              </a:spcAft>
              <a:buSzPts val="1800"/>
              <a:buFont typeface="Arial"/>
              <a:buChar char="•"/>
            </a:pPr>
            <a:r>
              <a:rPr lang="en-GB" sz="1400"/>
              <a:t>Warm pools for </a:t>
            </a:r>
            <a:r>
              <a:rPr b="1" lang="en-GB" sz="1400">
                <a:latin typeface="Arial"/>
                <a:ea typeface="Arial"/>
                <a:cs typeface="Arial"/>
                <a:sym typeface="Arial"/>
              </a:rPr>
              <a:t>reusable, fast-starting sandboxes</a:t>
            </a:r>
            <a:endParaRPr b="1" sz="1400">
              <a:latin typeface="Arial"/>
              <a:ea typeface="Arial"/>
              <a:cs typeface="Arial"/>
              <a:sym typeface="Arial"/>
            </a:endParaRPr>
          </a:p>
          <a:p>
            <a:pPr indent="-171450" lvl="0" marL="400050" rtl="0" algn="l">
              <a:lnSpc>
                <a:spcPct val="150000"/>
              </a:lnSpc>
              <a:spcBef>
                <a:spcPts val="0"/>
              </a:spcBef>
              <a:spcAft>
                <a:spcPts val="0"/>
              </a:spcAft>
              <a:buSzPts val="1800"/>
              <a:buFont typeface="Arial"/>
              <a:buChar char="•"/>
            </a:pPr>
            <a:r>
              <a:rPr b="1" lang="en-GB" sz="1400">
                <a:latin typeface="Arial"/>
                <a:ea typeface="Arial"/>
                <a:cs typeface="Arial"/>
                <a:sym typeface="Arial"/>
              </a:rPr>
              <a:t>Out-of-the-box</a:t>
            </a:r>
            <a:r>
              <a:rPr lang="en-GB" sz="1400"/>
              <a:t> SDKs, CLI, and extensible integrations</a:t>
            </a:r>
            <a:endParaRPr sz="14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27"/>
          <p:cNvSpPr txBox="1"/>
          <p:nvPr>
            <p:ph type="title"/>
          </p:nvPr>
        </p:nvSpPr>
        <p:spPr>
          <a:xfrm>
            <a:off x="311700" y="322580"/>
            <a:ext cx="6949800" cy="1047900"/>
          </a:xfrm>
          <a:prstGeom prst="rect">
            <a:avLst/>
          </a:prstGeom>
          <a:noFill/>
          <a:ln>
            <a:noFill/>
          </a:ln>
        </p:spPr>
        <p:txBody>
          <a:bodyPr anchorCtr="0" anchor="ctr" bIns="0" lIns="0" spcFirstLastPara="1" rIns="0" wrap="square" tIns="0">
            <a:normAutofit fontScale="90000"/>
          </a:bodyPr>
          <a:lstStyle/>
          <a:p>
            <a:pPr indent="0" lvl="0" marL="0" rtl="0" algn="l">
              <a:lnSpc>
                <a:spcPct val="100000"/>
              </a:lnSpc>
              <a:spcBef>
                <a:spcPts val="0"/>
              </a:spcBef>
              <a:spcAft>
                <a:spcPts val="0"/>
              </a:spcAft>
              <a:buSzPct val="111000"/>
              <a:buNone/>
            </a:pPr>
            <a:r>
              <a:rPr lang="en-GB"/>
              <a:t>AgentCube: Out-of-the-Box SDK</a:t>
            </a:r>
            <a:br>
              <a:rPr lang="en-GB"/>
            </a:br>
            <a:br>
              <a:rPr lang="en-GB"/>
            </a:br>
            <a:endParaRPr/>
          </a:p>
        </p:txBody>
      </p:sp>
      <p:sp>
        <p:nvSpPr>
          <p:cNvPr descr="7b0a202020202262756c6c6574223a20227b5c2263617465676f727949645c223a5c225c222c5c2274656d706c61746549645c223a32303233313730337d220a7d0a" id="678" name="Google Shape;678;p27"/>
          <p:cNvSpPr txBox="1"/>
          <p:nvPr>
            <p:ph idx="1" type="body"/>
          </p:nvPr>
        </p:nvSpPr>
        <p:spPr>
          <a:xfrm>
            <a:off x="4900930" y="1684020"/>
            <a:ext cx="4108500" cy="1047900"/>
          </a:xfrm>
          <a:prstGeom prst="rect">
            <a:avLst/>
          </a:prstGeom>
          <a:noFill/>
          <a:ln>
            <a:noFill/>
          </a:ln>
        </p:spPr>
        <p:txBody>
          <a:bodyPr anchorCtr="0" anchor="t" bIns="0" lIns="0" spcFirstLastPara="1" rIns="0" wrap="square" tIns="0">
            <a:noAutofit/>
          </a:bodyPr>
          <a:lstStyle/>
          <a:p>
            <a:pPr indent="-171450" lvl="0" marL="400050" rtl="0" algn="l">
              <a:lnSpc>
                <a:spcPct val="150000"/>
              </a:lnSpc>
              <a:spcBef>
                <a:spcPts val="0"/>
              </a:spcBef>
              <a:spcAft>
                <a:spcPts val="0"/>
              </a:spcAft>
              <a:buSzPts val="1800"/>
              <a:buFont typeface="Arial"/>
              <a:buChar char="•"/>
            </a:pPr>
            <a:r>
              <a:rPr lang="en-GB" sz="1400"/>
              <a:t>Getting Started: </a:t>
            </a:r>
            <a:endParaRPr sz="1400"/>
          </a:p>
          <a:p>
            <a:pPr indent="0" lvl="0" marL="228600" rtl="0" algn="l">
              <a:lnSpc>
                <a:spcPct val="150000"/>
              </a:lnSpc>
              <a:spcBef>
                <a:spcPts val="0"/>
              </a:spcBef>
              <a:spcAft>
                <a:spcPts val="0"/>
              </a:spcAft>
              <a:buSzPts val="1800"/>
              <a:buFont typeface="Arial"/>
              <a:buNone/>
            </a:pPr>
            <a:r>
              <a:rPr lang="en-GB" sz="1400" u="sng">
                <a:solidFill>
                  <a:schemeClr val="hlink"/>
                </a:solidFill>
                <a:hlinkClick r:id="rId3"/>
              </a:rPr>
              <a:t>https://github.com/volcano-sh/agentcube/blob/main/docs/getting-started.md</a:t>
            </a:r>
            <a:endParaRPr sz="1400" u="sng">
              <a:solidFill>
                <a:schemeClr val="hlink"/>
              </a:solidFill>
              <a:hlinkClick r:id="rId4"/>
            </a:endParaRPr>
          </a:p>
          <a:p>
            <a:pPr indent="-57150" lvl="0" marL="400050" rtl="0" algn="l">
              <a:lnSpc>
                <a:spcPct val="150000"/>
              </a:lnSpc>
              <a:spcBef>
                <a:spcPts val="0"/>
              </a:spcBef>
              <a:spcAft>
                <a:spcPts val="0"/>
              </a:spcAft>
              <a:buSzPts val="1800"/>
              <a:buFont typeface="Arial"/>
              <a:buNone/>
            </a:pPr>
            <a:r>
              <a:t/>
            </a:r>
            <a:endParaRPr sz="1400"/>
          </a:p>
          <a:p>
            <a:pPr indent="-171450" lvl="0" marL="400050" rtl="0" algn="l">
              <a:lnSpc>
                <a:spcPct val="150000"/>
              </a:lnSpc>
              <a:spcBef>
                <a:spcPts val="0"/>
              </a:spcBef>
              <a:spcAft>
                <a:spcPts val="0"/>
              </a:spcAft>
              <a:buSzPts val="1800"/>
              <a:buFont typeface="Arial"/>
              <a:buChar char="•"/>
            </a:pPr>
            <a:r>
              <a:rPr lang="en-GB" sz="1400"/>
              <a:t>Python SDK Example: </a:t>
            </a:r>
            <a:endParaRPr sz="1400"/>
          </a:p>
          <a:p>
            <a:pPr indent="0" lvl="0" marL="228600" rtl="0" algn="l">
              <a:lnSpc>
                <a:spcPct val="150000"/>
              </a:lnSpc>
              <a:spcBef>
                <a:spcPts val="0"/>
              </a:spcBef>
              <a:spcAft>
                <a:spcPts val="0"/>
              </a:spcAft>
              <a:buSzPts val="1800"/>
              <a:buFont typeface="Arial"/>
              <a:buNone/>
            </a:pPr>
            <a:r>
              <a:rPr lang="en-GB" sz="1400" u="sng">
                <a:solidFill>
                  <a:schemeClr val="hlink"/>
                </a:solidFill>
                <a:hlinkClick r:id="rId5"/>
              </a:rPr>
              <a:t>https://github.com/volcano-sh/agentcube/blob/main/sdk-python/examples/basic_usage.py</a:t>
            </a:r>
            <a:endParaRPr sz="1400"/>
          </a:p>
        </p:txBody>
      </p:sp>
      <p:pic>
        <p:nvPicPr>
          <p:cNvPr descr="carbon (2)" id="679" name="Google Shape;679;p27"/>
          <p:cNvPicPr preferRelativeResize="0"/>
          <p:nvPr/>
        </p:nvPicPr>
        <p:blipFill rotWithShape="1">
          <a:blip r:embed="rId6">
            <a:alphaModFix/>
          </a:blip>
          <a:srcRect b="0" l="0" r="0" t="0"/>
          <a:stretch/>
        </p:blipFill>
        <p:spPr>
          <a:xfrm>
            <a:off x="62230" y="795655"/>
            <a:ext cx="4661535" cy="438531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28"/>
          <p:cNvSpPr txBox="1"/>
          <p:nvPr>
            <p:ph type="title"/>
          </p:nvPr>
        </p:nvSpPr>
        <p:spPr>
          <a:xfrm>
            <a:off x="222165" y="1851003"/>
            <a:ext cx="8520600" cy="8418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3600"/>
              <a:buNone/>
            </a:pPr>
            <a:r>
              <a:rPr lang="en-GB"/>
              <a:t>Volcano Global: What’s new?</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29"/>
          <p:cNvSpPr txBox="1"/>
          <p:nvPr>
            <p:ph type="title"/>
          </p:nvPr>
        </p:nvSpPr>
        <p:spPr>
          <a:xfrm>
            <a:off x="311700" y="98425"/>
            <a:ext cx="6949800" cy="10479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GB"/>
              <a:t>Volcano Global: What’s new?</a:t>
            </a:r>
            <a:endParaRPr/>
          </a:p>
        </p:txBody>
      </p:sp>
      <p:sp>
        <p:nvSpPr>
          <p:cNvPr descr="7b0a202020202262756c6c6574223a20227b5c2263617465676f727949645c223a5c225c222c5c2274656d706c61746549645c223a32303233313730337d220a7d0a" id="690" name="Google Shape;690;p29"/>
          <p:cNvSpPr txBox="1"/>
          <p:nvPr>
            <p:ph idx="1" type="body"/>
          </p:nvPr>
        </p:nvSpPr>
        <p:spPr>
          <a:xfrm>
            <a:off x="553720" y="1717040"/>
            <a:ext cx="8036700" cy="1249800"/>
          </a:xfrm>
          <a:prstGeom prst="rect">
            <a:avLst/>
          </a:prstGeom>
          <a:noFill/>
          <a:ln>
            <a:noFill/>
          </a:ln>
        </p:spPr>
        <p:txBody>
          <a:bodyPr anchorCtr="0" anchor="t" bIns="0" lIns="0" spcFirstLastPara="1" rIns="0" wrap="square" tIns="0">
            <a:noAutofit/>
          </a:bodyPr>
          <a:lstStyle/>
          <a:p>
            <a:pPr indent="-171450" lvl="0" marL="400050" rtl="0" algn="l">
              <a:lnSpc>
                <a:spcPct val="150000"/>
              </a:lnSpc>
              <a:spcBef>
                <a:spcPts val="0"/>
              </a:spcBef>
              <a:spcAft>
                <a:spcPts val="0"/>
              </a:spcAft>
              <a:buSzPts val="1800"/>
              <a:buFont typeface="Arial"/>
              <a:buChar char="•"/>
            </a:pPr>
            <a:r>
              <a:rPr lang="en-GB" sz="1800"/>
              <a:t>  Feature 1: HyperJob</a:t>
            </a:r>
            <a:endParaRPr sz="1800"/>
          </a:p>
          <a:p>
            <a:pPr indent="0" lvl="0" marL="228600" rtl="0" algn="l">
              <a:lnSpc>
                <a:spcPct val="150000"/>
              </a:lnSpc>
              <a:spcBef>
                <a:spcPts val="0"/>
              </a:spcBef>
              <a:spcAft>
                <a:spcPts val="0"/>
              </a:spcAft>
              <a:buSzPts val="1800"/>
              <a:buFont typeface="Arial"/>
              <a:buNone/>
            </a:pPr>
            <a:r>
              <a:rPr lang="en-GB" sz="1800"/>
              <a:t>     </a:t>
            </a:r>
            <a:r>
              <a:rPr b="1" lang="en-GB" sz="1800">
                <a:latin typeface="Arial"/>
                <a:ea typeface="Arial"/>
                <a:cs typeface="Arial"/>
                <a:sym typeface="Arial"/>
              </a:rPr>
              <a:t>Multi-cluster Job Splitting for Large-scale AI Training</a:t>
            </a:r>
            <a:endParaRPr b="1" sz="1800">
              <a:latin typeface="Arial"/>
              <a:ea typeface="Arial"/>
              <a:cs typeface="Arial"/>
              <a:sym typeface="Arial"/>
            </a:endParaRPr>
          </a:p>
          <a:p>
            <a:pPr indent="0" lvl="0" marL="228600" rtl="0" algn="l">
              <a:lnSpc>
                <a:spcPct val="150000"/>
              </a:lnSpc>
              <a:spcBef>
                <a:spcPts val="0"/>
              </a:spcBef>
              <a:spcAft>
                <a:spcPts val="0"/>
              </a:spcAft>
              <a:buSzPts val="1800"/>
              <a:buFont typeface="Arial"/>
              <a:buNone/>
            </a:pPr>
            <a:r>
              <a:t/>
            </a:r>
            <a:endParaRPr sz="1800"/>
          </a:p>
          <a:p>
            <a:pPr indent="-285750" lvl="0" marL="514350" rtl="0" algn="l">
              <a:lnSpc>
                <a:spcPct val="150000"/>
              </a:lnSpc>
              <a:spcBef>
                <a:spcPts val="0"/>
              </a:spcBef>
              <a:spcAft>
                <a:spcPts val="0"/>
              </a:spcAft>
              <a:buSzPts val="1800"/>
              <a:buFont typeface="Arial"/>
              <a:buChar char="•"/>
            </a:pPr>
            <a:r>
              <a:rPr lang="en-GB" sz="1800"/>
              <a:t>Feature 2: Data Dependency Aware Scheduling</a:t>
            </a:r>
            <a:endParaRPr sz="1800"/>
          </a:p>
          <a:p>
            <a:pPr indent="0" lvl="0" marL="228600" rtl="0" algn="l">
              <a:lnSpc>
                <a:spcPct val="150000"/>
              </a:lnSpc>
              <a:spcBef>
                <a:spcPts val="0"/>
              </a:spcBef>
              <a:spcAft>
                <a:spcPts val="0"/>
              </a:spcAft>
              <a:buSzPts val="1800"/>
              <a:buFont typeface="Arial"/>
              <a:buNone/>
            </a:pPr>
            <a:r>
              <a:rPr lang="en-GB" sz="1800"/>
              <a:t>     </a:t>
            </a:r>
            <a:r>
              <a:rPr b="1" lang="en-GB" sz="1800">
                <a:latin typeface="Arial"/>
                <a:ea typeface="Arial"/>
                <a:cs typeface="Arial"/>
                <a:sym typeface="Arial"/>
              </a:rPr>
              <a:t>Data-Aware Placement for Compute-Storage Disaggregation</a:t>
            </a:r>
            <a:endParaRPr b="1" sz="1800">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30"/>
          <p:cNvSpPr txBox="1"/>
          <p:nvPr>
            <p:ph type="title"/>
          </p:nvPr>
        </p:nvSpPr>
        <p:spPr>
          <a:xfrm>
            <a:off x="208915" y="0"/>
            <a:ext cx="7738800" cy="10479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GB"/>
              <a:t>1. HyperJob for Multi-cluster Job Splitting </a:t>
            </a:r>
            <a:endParaRPr/>
          </a:p>
        </p:txBody>
      </p:sp>
      <p:pic>
        <p:nvPicPr>
          <p:cNvPr descr="hyperjob-split.drawio" id="696" name="Google Shape;696;p30"/>
          <p:cNvPicPr preferRelativeResize="0"/>
          <p:nvPr/>
        </p:nvPicPr>
        <p:blipFill rotWithShape="1">
          <a:blip r:embed="rId3">
            <a:alphaModFix/>
          </a:blip>
          <a:srcRect b="0" l="0" r="0" t="0"/>
          <a:stretch/>
        </p:blipFill>
        <p:spPr>
          <a:xfrm>
            <a:off x="311785" y="1293495"/>
            <a:ext cx="4973953" cy="3356612"/>
          </a:xfrm>
          <a:prstGeom prst="rect">
            <a:avLst/>
          </a:prstGeom>
          <a:noFill/>
          <a:ln>
            <a:noFill/>
          </a:ln>
        </p:spPr>
      </p:pic>
      <p:sp>
        <p:nvSpPr>
          <p:cNvPr descr="7b0a202020202262756c6c6574223a20227b5c2263617465676f727949645c223a5c225c222c5c2274656d706c61746549645c223a32303233313730337d220a7d0a" id="697" name="Google Shape;697;p30"/>
          <p:cNvSpPr txBox="1"/>
          <p:nvPr>
            <p:ph idx="1" type="body"/>
          </p:nvPr>
        </p:nvSpPr>
        <p:spPr>
          <a:xfrm>
            <a:off x="5285740" y="1600835"/>
            <a:ext cx="3806700" cy="2211000"/>
          </a:xfrm>
          <a:prstGeom prst="rect">
            <a:avLst/>
          </a:prstGeom>
          <a:noFill/>
          <a:ln>
            <a:noFill/>
          </a:ln>
        </p:spPr>
        <p:txBody>
          <a:bodyPr anchorCtr="0" anchor="t" bIns="0" lIns="0" spcFirstLastPara="1" rIns="0" wrap="square" tIns="0">
            <a:noAutofit/>
          </a:bodyPr>
          <a:lstStyle/>
          <a:p>
            <a:pPr indent="-171450" lvl="0" marL="400050" rtl="0" algn="l">
              <a:lnSpc>
                <a:spcPct val="115000"/>
              </a:lnSpc>
              <a:spcBef>
                <a:spcPts val="0"/>
              </a:spcBef>
              <a:spcAft>
                <a:spcPts val="0"/>
              </a:spcAft>
              <a:buSzPts val="1800"/>
              <a:buFont typeface="Arial"/>
              <a:buChar char="•"/>
            </a:pPr>
            <a:r>
              <a:rPr b="1" lang="en-GB">
                <a:latin typeface="Arial"/>
                <a:ea typeface="Arial"/>
                <a:cs typeface="Arial"/>
                <a:sym typeface="Arial"/>
              </a:rPr>
              <a:t>Break Scale Limits</a:t>
            </a:r>
            <a:r>
              <a:rPr lang="en-GB"/>
              <a:t>: Train massive LLMs requiring thousands of GPUs that exceed a single cluster's capacity.</a:t>
            </a:r>
            <a:endParaRPr/>
          </a:p>
          <a:p>
            <a:pPr indent="-171450" lvl="0" marL="400050" rtl="0" algn="l">
              <a:lnSpc>
                <a:spcPct val="115000"/>
              </a:lnSpc>
              <a:spcBef>
                <a:spcPts val="1000"/>
              </a:spcBef>
              <a:spcAft>
                <a:spcPts val="0"/>
              </a:spcAft>
              <a:buSzPts val="1800"/>
              <a:buFont typeface="Arial"/>
              <a:buChar char="•"/>
            </a:pPr>
            <a:r>
              <a:rPr b="1" lang="en-GB">
                <a:latin typeface="Arial"/>
                <a:ea typeface="Arial"/>
                <a:cs typeface="Arial"/>
                <a:sym typeface="Arial"/>
              </a:rPr>
              <a:t>Embrace Heterogeneity</a:t>
            </a:r>
            <a:r>
              <a:rPr lang="en-GB"/>
              <a:t>: Seamlessly split and coordinate training tasks across clusters with different hardware (e.g., A100 in Cluster A, Ascend in Cluster B).</a:t>
            </a:r>
            <a:endParaRPr/>
          </a:p>
          <a:p>
            <a:pPr indent="-171450" lvl="0" marL="400050" rtl="0" algn="l">
              <a:lnSpc>
                <a:spcPct val="115000"/>
              </a:lnSpc>
              <a:spcBef>
                <a:spcPts val="1000"/>
              </a:spcBef>
              <a:spcAft>
                <a:spcPts val="0"/>
              </a:spcAft>
              <a:buSzPts val="1800"/>
              <a:buFont typeface="Arial"/>
              <a:buChar char="•"/>
            </a:pPr>
            <a:r>
              <a:rPr b="1" lang="en-GB">
                <a:latin typeface="Arial"/>
                <a:ea typeface="Arial"/>
                <a:cs typeface="Arial"/>
                <a:sym typeface="Arial"/>
              </a:rPr>
              <a:t>Unified Experience</a:t>
            </a:r>
            <a:r>
              <a:rPr lang="en-GB"/>
              <a:t>: Submit one job, get one aggregated status. No manual distribution or cross-cluster coordination required.</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31"/>
          <p:cNvSpPr txBox="1"/>
          <p:nvPr>
            <p:ph type="title"/>
          </p:nvPr>
        </p:nvSpPr>
        <p:spPr>
          <a:xfrm>
            <a:off x="311700" y="0"/>
            <a:ext cx="6949800" cy="10479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GB"/>
              <a:t>HyperJob Use Case</a:t>
            </a:r>
            <a:endParaRPr/>
          </a:p>
        </p:txBody>
      </p:sp>
      <p:sp>
        <p:nvSpPr>
          <p:cNvPr descr="7b0a202020202262756c6c6574223a20227b5c2263617465676f727949645c223a5c225c222c5c2274656d706c61746549645c223a32303233313730337d220a7d0a" id="703" name="Google Shape;703;p31"/>
          <p:cNvSpPr txBox="1"/>
          <p:nvPr>
            <p:ph idx="1" type="body"/>
          </p:nvPr>
        </p:nvSpPr>
        <p:spPr>
          <a:xfrm>
            <a:off x="3478530" y="2298700"/>
            <a:ext cx="1566000" cy="546000"/>
          </a:xfrm>
          <a:prstGeom prst="rect">
            <a:avLst/>
          </a:prstGeom>
          <a:noFill/>
          <a:ln>
            <a:noFill/>
          </a:ln>
        </p:spPr>
        <p:txBody>
          <a:bodyPr anchorCtr="0" anchor="t" bIns="0" lIns="0" spcFirstLastPara="1" rIns="0" wrap="square" tIns="0">
            <a:noAutofit/>
          </a:bodyPr>
          <a:lstStyle/>
          <a:p>
            <a:pPr indent="0" lvl="0" marL="228600" rtl="0" algn="l">
              <a:lnSpc>
                <a:spcPct val="150000"/>
              </a:lnSpc>
              <a:spcBef>
                <a:spcPts val="0"/>
              </a:spcBef>
              <a:spcAft>
                <a:spcPts val="0"/>
              </a:spcAft>
              <a:buSzPts val="1800"/>
              <a:buFont typeface="Arial"/>
              <a:buNone/>
            </a:pPr>
            <a:r>
              <a:rPr b="1" lang="en-GB" sz="1400">
                <a:latin typeface="Arial"/>
                <a:ea typeface="Arial"/>
                <a:cs typeface="Arial"/>
                <a:sym typeface="Arial"/>
              </a:rPr>
              <a:t>Case 1: Large-scale Training Job Splitting</a:t>
            </a:r>
            <a:endParaRPr b="1" sz="1400">
              <a:latin typeface="Arial"/>
              <a:ea typeface="Arial"/>
              <a:cs typeface="Arial"/>
              <a:sym typeface="Arial"/>
            </a:endParaRPr>
          </a:p>
        </p:txBody>
      </p:sp>
      <p:sp>
        <p:nvSpPr>
          <p:cNvPr descr="7b0a202020202262756c6c6574223a20227b5c2263617465676f727949645c223a5c225c222c5c2274656d706c61746549645c223a32303233313730337d220a7d0a" id="704" name="Google Shape;704;p31"/>
          <p:cNvSpPr txBox="1"/>
          <p:nvPr/>
        </p:nvSpPr>
        <p:spPr>
          <a:xfrm>
            <a:off x="7341870" y="2378710"/>
            <a:ext cx="1565400" cy="747900"/>
          </a:xfrm>
          <a:prstGeom prst="rect">
            <a:avLst/>
          </a:prstGeom>
          <a:noFill/>
          <a:ln>
            <a:noFill/>
          </a:ln>
        </p:spPr>
        <p:txBody>
          <a:bodyPr anchorCtr="0" anchor="t" bIns="0" lIns="0" spcFirstLastPara="1" rIns="0" wrap="square" tIns="0">
            <a:noAutofit/>
          </a:bodyPr>
          <a:lstStyle/>
          <a:p>
            <a:pPr indent="0" lvl="0" marL="228600" marR="0" rtl="0" algn="l">
              <a:lnSpc>
                <a:spcPct val="150000"/>
              </a:lnSpc>
              <a:spcBef>
                <a:spcPts val="0"/>
              </a:spcBef>
              <a:spcAft>
                <a:spcPts val="0"/>
              </a:spcAft>
              <a:buClr>
                <a:schemeClr val="dk2"/>
              </a:buClr>
              <a:buSzPts val="1800"/>
              <a:buFont typeface="Arial"/>
              <a:buNone/>
            </a:pPr>
            <a:r>
              <a:rPr b="1" i="0" lang="en-GB" sz="1400" u="none" cap="none" strike="noStrike">
                <a:solidFill>
                  <a:schemeClr val="dk2"/>
                </a:solidFill>
                <a:latin typeface="Arial"/>
                <a:ea typeface="Arial"/>
                <a:cs typeface="Arial"/>
                <a:sym typeface="Arial"/>
              </a:rPr>
              <a:t>Case 2: </a:t>
            </a:r>
            <a:endParaRPr b="1" i="0" sz="1400" u="none" cap="none" strike="noStrike">
              <a:solidFill>
                <a:schemeClr val="dk2"/>
              </a:solidFill>
              <a:latin typeface="Arial"/>
              <a:ea typeface="Arial"/>
              <a:cs typeface="Arial"/>
              <a:sym typeface="Arial"/>
            </a:endParaRPr>
          </a:p>
          <a:p>
            <a:pPr indent="0" lvl="0" marL="228600" marR="0" rtl="0" algn="l">
              <a:lnSpc>
                <a:spcPct val="150000"/>
              </a:lnSpc>
              <a:spcBef>
                <a:spcPts val="0"/>
              </a:spcBef>
              <a:spcAft>
                <a:spcPts val="0"/>
              </a:spcAft>
              <a:buClr>
                <a:schemeClr val="dk2"/>
              </a:buClr>
              <a:buSzPts val="1800"/>
              <a:buFont typeface="Arial"/>
              <a:buNone/>
            </a:pPr>
            <a:r>
              <a:rPr b="1" i="0" lang="en-GB" sz="1400" u="none" cap="none" strike="noStrike">
                <a:solidFill>
                  <a:schemeClr val="dk2"/>
                </a:solidFill>
                <a:latin typeface="Arial"/>
                <a:ea typeface="Arial"/>
                <a:cs typeface="Arial"/>
                <a:sym typeface="Arial"/>
              </a:rPr>
              <a:t>Heterogeneous Clusters</a:t>
            </a:r>
            <a:endParaRPr b="1" i="0" sz="1400" u="none" cap="none" strike="noStrike">
              <a:solidFill>
                <a:schemeClr val="dk2"/>
              </a:solidFill>
              <a:latin typeface="Arial"/>
              <a:ea typeface="Arial"/>
              <a:cs typeface="Arial"/>
              <a:sym typeface="Arial"/>
            </a:endParaRPr>
          </a:p>
        </p:txBody>
      </p:sp>
      <p:pic>
        <p:nvPicPr>
          <p:cNvPr descr="carbon (3)" id="705" name="Google Shape;705;p31"/>
          <p:cNvPicPr preferRelativeResize="0"/>
          <p:nvPr/>
        </p:nvPicPr>
        <p:blipFill rotWithShape="1">
          <a:blip r:embed="rId3">
            <a:alphaModFix/>
          </a:blip>
          <a:srcRect b="0" l="0" r="0" t="0"/>
          <a:stretch/>
        </p:blipFill>
        <p:spPr>
          <a:xfrm>
            <a:off x="-126365" y="715010"/>
            <a:ext cx="3975101" cy="4866641"/>
          </a:xfrm>
          <a:prstGeom prst="rect">
            <a:avLst/>
          </a:prstGeom>
          <a:noFill/>
          <a:ln>
            <a:noFill/>
          </a:ln>
        </p:spPr>
      </p:pic>
      <p:pic>
        <p:nvPicPr>
          <p:cNvPr descr="carbon (4)" id="706" name="Google Shape;706;p31"/>
          <p:cNvPicPr preferRelativeResize="0"/>
          <p:nvPr/>
        </p:nvPicPr>
        <p:blipFill rotWithShape="1">
          <a:blip r:embed="rId4">
            <a:alphaModFix/>
          </a:blip>
          <a:srcRect b="0" l="0" r="0" t="0"/>
          <a:stretch/>
        </p:blipFill>
        <p:spPr>
          <a:xfrm>
            <a:off x="5147310" y="954405"/>
            <a:ext cx="2423160" cy="431037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32"/>
          <p:cNvSpPr txBox="1"/>
          <p:nvPr>
            <p:ph type="title"/>
          </p:nvPr>
        </p:nvSpPr>
        <p:spPr>
          <a:xfrm>
            <a:off x="208915" y="0"/>
            <a:ext cx="7738800" cy="10479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GB"/>
              <a:t>2. Data Dependency Aware Scheduling </a:t>
            </a:r>
            <a:endParaRPr/>
          </a:p>
        </p:txBody>
      </p:sp>
      <p:pic>
        <p:nvPicPr>
          <p:cNvPr descr="datadependency.drawio" id="712" name="Google Shape;712;p32"/>
          <p:cNvPicPr preferRelativeResize="0"/>
          <p:nvPr/>
        </p:nvPicPr>
        <p:blipFill rotWithShape="1">
          <a:blip r:embed="rId3">
            <a:alphaModFix/>
          </a:blip>
          <a:srcRect b="0" l="0" r="0" t="0"/>
          <a:stretch/>
        </p:blipFill>
        <p:spPr>
          <a:xfrm>
            <a:off x="316230" y="1203960"/>
            <a:ext cx="5406390" cy="3645537"/>
          </a:xfrm>
          <a:prstGeom prst="rect">
            <a:avLst/>
          </a:prstGeom>
          <a:noFill/>
          <a:ln>
            <a:noFill/>
          </a:ln>
        </p:spPr>
      </p:pic>
      <p:sp>
        <p:nvSpPr>
          <p:cNvPr descr="7b0a202020202262756c6c6574223a20227b5c2263617465676f727949645c223a5c225c222c5c2274656d706c61746549645c223a32303233313730337d220a7d0a" id="713" name="Google Shape;713;p32"/>
          <p:cNvSpPr txBox="1"/>
          <p:nvPr>
            <p:ph idx="1" type="body"/>
          </p:nvPr>
        </p:nvSpPr>
        <p:spPr>
          <a:xfrm>
            <a:off x="5579745" y="2176145"/>
            <a:ext cx="3378300" cy="2211000"/>
          </a:xfrm>
          <a:prstGeom prst="rect">
            <a:avLst/>
          </a:prstGeom>
          <a:noFill/>
          <a:ln>
            <a:noFill/>
          </a:ln>
        </p:spPr>
        <p:txBody>
          <a:bodyPr anchorCtr="0" anchor="t" bIns="0" lIns="0" spcFirstLastPara="1" rIns="0" wrap="square" tIns="0">
            <a:noAutofit/>
          </a:bodyPr>
          <a:lstStyle/>
          <a:p>
            <a:pPr indent="-171450" lvl="0" marL="400050" rtl="0" algn="l">
              <a:lnSpc>
                <a:spcPct val="150000"/>
              </a:lnSpc>
              <a:spcBef>
                <a:spcPts val="0"/>
              </a:spcBef>
              <a:spcAft>
                <a:spcPts val="0"/>
              </a:spcAft>
              <a:buSzPts val="1800"/>
              <a:buFont typeface="Arial"/>
              <a:buChar char="•"/>
            </a:pPr>
            <a:r>
              <a:rPr b="1" lang="en-GB">
                <a:latin typeface="Arial"/>
                <a:ea typeface="Arial"/>
                <a:cs typeface="Arial"/>
                <a:sym typeface="Arial"/>
              </a:rPr>
              <a:t>Pluggable Integration</a:t>
            </a:r>
            <a:r>
              <a:rPr lang="en-GB"/>
              <a:t>: Connects with external Data Lakes (e.g., Amoro, Hive, S3) to discover physical data locality.</a:t>
            </a:r>
            <a:endParaRPr/>
          </a:p>
          <a:p>
            <a:pPr indent="-171450" lvl="0" marL="400050" rtl="0" algn="l">
              <a:lnSpc>
                <a:spcPct val="150000"/>
              </a:lnSpc>
              <a:spcBef>
                <a:spcPts val="0"/>
              </a:spcBef>
              <a:spcAft>
                <a:spcPts val="0"/>
              </a:spcAft>
              <a:buSzPts val="1800"/>
              <a:buFont typeface="Arial"/>
              <a:buChar char="•"/>
            </a:pPr>
            <a:r>
              <a:rPr b="1" lang="en-GB">
                <a:latin typeface="Arial"/>
                <a:ea typeface="Arial"/>
                <a:cs typeface="Arial"/>
                <a:sym typeface="Arial"/>
              </a:rPr>
              <a:t>Zero-Touch Placement</a:t>
            </a:r>
            <a:r>
              <a:rPr lang="en-GB"/>
              <a:t>: Automatically injects affinity rules to force workloads to the cluster closest to the target data.</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33"/>
          <p:cNvSpPr txBox="1"/>
          <p:nvPr>
            <p:ph type="title"/>
          </p:nvPr>
        </p:nvSpPr>
        <p:spPr>
          <a:xfrm>
            <a:off x="311700" y="445025"/>
            <a:ext cx="8520600" cy="572700"/>
          </a:xfrm>
          <a:prstGeom prst="rect">
            <a:avLst/>
          </a:prstGeom>
          <a:noFill/>
          <a:ln>
            <a:noFill/>
          </a:ln>
        </p:spPr>
        <p:txBody>
          <a:bodyPr anchorCtr="0" anchor="ctr" bIns="0" lIns="0" spcFirstLastPara="1" rIns="0" wrap="square" tIns="0">
            <a:normAutofit fontScale="90000"/>
          </a:bodyPr>
          <a:lstStyle/>
          <a:p>
            <a:pPr indent="0" lvl="0" marL="0" rtl="0" algn="l">
              <a:lnSpc>
                <a:spcPct val="100000"/>
              </a:lnSpc>
              <a:spcBef>
                <a:spcPts val="0"/>
              </a:spcBef>
              <a:spcAft>
                <a:spcPts val="0"/>
              </a:spcAft>
              <a:buSzPct val="111000"/>
              <a:buNone/>
            </a:pPr>
            <a:r>
              <a:rPr lang="en-GB"/>
              <a:t>Resources and Call for Contribution</a:t>
            </a:r>
            <a:br>
              <a:rPr lang="en-GB"/>
            </a:br>
            <a:br>
              <a:rPr lang="en-GB"/>
            </a:br>
            <a:endParaRPr/>
          </a:p>
        </p:txBody>
      </p:sp>
      <p:grpSp>
        <p:nvGrpSpPr>
          <p:cNvPr id="719" name="Google Shape;719;p33"/>
          <p:cNvGrpSpPr/>
          <p:nvPr/>
        </p:nvGrpSpPr>
        <p:grpSpPr>
          <a:xfrm>
            <a:off x="211469" y="665543"/>
            <a:ext cx="8732935" cy="4257710"/>
            <a:chOff x="501559" y="1331396"/>
            <a:chExt cx="10966891" cy="5508034"/>
          </a:xfrm>
        </p:grpSpPr>
        <p:sp>
          <p:nvSpPr>
            <p:cNvPr id="720" name="Google Shape;720;p33"/>
            <p:cNvSpPr txBox="1"/>
            <p:nvPr/>
          </p:nvSpPr>
          <p:spPr>
            <a:xfrm>
              <a:off x="8470516" y="6303930"/>
              <a:ext cx="2058600" cy="53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b="1" i="0" lang="en-GB" sz="1050" u="none" cap="none" strike="noStrike">
                  <a:solidFill>
                    <a:srgbClr val="000000"/>
                  </a:solidFill>
                  <a:latin typeface="Arial"/>
                  <a:ea typeface="Arial"/>
                  <a:cs typeface="Arial"/>
                  <a:sym typeface="Arial"/>
                </a:rPr>
                <a:t>community user</a:t>
              </a:r>
              <a:endParaRPr b="1" i="0" sz="10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50"/>
                <a:buFont typeface="Arial"/>
                <a:buNone/>
              </a:pPr>
              <a:r>
                <a:rPr b="1" i="0" lang="en-GB" sz="1050" u="none" cap="none" strike="noStrike">
                  <a:solidFill>
                    <a:srgbClr val="000000"/>
                  </a:solidFill>
                  <a:latin typeface="Arial"/>
                  <a:ea typeface="Arial"/>
                  <a:cs typeface="Arial"/>
                  <a:sym typeface="Arial"/>
                </a:rPr>
                <a:t>60+ Production</a:t>
              </a:r>
              <a:endParaRPr b="1" i="0" sz="1050" u="none" cap="none" strike="noStrike">
                <a:solidFill>
                  <a:srgbClr val="000000"/>
                </a:solidFill>
                <a:latin typeface="Arial"/>
                <a:ea typeface="Arial"/>
                <a:cs typeface="Arial"/>
                <a:sym typeface="Arial"/>
              </a:endParaRPr>
            </a:p>
          </p:txBody>
        </p:sp>
        <p:grpSp>
          <p:nvGrpSpPr>
            <p:cNvPr id="721" name="Google Shape;721;p33"/>
            <p:cNvGrpSpPr/>
            <p:nvPr/>
          </p:nvGrpSpPr>
          <p:grpSpPr>
            <a:xfrm>
              <a:off x="7067750" y="1331396"/>
              <a:ext cx="4400700" cy="4892100"/>
              <a:chOff x="1474362" y="1418282"/>
              <a:chExt cx="4400700" cy="4892100"/>
            </a:xfrm>
          </p:grpSpPr>
          <p:sp>
            <p:nvSpPr>
              <p:cNvPr id="722" name="Google Shape;722;p33"/>
              <p:cNvSpPr/>
              <p:nvPr/>
            </p:nvSpPr>
            <p:spPr>
              <a:xfrm>
                <a:off x="1474362" y="1418282"/>
                <a:ext cx="4400700" cy="4892100"/>
              </a:xfrm>
              <a:prstGeom prst="rect">
                <a:avLst/>
              </a:prstGeom>
              <a:gradFill>
                <a:gsLst>
                  <a:gs pos="0">
                    <a:srgbClr val="FFFFFF"/>
                  </a:gs>
                  <a:gs pos="90000">
                    <a:srgbClr val="FFFFFF"/>
                  </a:gs>
                  <a:gs pos="100000">
                    <a:srgbClr val="F2F2F2">
                      <a:alpha val="70196"/>
                    </a:srgbClr>
                  </a:gs>
                </a:gsLst>
                <a:path path="circle">
                  <a:fillToRect b="50%" l="50%" r="50%" t="50%"/>
                </a:path>
                <a:tileRect/>
              </a:gradFill>
              <a:ln cap="flat" cmpd="sng" w="9525">
                <a:solidFill>
                  <a:srgbClr val="D8D8D8"/>
                </a:solidFill>
                <a:prstDash val="solid"/>
                <a:miter lim="800000"/>
                <a:headEnd len="sm" w="sm" type="none"/>
                <a:tailEnd len="sm" w="sm" type="none"/>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666666"/>
                  </a:solidFill>
                  <a:latin typeface="Arial"/>
                  <a:ea typeface="Arial"/>
                  <a:cs typeface="Arial"/>
                  <a:sym typeface="Arial"/>
                </a:endParaRPr>
              </a:p>
            </p:txBody>
          </p:sp>
          <p:sp>
            <p:nvSpPr>
              <p:cNvPr id="723" name="Google Shape;723;p33"/>
              <p:cNvSpPr/>
              <p:nvPr/>
            </p:nvSpPr>
            <p:spPr>
              <a:xfrm>
                <a:off x="4701203" y="1616499"/>
                <a:ext cx="867000" cy="410100"/>
              </a:xfrm>
              <a:prstGeom prst="rect">
                <a:avLst/>
              </a:prstGeom>
              <a:solidFill>
                <a:srgbClr val="FFFFFF"/>
              </a:solidFill>
              <a:ln cap="flat" cmpd="sng" w="9525">
                <a:solidFill>
                  <a:srgbClr val="EEEEE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666666"/>
                  </a:solidFill>
                  <a:latin typeface="Arial"/>
                  <a:ea typeface="Arial"/>
                  <a:cs typeface="Arial"/>
                  <a:sym typeface="Arial"/>
                </a:endParaRPr>
              </a:p>
            </p:txBody>
          </p:sp>
          <p:sp>
            <p:nvSpPr>
              <p:cNvPr id="724" name="Google Shape;724;p33"/>
              <p:cNvSpPr/>
              <p:nvPr/>
            </p:nvSpPr>
            <p:spPr>
              <a:xfrm>
                <a:off x="1761294" y="2203525"/>
                <a:ext cx="867000" cy="410100"/>
              </a:xfrm>
              <a:prstGeom prst="rect">
                <a:avLst/>
              </a:prstGeom>
              <a:solidFill>
                <a:srgbClr val="FFFFFF"/>
              </a:solidFill>
              <a:ln cap="flat" cmpd="sng" w="9525">
                <a:solidFill>
                  <a:srgbClr val="EEEEE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666666"/>
                  </a:solidFill>
                  <a:latin typeface="Arial"/>
                  <a:ea typeface="Arial"/>
                  <a:cs typeface="Arial"/>
                  <a:sym typeface="Arial"/>
                </a:endParaRPr>
              </a:p>
            </p:txBody>
          </p:sp>
          <p:grpSp>
            <p:nvGrpSpPr>
              <p:cNvPr id="725" name="Google Shape;725;p33"/>
              <p:cNvGrpSpPr/>
              <p:nvPr/>
            </p:nvGrpSpPr>
            <p:grpSpPr>
              <a:xfrm>
                <a:off x="1754761" y="1614223"/>
                <a:ext cx="3836390" cy="3919152"/>
                <a:chOff x="1159068" y="1367256"/>
                <a:chExt cx="3836390" cy="3919152"/>
              </a:xfrm>
            </p:grpSpPr>
            <p:sp>
              <p:nvSpPr>
                <p:cNvPr id="726" name="Google Shape;726;p33"/>
                <p:cNvSpPr/>
                <p:nvPr/>
              </p:nvSpPr>
              <p:spPr>
                <a:xfrm>
                  <a:off x="3114580" y="4255145"/>
                  <a:ext cx="867000" cy="410100"/>
                </a:xfrm>
                <a:prstGeom prst="rect">
                  <a:avLst/>
                </a:prstGeom>
                <a:solidFill>
                  <a:srgbClr val="FFFFFF"/>
                </a:solidFill>
                <a:ln cap="flat" cmpd="sng" w="9525">
                  <a:solidFill>
                    <a:srgbClr val="EEEEE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666666"/>
                    </a:solidFill>
                    <a:latin typeface="Arial"/>
                    <a:ea typeface="Arial"/>
                    <a:cs typeface="Arial"/>
                    <a:sym typeface="Arial"/>
                  </a:endParaRPr>
                </a:p>
              </p:txBody>
            </p:sp>
            <p:sp>
              <p:nvSpPr>
                <p:cNvPr id="727" name="Google Shape;727;p33"/>
                <p:cNvSpPr/>
                <p:nvPr/>
              </p:nvSpPr>
              <p:spPr>
                <a:xfrm>
                  <a:off x="2154480" y="4264391"/>
                  <a:ext cx="867000" cy="410100"/>
                </a:xfrm>
                <a:prstGeom prst="rect">
                  <a:avLst/>
                </a:prstGeom>
                <a:solidFill>
                  <a:srgbClr val="FFFFFF"/>
                </a:solidFill>
                <a:ln cap="flat" cmpd="sng" w="9525">
                  <a:solidFill>
                    <a:srgbClr val="EEEEE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666666"/>
                    </a:solidFill>
                    <a:latin typeface="Arial"/>
                    <a:ea typeface="Arial"/>
                    <a:cs typeface="Arial"/>
                    <a:sym typeface="Arial"/>
                  </a:endParaRPr>
                </a:p>
              </p:txBody>
            </p:sp>
            <p:sp>
              <p:nvSpPr>
                <p:cNvPr id="728" name="Google Shape;728;p33"/>
                <p:cNvSpPr/>
                <p:nvPr/>
              </p:nvSpPr>
              <p:spPr>
                <a:xfrm>
                  <a:off x="1159068" y="4267613"/>
                  <a:ext cx="867000" cy="410100"/>
                </a:xfrm>
                <a:prstGeom prst="rect">
                  <a:avLst/>
                </a:prstGeom>
                <a:solidFill>
                  <a:srgbClr val="FFFFFF"/>
                </a:solidFill>
                <a:ln cap="flat" cmpd="sng" w="9525">
                  <a:solidFill>
                    <a:srgbClr val="EEEEE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666666"/>
                    </a:solidFill>
                    <a:latin typeface="Arial"/>
                    <a:ea typeface="Arial"/>
                    <a:cs typeface="Arial"/>
                    <a:sym typeface="Arial"/>
                  </a:endParaRPr>
                </a:p>
              </p:txBody>
            </p:sp>
            <p:sp>
              <p:nvSpPr>
                <p:cNvPr id="729" name="Google Shape;729;p33"/>
                <p:cNvSpPr/>
                <p:nvPr/>
              </p:nvSpPr>
              <p:spPr>
                <a:xfrm>
                  <a:off x="4122676" y="4267613"/>
                  <a:ext cx="867000" cy="410100"/>
                </a:xfrm>
                <a:prstGeom prst="rect">
                  <a:avLst/>
                </a:prstGeom>
                <a:solidFill>
                  <a:srgbClr val="FFFFFF"/>
                </a:solidFill>
                <a:ln cap="flat" cmpd="sng" w="9525">
                  <a:solidFill>
                    <a:srgbClr val="EEEEE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666666"/>
                    </a:solidFill>
                    <a:latin typeface="Arial"/>
                    <a:ea typeface="Arial"/>
                    <a:cs typeface="Arial"/>
                    <a:sym typeface="Arial"/>
                  </a:endParaRPr>
                </a:p>
              </p:txBody>
            </p:sp>
            <p:sp>
              <p:nvSpPr>
                <p:cNvPr id="730" name="Google Shape;730;p33"/>
                <p:cNvSpPr/>
                <p:nvPr/>
              </p:nvSpPr>
              <p:spPr>
                <a:xfrm>
                  <a:off x="2137543" y="4858888"/>
                  <a:ext cx="867000" cy="410100"/>
                </a:xfrm>
                <a:prstGeom prst="rect">
                  <a:avLst/>
                </a:prstGeom>
                <a:solidFill>
                  <a:srgbClr val="FFFFFF"/>
                </a:solidFill>
                <a:ln cap="flat" cmpd="sng" w="9525">
                  <a:solidFill>
                    <a:srgbClr val="EEEEE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666666"/>
                    </a:solidFill>
                    <a:latin typeface="Arial"/>
                    <a:ea typeface="Arial"/>
                    <a:cs typeface="Arial"/>
                    <a:sym typeface="Arial"/>
                  </a:endParaRPr>
                </a:p>
              </p:txBody>
            </p:sp>
            <p:grpSp>
              <p:nvGrpSpPr>
                <p:cNvPr id="731" name="Google Shape;731;p33"/>
                <p:cNvGrpSpPr/>
                <p:nvPr/>
              </p:nvGrpSpPr>
              <p:grpSpPr>
                <a:xfrm>
                  <a:off x="1180260" y="1953712"/>
                  <a:ext cx="3792272" cy="413992"/>
                  <a:chOff x="7016267" y="1007990"/>
                  <a:chExt cx="5938415" cy="692642"/>
                </a:xfrm>
              </p:grpSpPr>
              <p:pic>
                <p:nvPicPr>
                  <p:cNvPr id="732" name="Google Shape;732;p33"/>
                  <p:cNvPicPr preferRelativeResize="0"/>
                  <p:nvPr/>
                </p:nvPicPr>
                <p:blipFill rotWithShape="1">
                  <a:blip r:embed="rId3">
                    <a:alphaModFix/>
                  </a:blip>
                  <a:srcRect b="0" l="0" r="0" t="0"/>
                  <a:stretch/>
                </p:blipFill>
                <p:spPr>
                  <a:xfrm>
                    <a:off x="11582285" y="1014434"/>
                    <a:ext cx="1372397" cy="686196"/>
                  </a:xfrm>
                  <a:prstGeom prst="rect">
                    <a:avLst/>
                  </a:prstGeom>
                  <a:noFill/>
                  <a:ln>
                    <a:noFill/>
                  </a:ln>
                </p:spPr>
              </p:pic>
              <p:pic>
                <p:nvPicPr>
                  <p:cNvPr id="733" name="Google Shape;733;p33"/>
                  <p:cNvPicPr preferRelativeResize="0"/>
                  <p:nvPr/>
                </p:nvPicPr>
                <p:blipFill rotWithShape="1">
                  <a:blip r:embed="rId4">
                    <a:alphaModFix/>
                  </a:blip>
                  <a:srcRect b="0" l="0" r="0" t="0"/>
                  <a:stretch/>
                </p:blipFill>
                <p:spPr>
                  <a:xfrm>
                    <a:off x="8517584" y="1014434"/>
                    <a:ext cx="1372395" cy="686198"/>
                  </a:xfrm>
                  <a:prstGeom prst="rect">
                    <a:avLst/>
                  </a:prstGeom>
                  <a:noFill/>
                  <a:ln>
                    <a:noFill/>
                  </a:ln>
                </p:spPr>
              </p:pic>
              <p:pic>
                <p:nvPicPr>
                  <p:cNvPr id="734" name="Google Shape;734;p33"/>
                  <p:cNvPicPr preferRelativeResize="0"/>
                  <p:nvPr/>
                </p:nvPicPr>
                <p:blipFill rotWithShape="1">
                  <a:blip r:embed="rId5">
                    <a:alphaModFix/>
                  </a:blip>
                  <a:srcRect b="0" l="0" r="0" t="0"/>
                  <a:stretch/>
                </p:blipFill>
                <p:spPr>
                  <a:xfrm>
                    <a:off x="10049935" y="1014434"/>
                    <a:ext cx="1372397" cy="686196"/>
                  </a:xfrm>
                  <a:prstGeom prst="rect">
                    <a:avLst/>
                  </a:prstGeom>
                  <a:noFill/>
                  <a:ln>
                    <a:noFill/>
                  </a:ln>
                </p:spPr>
              </p:pic>
              <p:pic>
                <p:nvPicPr>
                  <p:cNvPr id="735" name="Google Shape;735;p33"/>
                  <p:cNvPicPr preferRelativeResize="0"/>
                  <p:nvPr/>
                </p:nvPicPr>
                <p:blipFill rotWithShape="1">
                  <a:blip r:embed="rId6">
                    <a:alphaModFix/>
                  </a:blip>
                  <a:srcRect b="0" l="0" r="0" t="0"/>
                  <a:stretch/>
                </p:blipFill>
                <p:spPr>
                  <a:xfrm>
                    <a:off x="7016267" y="1007990"/>
                    <a:ext cx="1242215" cy="686197"/>
                  </a:xfrm>
                  <a:prstGeom prst="rect">
                    <a:avLst/>
                  </a:prstGeom>
                  <a:noFill/>
                  <a:ln>
                    <a:noFill/>
                  </a:ln>
                </p:spPr>
              </p:pic>
            </p:grpSp>
            <p:grpSp>
              <p:nvGrpSpPr>
                <p:cNvPr id="736" name="Google Shape;736;p33"/>
                <p:cNvGrpSpPr/>
                <p:nvPr/>
              </p:nvGrpSpPr>
              <p:grpSpPr>
                <a:xfrm>
                  <a:off x="1160329" y="3679778"/>
                  <a:ext cx="3808915" cy="410148"/>
                  <a:chOff x="723900" y="5488303"/>
                  <a:chExt cx="5169537" cy="594762"/>
                </a:xfrm>
              </p:grpSpPr>
              <p:pic>
                <p:nvPicPr>
                  <p:cNvPr id="737" name="Google Shape;737;p33"/>
                  <p:cNvPicPr preferRelativeResize="0"/>
                  <p:nvPr/>
                </p:nvPicPr>
                <p:blipFill rotWithShape="1">
                  <a:blip r:embed="rId7">
                    <a:alphaModFix/>
                  </a:blip>
                  <a:srcRect b="0" l="0" r="0" t="0"/>
                  <a:stretch/>
                </p:blipFill>
                <p:spPr>
                  <a:xfrm>
                    <a:off x="723900" y="5488304"/>
                    <a:ext cx="1189522" cy="594761"/>
                  </a:xfrm>
                  <a:prstGeom prst="rect">
                    <a:avLst/>
                  </a:prstGeom>
                  <a:noFill/>
                  <a:ln>
                    <a:noFill/>
                  </a:ln>
                </p:spPr>
              </p:pic>
              <p:pic>
                <p:nvPicPr>
                  <p:cNvPr id="738" name="Google Shape;738;p33"/>
                  <p:cNvPicPr preferRelativeResize="0"/>
                  <p:nvPr/>
                </p:nvPicPr>
                <p:blipFill rotWithShape="1">
                  <a:blip r:embed="rId8">
                    <a:alphaModFix/>
                  </a:blip>
                  <a:srcRect b="0" l="0" r="0" t="0"/>
                  <a:stretch/>
                </p:blipFill>
                <p:spPr>
                  <a:xfrm>
                    <a:off x="3377237" y="5488304"/>
                    <a:ext cx="1189525" cy="594761"/>
                  </a:xfrm>
                  <a:prstGeom prst="rect">
                    <a:avLst/>
                  </a:prstGeom>
                  <a:noFill/>
                  <a:ln>
                    <a:noFill/>
                  </a:ln>
                </p:spPr>
              </p:pic>
              <p:pic>
                <p:nvPicPr>
                  <p:cNvPr id="739" name="Google Shape;739;p33"/>
                  <p:cNvPicPr preferRelativeResize="0"/>
                  <p:nvPr/>
                </p:nvPicPr>
                <p:blipFill rotWithShape="1">
                  <a:blip r:embed="rId9">
                    <a:alphaModFix/>
                  </a:blip>
                  <a:srcRect b="0" l="0" r="0" t="0"/>
                  <a:stretch/>
                </p:blipFill>
                <p:spPr>
                  <a:xfrm>
                    <a:off x="2052066" y="5488305"/>
                    <a:ext cx="1189525" cy="594760"/>
                  </a:xfrm>
                  <a:prstGeom prst="rect">
                    <a:avLst/>
                  </a:prstGeom>
                  <a:noFill/>
                  <a:ln>
                    <a:noFill/>
                  </a:ln>
                </p:spPr>
              </p:pic>
              <p:pic>
                <p:nvPicPr>
                  <p:cNvPr id="740" name="Google Shape;740;p33"/>
                  <p:cNvPicPr preferRelativeResize="0"/>
                  <p:nvPr/>
                </p:nvPicPr>
                <p:blipFill rotWithShape="1">
                  <a:blip r:embed="rId10">
                    <a:alphaModFix/>
                  </a:blip>
                  <a:srcRect b="0" l="0" r="0" t="0"/>
                  <a:stretch/>
                </p:blipFill>
                <p:spPr>
                  <a:xfrm>
                    <a:off x="4703912" y="5488303"/>
                    <a:ext cx="1189525" cy="594762"/>
                  </a:xfrm>
                  <a:prstGeom prst="rect">
                    <a:avLst/>
                  </a:prstGeom>
                  <a:noFill/>
                  <a:ln>
                    <a:noFill/>
                  </a:ln>
                </p:spPr>
              </p:pic>
            </p:grpSp>
            <p:grpSp>
              <p:nvGrpSpPr>
                <p:cNvPr id="741" name="Google Shape;741;p33"/>
                <p:cNvGrpSpPr/>
                <p:nvPr/>
              </p:nvGrpSpPr>
              <p:grpSpPr>
                <a:xfrm>
                  <a:off x="2137822" y="3105689"/>
                  <a:ext cx="2831421" cy="410148"/>
                  <a:chOff x="2050572" y="4655807"/>
                  <a:chExt cx="3842863" cy="594762"/>
                </a:xfrm>
              </p:grpSpPr>
              <p:pic>
                <p:nvPicPr>
                  <p:cNvPr id="742" name="Google Shape;742;p33"/>
                  <p:cNvPicPr preferRelativeResize="0"/>
                  <p:nvPr/>
                </p:nvPicPr>
                <p:blipFill rotWithShape="1">
                  <a:blip r:embed="rId11">
                    <a:alphaModFix/>
                  </a:blip>
                  <a:srcRect b="0" l="0" r="0" t="0"/>
                  <a:stretch/>
                </p:blipFill>
                <p:spPr>
                  <a:xfrm>
                    <a:off x="2050572" y="4655807"/>
                    <a:ext cx="1189525" cy="594761"/>
                  </a:xfrm>
                  <a:prstGeom prst="rect">
                    <a:avLst/>
                  </a:prstGeom>
                  <a:noFill/>
                  <a:ln>
                    <a:noFill/>
                  </a:ln>
                </p:spPr>
              </p:pic>
              <p:pic>
                <p:nvPicPr>
                  <p:cNvPr id="743" name="Google Shape;743;p33"/>
                  <p:cNvPicPr preferRelativeResize="0"/>
                  <p:nvPr/>
                </p:nvPicPr>
                <p:blipFill rotWithShape="1">
                  <a:blip r:embed="rId12">
                    <a:alphaModFix/>
                  </a:blip>
                  <a:srcRect b="0" l="0" r="0" t="0"/>
                  <a:stretch/>
                </p:blipFill>
                <p:spPr>
                  <a:xfrm>
                    <a:off x="3377242" y="4655807"/>
                    <a:ext cx="1189525" cy="594761"/>
                  </a:xfrm>
                  <a:prstGeom prst="rect">
                    <a:avLst/>
                  </a:prstGeom>
                  <a:noFill/>
                  <a:ln>
                    <a:noFill/>
                  </a:ln>
                </p:spPr>
              </p:pic>
              <p:pic>
                <p:nvPicPr>
                  <p:cNvPr id="744" name="Google Shape;744;p33"/>
                  <p:cNvPicPr preferRelativeResize="0"/>
                  <p:nvPr/>
                </p:nvPicPr>
                <p:blipFill rotWithShape="1">
                  <a:blip r:embed="rId13">
                    <a:alphaModFix/>
                  </a:blip>
                  <a:srcRect b="0" l="0" r="0" t="0"/>
                  <a:stretch/>
                </p:blipFill>
                <p:spPr>
                  <a:xfrm>
                    <a:off x="4703910" y="4655807"/>
                    <a:ext cx="1189525" cy="594762"/>
                  </a:xfrm>
                  <a:prstGeom prst="rect">
                    <a:avLst/>
                  </a:prstGeom>
                  <a:noFill/>
                  <a:ln>
                    <a:noFill/>
                  </a:ln>
                </p:spPr>
              </p:pic>
            </p:grpSp>
            <p:grpSp>
              <p:nvGrpSpPr>
                <p:cNvPr id="745" name="Google Shape;745;p33"/>
                <p:cNvGrpSpPr/>
                <p:nvPr/>
              </p:nvGrpSpPr>
              <p:grpSpPr>
                <a:xfrm>
                  <a:off x="1160312" y="1367256"/>
                  <a:ext cx="3835146" cy="1584137"/>
                  <a:chOff x="868597" y="1161212"/>
                  <a:chExt cx="6005553" cy="2650388"/>
                </a:xfrm>
              </p:grpSpPr>
              <p:pic>
                <p:nvPicPr>
                  <p:cNvPr id="746" name="Google Shape;746;p33"/>
                  <p:cNvPicPr preferRelativeResize="0"/>
                  <p:nvPr/>
                </p:nvPicPr>
                <p:blipFill rotWithShape="1">
                  <a:blip r:embed="rId14">
                    <a:alphaModFix/>
                  </a:blip>
                  <a:srcRect b="0" l="0" r="0" t="0"/>
                  <a:stretch/>
                </p:blipFill>
                <p:spPr>
                  <a:xfrm>
                    <a:off x="5501756" y="3125403"/>
                    <a:ext cx="1372394" cy="686197"/>
                  </a:xfrm>
                  <a:prstGeom prst="rect">
                    <a:avLst/>
                  </a:prstGeom>
                  <a:noFill/>
                  <a:ln>
                    <a:noFill/>
                  </a:ln>
                </p:spPr>
              </p:pic>
              <p:pic>
                <p:nvPicPr>
                  <p:cNvPr id="747" name="Google Shape;747;p33"/>
                  <p:cNvPicPr preferRelativeResize="0"/>
                  <p:nvPr/>
                </p:nvPicPr>
                <p:blipFill rotWithShape="1">
                  <a:blip r:embed="rId15">
                    <a:alphaModFix/>
                  </a:blip>
                  <a:srcRect b="0" l="0" r="0" t="0"/>
                  <a:stretch/>
                </p:blipFill>
                <p:spPr>
                  <a:xfrm>
                    <a:off x="868597" y="1161212"/>
                    <a:ext cx="1372392" cy="686197"/>
                  </a:xfrm>
                  <a:prstGeom prst="rect">
                    <a:avLst/>
                  </a:prstGeom>
                  <a:noFill/>
                  <a:ln>
                    <a:noFill/>
                  </a:ln>
                </p:spPr>
              </p:pic>
              <p:pic>
                <p:nvPicPr>
                  <p:cNvPr id="748" name="Google Shape;748;p33"/>
                  <p:cNvPicPr preferRelativeResize="0"/>
                  <p:nvPr/>
                </p:nvPicPr>
                <p:blipFill rotWithShape="1">
                  <a:blip r:embed="rId16">
                    <a:alphaModFix/>
                  </a:blip>
                  <a:srcRect b="0" l="0" r="0" t="0"/>
                  <a:stretch/>
                </p:blipFill>
                <p:spPr>
                  <a:xfrm>
                    <a:off x="2441890" y="1161212"/>
                    <a:ext cx="1390007" cy="713293"/>
                  </a:xfrm>
                  <a:prstGeom prst="rect">
                    <a:avLst/>
                  </a:prstGeom>
                  <a:noFill/>
                  <a:ln>
                    <a:noFill/>
                  </a:ln>
                </p:spPr>
              </p:pic>
            </p:grpSp>
            <p:grpSp>
              <p:nvGrpSpPr>
                <p:cNvPr id="749" name="Google Shape;749;p33"/>
                <p:cNvGrpSpPr/>
                <p:nvPr/>
              </p:nvGrpSpPr>
              <p:grpSpPr>
                <a:xfrm>
                  <a:off x="1160329" y="2531602"/>
                  <a:ext cx="2841665" cy="2754806"/>
                  <a:chOff x="723900" y="3823319"/>
                  <a:chExt cx="3856766" cy="3994789"/>
                </a:xfrm>
              </p:grpSpPr>
              <p:pic>
                <p:nvPicPr>
                  <p:cNvPr id="750" name="Google Shape;750;p33"/>
                  <p:cNvPicPr preferRelativeResize="0"/>
                  <p:nvPr/>
                </p:nvPicPr>
                <p:blipFill rotWithShape="1">
                  <a:blip r:embed="rId17">
                    <a:alphaModFix/>
                  </a:blip>
                  <a:srcRect b="0" l="0" r="0" t="0"/>
                  <a:stretch/>
                </p:blipFill>
                <p:spPr>
                  <a:xfrm>
                    <a:off x="3391141" y="7223345"/>
                    <a:ext cx="1189525" cy="594763"/>
                  </a:xfrm>
                  <a:prstGeom prst="rect">
                    <a:avLst/>
                  </a:prstGeom>
                  <a:noFill/>
                  <a:ln>
                    <a:noFill/>
                  </a:ln>
                </p:spPr>
              </p:pic>
              <p:pic>
                <p:nvPicPr>
                  <p:cNvPr id="751" name="Google Shape;751;p33"/>
                  <p:cNvPicPr preferRelativeResize="0"/>
                  <p:nvPr/>
                </p:nvPicPr>
                <p:blipFill rotWithShape="1">
                  <a:blip r:embed="rId18">
                    <a:alphaModFix/>
                  </a:blip>
                  <a:srcRect b="0" l="0" r="0" t="0"/>
                  <a:stretch/>
                </p:blipFill>
                <p:spPr>
                  <a:xfrm>
                    <a:off x="2050569" y="3823319"/>
                    <a:ext cx="1189525" cy="594762"/>
                  </a:xfrm>
                  <a:prstGeom prst="rect">
                    <a:avLst/>
                  </a:prstGeom>
                  <a:noFill/>
                  <a:ln>
                    <a:noFill/>
                  </a:ln>
                </p:spPr>
              </p:pic>
              <p:pic>
                <p:nvPicPr>
                  <p:cNvPr id="752" name="Google Shape;752;p33"/>
                  <p:cNvPicPr preferRelativeResize="0"/>
                  <p:nvPr/>
                </p:nvPicPr>
                <p:blipFill rotWithShape="1">
                  <a:blip r:embed="rId19">
                    <a:alphaModFix/>
                  </a:blip>
                  <a:srcRect b="0" l="0" r="0" t="0"/>
                  <a:stretch/>
                </p:blipFill>
                <p:spPr>
                  <a:xfrm>
                    <a:off x="3377239" y="3823319"/>
                    <a:ext cx="1189525" cy="594762"/>
                  </a:xfrm>
                  <a:prstGeom prst="rect">
                    <a:avLst/>
                  </a:prstGeom>
                  <a:noFill/>
                  <a:ln>
                    <a:noFill/>
                  </a:ln>
                </p:spPr>
              </p:pic>
              <p:pic>
                <p:nvPicPr>
                  <p:cNvPr id="753" name="Google Shape;753;p33"/>
                  <p:cNvPicPr preferRelativeResize="0"/>
                  <p:nvPr/>
                </p:nvPicPr>
                <p:blipFill rotWithShape="1">
                  <a:blip r:embed="rId20">
                    <a:alphaModFix/>
                  </a:blip>
                  <a:srcRect b="0" l="0" r="0" t="0"/>
                  <a:stretch/>
                </p:blipFill>
                <p:spPr>
                  <a:xfrm>
                    <a:off x="723900" y="3823319"/>
                    <a:ext cx="1184153" cy="592076"/>
                  </a:xfrm>
                  <a:prstGeom prst="rect">
                    <a:avLst/>
                  </a:prstGeom>
                  <a:noFill/>
                  <a:ln>
                    <a:noFill/>
                  </a:ln>
                </p:spPr>
              </p:pic>
            </p:grpSp>
            <p:pic>
              <p:nvPicPr>
                <p:cNvPr id="754" name="Google Shape;754;p33"/>
                <p:cNvPicPr preferRelativeResize="0"/>
                <p:nvPr/>
              </p:nvPicPr>
              <p:blipFill rotWithShape="1">
                <a:blip r:embed="rId21">
                  <a:alphaModFix/>
                </a:blip>
                <a:srcRect b="0" l="5053" r="5044" t="0"/>
                <a:stretch/>
              </p:blipFill>
              <p:spPr>
                <a:xfrm>
                  <a:off x="1267604" y="4360815"/>
                  <a:ext cx="618269" cy="237915"/>
                </a:xfrm>
                <a:prstGeom prst="rect">
                  <a:avLst/>
                </a:prstGeom>
                <a:noFill/>
                <a:ln>
                  <a:noFill/>
                </a:ln>
              </p:spPr>
            </p:pic>
            <p:pic>
              <p:nvPicPr>
                <p:cNvPr descr="4Paradigm | 第四范式官网-AI决策，企业转型新范式" id="755" name="Google Shape;755;p33"/>
                <p:cNvPicPr preferRelativeResize="0"/>
                <p:nvPr/>
              </p:nvPicPr>
              <p:blipFill rotWithShape="1">
                <a:blip r:embed="rId22">
                  <a:alphaModFix/>
                </a:blip>
                <a:srcRect b="0" l="0" r="0" t="0"/>
                <a:stretch/>
              </p:blipFill>
              <p:spPr>
                <a:xfrm>
                  <a:off x="3245610" y="4330162"/>
                  <a:ext cx="605058" cy="215817"/>
                </a:xfrm>
                <a:prstGeom prst="rect">
                  <a:avLst/>
                </a:prstGeom>
                <a:noFill/>
                <a:ln>
                  <a:noFill/>
                </a:ln>
              </p:spPr>
            </p:pic>
            <p:pic>
              <p:nvPicPr>
                <p:cNvPr descr="C:\Users\w00568049\AppData\Roaming\eSpace_Desktop\UserData\w00568049\imagefiles\fullImage737902d7c02352045a1fffd03013c385b78f47ef.png" id="756" name="Google Shape;756;p33"/>
                <p:cNvPicPr preferRelativeResize="0"/>
                <p:nvPr/>
              </p:nvPicPr>
              <p:blipFill rotWithShape="1">
                <a:blip r:embed="rId23">
                  <a:alphaModFix/>
                </a:blip>
                <a:srcRect b="0" l="0" r="0" t="0"/>
                <a:stretch/>
              </p:blipFill>
              <p:spPr>
                <a:xfrm>
                  <a:off x="2257023" y="4991821"/>
                  <a:ext cx="590058" cy="156426"/>
                </a:xfrm>
                <a:prstGeom prst="rect">
                  <a:avLst/>
                </a:prstGeom>
                <a:noFill/>
                <a:ln>
                  <a:noFill/>
                </a:ln>
              </p:spPr>
            </p:pic>
            <p:pic>
              <p:nvPicPr>
                <p:cNvPr id="757" name="Google Shape;757;p33"/>
                <p:cNvPicPr preferRelativeResize="0"/>
                <p:nvPr/>
              </p:nvPicPr>
              <p:blipFill rotWithShape="1">
                <a:blip r:embed="rId24">
                  <a:alphaModFix/>
                </a:blip>
                <a:srcRect b="0" l="0" r="0" t="0"/>
                <a:stretch/>
              </p:blipFill>
              <p:spPr>
                <a:xfrm>
                  <a:off x="4211539" y="1446769"/>
                  <a:ext cx="640135" cy="274344"/>
                </a:xfrm>
                <a:prstGeom prst="rect">
                  <a:avLst/>
                </a:prstGeom>
                <a:noFill/>
                <a:ln>
                  <a:noFill/>
                </a:ln>
              </p:spPr>
            </p:pic>
            <p:pic>
              <p:nvPicPr>
                <p:cNvPr descr="上海品览数据科技有限公司- 百度AI市场" id="758" name="Google Shape;758;p33"/>
                <p:cNvPicPr preferRelativeResize="0"/>
                <p:nvPr/>
              </p:nvPicPr>
              <p:blipFill rotWithShape="1">
                <a:blip r:embed="rId25">
                  <a:alphaModFix/>
                </a:blip>
                <a:srcRect b="24594" l="0" r="0" t="13860"/>
                <a:stretch/>
              </p:blipFill>
              <p:spPr>
                <a:xfrm>
                  <a:off x="4260769" y="4343394"/>
                  <a:ext cx="590905" cy="272756"/>
                </a:xfrm>
                <a:prstGeom prst="rect">
                  <a:avLst/>
                </a:prstGeom>
                <a:noFill/>
                <a:ln>
                  <a:noFill/>
                </a:ln>
              </p:spPr>
            </p:pic>
          </p:grpSp>
          <p:grpSp>
            <p:nvGrpSpPr>
              <p:cNvPr id="759" name="Google Shape;759;p33"/>
              <p:cNvGrpSpPr/>
              <p:nvPr/>
            </p:nvGrpSpPr>
            <p:grpSpPr>
              <a:xfrm>
                <a:off x="3745779" y="1602763"/>
                <a:ext cx="867000" cy="410100"/>
                <a:chOff x="2933414" y="1474736"/>
                <a:chExt cx="867000" cy="410100"/>
              </a:xfrm>
            </p:grpSpPr>
            <p:sp>
              <p:nvSpPr>
                <p:cNvPr id="760" name="Google Shape;760;p33"/>
                <p:cNvSpPr/>
                <p:nvPr/>
              </p:nvSpPr>
              <p:spPr>
                <a:xfrm>
                  <a:off x="2933414" y="1474736"/>
                  <a:ext cx="867000" cy="410100"/>
                </a:xfrm>
                <a:prstGeom prst="rect">
                  <a:avLst/>
                </a:prstGeom>
                <a:solidFill>
                  <a:srgbClr val="FFFFFF"/>
                </a:solidFill>
                <a:ln cap="flat" cmpd="sng" w="9525">
                  <a:solidFill>
                    <a:srgbClr val="EEEEE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666666"/>
                    </a:solidFill>
                    <a:latin typeface="Arial"/>
                    <a:ea typeface="Arial"/>
                    <a:cs typeface="Arial"/>
                    <a:sym typeface="Arial"/>
                  </a:endParaRPr>
                </a:p>
              </p:txBody>
            </p:sp>
            <p:pic>
              <p:nvPicPr>
                <p:cNvPr id="761" name="Google Shape;761;p33"/>
                <p:cNvPicPr preferRelativeResize="0"/>
                <p:nvPr/>
              </p:nvPicPr>
              <p:blipFill rotWithShape="1">
                <a:blip r:embed="rId26">
                  <a:alphaModFix/>
                </a:blip>
                <a:srcRect b="0" l="0" r="0" t="0"/>
                <a:stretch/>
              </p:blipFill>
              <p:spPr>
                <a:xfrm>
                  <a:off x="2958529" y="1524091"/>
                  <a:ext cx="768765" cy="315391"/>
                </a:xfrm>
                <a:prstGeom prst="rect">
                  <a:avLst/>
                </a:prstGeom>
                <a:noFill/>
                <a:ln>
                  <a:noFill/>
                </a:ln>
              </p:spPr>
            </p:pic>
          </p:grpSp>
          <p:grpSp>
            <p:nvGrpSpPr>
              <p:cNvPr id="762" name="Google Shape;762;p33"/>
              <p:cNvGrpSpPr/>
              <p:nvPr/>
            </p:nvGrpSpPr>
            <p:grpSpPr>
              <a:xfrm>
                <a:off x="1676483" y="5077171"/>
                <a:ext cx="867000" cy="410100"/>
                <a:chOff x="864118" y="4949144"/>
                <a:chExt cx="867000" cy="410100"/>
              </a:xfrm>
            </p:grpSpPr>
            <p:sp>
              <p:nvSpPr>
                <p:cNvPr id="763" name="Google Shape;763;p33"/>
                <p:cNvSpPr/>
                <p:nvPr/>
              </p:nvSpPr>
              <p:spPr>
                <a:xfrm>
                  <a:off x="864118" y="4949144"/>
                  <a:ext cx="867000" cy="410100"/>
                </a:xfrm>
                <a:prstGeom prst="rect">
                  <a:avLst/>
                </a:prstGeom>
                <a:solidFill>
                  <a:srgbClr val="FFFFFF"/>
                </a:solidFill>
                <a:ln cap="flat" cmpd="sng" w="9525">
                  <a:solidFill>
                    <a:srgbClr val="EEEEE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666666"/>
                    </a:solidFill>
                    <a:latin typeface="Arial"/>
                    <a:ea typeface="Arial"/>
                    <a:cs typeface="Arial"/>
                    <a:sym typeface="Arial"/>
                  </a:endParaRPr>
                </a:p>
              </p:txBody>
            </p:sp>
            <p:pic>
              <p:nvPicPr>
                <p:cNvPr descr="关于我们| BoCloud博云，Glue Up 未来链接" id="764" name="Google Shape;764;p33"/>
                <p:cNvPicPr preferRelativeResize="0"/>
                <p:nvPr/>
              </p:nvPicPr>
              <p:blipFill rotWithShape="1">
                <a:blip r:embed="rId27">
                  <a:alphaModFix/>
                </a:blip>
                <a:srcRect b="18696" l="20051" r="17737" t="21266"/>
                <a:stretch/>
              </p:blipFill>
              <p:spPr>
                <a:xfrm>
                  <a:off x="985764" y="5041747"/>
                  <a:ext cx="569717" cy="269944"/>
                </a:xfrm>
                <a:prstGeom prst="rect">
                  <a:avLst/>
                </a:prstGeom>
                <a:noFill/>
                <a:ln>
                  <a:noFill/>
                </a:ln>
              </p:spPr>
            </p:pic>
          </p:grpSp>
          <p:pic>
            <p:nvPicPr>
              <p:cNvPr descr="徽标, 公司名称&#10;&#10;AI 生成的内容可能不正确。" id="765" name="Google Shape;765;p33"/>
              <p:cNvPicPr preferRelativeResize="0"/>
              <p:nvPr/>
            </p:nvPicPr>
            <p:blipFill rotWithShape="1">
              <a:blip r:embed="rId28">
                <a:alphaModFix/>
              </a:blip>
              <a:srcRect b="0" l="0" r="0" t="0"/>
              <a:stretch/>
            </p:blipFill>
            <p:spPr>
              <a:xfrm>
                <a:off x="4747845" y="5123414"/>
                <a:ext cx="867119" cy="433560"/>
              </a:xfrm>
              <a:prstGeom prst="rect">
                <a:avLst/>
              </a:prstGeom>
              <a:noFill/>
              <a:ln>
                <a:noFill/>
              </a:ln>
            </p:spPr>
          </p:pic>
          <p:grpSp>
            <p:nvGrpSpPr>
              <p:cNvPr id="766" name="Google Shape;766;p33"/>
              <p:cNvGrpSpPr/>
              <p:nvPr/>
            </p:nvGrpSpPr>
            <p:grpSpPr>
              <a:xfrm>
                <a:off x="1660775" y="5701907"/>
                <a:ext cx="867000" cy="430037"/>
                <a:chOff x="1082939" y="5533546"/>
                <a:chExt cx="867000" cy="430037"/>
              </a:xfrm>
            </p:grpSpPr>
            <p:sp>
              <p:nvSpPr>
                <p:cNvPr id="767" name="Google Shape;767;p33"/>
                <p:cNvSpPr/>
                <p:nvPr/>
              </p:nvSpPr>
              <p:spPr>
                <a:xfrm>
                  <a:off x="1082939" y="5553483"/>
                  <a:ext cx="867000" cy="410100"/>
                </a:xfrm>
                <a:prstGeom prst="rect">
                  <a:avLst/>
                </a:prstGeom>
                <a:solidFill>
                  <a:srgbClr val="FFFFFF"/>
                </a:solidFill>
                <a:ln cap="flat" cmpd="sng" w="9525">
                  <a:solidFill>
                    <a:srgbClr val="EEEEE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666666"/>
                    </a:solidFill>
                    <a:latin typeface="Arial"/>
                    <a:ea typeface="Arial"/>
                    <a:cs typeface="Arial"/>
                    <a:sym typeface="Arial"/>
                  </a:endParaRPr>
                </a:p>
              </p:txBody>
            </p:sp>
            <p:pic>
              <p:nvPicPr>
                <p:cNvPr descr="文本, 徽标&#10;&#10;AI 生成的内容可能不正确。" id="768" name="Google Shape;768;p33"/>
                <p:cNvPicPr preferRelativeResize="0"/>
                <p:nvPr/>
              </p:nvPicPr>
              <p:blipFill rotWithShape="1">
                <a:blip r:embed="rId29">
                  <a:alphaModFix/>
                </a:blip>
                <a:srcRect b="0" l="0" r="0" t="0"/>
                <a:stretch/>
              </p:blipFill>
              <p:spPr>
                <a:xfrm>
                  <a:off x="1158699" y="5533546"/>
                  <a:ext cx="763726" cy="429595"/>
                </a:xfrm>
                <a:prstGeom prst="rect">
                  <a:avLst/>
                </a:prstGeom>
                <a:noFill/>
                <a:ln>
                  <a:noFill/>
                </a:ln>
              </p:spPr>
            </p:pic>
          </p:grpSp>
          <p:grpSp>
            <p:nvGrpSpPr>
              <p:cNvPr id="769" name="Google Shape;769;p33"/>
              <p:cNvGrpSpPr/>
              <p:nvPr/>
            </p:nvGrpSpPr>
            <p:grpSpPr>
              <a:xfrm>
                <a:off x="2724564" y="5703114"/>
                <a:ext cx="867000" cy="410100"/>
                <a:chOff x="1930514" y="5534576"/>
                <a:chExt cx="867000" cy="410100"/>
              </a:xfrm>
            </p:grpSpPr>
            <p:sp>
              <p:nvSpPr>
                <p:cNvPr id="770" name="Google Shape;770;p33"/>
                <p:cNvSpPr/>
                <p:nvPr/>
              </p:nvSpPr>
              <p:spPr>
                <a:xfrm>
                  <a:off x="1930514" y="5534576"/>
                  <a:ext cx="867000" cy="410100"/>
                </a:xfrm>
                <a:prstGeom prst="rect">
                  <a:avLst/>
                </a:prstGeom>
                <a:solidFill>
                  <a:srgbClr val="FFFFFF"/>
                </a:solidFill>
                <a:ln cap="flat" cmpd="sng" w="9525">
                  <a:solidFill>
                    <a:srgbClr val="EEEEE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666666"/>
                    </a:solidFill>
                    <a:latin typeface="Arial"/>
                    <a:ea typeface="Arial"/>
                    <a:cs typeface="Arial"/>
                    <a:sym typeface="Arial"/>
                  </a:endParaRPr>
                </a:p>
              </p:txBody>
            </p:sp>
            <p:pic>
              <p:nvPicPr>
                <p:cNvPr descr="徽标&#10;&#10;AI 生成的内容可能不正确。" id="771" name="Google Shape;771;p33"/>
                <p:cNvPicPr preferRelativeResize="0"/>
                <p:nvPr/>
              </p:nvPicPr>
              <p:blipFill rotWithShape="1">
                <a:blip r:embed="rId30">
                  <a:alphaModFix/>
                </a:blip>
                <a:srcRect b="0" l="0" r="0" t="0"/>
                <a:stretch/>
              </p:blipFill>
              <p:spPr>
                <a:xfrm>
                  <a:off x="1955253" y="5639157"/>
                  <a:ext cx="795875" cy="225926"/>
                </a:xfrm>
                <a:prstGeom prst="rect">
                  <a:avLst/>
                </a:prstGeom>
                <a:noFill/>
                <a:ln>
                  <a:noFill/>
                </a:ln>
              </p:spPr>
            </p:pic>
          </p:grpSp>
          <p:sp>
            <p:nvSpPr>
              <p:cNvPr id="772" name="Google Shape;772;p33"/>
              <p:cNvSpPr/>
              <p:nvPr/>
            </p:nvSpPr>
            <p:spPr>
              <a:xfrm>
                <a:off x="3710272" y="5706996"/>
                <a:ext cx="867000" cy="410100"/>
              </a:xfrm>
              <a:prstGeom prst="rect">
                <a:avLst/>
              </a:prstGeom>
              <a:solidFill>
                <a:srgbClr val="FFFFFF"/>
              </a:solidFill>
              <a:ln cap="flat" cmpd="sng" w="9525">
                <a:solidFill>
                  <a:srgbClr val="EEEEE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666666"/>
                  </a:solidFill>
                  <a:latin typeface="Arial"/>
                  <a:ea typeface="Arial"/>
                  <a:cs typeface="Arial"/>
                  <a:sym typeface="Arial"/>
                </a:endParaRPr>
              </a:p>
            </p:txBody>
          </p:sp>
          <p:pic>
            <p:nvPicPr>
              <p:cNvPr descr="卡通人物&#10;&#10;AI 生成的内容可能不正确。" id="773" name="Google Shape;773;p33"/>
              <p:cNvPicPr preferRelativeResize="0"/>
              <p:nvPr/>
            </p:nvPicPr>
            <p:blipFill rotWithShape="1">
              <a:blip r:embed="rId31">
                <a:alphaModFix/>
              </a:blip>
              <a:srcRect b="0" l="0" r="0" t="0"/>
              <a:stretch/>
            </p:blipFill>
            <p:spPr>
              <a:xfrm>
                <a:off x="3545891" y="5785124"/>
                <a:ext cx="1226763" cy="204460"/>
              </a:xfrm>
              <a:prstGeom prst="rect">
                <a:avLst/>
              </a:prstGeom>
              <a:noFill/>
              <a:ln>
                <a:noFill/>
              </a:ln>
            </p:spPr>
          </p:pic>
          <p:pic>
            <p:nvPicPr>
              <p:cNvPr id="774" name="Google Shape;774;p33"/>
              <p:cNvPicPr preferRelativeResize="0"/>
              <p:nvPr/>
            </p:nvPicPr>
            <p:blipFill rotWithShape="1">
              <a:blip r:embed="rId32">
                <a:alphaModFix/>
              </a:blip>
              <a:srcRect b="0" l="0" r="0" t="0"/>
              <a:stretch/>
            </p:blipFill>
            <p:spPr>
              <a:xfrm>
                <a:off x="2746686" y="4590361"/>
                <a:ext cx="850900" cy="279400"/>
              </a:xfrm>
              <a:prstGeom prst="rect">
                <a:avLst/>
              </a:prstGeom>
              <a:noFill/>
              <a:ln>
                <a:noFill/>
              </a:ln>
            </p:spPr>
          </p:pic>
          <p:pic>
            <p:nvPicPr>
              <p:cNvPr id="775" name="Google Shape;775;p33"/>
              <p:cNvPicPr preferRelativeResize="0"/>
              <p:nvPr/>
            </p:nvPicPr>
            <p:blipFill rotWithShape="1">
              <a:blip r:embed="rId33">
                <a:alphaModFix/>
              </a:blip>
              <a:srcRect b="0" l="0" r="0" t="0"/>
              <a:stretch/>
            </p:blipFill>
            <p:spPr>
              <a:xfrm>
                <a:off x="4747621" y="5699912"/>
                <a:ext cx="876384" cy="410163"/>
              </a:xfrm>
              <a:prstGeom prst="rect">
                <a:avLst/>
              </a:prstGeom>
              <a:noFill/>
              <a:ln>
                <a:noFill/>
              </a:ln>
            </p:spPr>
          </p:pic>
        </p:grpSp>
        <p:sp>
          <p:nvSpPr>
            <p:cNvPr id="776" name="Google Shape;776;p33"/>
            <p:cNvSpPr txBox="1"/>
            <p:nvPr/>
          </p:nvSpPr>
          <p:spPr>
            <a:xfrm>
              <a:off x="501559" y="3826973"/>
              <a:ext cx="5469000" cy="849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Call For Contribution:</a:t>
              </a:r>
              <a:endParaRPr b="1"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050"/>
                <a:buFont typeface="Arial"/>
                <a:buNone/>
              </a:pPr>
              <a:r>
                <a:rPr b="0" i="0" lang="en-GB" sz="1050" u="none" cap="none" strike="noStrike">
                  <a:solidFill>
                    <a:srgbClr val="000000"/>
                  </a:solidFill>
                  <a:latin typeface="Arial"/>
                  <a:ea typeface="Arial"/>
                  <a:cs typeface="Arial"/>
                  <a:sym typeface="Arial"/>
                </a:rPr>
                <a:t>https://github.com/volcano-sh/volcano/blob/master/contribute.md</a:t>
              </a:r>
              <a:endParaRPr b="0" i="0" sz="1050" u="none" cap="none" strike="noStrike">
                <a:solidFill>
                  <a:srgbClr val="000000"/>
                </a:solidFill>
                <a:latin typeface="Arial"/>
                <a:ea typeface="Arial"/>
                <a:cs typeface="Arial"/>
                <a:sym typeface="Arial"/>
              </a:endParaRPr>
            </a:p>
          </p:txBody>
        </p:sp>
        <p:grpSp>
          <p:nvGrpSpPr>
            <p:cNvPr id="777" name="Google Shape;777;p33"/>
            <p:cNvGrpSpPr/>
            <p:nvPr/>
          </p:nvGrpSpPr>
          <p:grpSpPr>
            <a:xfrm>
              <a:off x="501559" y="1439841"/>
              <a:ext cx="6263150" cy="2242866"/>
              <a:chOff x="5905437" y="1463697"/>
              <a:chExt cx="6263150" cy="2242866"/>
            </a:xfrm>
          </p:grpSpPr>
          <p:sp>
            <p:nvSpPr>
              <p:cNvPr id="778" name="Google Shape;778;p33"/>
              <p:cNvSpPr txBox="1"/>
              <p:nvPr/>
            </p:nvSpPr>
            <p:spPr>
              <a:xfrm>
                <a:off x="5905437" y="1463697"/>
                <a:ext cx="5469000" cy="849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Call For Use Case:</a:t>
                </a:r>
                <a:endParaRPr b="1"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050"/>
                  <a:buFont typeface="Arial"/>
                  <a:buNone/>
                </a:pPr>
                <a:r>
                  <a:t/>
                </a:r>
                <a:endParaRPr b="0" i="0" sz="1050" u="none" cap="none" strike="noStrike">
                  <a:solidFill>
                    <a:srgbClr val="000000"/>
                  </a:solidFill>
                  <a:latin typeface="Arial"/>
                  <a:ea typeface="Arial"/>
                  <a:cs typeface="Arial"/>
                  <a:sym typeface="Arial"/>
                </a:endParaRPr>
              </a:p>
            </p:txBody>
          </p:sp>
          <p:sp>
            <p:nvSpPr>
              <p:cNvPr id="779" name="Google Shape;779;p33"/>
              <p:cNvSpPr/>
              <p:nvPr/>
            </p:nvSpPr>
            <p:spPr>
              <a:xfrm>
                <a:off x="5907192" y="1844354"/>
                <a:ext cx="4313100" cy="4314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050"/>
                  <a:buFont typeface="Arial"/>
                  <a:buNone/>
                </a:pPr>
                <a:r>
                  <a:rPr b="0" i="0" lang="en-GB" sz="1050" u="none" cap="none" strike="noStrike">
                    <a:solidFill>
                      <a:srgbClr val="000000"/>
                    </a:solidFill>
                    <a:latin typeface="Arial"/>
                    <a:ea typeface="Arial"/>
                    <a:cs typeface="Arial"/>
                    <a:sym typeface="Arial"/>
                  </a:rPr>
                  <a:t>https://github.com/volcano-sh/volcano/issues/3855</a:t>
                </a:r>
                <a:endParaRPr b="0" i="0" sz="1050" u="none" cap="none" strike="noStrike">
                  <a:solidFill>
                    <a:srgbClr val="000000"/>
                  </a:solidFill>
                  <a:latin typeface="Arial"/>
                  <a:ea typeface="Arial"/>
                  <a:cs typeface="Arial"/>
                  <a:sym typeface="Arial"/>
                </a:endParaRPr>
              </a:p>
            </p:txBody>
          </p:sp>
          <p:pic>
            <p:nvPicPr>
              <p:cNvPr id="780" name="Google Shape;780;p33"/>
              <p:cNvPicPr preferRelativeResize="0"/>
              <p:nvPr/>
            </p:nvPicPr>
            <p:blipFill rotWithShape="1">
              <a:blip r:embed="rId34">
                <a:alphaModFix/>
              </a:blip>
              <a:srcRect b="61667" l="0" r="0" t="0"/>
              <a:stretch/>
            </p:blipFill>
            <p:spPr>
              <a:xfrm>
                <a:off x="5948544" y="2310690"/>
                <a:ext cx="6220043" cy="1395873"/>
              </a:xfrm>
              <a:prstGeom prst="rect">
                <a:avLst/>
              </a:prstGeom>
              <a:noFill/>
              <a:ln cap="flat" cmpd="sng" w="9525">
                <a:solidFill>
                  <a:srgbClr val="7F7F7F"/>
                </a:solidFill>
                <a:prstDash val="solid"/>
                <a:round/>
                <a:headEnd len="sm" w="sm" type="none"/>
                <a:tailEnd len="sm" w="sm" type="none"/>
              </a:ln>
            </p:spPr>
          </p:pic>
        </p:grpSp>
        <p:sp>
          <p:nvSpPr>
            <p:cNvPr id="781" name="Google Shape;781;p33"/>
            <p:cNvSpPr/>
            <p:nvPr/>
          </p:nvSpPr>
          <p:spPr>
            <a:xfrm>
              <a:off x="7344639" y="3277625"/>
              <a:ext cx="867000" cy="410100"/>
            </a:xfrm>
            <a:prstGeom prst="rect">
              <a:avLst/>
            </a:prstGeom>
            <a:solidFill>
              <a:srgbClr val="FFFFFF"/>
            </a:solidFill>
            <a:ln cap="flat" cmpd="sng" w="9525">
              <a:solidFill>
                <a:srgbClr val="EEEEE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666666"/>
                </a:solidFill>
                <a:latin typeface="Arial"/>
                <a:ea typeface="Arial"/>
                <a:cs typeface="Arial"/>
                <a:sym typeface="Arial"/>
              </a:endParaRPr>
            </a:p>
          </p:txBody>
        </p:sp>
        <p:pic>
          <p:nvPicPr>
            <p:cNvPr id="782" name="Google Shape;782;p33"/>
            <p:cNvPicPr preferRelativeResize="0"/>
            <p:nvPr/>
          </p:nvPicPr>
          <p:blipFill rotWithShape="1">
            <a:blip r:embed="rId35">
              <a:alphaModFix/>
            </a:blip>
            <a:srcRect b="0" l="0" r="0" t="0"/>
            <a:stretch/>
          </p:blipFill>
          <p:spPr>
            <a:xfrm>
              <a:off x="7383402" y="3405525"/>
              <a:ext cx="814690" cy="154362"/>
            </a:xfrm>
            <a:prstGeom prst="rect">
              <a:avLst/>
            </a:prstGeom>
            <a:noFill/>
            <a:ln>
              <a:noFill/>
            </a:ln>
          </p:spPr>
        </p:pic>
        <p:sp>
          <p:nvSpPr>
            <p:cNvPr id="783" name="Google Shape;783;p33"/>
            <p:cNvSpPr/>
            <p:nvPr/>
          </p:nvSpPr>
          <p:spPr>
            <a:xfrm>
              <a:off x="8326624" y="2115510"/>
              <a:ext cx="867000" cy="410100"/>
            </a:xfrm>
            <a:prstGeom prst="rect">
              <a:avLst/>
            </a:prstGeom>
            <a:solidFill>
              <a:srgbClr val="FFFFFF"/>
            </a:solidFill>
            <a:ln cap="flat" cmpd="sng" w="9525">
              <a:solidFill>
                <a:srgbClr val="EEEEE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666666"/>
                </a:solidFill>
                <a:latin typeface="Arial"/>
                <a:ea typeface="Arial"/>
                <a:cs typeface="Arial"/>
                <a:sym typeface="Arial"/>
              </a:endParaRPr>
            </a:p>
          </p:txBody>
        </p:sp>
        <p:pic>
          <p:nvPicPr>
            <p:cNvPr id="784" name="Google Shape;784;p33"/>
            <p:cNvPicPr preferRelativeResize="0"/>
            <p:nvPr/>
          </p:nvPicPr>
          <p:blipFill rotWithShape="1">
            <a:blip r:embed="rId36">
              <a:alphaModFix/>
            </a:blip>
            <a:srcRect b="0" l="0" r="0" t="0"/>
            <a:stretch/>
          </p:blipFill>
          <p:spPr>
            <a:xfrm>
              <a:off x="8361725" y="2175347"/>
              <a:ext cx="824041" cy="289835"/>
            </a:xfrm>
            <a:prstGeom prst="rect">
              <a:avLst/>
            </a:prstGeom>
            <a:noFill/>
            <a:ln>
              <a:noFill/>
            </a:ln>
          </p:spPr>
        </p:pic>
        <p:sp>
          <p:nvSpPr>
            <p:cNvPr id="785" name="Google Shape;785;p33"/>
            <p:cNvSpPr/>
            <p:nvPr/>
          </p:nvSpPr>
          <p:spPr>
            <a:xfrm>
              <a:off x="10293025" y="2122279"/>
              <a:ext cx="867000" cy="410100"/>
            </a:xfrm>
            <a:prstGeom prst="rect">
              <a:avLst/>
            </a:prstGeom>
            <a:solidFill>
              <a:srgbClr val="FFFFFF"/>
            </a:solidFill>
            <a:ln cap="flat" cmpd="sng" w="9525">
              <a:solidFill>
                <a:srgbClr val="EEEEE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666666"/>
                </a:solidFill>
                <a:latin typeface="Arial"/>
                <a:ea typeface="Arial"/>
                <a:cs typeface="Arial"/>
                <a:sym typeface="Arial"/>
              </a:endParaRPr>
            </a:p>
          </p:txBody>
        </p:sp>
        <p:pic>
          <p:nvPicPr>
            <p:cNvPr id="786" name="Google Shape;786;p33"/>
            <p:cNvPicPr preferRelativeResize="0"/>
            <p:nvPr/>
          </p:nvPicPr>
          <p:blipFill rotWithShape="1">
            <a:blip r:embed="rId37">
              <a:alphaModFix/>
            </a:blip>
            <a:srcRect b="0" l="0" r="0" t="0"/>
            <a:stretch/>
          </p:blipFill>
          <p:spPr>
            <a:xfrm>
              <a:off x="10308752" y="2207484"/>
              <a:ext cx="822303" cy="244887"/>
            </a:xfrm>
            <a:prstGeom prst="rect">
              <a:avLst/>
            </a:prstGeom>
            <a:noFill/>
            <a:ln>
              <a:noFill/>
            </a:ln>
          </p:spPr>
        </p:pic>
        <p:sp>
          <p:nvSpPr>
            <p:cNvPr id="787" name="Google Shape;787;p33"/>
            <p:cNvSpPr/>
            <p:nvPr/>
          </p:nvSpPr>
          <p:spPr>
            <a:xfrm>
              <a:off x="9308584" y="2110920"/>
              <a:ext cx="867000" cy="410100"/>
            </a:xfrm>
            <a:prstGeom prst="rect">
              <a:avLst/>
            </a:prstGeom>
            <a:solidFill>
              <a:srgbClr val="FFFFFF"/>
            </a:solidFill>
            <a:ln cap="flat" cmpd="sng" w="9525">
              <a:solidFill>
                <a:srgbClr val="EEEEE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666666"/>
                </a:solidFill>
                <a:latin typeface="Arial"/>
                <a:ea typeface="Arial"/>
                <a:cs typeface="Arial"/>
                <a:sym typeface="Arial"/>
              </a:endParaRPr>
            </a:p>
          </p:txBody>
        </p:sp>
        <p:pic>
          <p:nvPicPr>
            <p:cNvPr id="788" name="Google Shape;788;p33"/>
            <p:cNvPicPr preferRelativeResize="0"/>
            <p:nvPr/>
          </p:nvPicPr>
          <p:blipFill rotWithShape="1">
            <a:blip r:embed="rId38">
              <a:alphaModFix/>
            </a:blip>
            <a:srcRect b="0" l="0" r="0" t="0"/>
            <a:stretch/>
          </p:blipFill>
          <p:spPr>
            <a:xfrm>
              <a:off x="9321772" y="2140197"/>
              <a:ext cx="819740" cy="331800"/>
            </a:xfrm>
            <a:prstGeom prst="rect">
              <a:avLst/>
            </a:prstGeom>
            <a:noFill/>
            <a:ln>
              <a:noFill/>
            </a:ln>
          </p:spPr>
        </p:pic>
      </p:grpSp>
      <p:pic>
        <p:nvPicPr>
          <p:cNvPr id="789" name="Google Shape;789;p33"/>
          <p:cNvPicPr preferRelativeResize="0"/>
          <p:nvPr/>
        </p:nvPicPr>
        <p:blipFill>
          <a:blip r:embed="rId39">
            <a:alphaModFix/>
          </a:blip>
          <a:stretch>
            <a:fillRect/>
          </a:stretch>
        </p:blipFill>
        <p:spPr>
          <a:xfrm>
            <a:off x="689975" y="3229350"/>
            <a:ext cx="4252575" cy="13308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34"/>
          <p:cNvSpPr txBox="1"/>
          <p:nvPr>
            <p:ph idx="4294967295" type="ctrTitle"/>
          </p:nvPr>
        </p:nvSpPr>
        <p:spPr>
          <a:xfrm>
            <a:off x="673257" y="1464172"/>
            <a:ext cx="8010300" cy="202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4800"/>
              <a:buFont typeface="Arial"/>
              <a:buNone/>
            </a:pPr>
            <a:r>
              <a:rPr b="1" i="0" lang="en-GB" sz="4800" u="none" cap="none" strike="noStrike">
                <a:solidFill>
                  <a:schemeClr val="lt1"/>
                </a:solidFill>
                <a:latin typeface="Arial"/>
                <a:ea typeface="Arial"/>
                <a:cs typeface="Arial"/>
                <a:sym typeface="Arial"/>
              </a:rPr>
              <a:t>Q&amp;A</a:t>
            </a:r>
            <a:endParaRPr b="1" i="0" sz="4800" u="none" cap="none" strike="noStrike">
              <a:solidFill>
                <a:schemeClr val="lt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35"/>
          <p:cNvSpPr txBox="1"/>
          <p:nvPr>
            <p:ph idx="4294967295" type="ctrTitle"/>
          </p:nvPr>
        </p:nvSpPr>
        <p:spPr>
          <a:xfrm>
            <a:off x="2482501" y="552000"/>
            <a:ext cx="7332300" cy="1771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4800"/>
              <a:buFont typeface="Arial"/>
              <a:buNone/>
            </a:pPr>
            <a:r>
              <a:rPr lang="en-GB" sz="4800">
                <a:solidFill>
                  <a:schemeClr val="lt1"/>
                </a:solidFill>
              </a:rPr>
              <a:t>Thank you!</a:t>
            </a:r>
            <a:endParaRPr b="1" i="0" sz="4800" u="none" cap="none" strike="noStrik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SSNA24">
  <a:themeElements>
    <a:clrScheme name="Custom 9">
      <a:dk1>
        <a:srgbClr val="000000"/>
      </a:dk1>
      <a:lt1>
        <a:srgbClr val="FFFFFF"/>
      </a:lt1>
      <a:dk2>
        <a:srgbClr val="000000"/>
      </a:dk2>
      <a:lt2>
        <a:srgbClr val="EEEEEE"/>
      </a:lt2>
      <a:accent1>
        <a:srgbClr val="FF7F15"/>
      </a:accent1>
      <a:accent2>
        <a:srgbClr val="262267"/>
      </a:accent2>
      <a:accent3>
        <a:srgbClr val="305BA9"/>
      </a:accent3>
      <a:accent4>
        <a:srgbClr val="B0DDFF"/>
      </a:accent4>
      <a:accent5>
        <a:srgbClr val="FFC217"/>
      </a:accent5>
      <a:accent6>
        <a:srgbClr val="FFA35F"/>
      </a:accent6>
      <a:hlink>
        <a:srgbClr val="FF7F15"/>
      </a:hlink>
      <a:folHlink>
        <a:srgbClr val="FFA3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SSNA24">
  <a:themeElements>
    <a:clrScheme name="Custom 9">
      <a:dk1>
        <a:srgbClr val="000000"/>
      </a:dk1>
      <a:lt1>
        <a:srgbClr val="FFFFFF"/>
      </a:lt1>
      <a:dk2>
        <a:srgbClr val="000000"/>
      </a:dk2>
      <a:lt2>
        <a:srgbClr val="EEEEEE"/>
      </a:lt2>
      <a:accent1>
        <a:srgbClr val="FF7F15"/>
      </a:accent1>
      <a:accent2>
        <a:srgbClr val="262267"/>
      </a:accent2>
      <a:accent3>
        <a:srgbClr val="305BA9"/>
      </a:accent3>
      <a:accent4>
        <a:srgbClr val="B0DDFF"/>
      </a:accent4>
      <a:accent5>
        <a:srgbClr val="FFC217"/>
      </a:accent5>
      <a:accent6>
        <a:srgbClr val="FFA35F"/>
      </a:accent6>
      <a:hlink>
        <a:srgbClr val="FF7F15"/>
      </a:hlink>
      <a:folHlink>
        <a:srgbClr val="FFA3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2026-03-17T13:18:35Z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F10908A0F0EB57C3AA54B9691FEE248B_43</vt:lpwstr>
  </property>
  <property fmtid="{D5CDD505-2E9C-101B-9397-08002B2CF9AE}" pid="3" name="KSOProductBuildVer">
    <vt:lpwstr>2052-7.2.2.8955</vt:lpwstr>
  </property>
</Properties>
</file>