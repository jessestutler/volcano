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0:20。标题保持不变。Agentic AI 作为基础设施背景，不把每次 agent 调用等同于一个 Pod。讲者姓名以用户指示为准。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0:40。Ricardo：NA 2026 官方会议资料列为 Nunchux AI 的 AI Infrastructure Lead；CNCF TOC 页面列为 TOC Alternate (GB)，不是 Governing Board 成员，不写 Founder 或 CEO。2026-10-29 核查。照片来自 Linux Foundation 公开讲者页。</a:t>
            </a:r>
          </a:p>
          <a:p>
            <a:r>
              <a:t>https://events.linuxfoundation.org/kubecon-cloudnativecon-north-america/program/schedule/?id=1289640</a:t>
            </a:r>
          </a:p>
          <a:p>
            <a:r>
              <a:t>https://www.cncf.io/people/technical-oversight-committee/</a:t>
            </a:r>
          </a:p>
          <a:p>
            <a:r>
              <a:t>https://events.linuxfoundation.org/archive/2026/open-source-summit-north-america/program/program-committee/</a:t>
            </a:r>
          </a:p>
          <a:p>
            <a:r>
              <a:t>https://events.linuxfoundation.org/spinnaker-live/program/featured-speakers/</a:t>
            </a:r>
          </a:p>
          <a:p>
            <a:r>
              <a:t>https://yunikorn.apache.org/community/people/</a:t>
            </a:r>
          </a:p>
          <a:p>
            <a:r>
              <a:t>https://www.linkedin.com/in/rainie-li-71b2b146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0:10。从统一调度框架切入，后面落到工作负载、生态和验证。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1:20。训练图展示两个 PP stage，每个 stage 两个 TP ranks，需要完整子组及通信局部性。推理展示 P/D 分离，不同角色及副本的 gang 与 topology 约束。Agent 路径先命中预热池并复用 ready runtime；池子耗尽时由 runtime/pool controller 请求容量，经快速 Pod 调度补池。请求突发图是需求示意，没有测量值。池管理不是 Volcano 自带能力，也不是每次调用创建 Pod。</a:t>
            </a:r>
          </a:p>
          <a:p>
            <a:r>
              <a:t>移入备注的外围说明：</a:t>
            </a:r>
          </a:p>
          <a:p>
            <a:r>
              <a:t>Schedule complete groups and their locality; keep latency-sensitive capacity ready.</a:t>
            </a:r>
          </a:p>
          <a:p>
            <a:r>
              <a:t>Training, inference, and agent applications put different demands on the same cluster.</a:t>
            </a:r>
          </a:p>
          <a:p>
            <a:r>
              <a:t>Training</a:t>
            </a:r>
          </a:p>
          <a:p>
            <a:r>
              <a:t>Inference</a:t>
            </a:r>
          </a:p>
          <a:p>
            <a:r>
              <a:t>Complete TP / PP gangs + network locality</a:t>
            </a:r>
          </a:p>
          <a:p>
            <a:r>
              <a:t>Role groups + topology-aware placement</a:t>
            </a:r>
          </a:p>
          <a:p>
            <a:r>
              <a:t>Agents</a:t>
            </a:r>
          </a:p>
          <a:p>
            <a:r>
              <a:t>Bursty arrivals</a:t>
            </a:r>
          </a:p>
          <a:p>
            <a:r>
              <a:t>Low startup latency</a:t>
            </a:r>
          </a:p>
          <a:p>
            <a:r>
              <a:t>reuse ready capacity</a:t>
            </a:r>
          </a:p>
          <a:p>
            <a:r>
              <a:t>replenish the pool</a:t>
            </a:r>
          </a:p>
          <a:p>
            <a:r>
              <a:t>Gang size · network locality · startup latency</a:t>
            </a:r>
          </a:p>
          <a:p>
            <a:r>
              <a:t>TP / PP gangs · locality</a:t>
            </a:r>
          </a:p>
          <a:p>
            <a:r>
              <a:t>P/D groups · locality</a:t>
            </a:r>
          </a:p>
          <a:p>
            <a:r>
              <a:t>Warm pool</a:t>
            </a:r>
          </a:p>
          <a:p>
            <a:r>
              <a:t>ready capacity</a:t>
            </a:r>
          </a:p>
          <a:p>
            <a:r>
              <a:t>Capacity request</a:t>
            </a:r>
          </a:p>
          <a:p>
            <a:r>
              <a:t>pool controller</a:t>
            </a:r>
          </a:p>
          <a:p>
            <a:r>
              <a:t>Gang + locality</a:t>
            </a:r>
          </a:p>
          <a:p>
            <a:r>
              <a:t>Gang + locality</a:t>
            </a:r>
          </a:p>
          <a:p/>
          <a:p>
            <a:r>
              <a:t>技术来源：</a:t>
            </a:r>
          </a:p>
          <a:p/>
          <a:p/>
          <a:p>
            <a:r>
              <a:t>本页新版素材与说明：</a:t>
            </a:r>
          </a:p>
          <a:p>
            <a:r>
              <a:t>Visual: na2026/svg/04-workload-demands.svg。PNG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1:30。保留原架构。工作负载按 profile 进入合适的调度路径；中间 Sharding Controller 根据实时节点状态及策略计算节点池分配，通过 NodeShard 改变 scheduler 的候选节点集合。不同 profile 不等于每个 profile 都有独立进程。这里不展开 worker/Binder，不宣称并行带来已验证的性能收益。</a:t>
            </a:r>
          </a:p>
          <a:p/>
          <a:p>
            <a:r>
              <a:t>技术来源：</a:t>
            </a:r>
          </a:p>
          <a:p>
            <a:r>
              <a:t>https://github.com/volcano-sh/volcano/blob/v1.16.0/docs/design/agent-scheduler.md</a:t>
            </a:r>
          </a:p>
          <a:p/>
          <a:p>
            <a:r>
              <a:t>本页新版素材与说明：China 2026 slide 7; same architecture family as EU 2026.</a:t>
            </a:r>
          </a:p>
          <a:p>
            <a:r>
              <a:t>Visual: na2026/svg/05-unified-architecture.svg。PNG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1:20。注释不再拉线：左侧图下方概括计算，右侧注释与nodesDesired和nodesInUse对应。顺着旧图的 Node Events、Node Metrics、Sharding Strategy 讲动态计算。计算结果更新 nodesDesired，各 scheduler 协调实际使用集合 nodesInUse。示例显示 node0 退出、node2 加入。节点池重分配针对后续 placement，不迁移已运行的 Pod；策略框架也不代表每个示意策略均已交付。</a:t>
            </a:r>
          </a:p>
          <a:p/>
          <a:p>
            <a:r>
              <a:t>技术来源：</a:t>
            </a:r>
          </a:p>
          <a:p>
            <a:r>
              <a:t>https://github.com/volcano-sh/volcano/blob/v1.16.0/docs/design/agent-scheduler.md</a:t>
            </a:r>
          </a:p>
          <a:p/>
          <a:p>
            <a:r>
              <a:t>本页新版素材与说明：China 2026 slide 9; docs/design/agent-scheduler.md; shard API types.</a:t>
            </a:r>
          </a:p>
          <a:p>
            <a:r>
              <a:t>Visual: na2026/svg/06-nodeshard.svg。PNG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0:15。转场：拿到可用节点之后，还要保留完整副本以及它们的通信局部性。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1:00。先讲业务结构，再引入 API。训练作业包含多个 PP stage，一个 stage 内的 TP ranks 是必须完整运行并关心通信局部性的组。Serving instance 包含 Prefill/Decode roles，各 role 可有独立 replica，每个 replica 又可由多个 TP Pods 组成。这里是结构示意；具体 TP/PP 的组定义取决于框架，不强制一个固定映射。下一页用 PodGroup 处理整体 admission，用 SubGroup 保留内部完整组。</a:t>
            </a:r>
          </a:p>
          <a:p/>
          <a:p>
            <a:r>
              <a:t>本页新版素材与说明：Conceptual workload structure. PP/TP training and disaggregated inference examples; no controller API claimed.</a:t>
            </a:r>
          </a:p>
          <a:p>
            <a:r>
              <a:t>Visual: na2026/svg/08-workload-gangs.svg。PNG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1:20。原 China 第14页图保留，取消外拉注释线，在图内顶部统一说明PG的job/serving gang与SG的TP/role replica gang。上层 PodGroup 是 workload admission 门槛，下层 SubGroup 保证计算组/角色副本完整。左侧训练、右侧推理是两个例子，两者均有 PG/SG 层级。下方 HyperNode 是放置域，不是另一种 workload group。一个 policy 可用 replica label 分出多个实际 SubGroup。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https://github.com/volcano-sh/kthena/blob/main/docs/kthena/versioned_docs/version-v1.0.0/user-guide/gang-scheduling.md</a:t>
            </a:r>
          </a:p>
          <a:p/>
          <a:p>
            <a:r>
              <a:t>本页新版素材与说明：China 2026 slide 14. Figure reused unchanged.</a:t>
            </a:r>
          </a:p>
          <a:p>
            <a:r>
              <a:t>Visual: na2026/svg/09-group-structure.svg。PNG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1:30。从物理网络映射到 HyperNode：非叶节点的成员是 HyperNode，叶节点的成员是 Node。standalone HyperNode 已交付；其他调度器 adapter 是独立的集成工作。</a:t>
            </a:r>
          </a:p>
          <a:p>
            <a:r>
              <a:t>移入备注的外围说明：</a:t>
            </a:r>
          </a:p>
          <a:p>
            <a:r>
              <a:t>A parent HyperNode groups child HyperNodes. A leaf groups Kubernetes Nodes.</a:t>
            </a:r>
          </a:p>
          <a:p>
            <a:r>
              <a:t>Physical fabric</a:t>
            </a:r>
          </a:p>
          <a:p>
            <a:r>
              <a:t>The same hierarchy is available through the standalone HyperNode component.</a:t>
            </a:r>
          </a:p>
          <a:p>
            <a:r>
              <a:t>Physical network → scheduling domains</a:t>
            </a:r>
          </a:p>
          <a:p>
            <a:r>
              <a:t>Physical fabric</a:t>
            </a:r>
          </a:p>
          <a:p>
            <a:r>
              <a:t>Standalone HyperNode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https://github.com/volcano-sh/kthena/blob/main/docs/kthena/versioned_docs/version-v1.0.0/user-guide/network-topology.md</a:t>
            </a:r>
          </a:p>
          <a:p>
            <a:r>
              <a:t>https://github.com/volcano-sh/volcano/releases/tag/v1.16.0</a:t>
            </a:r>
          </a:p>
          <a:p/>
          <a:p>
            <a:r>
              <a:t>本页新版素材与说明：China 2026 slide 16 (physical fabric); benchmark/scripts/create-hypernodes.sh.</a:t>
            </a:r>
          </a:p>
          <a:p>
            <a:r>
              <a:t>Visual: na2026/svg/10-hypernode-api.svg。PNG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2:00。PodGroup 是较大的实例边界，prefill 和 decode 的 locality 约束可以不同。两层约束都显式填写，不假设子组继承 PodGroup 的 topology。</a:t>
            </a:r>
          </a:p>
          <a:p>
            <a:r>
              <a:t>移入备注的外围说明：</a:t>
            </a:r>
          </a:p>
          <a:p>
            <a:r>
              <a:t>An eight-Pod instance spans a larger domain. Prefill and Decode use different locality constraints.</a:t>
            </a:r>
          </a:p>
          <a:p>
            <a:r>
              <a:t>Named tiers: core (3) · spine (2) · leaf (1)</a:t>
            </a:r>
          </a:p>
          <a:p>
            <a:r>
              <a:t>PodGroup: core   ·   Prefill: leaf   ·   Decode: spine</a:t>
            </a:r>
          </a:p>
          <a:p>
            <a:r>
              <a:t>Core (3) / Spine (2) / Leaf (1)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https://github.com/volcano-sh/kthena/blob/main/docs/kthena/versioned_docs/version-v1.0.0/user-guide/network-topology.md</a:t>
            </a:r>
          </a:p>
          <a:p/>
          <a:p>
            <a:r>
              <a:t>本页新版素材与说明：EU 2026 slide 16 / China 2026 slide 17; PodGroup API. Selector and Decode fragment below are explanatory excerpts.</a:t>
            </a:r>
          </a:p>
          <a:p>
            <a:r>
              <a:t>本页三处 networkTopology 均按 mode: hard 讲解，展示片段省略重复字段。图例使用两个固定角色组，各4 Pods。spec 片段省略 labelSelector；实际使用时给两个 policy 配置匹配各自角色的 Pod selector。不是可直接 apply 的完整 manifest。</a:t>
            </a:r>
          </a:p>
          <a:p>
            <a:r>
              <a:t>Visual: na2026/svg/11-multilevel-placement.svg。PNG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1:20。沿用第11页的core/spine/leaf网络层级和交换机符号，参考China第12页的抢占场景。蓝色待调度gang S包含S0–S3，minMember=4；橙色victim gang A包含A0–A3，本例minMember同为4且没有surplus。虚线表示完整gang，实线框表示spine级HyperNode域。绿色gang B及域内两个空闲位置在前后保持一致。每个Pod申请1 GPU，待调度的高优先级Serving gang需要同一HyperNode内4 GPU。A域低优先级Training job A占满4 GPU，B域另一job占2 GPU、空2 GPU；B的零散空闲不能满足本次gang。启用gangpreempt且允许whole bundle时，在候选HyperNode内选victim bundle，再模拟完整gang可行放置，成功后才提交eviction和nomination。示例牺牲A的完整gang，B不受影响。gangpreempt并不总是驱逐整个job：SAFE bundle可以来自不破坏gang门槛的冗余任务，WHOLE bundle是高干扰选择。这里讲已存在的HyperNode域内gangpreempt；topology-aware reclaim增强PR #5920仍在review。</a:t>
            </a:r>
          </a:p>
          <a:p>
            <a:r>
              <a:t>https://github.com/volcano-sh/volcano/blob/ac7f6a4dfe30d992c3b293ea5974c646e3da5da7/pkg/scheduler/actions/gangpreempt/gangpreempt.go</a:t>
            </a:r>
          </a:p>
          <a:p>
            <a:r>
              <a:t>https://github.com/volcano-sh/volcano/pull/5920</a:t>
            </a:r>
          </a:p>
          <a:p/>
          <a:p>
            <a:r>
              <a:t>本页新版素材与说明：China 2026 slide 12 scenario, using the switch symbols and topology vocabulary of EU 16 / China 17. Gang boundaries and before/after placement are authored SVG. gangpreempt implementation reviewed at ac7f6a4dfe30d992c3b293ea5974c646e3da5da7.</a:t>
            </a:r>
          </a:p>
          <a:p>
            <a:r>
              <a:t>Visual: na2026/svg/12-gang-preemption.svg。PNG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1:40。复用第 10 页网络层级及交换机符号，两个 Supernode 共用上层 core fabric。两个完整服务实例各在一个域，避免一次域故障同时影响两份实例。P/D 是简化角色标记，不代表唯一模型结构。Kthena ServingGroup→PodGroup 可作为场景，但 topology affinity 接入截至 2026-10-29 仍是开放 proposal #1478 / issue #645，不能说 Kthena 已交付 anti-affinity。HA 的服务恢复还需 routing/health checks，scheduler 不提供应用故障切换。</a:t>
            </a:r>
          </a:p>
          <a:p>
            <a:r>
              <a:t>移入备注的外围说明：</a:t>
            </a:r>
          </a:p>
          <a:p>
            <a:r>
              <a:t>ServingGroup → PodGroup: a Kthena scenario. Anti-affinity integration in Kthena is proposed.</a:t>
            </a:r>
          </a:p>
          <a:p>
            <a:r>
              <a:t>Each PodGroup: app=model-a</a:t>
            </a:r>
          </a:p>
          <a:p>
            <a:r>
              <a:t>One domain can fail without taking both complete instances with it.</a:t>
            </a:r>
          </a:p>
          <a:p>
            <a:r>
              <a:t>PodGroup anti-affinity · Kthena integration proposed</a:t>
            </a:r>
          </a:p>
          <a:p>
            <a:r>
              <a:t>Separate failure domains</a:t>
            </a:r>
          </a:p>
          <a:p>
            <a:r>
              <a:t>Kthena anti-affinity integration: proposed</a:t>
            </a:r>
          </a:p>
          <a:p/>
          <a:p>
            <a:r>
              <a:t>技术来源：</a:t>
            </a:r>
          </a:p>
          <a:p>
            <a:r>
              <a:t>https://github.com/volcano-sh/volcano/blob/v1.16.0/docs/user-guide/how_to_use_podgroup_anti_affinity.md</a:t>
            </a:r>
          </a:p>
          <a:p>
            <a:r>
              <a:t>https://github.com/volcano-sh/volcano/pull/5349</a:t>
            </a:r>
          </a:p>
          <a:p/>
          <a:p>
            <a:r>
              <a:t>本页新版素材与说明：docs/user-guide/how_to_use_podgroup_anti_affinity.md; group-topology-affinity plugin, v1.16.</a:t>
            </a:r>
          </a:p>
          <a:p>
            <a:r>
              <a:t>https://github.com/volcano-sh/kthena/pull/1478</a:t>
            </a:r>
          </a:p>
          <a:p>
            <a:r>
              <a:t>https://github.com/volcano-sh/kthena/issues/645</a:t>
            </a:r>
          </a:p>
          <a:p>
            <a:r>
              <a:t>启用 group-topology-affinity 与 network-topology-aware；每个 PodGroup 配置相同分离规则。selector 匹配 PodGroup 标签，默认同 namespace。</a:t>
            </a:r>
          </a:p>
          <a:p>
            <a:r>
              <a:t>Visual: na2026/svg/13-instance-isolation.svg。PNG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1:20。放在第二章，以相同 fabric 演进关系语义。同一个 PodGroup 的 Prefill 与两个 Decode SubGroup 都位于 Supernode A，满足上层亲和；两个 Decode 副本分别位于 Leaf 0 与 Leaf 1，满足更细层级的反亲和。每个 SubGroup 都是完整两 Pod 组。Supernode B 和其他空闲 rack 表明这些约束是有选择的放置，而非资源只剩此处。关系 API 为 proposed，不提供伪造的可执行 YAML。</a:t>
            </a:r>
          </a:p>
          <a:p>
            <a:r>
              <a:t>移入备注的外围说明：</a:t>
            </a:r>
          </a:p>
          <a:p>
            <a:r>
              <a:t>Cooperate at one topology level; isolate replicas at a finer level.</a:t>
            </a:r>
          </a:p>
          <a:p>
            <a:r>
              <a:t>Keep cooperating groups local while separating replicas inside the same PodGroup.</a:t>
            </a:r>
          </a:p>
          <a:p>
            <a:r>
              <a:t>Proposed SubGroup relationships</a:t>
            </a:r>
          </a:p>
          <a:p>
            <a:r>
              <a:t>Affinity · supernode</a:t>
            </a:r>
          </a:p>
          <a:p>
            <a:r>
              <a:t>Prefill + Decode</a:t>
            </a:r>
          </a:p>
          <a:p>
            <a:r>
              <a:t>Keep KV exchange inside the same supernode.</a:t>
            </a:r>
          </a:p>
          <a:p>
            <a:r>
              <a:t>Anti-affinity · leaf</a:t>
            </a:r>
          </a:p>
          <a:p>
            <a:r>
              <a:t>Decode replica 0 + replica 1</a:t>
            </a:r>
          </a:p>
          <a:p>
            <a:r>
              <a:t>Keep complete replicas on separate leaf domains.</a:t>
            </a:r>
          </a:p>
          <a:p>
            <a:r>
              <a:t>SubGroup affinity / anti-affinity · proposed</a:t>
            </a:r>
          </a:p>
          <a:p>
            <a:r>
              <a:t>Affinity</a:t>
            </a:r>
          </a:p>
          <a:p>
            <a:r>
              <a:t>Prefill + Decode</a:t>
            </a:r>
          </a:p>
          <a:p>
            <a:r>
              <a:t>Same supernode · KV locality</a:t>
            </a:r>
          </a:p>
          <a:p>
            <a:r>
              <a:t>Anti-affinity</a:t>
            </a:r>
          </a:p>
          <a:p>
            <a:r>
              <a:t>Decode replicas</a:t>
            </a:r>
          </a:p>
          <a:p>
            <a:r>
              <a:t>Separate leaves</a:t>
            </a:r>
          </a:p>
          <a:p>
            <a:r>
              <a:t>Affinity</a:t>
            </a:r>
          </a:p>
          <a:p>
            <a:r>
              <a:t>Supernode · KV locality</a:t>
            </a:r>
          </a:p>
          <a:p>
            <a:r>
              <a:t>Anti-affinity</a:t>
            </a:r>
          </a:p>
          <a:p>
            <a:r>
              <a:t>Leaf · replica isolation</a:t>
            </a:r>
          </a:p>
          <a:p>
            <a:r>
              <a:t>Proposed</a:t>
            </a:r>
          </a:p>
          <a:p/>
          <a:p>
            <a:r>
              <a:t>技术来源：</a:t>
            </a:r>
          </a:p>
          <a:p>
            <a:r>
              <a:t>https://github.com/volcano-sh/volcano/releases/tag/v1.16.0</a:t>
            </a:r>
          </a:p>
          <a:p>
            <a:r>
              <a:t>https://github.com/volcano-sh/volcano/issues/6166</a:t>
            </a:r>
          </a:p>
          <a:p>
            <a:r>
              <a:t>https://github.com/volcano-sh/volcano/blob/v1.16.0/docs/design/group-topology-affinity.md</a:t>
            </a:r>
          </a:p>
          <a:p/>
          <a:p>
            <a:r>
              <a:t>本页新版素材与说明：docs/design/group-topology-affinity.md (proposed SubGroup relationships); roadmap #6166.</a:t>
            </a:r>
          </a:p>
          <a:p>
            <a:r>
              <a:t>本页为未来方向，不能当作已交付 API。示意同一 PodGroup 内将协作组放近、将副本分开；具体 selector 与亲和关系设计仍需社区讨论。</a:t>
            </a:r>
          </a:p>
          <a:p>
            <a:r>
              <a:t>Visual: na2026/svg/14-subgroup-next.svg。PNG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0:10。转场：这些分组和拓扑语义，最终要由用户真正使用的 controller 传进来。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1:20。保留 China Kthena 原图。ModelServing.spec.template.networkTopology.groupPolicy 传到 PodGroup.spec.networkTopology；rolePolicy 传到每个 SubGroupPolicy.networkTopology。当前 API 是一个共享的 rolePolicy，不是在每个 Role 上独立配置 networkTopology。示例全组在 spine 内，各 role replica 在 leaf 内。gangPolicy 为 Prefill 1、Decode 3，各 replica 一个 entry + 一个 worker，总8 Pods。角色片段在下一页，Pod templates和selector等省略。</a:t>
            </a:r>
          </a:p>
          <a:p>
            <a:r>
              <a:t>https://github.com/volcano-sh/kthena/blob/f8672ec9912b641f21b999503a8803cd1c07ab0c/pkg/model-serving-controller/podgroupmanager/manager.go</a:t>
            </a:r>
          </a:p>
          <a:p>
            <a:r>
              <a:t>https://github.com/volcano-sh/kthena/blob/f8672ec9912b641f21b999503a8803cd1c07ab0c/pkg/apis/workload/v1alpha1/servinggroup_types.go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https://github.com/volcano-sh/kthena/blob/main/docs/kthena/versioned_docs/version-v1.0.0/user-guide/gang-scheduling.md</a:t>
            </a:r>
          </a:p>
          <a:p/>
          <a:p>
            <a:r>
              <a:t>本页新版素材与说明：China 2026 slide 22; Kthena ModelServing gang scheduling guide.</a:t>
            </a:r>
          </a:p>
          <a:p>
            <a:r>
              <a:t>Visual: na2026/svg/16-kthena-mapping.svg。PNG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1:20。将上一页的配置展开为 Volcano PG。minMember=1×2+3×2=8。Decode policy 的 minSubGroups=3，subGroupSize=2；Prefill policy为1和2，屏幕省略该policy。selector同时匹配modelserving.volcano.sh/name和modelserving.volcano.sh/role，matchLabelKeys为modelserving.volcano.sh/role-id，把每个role副本分成独立SubGroup。屏幕只展示拓扑和gang关键字段，完整对应片段见examples/kthena-mapping.yaml。当前 topology affinity proposal #1478 仍 open，不能宣称 Kthena 已接入 anti-affinity。</a:t>
            </a:r>
          </a:p>
          <a:p>
            <a:r>
              <a:t>https://github.com/volcano-sh/kthena/blob/f8672ec9912b641f21b999503a8803cd1c07ab0c/pkg/model-serving-controller/podgroupmanager/manager.go</a:t>
            </a:r>
          </a:p>
          <a:p/>
          <a:p>
            <a:r>
              <a:t>本页新版素材与说明：Kthena podgroupmanager/manager.go appendSubGroupPolicy and syncPodGroupNetworkTopology, main checked 2026-10-30.</a:t>
            </a:r>
          </a:p>
          <a:p>
            <a:r>
              <a:t>Visual: na2026/svg/17-kthena-podgroup.svg。PNG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1:20。RayMultiHostIndexing feature gate启用且未设置旧的全组topology label时，KubeRay生成SubGroupPolicy。本例开启autoscaling，所以minSubGroups来自minReplicas；关闭autoscaling时按effective desired replicas计算。numOfHosts=2，按ray.io/worker-group-replica-name区分副本。Head还有一个1-Pod policy，本页省略；总minMember=5（Head1+Worker4）。#5249已合并，worker-group topology PR #5369截至2026-10-30仍open。所有屏幕YAML都是片段，不可直接apply。</a:t>
            </a:r>
          </a:p>
          <a:p>
            <a:r>
              <a:t>https://github.com/kuberay-project/kuberay/blob/3ec5cbb8d8d3c6b249eaa06258f1369cf2172dcc/ray-operator/controllers/ray/batchscheduler/volcano/volcano_scheduler.go</a:t>
            </a:r>
          </a:p>
          <a:p/>
          <a:p>
            <a:r>
              <a:t>技术来源：</a:t>
            </a:r>
          </a:p>
          <a:p>
            <a:r>
              <a:t>https://github.com/kuberay-project/kuberay/pull/5249</a:t>
            </a:r>
          </a:p>
          <a:p>
            <a:r>
              <a:t>https://github.com/kuberay-project/kuberay/pull/5369</a:t>
            </a:r>
          </a:p>
          <a:p/>
          <a:p>
            <a:r>
              <a:t>本页新版素材与说明：KubeRay #5249; #5369 open as of 2026-10-29. Volcano SubGroup API.</a:t>
            </a:r>
          </a:p>
          <a:p>
            <a:r>
              <a:t>Visual: na2026/svg/18-ray-replicas.svg。PNG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1:00。一个Grove PodGang对应一个Volcano PodGroup，每个PodGang.spec.podGroups项生成一个SubGroup policy。subGroupSize=max(minReplicas,1)，minSubGroups=1，minMember为各group MinReplicas之和（总数0时才回退1）。屏幕示例2+4=6，右侧展示Decode policy，Prefill在完整examples/grove-mapping.yaml中。selector和matchLabelKeys均使用实际PodClique label。main已经实现，未宣称所有发行版均支持。backend目前显式拒绝topologyConstraint。</a:t>
            </a:r>
          </a:p>
          <a:p>
            <a:r>
              <a:t>https://github.com/ai-dynamo/grove/blob/214dc1c0e2d8f1abb8f2fc9c1d7fd90539dfcde2/operator/internal/scheduler/volcano/backend.go</a:t>
            </a:r>
          </a:p>
          <a:p/>
          <a:p>
            <a:r>
              <a:t>本页新版素材与说明：https://github.com/NVIDIA/grove/blob/1d8f83b38a3f54d9827bb579a68c0315ed54ce91/operator/internal/scheduler/volcano/backend.go (reviewed 2026-10-29); #516 merged. topologyConstraint is currently rejected.</a:t>
            </a:r>
          </a:p>
          <a:p>
            <a:r>
              <a:t>Visual: na2026/svg/19-grove-mapping.svg。PNG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0:50。具体 Kthena、KubeRay、Grove 案例之后再讲后续社区方向。RBG 推进中，已有 RoleInstance→SubGroup 基础；Kubeflow 计划在现有 Volcano 插件上深化分组及拓扑；LWS 计划 multi-role/multi-group 支持。状态来自 maintainer 的推进计划，不能写作全部已交付。</a:t>
            </a:r>
          </a:p>
          <a:p>
            <a:r>
              <a:t>移入备注的外围说明：</a:t>
            </a:r>
          </a:p>
          <a:p>
            <a:r>
              <a:t>Carry roles, replicas, and placement intent from the controller into Volcano.</a:t>
            </a:r>
          </a:p>
          <a:p>
            <a:r>
              <a:t>Build on current integrations. Carry finer group structure and placement requirements.</a:t>
            </a:r>
          </a:p>
          <a:p>
            <a:r>
              <a:t>In progress</a:t>
            </a:r>
          </a:p>
          <a:p>
            <a:r>
              <a:t>RoleInstance → SubGroup</a:t>
            </a:r>
          </a:p>
          <a:p>
            <a:r>
              <a:t>Extend the existing gang integration.</a:t>
            </a:r>
          </a:p>
          <a:p>
            <a:r>
              <a:t>Planned</a:t>
            </a:r>
          </a:p>
          <a:p>
            <a:r>
              <a:t>Training groups + topology</a:t>
            </a:r>
          </a:p>
          <a:p>
            <a:r>
              <a:t>Build on the Volcano scheduler plugin.</a:t>
            </a:r>
          </a:p>
          <a:p>
            <a:r>
              <a:t>Planned</a:t>
            </a:r>
          </a:p>
          <a:p>
            <a:r>
              <a:t>Multi-role / multi-group support</a:t>
            </a:r>
          </a:p>
          <a:p>
            <a:r>
              <a:t>Connect group relationships to scheduling.</a:t>
            </a:r>
          </a:p>
          <a:p>
            <a:r>
              <a:t>RBG in progress · Kubeflow and LWS planned</a:t>
            </a:r>
          </a:p>
          <a:p>
            <a:r>
              <a:t>Gang integration</a:t>
            </a:r>
          </a:p>
          <a:p>
            <a:r>
              <a:t>Volcano plugin</a:t>
            </a:r>
          </a:p>
          <a:p>
            <a:r>
              <a:t>Cross-group placement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https://github.com/volcano-sh/kthena/blob/main/docs/kthena/versioned_docs/version-v1.0.0/user-guide/gang-scheduling.md</a:t>
            </a:r>
          </a:p>
          <a:p>
            <a:r>
              <a:t>https://github.com/volcano-sh/kthena/blob/main/docs/kthena/versioned_docs/version-v1.0.0/user-guide/network-topology.md</a:t>
            </a:r>
          </a:p>
          <a:p>
            <a:r>
              <a:t>https://github.com/kuberay-project/kuberay/pull/5249</a:t>
            </a:r>
          </a:p>
          <a:p>
            <a:r>
              <a:t>https://github.com/kuberay-project/kuberay/pull/5369</a:t>
            </a:r>
          </a:p>
          <a:p>
            <a:r>
              <a:t>https://github.com/ai-dynamo/grove/pull/516</a:t>
            </a:r>
          </a:p>
          <a:p>
            <a:r>
              <a:t>https://trainer.kubeflow.org/en/latest/operator-guides/job-scheduling/volcano.html</a:t>
            </a:r>
          </a:p>
          <a:p>
            <a:r>
              <a:t>https://github.com/kubernetes-sigs/lws/pull/498</a:t>
            </a:r>
          </a:p>
          <a:p>
            <a:r>
              <a:t>https://github.com/sgl-project/rbg/blob/main/doc/features/gang-scheduling.md</a:t>
            </a:r>
          </a:p>
          <a:p>
            <a:r>
              <a:t>https://github.com/kubernetes-sigs/lws/blob/main/README.md</a:t>
            </a:r>
          </a:p>
          <a:p/>
          <a:p>
            <a:r>
              <a:t>本页新版素材与说明：Kthena docs; KubeRay #5249 / #5369; Grove #516; RBG gang-scheduling docs; Kubeflow Trainer Volcano plugin; LWS README / DisaggregatedSet. Roadmap intent supplied by maintainers.</a:t>
            </a:r>
          </a:p>
          <a:p>
            <a:r>
              <a:t>https://github.com/sgl-project/rbg/blob/main/doc/features/gang-scheduling.md</a:t>
            </a:r>
          </a:p>
          <a:p>
            <a:r>
              <a:t>https://github.com/kubernetes-sigs/lws/blob/main/README.md</a:t>
            </a:r>
          </a:p>
          <a:p>
            <a:r>
              <a:t>右侧为 maintainer 提供的推进方向；RBG 公开文档已有 RoleInstance→SubGroup 基础。LWS 已有副本组，下一步是跨角色 multi-group 调度集成。</a:t>
            </a:r>
          </a:p>
          <a:p>
            <a:r>
              <a:t>Visual: na2026/svg/20-ecosystem.svg。PNG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0:10。转场：接入的控制器和约束越多，就越需要可重复的 benchmark。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1:30。沿数据路径解释 benchmark：场景输入→API/调度器→audit-exporter 与 Prometheus→报告。KWOK 只验证调度行为，不代表真实 GPU 执行吞吐。</a:t>
            </a:r>
          </a:p>
          <a:p>
            <a:r>
              <a:t>移入备注的外围说明：</a:t>
            </a:r>
          </a:p>
          <a:p>
            <a:r>
              <a:t>The harness controls the scenario and records observations; KWOK does not execute GPU work.</a:t>
            </a:r>
          </a:p>
          <a:p>
            <a:r>
              <a:t>Generate scenarios, observe API events, and retain comparable measurements.</a:t>
            </a:r>
          </a:p>
          <a:p>
            <a:r>
              <a:t>Scenario</a:t>
            </a:r>
          </a:p>
          <a:p>
            <a:r>
              <a:t>Cluster under test</a:t>
            </a:r>
          </a:p>
          <a:p>
            <a:r>
              <a:t>Observation</a:t>
            </a:r>
          </a:p>
          <a:p>
            <a:r>
              <a:t>Gang / Pod generation</a:t>
            </a:r>
          </a:p>
          <a:p>
            <a:r>
              <a:t>Version + resources + topology</a:t>
            </a:r>
          </a:p>
          <a:p>
            <a:r>
              <a:t>audit + scheduler metrics</a:t>
            </a:r>
          </a:p>
          <a:p>
            <a:r>
              <a:t>audit-exporter</a:t>
            </a:r>
          </a:p>
          <a:p>
            <a:r>
              <a:t>Scenario → cluster → measurements</a:t>
            </a:r>
          </a:p>
          <a:p>
            <a:r>
              <a:t>Scenario</a:t>
            </a:r>
          </a:p>
          <a:p>
            <a:r>
              <a:t>Cluster under test</a:t>
            </a:r>
          </a:p>
          <a:p>
            <a:r>
              <a:t>Measurements</a:t>
            </a:r>
          </a:p>
          <a:p>
            <a:r>
              <a:t>Scenario runner</a:t>
            </a:r>
          </a:p>
          <a:p>
            <a:r>
              <a:t>Gangs / Pods</a:t>
            </a:r>
          </a:p>
          <a:p>
            <a:r>
              <a:t>Workload parameters</a:t>
            </a:r>
          </a:p>
          <a:p>
            <a:r>
              <a:t>Prometheus</a:t>
            </a:r>
          </a:p>
          <a:p>
            <a:r>
              <a:t>Scheduler metrics</a:t>
            </a:r>
          </a:p>
          <a:p/>
          <a:p>
            <a:r>
              <a:t>技术来源：</a:t>
            </a:r>
          </a:p>
          <a:p>
            <a:r>
              <a:t>https://github.com/volcano-sh/volcano/blob/a3d50b503/benchmark/README.md</a:t>
            </a:r>
          </a:p>
          <a:p>
            <a:r>
              <a:t>https://github.com/volcano-sh/volcano/blob/a3d50b503/benchmark/scripts/README.md</a:t>
            </a:r>
          </a:p>
          <a:p/>
          <a:p>
            <a:r>
              <a:t>本页新版素材与说明：benchmark/README.md; benchmark/scripts; benchmark/config; benchmark/testcases.</a:t>
            </a:r>
          </a:p>
          <a:p>
            <a:r>
              <a:t>Visual: na2026/svg/22-benchmark-architecture.svg。PNG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1:20。已有 harness 为重复场景和指标采集打底。后续在同样集群容量、相同 workload arrivals/grouping/resources 下逐个运行不同 scheduler；每次 reset，不能让调度器同时竞争资源。固定每个实现的版本、配置和指标口径；记录各自合理调参后的配置。Kubernetes scheduler 可作为支持场景的 baseline，其他调度器集合待确定。未支持 gang 或 topology 的调度器不强行比较相同语义，须标注差异。比较 tail latency、binding throughput、完整 gang 数及放置正确性，不展示虚构结果。</a:t>
            </a:r>
          </a:p>
          <a:p>
            <a:r>
              <a:t>移入备注的外围说明：</a:t>
            </a:r>
          </a:p>
          <a:p>
            <a:r>
              <a:t>¹ Planned comparison set; match workload semantics and record unsupported constraints.</a:t>
            </a:r>
          </a:p>
          <a:p>
            <a:r>
              <a:t>Harness available. Next: cross-scheduler runs and representative scenarios.</a:t>
            </a:r>
          </a:p>
          <a:p>
            <a:r>
              <a:t>Repeat controlled runs to understand throughput, latency, and placement tradeoffs.</a:t>
            </a:r>
          </a:p>
          <a:p>
            <a:r>
              <a:t>One workload, replayed</a:t>
            </a:r>
          </a:p>
          <a:p>
            <a:r>
              <a:t>Planned comparisons</a:t>
            </a:r>
          </a:p>
          <a:p>
            <a:r>
              <a:t>Same arrivals · groups · resources</a:t>
            </a:r>
          </a:p>
          <a:p>
            <a:r>
              <a:t>one scheduler per run</a:t>
            </a:r>
          </a:p>
          <a:p>
            <a:r>
              <a:t>Same cluster capacity</a:t>
            </a:r>
          </a:p>
          <a:p>
            <a:r>
              <a:t>Pin versions + config</a:t>
            </a:r>
          </a:p>
          <a:p>
            <a:r>
              <a:t>Kubernetes scheduler</a:t>
            </a:r>
          </a:p>
          <a:p>
            <a:r>
              <a:t>Compare latency · binding throughput · completed gangs · placement</a:t>
            </a:r>
          </a:p>
          <a:p>
            <a:r>
              <a:t>Cross-scheduler comparisons · planned</a:t>
            </a:r>
          </a:p>
          <a:p>
            <a:r>
              <a:t>Fixed workload</a:t>
            </a:r>
          </a:p>
          <a:p>
            <a:r>
              <a:t>Schedulers</a:t>
            </a:r>
          </a:p>
          <a:p>
            <a:r>
              <a:t>One per run</a:t>
            </a:r>
          </a:p>
          <a:p>
            <a:r>
              <a:t>Latency · Throughput · Complete gangs · Placement</a:t>
            </a:r>
          </a:p>
          <a:p>
            <a:r>
              <a:t>Planned comparisons</a:t>
            </a:r>
          </a:p>
          <a:p/>
          <a:p>
            <a:r>
              <a:t>技术来源：</a:t>
            </a:r>
          </a:p>
          <a:p>
            <a:r>
              <a:t>https://github.com/volcano-sh/volcano/blob/a3d50b503/benchmark/scripts/collect-report.sh</a:t>
            </a:r>
          </a:p>
          <a:p>
            <a:r>
              <a:t>https://github.com/volcano-sh/volcano/blob/a3d50b503/benchmark/manifests/monitoring/grafana-dashboard.json</a:t>
            </a:r>
          </a:p>
          <a:p>
            <a:r>
              <a:t>https://github.com/volcano-sh/volcano/issues/6166</a:t>
            </a:r>
          </a:p>
          <a:p/>
          <a:p>
            <a:r>
              <a:t>本页新版素材与说明：benchmark/README.md; benchmark/Makefile; benchmark/scripts/collect-report.sh.</a:t>
            </a:r>
          </a:p>
          <a:p>
            <a:r>
              <a:t>Visual: na2026/svg/23-benchmark-progress.svg。PNG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1:20。选择代表性场景，寻找每种 scheduler 的适用边界，不只找有利 Volcano 的配置。第一类改变 arrival rate、预留容量，观察突发的尾延迟和积压恢复；只测试 pool 容量请求的调度，不用 KWOK 宣称完整 agent runtime 延迟。第二类改变 SubGroup 大小和可用资源碎片，观察完整 gangs 和 binding throughput。第三类组合 topology tier limits、可用域、gang/anti-affinity，检查 placement correctness 与完成延迟。KWOK 可以验证调度行为；NCCL/KV 带宽及实际模型吞吐需要真实硬件另测。本页是 ongoing/planned test matrix，没有 benchmark 数字。</a:t>
            </a:r>
          </a:p>
          <a:p>
            <a:r>
              <a:t>移入备注的外围说明：</a:t>
            </a:r>
          </a:p>
          <a:p>
            <a:r>
              <a:t>Expand tests across arrival patterns, group structure, and network topology.</a:t>
            </a:r>
          </a:p>
          <a:p>
            <a:r>
              <a:t>Test shape</a:t>
            </a:r>
          </a:p>
          <a:p>
            <a:r>
              <a:t>What to vary</a:t>
            </a:r>
          </a:p>
          <a:p>
            <a:r>
              <a:t>What to observe</a:t>
            </a:r>
          </a:p>
          <a:p>
            <a:r>
              <a:t>Arrival rate / spare capacity</a:t>
            </a:r>
          </a:p>
          <a:p>
            <a:r>
              <a:t>Warm-pool capacity requests</a:t>
            </a:r>
          </a:p>
          <a:p>
            <a:r>
              <a:t>Tail scheduling latency</a:t>
            </a:r>
          </a:p>
          <a:p>
            <a:r>
              <a:t>Backlog recovery</a:t>
            </a:r>
          </a:p>
          <a:p>
            <a:r>
              <a:t>SubGroup size / fragmentation</a:t>
            </a:r>
          </a:p>
          <a:p>
            <a:r>
              <a:t>Few large vs. many small groups</a:t>
            </a:r>
          </a:p>
          <a:p>
            <a:r>
              <a:t>Complete gangs placed</a:t>
            </a:r>
          </a:p>
          <a:p>
            <a:r>
              <a:t>Binding throughput</a:t>
            </a:r>
          </a:p>
          <a:p>
            <a:r>
              <a:t>Tier limits / available domains</a:t>
            </a:r>
          </a:p>
          <a:p>
            <a:r>
              <a:t>Locality + gang + anti-affinity</a:t>
            </a:r>
          </a:p>
          <a:p>
            <a:r>
              <a:t>Placement correctness</a:t>
            </a:r>
          </a:p>
          <a:p>
            <a:r>
              <a:t>Gang completion + latency</a:t>
            </a:r>
          </a:p>
          <a:p>
            <a:r>
              <a:t>Find the best-fit scenarios and test topology-aware gang placement.</a:t>
            </a:r>
          </a:p>
          <a:p>
            <a:r>
              <a:t>Bursts · group size · topology</a:t>
            </a:r>
          </a:p>
          <a:p>
            <a:r>
              <a:t>Planned test matrix</a:t>
            </a:r>
          </a:p>
          <a:p/>
          <a:p>
            <a:r>
              <a:t>技术来源：</a:t>
            </a:r>
          </a:p>
          <a:p>
            <a:r>
              <a:t>https://github.com/volcano-sh/volcano/blob/a3d50b503/benchmark/README.md</a:t>
            </a:r>
          </a:p>
          <a:p>
            <a:r>
              <a:t>https://github.com/volcano-sh/volcano/blob/a3d50b503/benchmark/scripts/collect-report.sh</a:t>
            </a:r>
          </a:p>
          <a:p/>
          <a:p>
            <a:r>
              <a:t>本页新版素材与说明：benchmark/scripts/collect-report.sh and audit-exporter event definitions. No performance results selected.</a:t>
            </a:r>
          </a:p>
          <a:p>
            <a:r>
              <a:t>口径：scheduledAt−createdAt；binding throughput 为成功 bindings / 首尾成功 bind 时间差。对照时保留原始事件、重复次数与环境配置。命令与完整指标定义见 benchmark/README.md。</a:t>
            </a:r>
          </a:p>
          <a:p>
            <a:r>
              <a:t>Visual: na2026/svg/24-benchmark-measurement.svg。PNG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1:10。v1.17路线选与本次主题直接相关的三条。抢占：#5984/#5994减少SAFE bundle过量驱逐、#5946按gang admission选择目标，均open；topology-aware reclaim #5920已有PR，在review。Group placement：#5347的SubGroup affinity/anti-affinity仍规划，PodGroup anti-affinity是已有基础。Performance：#5036 cache锁、#5921 queue status、#6059候选节点预过滤为open优化项，不能说已经有性能提升；用#5494统一跟踪和profile。已合并修复#6066 nomination生命周期和#6094不可解候选过滤放在讲者备注，不扩展成小功能清单。最后接回maintainer计划：多调度器复现对照、适用场景、topology correctness和gang latency。</a:t>
            </a:r>
          </a:p>
          <a:p>
            <a:r>
              <a:t>https://github.com/volcano-sh/volcano/issues/6166</a:t>
            </a:r>
          </a:p>
          <a:p>
            <a:r>
              <a:t>https://github.com/volcano-sh/volcano/issues/5494</a:t>
            </a:r>
          </a:p>
          <a:p/>
          <a:p>
            <a:r>
              <a:t>技术来源：</a:t>
            </a:r>
          </a:p>
          <a:p>
            <a:r>
              <a:t>https://github.com/volcano-sh/volcano/issues/6166</a:t>
            </a:r>
          </a:p>
          <a:p>
            <a:r>
              <a:t>https://github.com/volcano-sh/volcano/blob/a3d50b503/benchmark/README.md</a:t>
            </a:r>
          </a:p>
          <a:p/>
          <a:p>
            <a:r>
              <a:t>本页新版素材与说明：v1.17 roadmap #6166 checked 2026-10-30; #5984/#5994/#5946/#5347/#5036/#5921 open; topology-aware reclaim PR #5920 open; #6066 and #6094 merged. Performance umbrella #5494. Benchmark expansion reflects maintainer intent.</a:t>
            </a:r>
          </a:p>
          <a:p>
            <a:r>
              <a:t>Visual: na2026/svg/25-takeaways.svg。PNG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 + Q&amp;A。China第25页为社区用户logo、贡献入口和二维码，26页Thank You；EU结束为Q&amp;A和Thank you。NA将社区入口与问答合为一页。复用32个原始logo，不新增商业伙伴关系声明或生产用户数量。二维码分别为官网、GitHub、Slack，原图保留并验证解码。</a:t>
            </a:r>
          </a:p>
          <a:p>
            <a:r>
              <a:t>https://volcano.sh</a:t>
            </a:r>
          </a:p>
          <a:p>
            <a:r>
              <a:t>https://github.com/volcano-sh/volcano</a:t>
            </a:r>
          </a:p>
          <a:p>
            <a:r>
              <a:t>https://cloud-native.slack.com/archives/C011GJDQS0N</a:t>
            </a:r>
          </a:p>
          <a:p/>
          <a:p>
            <a:r>
              <a:t>本页新版素材与说明：China slide 25 logos and QR assets. Single community / Q&amp;A ending, consistent frames and gray top strips. Logos remain original image bytes in SVG viewports.</a:t>
            </a:r>
          </a:p>
          <a:p>
            <a:r>
              <a:t>Visual: na2026/svg/26-community-users.svg。PNG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4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1234440"/>
            <a:ext cx="10561320" cy="1389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300" b="1">
                <a:solidFill>
                  <a:srgbClr val="17283B"/>
                </a:solidFill>
                <a:latin typeface="Liberation Sans"/>
              </a:defRPr>
            </a:pPr>
            <a:r>
              <a:t>Volcano for the</a:t>
            </a:r>
          </a:p>
          <a:p>
            <a:pPr>
              <a:spcAft>
                <a:spcPts val="500"/>
              </a:spcAft>
              <a:defRPr sz="4300" b="1">
                <a:solidFill>
                  <a:srgbClr val="17283B"/>
                </a:solidFill>
                <a:latin typeface="Liberation Sans"/>
              </a:defRPr>
            </a:pPr>
            <a:r>
              <a:t>Agentic AI Era: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83464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0">
                <a:solidFill>
                  <a:srgbClr val="164F89"/>
                </a:solidFill>
                <a:latin typeface="Liberation Sans"/>
              </a:defRPr>
            </a:pPr>
            <a:r>
              <a:t>Unified Scheduling Across Training,</a:t>
            </a:r>
          </a:p>
          <a:p>
            <a:pPr>
              <a:spcAft>
                <a:spcPts val="500"/>
              </a:spcAft>
              <a:defRPr sz="3100" b="0">
                <a:solidFill>
                  <a:srgbClr val="164F89"/>
                </a:solidFill>
                <a:latin typeface="Liberation Sans"/>
              </a:defRPr>
            </a:pPr>
            <a:r>
              <a:t>Inference, and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4590288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17283B"/>
                </a:solidFill>
                <a:latin typeface="Liberation Sans"/>
              </a:defRPr>
            </a:pPr>
            <a:r>
              <a:t>Ricardo Aravena  ·  Rainie 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5202936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414F60"/>
                </a:solidFill>
                <a:latin typeface="Liberation Sans"/>
              </a:defRPr>
            </a:pPr>
            <a:r>
              <a:t>KubeCon + CloudNativeCon North America 2026</a:t>
            </a:r>
          </a:p>
          <a:p>
            <a:pPr>
              <a:spcAft>
                <a:spcPts val="500"/>
              </a:spcAft>
              <a:defRPr sz="1800" b="0">
                <a:solidFill>
                  <a:srgbClr val="414F60"/>
                </a:solidFill>
                <a:latin typeface="Liberation Sans"/>
              </a:defRPr>
            </a:pPr>
            <a:r>
              <a:t>Salt Lake City · November 9–12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6868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300" b="1">
                <a:solidFill>
                  <a:srgbClr val="17283B"/>
                </a:solidFill>
                <a:latin typeface="Liberation Sans"/>
              </a:defRPr>
            </a:pPr>
            <a:r>
              <a:t>Speakers</a:t>
            </a:r>
          </a:p>
        </p:txBody>
      </p:sp>
      <p:pic>
        <p:nvPicPr>
          <p:cNvPr id="5" name="Picture 4" descr="ricardo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828800"/>
            <a:ext cx="1600200" cy="1600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3675887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Ricardo Aravena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79392"/>
            <a:ext cx="484632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64F89"/>
                </a:solidFill>
                <a:latin typeface="Liberation Sans"/>
              </a:defRPr>
            </a:pPr>
            <a:r>
              <a:t>AI Infrastructure Lead · Nunchux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18888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414F60"/>
                </a:solidFill>
                <a:latin typeface="Liberation Sans"/>
              </a:defRPr>
            </a:pPr>
            <a:r>
              <a:t>CNCF TOC Alternate (GB)</a:t>
            </a:r>
          </a:p>
          <a:p>
            <a:pPr>
              <a:spcAft>
                <a:spcPts val="500"/>
              </a:spcAft>
              <a:defRPr sz="2000" b="0">
                <a:solidFill>
                  <a:srgbClr val="414F60"/>
                </a:solidFill>
                <a:latin typeface="Liberation Sans"/>
              </a:defRPr>
            </a:pPr>
            <a:r>
              <a:t>Cloud native and AI infrastructure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164F89"/>
                </a:solidFill>
                <a:latin typeface="Liberation Sans"/>
              </a:defRPr>
            </a:pPr>
            <a:r>
              <a:t>nunchux.ai · CNCF TOC</a:t>
            </a:r>
          </a:p>
        </p:txBody>
      </p:sp>
      <p:pic>
        <p:nvPicPr>
          <p:cNvPr id="10" name="Picture 9" descr="raini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1828800"/>
            <a:ext cx="1600200" cy="1600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46520" y="3675887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Rainie 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279392"/>
            <a:ext cx="484632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64F89"/>
                </a:solidFill>
                <a:latin typeface="Liberation Sans"/>
              </a:defRPr>
            </a:pPr>
            <a:r>
              <a:t>Pinterest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4818888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414F60"/>
                </a:solidFill>
                <a:latin typeface="Liberation Sans"/>
              </a:defRPr>
            </a:pPr>
            <a:r>
              <a:t>Data processing infrastructure</a:t>
            </a:r>
          </a:p>
          <a:p>
            <a:pPr>
              <a:spcAft>
                <a:spcPts val="500"/>
              </a:spcAft>
              <a:defRPr sz="2000" b="0">
                <a:solidFill>
                  <a:srgbClr val="414F60"/>
                </a:solidFill>
                <a:latin typeface="Liberation Sans"/>
              </a:defRPr>
            </a:pPr>
            <a:r>
              <a:t>Apache YuniKorn PMC 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58064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164F89"/>
                </a:solidFill>
                <a:latin typeface="Liberation Sans"/>
              </a:defRPr>
            </a:pPr>
            <a:r>
              <a:t>Apache YuniKorn · rainieli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12984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800" b="1">
                <a:solidFill>
                  <a:srgbClr val="164F89"/>
                </a:solidFill>
                <a:latin typeface="Liberation San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84831"/>
            <a:ext cx="78638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Unified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4041648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164F89"/>
                </a:solidFill>
                <a:latin typeface="Liberation Sans"/>
              </a:defRPr>
            </a:pPr>
            <a:r>
              <a:t>Different paths. Shared infrastructure.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554480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64F89"/>
                </a:solidFill>
                <a:latin typeface="Liberation Sans"/>
              </a:defRPr>
            </a:pPr>
            <a:r>
              <a:t>01  Unified scheduling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2249424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02  Multi-level gang &amp; network topology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944368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03  Ecosystem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3639312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04  Benchmark framework &amp; progress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Different Workloads, Shared Infrastructure</a:t>
            </a:r>
          </a:p>
        </p:txBody>
      </p:sp>
      <p:pic>
        <p:nvPicPr>
          <p:cNvPr id="5" name="Picture 4" descr="04-workload-deman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A Coordinated Scheduling Framework</a:t>
            </a:r>
          </a:p>
        </p:txBody>
      </p:sp>
      <p:pic>
        <p:nvPicPr>
          <p:cNvPr id="5" name="Picture 4" descr="05-unified-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NodeShard: Strategy-Driven Node Allocation</a:t>
            </a:r>
          </a:p>
        </p:txBody>
      </p:sp>
      <p:pic>
        <p:nvPicPr>
          <p:cNvPr id="5" name="Picture 4" descr="06-nodesh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12984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800" b="1">
                <a:solidFill>
                  <a:srgbClr val="164F89"/>
                </a:solidFill>
                <a:latin typeface="Liberation Sans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84831"/>
            <a:ext cx="78638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Multi-level gang</a:t>
            </a:r>
          </a:p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&amp; network topology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4041648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164F89"/>
                </a:solidFill>
                <a:latin typeface="Liberation Sans"/>
              </a:defRPr>
            </a:pPr>
            <a:r>
              <a:t>From available nodes to runnable workloads.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554480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01  Unified scheduling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2249424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64F89"/>
                </a:solidFill>
                <a:latin typeface="Liberation Sans"/>
              </a:defRPr>
            </a:pPr>
            <a:r>
              <a:t>02  Multi-level gang &amp; network topology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944368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03  Ecosystem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3639312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04  Benchmark framework &amp; progress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Whole Workloads, Complete Compute Groups</a:t>
            </a:r>
          </a:p>
        </p:txBody>
      </p:sp>
      <p:pic>
        <p:nvPicPr>
          <p:cNvPr id="5" name="Picture 4" descr="08-workload-ga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PodGroup and SubGroup: Preserve Workload Structure</a:t>
            </a:r>
          </a:p>
        </p:txBody>
      </p:sp>
      <p:pic>
        <p:nvPicPr>
          <p:cNvPr id="5" name="Picture 4" descr="09-group-stru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HyperNode: From Physical Fabric to Scheduling Domains</a:t>
            </a:r>
          </a:p>
        </p:txBody>
      </p:sp>
      <p:pic>
        <p:nvPicPr>
          <p:cNvPr id="5" name="Picture 4" descr="10-hypernode-ap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Place Groups at Different Topology Levels</a:t>
            </a:r>
          </a:p>
        </p:txBody>
      </p:sp>
      <p:pic>
        <p:nvPicPr>
          <p:cNvPr id="5" name="Picture 4" descr="11-multilevel-plac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Gang Preemption Within a HyperNode</a:t>
            </a:r>
          </a:p>
        </p:txBody>
      </p:sp>
      <p:pic>
        <p:nvPicPr>
          <p:cNvPr id="5" name="Picture 4" descr="12-gang-preemp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Keep Each Instance Together, Place Instances Apart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371600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164F89"/>
                </a:solidFill>
                <a:latin typeface="Liberation Sans"/>
              </a:defRPr>
            </a:pPr>
            <a:r>
              <a:t>Same-label PodGroups → separate supernodes</a:t>
            </a:r>
          </a:p>
        </p:txBody>
      </p:sp>
      <p:pic>
        <p:nvPicPr>
          <p:cNvPr id="6" name="Picture 5" descr="13-instance-isol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874519"/>
            <a:ext cx="11277599" cy="426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Next: Relationships Between SubGroups</a:t>
            </a:r>
          </a:p>
        </p:txBody>
      </p:sp>
      <p:pic>
        <p:nvPicPr>
          <p:cNvPr id="5" name="Picture 4" descr="14-subgroup-nex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12984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800" b="1">
                <a:solidFill>
                  <a:srgbClr val="164F89"/>
                </a:solidFill>
                <a:latin typeface="Liberation Sans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84831"/>
            <a:ext cx="78638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Ecosystem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4041648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164F89"/>
                </a:solidFill>
                <a:latin typeface="Liberation Sans"/>
              </a:defRPr>
            </a:pPr>
            <a:r>
              <a:t>Workload controllers carry scheduling intent.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554480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01  Unified scheduling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2249424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02  Multi-level gang &amp; network topology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944368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64F89"/>
                </a:solidFill>
                <a:latin typeface="Liberation Sans"/>
              </a:defRPr>
            </a:pPr>
            <a:r>
              <a:t>03  Ecosystem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3639312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04  Benchmark framework &amp; progress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Kthena: Configure Group and Role Topology</a:t>
            </a:r>
          </a:p>
        </p:txBody>
      </p:sp>
      <p:pic>
        <p:nvPicPr>
          <p:cNvPr id="5" name="Picture 4" descr="16-kthena-mapp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Kthena: Carry Role Replicas into PodGroup</a:t>
            </a:r>
          </a:p>
        </p:txBody>
      </p:sp>
      <p:pic>
        <p:nvPicPr>
          <p:cNvPr id="5" name="Picture 4" descr="17-kthena-podgro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KubeRay: Map Multi-Host Worker Replicas</a:t>
            </a:r>
          </a:p>
        </p:txBody>
      </p:sp>
      <p:pic>
        <p:nvPicPr>
          <p:cNvPr id="5" name="Picture 4" descr="18-ray-replic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Grove: Map PodGang Groups into Volcano</a:t>
            </a:r>
          </a:p>
        </p:txBody>
      </p:sp>
      <p:pic>
        <p:nvPicPr>
          <p:cNvPr id="5" name="Picture 4" descr="19-grove-mapp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Next: RBG, Kubeflow, and LWS</a:t>
            </a:r>
          </a:p>
        </p:txBody>
      </p:sp>
      <p:pic>
        <p:nvPicPr>
          <p:cNvPr id="5" name="Picture 4" descr="20-ecosyste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12984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800" b="1">
                <a:solidFill>
                  <a:srgbClr val="164F89"/>
                </a:solidFill>
                <a:latin typeface="Liberation Sans"/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84831"/>
            <a:ext cx="78638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Benchmark</a:t>
            </a:r>
          </a:p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framework &amp;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4041648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164F89"/>
                </a:solidFill>
                <a:latin typeface="Liberation Sans"/>
              </a:defRPr>
            </a:pPr>
            <a:r>
              <a:t>Measure behavior across workload shapes.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554480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01  Unified scheduling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2249424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02  Multi-level gang &amp; network topology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944368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03  Ecosystem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3639312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64F89"/>
                </a:solidFill>
                <a:latin typeface="Liberation Sans"/>
              </a:defRPr>
            </a:pPr>
            <a:r>
              <a:t>04  Benchmark framework &amp; progress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A Repeatable Scheduling Benchmark Framework</a:t>
            </a:r>
          </a:p>
        </p:txBody>
      </p:sp>
      <p:pic>
        <p:nvPicPr>
          <p:cNvPr id="5" name="Picture 4" descr="22-benchmark-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Next: Cross-Scheduler Comparisons</a:t>
            </a:r>
          </a:p>
        </p:txBody>
      </p:sp>
      <p:pic>
        <p:nvPicPr>
          <p:cNvPr id="5" name="Picture 4" descr="23-benchmark-progr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Next: Workload and Topology Test Matrix</a:t>
            </a:r>
          </a:p>
        </p:txBody>
      </p:sp>
      <p:pic>
        <p:nvPicPr>
          <p:cNvPr id="5" name="Picture 4" descr="24-benchmark-measur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v1.17: Placement, Preemption, and Performance</a:t>
            </a:r>
          </a:p>
        </p:txBody>
      </p:sp>
      <p:pic>
        <p:nvPicPr>
          <p:cNvPr id="5" name="Picture 4" descr="25-takeaway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Volcano Community</a:t>
            </a:r>
          </a:p>
        </p:txBody>
      </p:sp>
      <p:pic>
        <p:nvPicPr>
          <p:cNvPr id="5" name="Picture 4" descr="26-community-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26 /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Volcano for the Agentic AI Era: Unified Scheduling Across Training, Inference, and Agents</dc:title>
  <dc:subject>KubeCon NA 2026 — revised technical presentation</dc:subject>
  <dc:creator>Ricardo Aravena; Rainie Li</dc:creator>
  <cp:keywords/>
  <dc:description>2026-10-30. Retained China/EU figures; API excerpts; 4 chapter dividers. No invented benchmark results.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