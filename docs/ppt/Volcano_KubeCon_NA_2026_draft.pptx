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0:30。原标题保持不变。开场一句：今天先讲调度路径之间如何协调，再讲分布式工作负载内部如何成组和放置。姓名与单位由讲者最终确认。</a:t>
            </a:r>
          </a:p>
          <a:p/>
          <a:p>
            <a:r>
              <a:t>Sources (status checked 2026-10-28):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1:00。Agentic AI 是应用背景，Volcano 讨论底层 Kubernetes 工作负载。训练与 RL 是平台工作负载，不暗示每次 Agent 请求都会触发它们。Substrate / CubeSandbox 可在 worker 资源池上自行调度执行单元。</a:t>
            </a:r>
          </a:p>
          <a:p/>
          <a:p>
            <a:r>
              <a:t>Sources (status checked 2026-10-28):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1:30。这张图是职责概览，不表示 Binder 是所有 scheduler 共享的全局事务协调器。Worker 使用自己的 snapshot；Binder 的冲突处理属于 Agent Scheduler 内部。统一框架不等于统一算法，也不代表全局资源记账已经强一致。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https://github.com/volcano-sh/volcano/blob/v1.16.0/docs/design/agent-scheduler.md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2:00。controller 分配候选节点范围；coordinator 协调当前周期正在使用的节点与期望节点。讲一次从 A 向 B 调整一个节点的例子，等相关周期完成再确认交接。none 不分片，soft 可回退到 shard 外，hard 限定范围。NodeShard 不迁移运行中的 Pods；soft 也不代表消除所有跨 scheduler 冲突。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https://github.com/volcano-sh/volcano/blob/v1.16.0/docs/design/agent-scheduler.md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1:00。交接句：So far, we have discussed how scheduling paths coordinate their use of cluster nodes. But a set of available nodes is not enough for a distributed AI workload. We also need complete groups, the right topology, and placement relationships between groups. 不将 NodeShard、HyperNode、SubGroup 画成一棵包含树。</a:t>
            </a:r>
          </a:p>
          <a:p/>
          <a:p>
            <a:r>
              <a:t>Sources (status checked 2026-10-28):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2:30。先用一个总 minMember 满足但必需角色缺失的反例。随后解释两级 gang。一个 subGroupPolicy 能生成多个实际 SubGroups；图中各画一个示意副本，不代表整个 Role 只能有一个 gang。成组调度不等于所有进程同一时刻启动或跨 Pod 原子 bind。</a:t>
            </a:r>
          </a:p>
          <a:p/>
          <a:p>
            <a:r>
              <a:t>Sources (status checked 2026-10-28):</a:t>
            </a:r>
          </a:p>
          <a:p>
            <a:r>
              <a:t>https://github.com/volcano-sh/kthena/blob/main/docs/kthena/versioned_docs/version-v1.0.0/user-guide/gang-scheduling.md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2:00。HyperNode 表达拓扑域；图示层级不是所有集群必须采用的物理架构。讲清 hard/soft topology constraint。它与 scheduler sharding mode 的 hard/soft 不是同一个配置，也不代表节点所有权。</a:t>
            </a:r>
          </a:p>
          <a:p/>
          <a:p>
            <a:r>
              <a:t>Sources (status checked 2026-10-28):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2:00。整个实例限制在较大的 HyperNode 范围，实际 SubGroups 使用较小的范围。这里是放置示意，不是 NodeShard→HyperNode→PodGroup 的 API 包含关系。硬约束下局部域容量不足时，即使全集群资源充足也可能无法放置。</a:t>
            </a:r>
          </a:p>
          <a:p/>
          <a:p>
            <a:r>
              <a:t>Sources (status checked 2026-10-28):</a:t>
            </a:r>
          </a:p>
          <a:p>
            <a:r>
              <a:t>https://github.com/volcano-sh/kthena/blob/main/docs/kthena/versioned_docs/version-v1.0.0/user-guide/network-topology.md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2:00。顺带说明 required 无合法域则 Pending、preferred 可退化；不再单独占一页。每个实例是一个 PodGroup，内部约束到同一个 supernode，两个 PodGroups 用 anti-affinity 分散。需要启用 plugin；规则选择 PodGroup labels / namespaces，相互分离时双方都应配置规则。主要通过 allocate 执行，不承诺 backfill 的 BestEffort Pods 同样受约束。拓扑分散本身不等于应用 failover。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2:00。Kthena 已有 gang/topology。KubeRay #5249 已合并，#5369 截至核查仍 open。Grove #516 最终实现包含 SubGroupPolicy，但显式拒绝 topology constraints。Kubeflow / LWS 不是从零集成，后续深化分组与拓扑。各条既有能力不都意味着同等支持两级 gang 或 topology。</a:t>
            </a:r>
          </a:p>
          <a:p/>
          <a:p>
            <a:r>
              <a:t>Sources (status checked 2026-10-28):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1:00。仅讨论一个 worker group，忽略 head 等其他需求。minReplicas=2,numOfHosts=2，需要两套完整 replica identity，每套两个 Pods。三个来自 replica 0、一个来自 replica 1 并不满足。一个 WorkerGroup / subgroup policy 能生成多个实际 SubGroups。</a:t>
            </a:r>
          </a:p>
          <a:p/>
          <a:p>
            <a:r>
              <a:t>Sources (status checked 2026-10-28):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1:30。第三章同时交代已有采用与扩展方向。HyperNode standalone 已发布；API 独立可用不等于所有 scheduler adapter 已交付。未来 SubGroup affinity/anti-affinity 位于同一 PodGroup 内，不与已发布的 PodGroup anti-affinity 混淆。转场：控制器与工作负载不断增加，下一步要用可重复的 benchmark 验证规模、延迟和调度开销。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1:30。已核对 benchmark/README.md、testcases 与 scripts。框架提供部署、负载配置和指标收集，既支持 Kind/KWOK 也支持已有集群。按配置可创建 HyperNode。KWOK 测试不能证明真实训练、推理或网络吞吐。此处是调度 benchmark，不是应用 benchmark。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1:30。用户确认 benchmark 持续推进与测试；具体测试重点仍待选择，右栏为建议。左侧仅描述代码已有能力。collect-report 包含 Pod created→scheduled 延迟直方图分位数与成功 binding 事件吞吐计算；本地 audit 文件不可用时吞吐可能缺失。不同来源和时间窗口的指标不能混用。后续可选一项有证据的优化讲进展，不展开 Unschedulable Job Cache。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1:30。等待讲者选定当前测试成果。优先选择一组能说明问题的曲线或对比，不把无上下文日志中的数字直接放上来。注明 scheduler build、Kubernetes、控制面资源、节点/Pod/Job规模、gang/topology规则、测量口径与重复次数。没有稳定数字时换成真实 profiling 发现及复测进展，不制造占位曲线，不把旧 scheduler 的优化结果归因于乐观并行架构。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1:30。回顾四章：统一调度框架、工作负载语义、生态、benchmark。明确性能工作还在持续测试和优化，邀请用户贡献真实场景、可复现 profile 和对比方法。Global/混部不另开章节。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 / Draft notes</a:t>
            </a:r>
          </a:p>
          <a:p>
            <a:r>
              <a:t>5:00。问答准备：NodeShard 和 HyperNode 的区别；hard shard 切开拓扑域的取舍；Gang 不等于进程同时启动；PodGroup anti-affinity 的 allocate 范围；SubGroup 关系尚未发布；生态 PR 合并与发行版本的区别。</a:t>
            </a:r>
          </a:p>
          <a:p/>
          <a:p>
            <a:r>
              <a:t>Sources (status checked 2026-10-28):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待确认：讲者姓名、署名顺序与单位；当前为工作版式，未套用官方模板。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01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097280"/>
            <a:ext cx="10881360" cy="1417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202D3C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202D3C"/>
                </a:solidFill>
                <a:latin typeface="Liberation Sans"/>
              </a:defRPr>
            </a:pPr>
            <a:r>
              <a:t>Agentic AI 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43200"/>
            <a:ext cx="10515600" cy="102412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356696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2900" b="0">
                <a:solidFill>
                  <a:srgbClr val="356696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KubeCon + CloudNativeCon North America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7132320" cy="502920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>
                <a:solidFill>
                  <a:srgbClr val="647282"/>
                </a:solidFill>
                <a:latin typeface="Liberation Sans"/>
              </a:defRPr>
            </a:pPr>
            <a:r>
              <a:t>SPEAKERS / AFFILIATIONS — TO CONFIRM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01 / COORDINATING SCHEDULING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复用：生命周期图精简。Agent 应用依赖推理服务，不把每次调用画成一个新 Pod。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Different arrival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Long-running services, grouped compute, and bursts.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Different scheduling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Responsiveness, complete groups, and communication locality.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A shared resource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18888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Coordinate infrastructure without forcing one execution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EDITABLE DIAGRAM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12848"/>
            <a:ext cx="295351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Agent applications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19488" y="2761488"/>
            <a:ext cx="0" cy="530352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0" y="329184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Training / 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91840"/>
            <a:ext cx="29535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Inference services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64808" y="3977639"/>
            <a:ext cx="0" cy="457201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19488" y="3977639"/>
            <a:ext cx="0" cy="457201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57800" y="4434840"/>
            <a:ext cx="58338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100">
                <a:solidFill>
                  <a:srgbClr val="202D3C"/>
                </a:solidFill>
                <a:latin typeface="Liberation Sans"/>
              </a:defRPr>
            </a:pPr>
            <a:r>
              <a:t>Shared Kubernetes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01 / COORDINATING SCHEDULING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复用：China 7–8 / EU 9。worker / Binder 讲 30–45 秒；本页不放性能提升数字。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Keep different scheduling</a:t>
            </a:r>
          </a:p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69464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Support distinct workload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Coordinate access to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NodeShard connects the paths at the infrastructure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2D3C"/>
                </a:solidFill>
                <a:latin typeface="Liberation Sans"/>
              </a:defRPr>
            </a:pPr>
            <a:r>
              <a:t>Handle local conflicts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18888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Workers and Binder coordinate within the Agent Scheduler.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SCHEMATIC — REUSE / SIMPLIFY EXISTING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4648" y="23774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900">
                <a:solidFill>
                  <a:srgbClr val="202D3C"/>
                </a:solidFill>
                <a:latin typeface="Liberation Sans"/>
              </a:defRPr>
            </a:pPr>
            <a:r>
              <a:t>Volcano Scheduler</a:t>
            </a:r>
            <a:br/>
            <a:r>
              <a:t>Group 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237744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900">
                <a:solidFill>
                  <a:srgbClr val="202D3C"/>
                </a:solidFill>
                <a:latin typeface="Liberation Sans"/>
              </a:defRPr>
            </a:pPr>
            <a:r>
              <a:t>Agent Scheduler</a:t>
            </a:r>
            <a:br/>
            <a:r>
              <a:t>Workers + Binder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520440"/>
            <a:ext cx="0" cy="59436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84080" y="3520440"/>
            <a:ext cx="0" cy="59436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4114800"/>
            <a:ext cx="6089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100">
                <a:solidFill>
                  <a:srgbClr val="202D3C"/>
                </a:solidFill>
                <a:latin typeface="Liberation Sans"/>
              </a:defRPr>
            </a:pPr>
            <a:r>
              <a:t>NodeShard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5047488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47282"/>
                </a:solidFill>
                <a:latin typeface="Liberation Mono"/>
              </a:defRPr>
            </a:pPr>
            <a:r>
              <a:t>Scheduler-internal conflicts ≠ cross-scheduler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01 / COORDINATING SCHEDULING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NodeShard: Coordinating Node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复用：China 9 / EU 10–11。补一个节点范围交接例子；不是迁移运行中的 Pods。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Controller sets desired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69464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Express which nodes belong in each desired shard.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Coordinators synchronize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867911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Reconcile desired and in-use nodes around scheduling cycles.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Mode defines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18888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none: all nodes · soft: preference · hard: restricted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CONTROL FLOW — NOT A PHYSICAL TOPOLOGY TREE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304288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Sharding 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304288"/>
            <a:ext cx="287121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NodeShard objects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2651760"/>
            <a:ext cx="685800" cy="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56648" y="2990088"/>
            <a:ext cx="0" cy="512064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12080" y="3502152"/>
            <a:ext cx="5980176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Scheduler coordinators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02168" y="4187952"/>
            <a:ext cx="0" cy="438912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80" y="4626864"/>
            <a:ext cx="5980176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600">
                <a:solidFill>
                  <a:srgbClr val="202D3C"/>
                </a:solidFill>
                <a:latin typeface="Liberation Sans"/>
              </a:defRPr>
            </a:pPr>
            <a:r>
              <a:t>Candidate nodes for the next cycle /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01 → 02 / THE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Available Nodes Are Only the Beginning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新增转场：NodeShard 是候选范围，HyperNode 是物理拓扑；不要画成父子层级。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202D3C"/>
                </a:solidFill>
                <a:latin typeface="Liberation Sans"/>
              </a:defRPr>
            </a:pPr>
            <a:r>
              <a:t>Enough free resources can still leave a workload unable to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52928"/>
            <a:ext cx="3383280" cy="2148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054096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56696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675887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Complete replicas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51960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Do all required members fit?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852928"/>
            <a:ext cx="3383280" cy="2148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054096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56696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675887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Communication locality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251960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Are the nodes in the right domain?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2852928"/>
            <a:ext cx="3383280" cy="2148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054096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56696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675887"/>
            <a:ext cx="29718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Group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4251960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Should instances share a domain?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02 / COORDINATING WORKLOAD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PodGroup and SubGroup: Complete Replicas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复用：China 14、22。policy 可以产生多个实际 SubGroups；以下为 P/D 示意，不是完整 API。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PodGroup: overall gang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69464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Describe what the workload needs as a whole.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SubGroup: complete member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867911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Preserve a replica that spans multiple Pods.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Use role and replica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18888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Extra Pods in one role cannot fill a missing replica in another.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ILLUSTRATIVE KTHENA PREFILL / DECODE INSTANCE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249424"/>
            <a:ext cx="6144768" cy="2852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423160"/>
            <a:ext cx="576072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ServingGroup → PodGroup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30632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3136392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Prefill replica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35021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35021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30632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136392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Decode replica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976" y="35021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7232" y="35021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4480560"/>
            <a:ext cx="5477256" cy="39319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SubGroup policies preserve role / replica membership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02 / COORDINATING WORKLOAD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HyperNode: Expressing Topology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复用：China 16。仅保留一棵树；层级名称按现场集群映射，不写固定带宽收益。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Describe nested infrastructure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69464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Represent nodes and their topology hierarchy.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Choose a placement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A group can target an appropriate domain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Express hard or soft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166359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State whether locality is required or preferred.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EDITABLE DIAGRAM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19456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Supernode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0840" y="2743200"/>
            <a:ext cx="1554480" cy="621792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06440" y="3364992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Rack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144767" y="3913632"/>
            <a:ext cx="576073" cy="68580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79" y="4599432"/>
            <a:ext cx="9784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>
                <a:solidFill>
                  <a:srgbClr val="202D3C"/>
                </a:solidFill>
                <a:latin typeface="Liberation Sans"/>
              </a:defRPr>
            </a:pPr>
            <a:r>
              <a:t>Node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20840" y="3913632"/>
            <a:ext cx="566927" cy="68580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12279" y="4599432"/>
            <a:ext cx="9784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>
                <a:solidFill>
                  <a:srgbClr val="202D3C"/>
                </a:solidFill>
                <a:latin typeface="Liberation Sans"/>
              </a:defRPr>
            </a:pPr>
            <a:r>
              <a:t>Node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75320" y="2743200"/>
            <a:ext cx="1600200" cy="621792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61120" y="3364992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700">
                <a:solidFill>
                  <a:srgbClr val="202D3C"/>
                </a:solidFill>
                <a:latin typeface="Liberation Sans"/>
              </a:defRPr>
            </a:pPr>
            <a:r>
              <a:t>Rack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299448" y="3913632"/>
            <a:ext cx="576072" cy="68580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4599432"/>
            <a:ext cx="9784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>
                <a:solidFill>
                  <a:srgbClr val="202D3C"/>
                </a:solidFill>
                <a:latin typeface="Liberation Sans"/>
              </a:defRPr>
            </a:pPr>
            <a:r>
              <a:t>Node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75520" y="3913632"/>
            <a:ext cx="566928" cy="68580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66960" y="4599432"/>
            <a:ext cx="9784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>
                <a:solidFill>
                  <a:srgbClr val="202D3C"/>
                </a:solidFill>
                <a:latin typeface="Liberation Sans"/>
              </a:defRPr>
            </a:pPr>
            <a:r>
              <a:t>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02 / COORDINATING WORKLOAD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复用：China 17。延续 P/D 案例；用两层边框区分实例范围和完整副本范围。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08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One boundary for the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Keep the PodGroup inside a larger topology domain.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Tighter boundaries for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Place each multi-Pod replica in a smaller domain.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Check capacity within the</a:t>
            </a:r>
          </a:p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166359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Cluster-wide capacity alone is insufficient.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ILLUSTRATIVE PLACEMENT — NOT AN API OBJECT TREE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2221992"/>
            <a:ext cx="6217920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359152"/>
            <a:ext cx="58521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2D3C"/>
                </a:solidFill>
                <a:latin typeface="Liberation Sans"/>
              </a:defRPr>
            </a:pPr>
            <a:r>
              <a:t>Supernode A · instance / PodGroup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76672" y="2971800"/>
            <a:ext cx="2688336" cy="1847088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310896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02D3C"/>
                </a:solidFill>
                <a:latin typeface="Liberation Sans"/>
              </a:defRPr>
            </a:pPr>
            <a:r>
              <a:t>Rack A1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575304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3648456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Prefill replica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7296" y="4014216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02552" y="4014216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21624" y="2971800"/>
            <a:ext cx="2688336" cy="1847088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310896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02D3C"/>
                </a:solidFill>
                <a:latin typeface="Liberation Sans"/>
              </a:defRPr>
            </a:pPr>
            <a:r>
              <a:t>Rack A2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14232" y="3575304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3648456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Decode replica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2248" y="4014216"/>
            <a:ext cx="77724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47504" y="4014216"/>
            <a:ext cx="77724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02 / COORDINATING WORKLOAD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Keep Instances Together, Place Them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新增重点：v1.16 PodGroup anti-affinity。复用 China 15 的构图，更新功能状态。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09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5751576"/>
            <a:ext cx="10972800" cy="16459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SOURCE  Volcano v1.16  ·  PodGroup anti-affinity #5349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19072"/>
            <a:ext cx="1920240" cy="292608"/>
          </a:xfrm>
          <a:prstGeom prst="rect">
            <a:avLst/>
          </a:prstGeom>
          <a:solidFill>
            <a:srgbClr val="ED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86C5A"/>
                </a:solidFill>
                <a:latin typeface="Liberation Sans"/>
              </a:defRPr>
            </a:pPr>
            <a:r>
              <a:t>AVAILABLE IN v1.16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58568"/>
            <a:ext cx="3886200" cy="868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Locality within.</a:t>
            </a:r>
          </a:p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Separation between.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3840480" cy="1417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647282"/>
                </a:solidFill>
                <a:latin typeface="Liberation Sans"/>
              </a:defRPr>
            </a:pPr>
            <a:r>
              <a:t>Combine PodGroup network topology with anti-affinity across selected PodGroups.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EDITABLE DIAGRAM DRAFT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304288"/>
            <a:ext cx="2907792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468880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2D3C"/>
                </a:solidFill>
                <a:latin typeface="Liberation Sans"/>
              </a:defRPr>
            </a:pPr>
            <a:r>
              <a:t>Supernode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5816" y="3072384"/>
            <a:ext cx="2468880" cy="557784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600">
                <a:solidFill>
                  <a:srgbClr val="202D3C"/>
                </a:solidFill>
                <a:latin typeface="Liberation Sans"/>
              </a:defRPr>
            </a:pPr>
            <a:r>
              <a:t>Instance A / PG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023360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Prefill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4023360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Decode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2304288"/>
            <a:ext cx="2907792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2468880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2D3C"/>
                </a:solidFill>
                <a:latin typeface="Liberation Sans"/>
              </a:defRPr>
            </a:pPr>
            <a:r>
              <a:t>Supernode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072384"/>
            <a:ext cx="2468880" cy="557784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600">
                <a:solidFill>
                  <a:srgbClr val="202D3C"/>
                </a:solidFill>
                <a:latin typeface="Liberation Sans"/>
              </a:defRPr>
            </a:pPr>
            <a:r>
              <a:t>Instance B / PG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8512" y="4023360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Prefill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023360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Decode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193792"/>
            <a:ext cx="5806440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56696"/>
                </a:solidFill>
                <a:latin typeface="Liberation Mono"/>
              </a:defRPr>
            </a:pPr>
            <a:r>
              <a:t>Within-group topology + between-group anti-affinity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03 / ECOSYSTEM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Controllers Bring Workload Structure to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状态截至 2026-10-28；已合并不等于下游稳定版已发布。演讲前核对 PR 和版本。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10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55648"/>
            <a:ext cx="1755648" cy="466344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65376"/>
            <a:ext cx="1536192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755648"/>
            <a:ext cx="4279392" cy="466344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865376"/>
            <a:ext cx="4059935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EXISTING / MERGED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755648"/>
            <a:ext cx="4389120" cy="466344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65376"/>
            <a:ext cx="4169663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NEXT / 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31136"/>
            <a:ext cx="1755648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377440"/>
            <a:ext cx="1536192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2D3C"/>
                </a:solidFill>
                <a:latin typeface="Liberation Sans"/>
              </a:defRPr>
            </a:pPr>
            <a:r>
              <a:t>Kthena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0008" y="2231136"/>
            <a:ext cx="4279392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9736" y="2377440"/>
            <a:ext cx="4059935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02D3C"/>
                </a:solidFill>
                <a:latin typeface="Liberation Sans"/>
              </a:defRPr>
            </a:pPr>
            <a:r>
              <a:t>Role / replica gang + topology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231136"/>
            <a:ext cx="4389120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2377440"/>
            <a:ext cx="4169663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Reference use cases for group relationships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798064"/>
            <a:ext cx="1755648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944368"/>
            <a:ext cx="1536192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2D3C"/>
                </a:solidFill>
                <a:latin typeface="Liberation Sans"/>
              </a:defRPr>
            </a:pPr>
            <a:r>
              <a:t>KubeRay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798064"/>
            <a:ext cx="4279392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9736" y="2944368"/>
            <a:ext cx="4059935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02D3C"/>
                </a:solidFill>
                <a:latin typeface="Liberation Sans"/>
              </a:defRPr>
            </a:pPr>
            <a:r>
              <a:t>SubGroup support · #5249 merged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798064"/>
            <a:ext cx="438912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2944368"/>
            <a:ext cx="4169663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Replica topology · #5369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364991"/>
            <a:ext cx="1755648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511296"/>
            <a:ext cx="1536192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2D3C"/>
                </a:solidFill>
                <a:latin typeface="Liberation Sans"/>
              </a:defRPr>
            </a:pPr>
            <a:r>
              <a:t>Grove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364991"/>
            <a:ext cx="4279392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59736" y="3511296"/>
            <a:ext cx="4059935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02D3C"/>
                </a:solidFill>
                <a:latin typeface="Liberation Sans"/>
              </a:defRPr>
            </a:pPr>
            <a:r>
              <a:t>Gang / SubGroup backend merged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3364991"/>
            <a:ext cx="4389120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3511296"/>
            <a:ext cx="4169663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Topology mapping not yet supported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931920"/>
            <a:ext cx="1755648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078224"/>
            <a:ext cx="1536192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2D3C"/>
                </a:solidFill>
                <a:latin typeface="Liberation Sans"/>
              </a:defRPr>
            </a:pPr>
            <a:r>
              <a:t>Kubeflow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3931920"/>
            <a:ext cx="4279392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59736" y="4078224"/>
            <a:ext cx="4059935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02D3C"/>
                </a:solidFill>
                <a:latin typeface="Liberation Sans"/>
              </a:defRPr>
            </a:pPr>
            <a:r>
              <a:t>Existing Volcano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3931920"/>
            <a:ext cx="438912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9128" y="4078224"/>
            <a:ext cx="4169663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Finer TrainJob groups + topology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498848"/>
            <a:ext cx="1755648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645152"/>
            <a:ext cx="1536192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2D3C"/>
                </a:solidFill>
                <a:latin typeface="Liberation Sans"/>
              </a:defRPr>
            </a:pPr>
            <a:r>
              <a:t>LWS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498848"/>
            <a:ext cx="4279392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59736" y="4645152"/>
            <a:ext cx="4059935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02D3C"/>
                </a:solidFill>
                <a:latin typeface="Liberation Sans"/>
              </a:defRPr>
            </a:pPr>
            <a:r>
              <a:t>Existing gang / Volcano integration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498848"/>
            <a:ext cx="4389120" cy="557784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9128" y="4645152"/>
            <a:ext cx="4169663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Sans"/>
              </a:defRPr>
            </a:pPr>
            <a:r>
              <a:t>Explore roles / slices + group 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358384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56696"/>
                </a:solidFill>
                <a:latin typeface="Liberation Sans"/>
              </a:defRPr>
            </a:pPr>
            <a:r>
              <a:t>Controllers supply identity; the scheduler applies group and placement constraints.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03 / ECOSYSTEM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新增案例：WorkerGroup / policy / 实际 replica 不混为一谈；省略 head，仅聚焦一个 worker group。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11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356696"/>
                </a:solidFill>
                <a:latin typeface="Liberation Mono"/>
              </a:defRPr>
            </a:pPr>
            <a:r>
              <a:t>minReplicas = 2</a:t>
            </a:r>
          </a:p>
          <a:p>
            <a:pPr>
              <a:spcAft>
                <a:spcPts val="500"/>
              </a:spcAft>
              <a:defRPr sz="2200" b="1">
                <a:solidFill>
                  <a:srgbClr val="356696"/>
                </a:solidFill>
                <a:latin typeface="Liberation Mono"/>
              </a:defRPr>
            </a:pPr>
            <a:r>
              <a:t>numOfHosts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384048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202D3C"/>
                </a:solidFill>
                <a:latin typeface="Liberation Sans"/>
              </a:defRPr>
            </a:pPr>
            <a:r>
              <a:t>The requirement is two complete replicas, each spanning two Pods.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384048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Any four Pods are not enough.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EDITABLE DIAGRAM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6060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679192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Replica 0 → SubGroup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2976" y="30449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2" y="30449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26060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2679192"/>
            <a:ext cx="182880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02D3C"/>
                </a:solidFill>
                <a:latin typeface="Liberation Sans"/>
              </a:defRPr>
            </a:pPr>
            <a:r>
              <a:t>Replica 1 → SubGroup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30449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8944" y="3044952"/>
            <a:ext cx="777240" cy="393192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>
                <a:solidFill>
                  <a:srgbClr val="202D3C"/>
                </a:solidFill>
                <a:latin typeface="Liberation Sans"/>
              </a:defRPr>
            </a:pPr>
            <a:r>
              <a:t>Pod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050791"/>
            <a:ext cx="5422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200">
                <a:solidFill>
                  <a:srgbClr val="202D3C"/>
                </a:solidFill>
                <a:latin typeface="Liberation Sans"/>
              </a:defRPr>
            </a:pPr>
            <a:r>
              <a:t>2 complete replicas × 2 hosts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5001768"/>
            <a:ext cx="2212848" cy="292608"/>
          </a:xfrm>
          <a:prstGeom prst="rect">
            <a:avLst/>
          </a:prstGeom>
          <a:solidFill>
            <a:srgbClr val="ED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5029200"/>
            <a:ext cx="2121408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86C5A"/>
                </a:solidFill>
                <a:latin typeface="Liberation Sans"/>
              </a:defRPr>
            </a:pPr>
            <a:r>
              <a:t>GANG: MERGED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0688" y="5001768"/>
            <a:ext cx="2916936" cy="292608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5029200"/>
            <a:ext cx="2825496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B621C"/>
                </a:solidFill>
                <a:latin typeface="Liberation Sans"/>
              </a:defRPr>
            </a:pPr>
            <a:r>
              <a:t>TOPOLOGY: 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03 / ECOSYSTEM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Extending the Ecosystem and Placement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Standalone HyperNode 已交付；SubGroup 关系与进一步的 controller / adapter 接入分别标状态。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12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3337560" cy="3200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48840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Available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83280"/>
            <a:ext cx="297180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Standalone HyperNode controller</a:t>
            </a:r>
          </a:p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A reusable topology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37560" cy="3200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Integration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383280"/>
            <a:ext cx="297180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KubeRay / Grove topology</a:t>
            </a:r>
          </a:p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Deeper Kubeflow / LWS mappings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874519"/>
            <a:ext cx="3337560" cy="3200400"/>
          </a:xfrm>
          <a:prstGeom prst="rect">
            <a:avLst/>
          </a:prstGeom>
          <a:solidFill>
            <a:srgbClr val="F2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148840"/>
            <a:ext cx="29718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Proposed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383280"/>
            <a:ext cx="2971800" cy="12801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SubGroup affinity / anti-affinity</a:t>
            </a:r>
          </a:p>
          <a:p>
            <a:pPr>
              <a:spcAft>
                <a:spcPts val="500"/>
              </a:spcAft>
              <a:defRPr sz="1900" b="0">
                <a:solidFill>
                  <a:srgbClr val="647282"/>
                </a:solidFill>
                <a:latin typeface="Liberation Sans"/>
              </a:defRPr>
            </a:pPr>
            <a:r>
              <a:t>Within the same PodGroup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56696"/>
                </a:solidFill>
                <a:latin typeface="Liberation Sans"/>
              </a:defRPr>
            </a:pPr>
            <a:r>
              <a:t>As integrations grow, we need repeatable ways to evaluate scheduling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04 / BENCHMARK FRAMEWORK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基于仓库 benchmark/。框架能力与具体测试结果分开；KWOK 不模拟真实 GPU 计算和网络性能。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Choose an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Kind + KWOK, or an existing Kubernetes cluster.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81528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Choose a workload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20440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Gang jobs, bare Pods, and topology configurations.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79976"/>
            <a:ext cx="39319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D3C"/>
                </a:solidFill>
                <a:latin typeface="Liberation Sans"/>
              </a:defRPr>
            </a:pPr>
            <a:r>
              <a:t>Collect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818888"/>
            <a:ext cx="3931920" cy="7040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Audit events, scheduler metrics, dashboards, and reports.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EXISTING FRAMEWORK — EDITABLE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240280"/>
            <a:ext cx="5943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800">
                <a:solidFill>
                  <a:srgbClr val="202D3C"/>
                </a:solidFill>
                <a:latin typeface="Liberation Sans"/>
              </a:defRPr>
            </a:pPr>
            <a:r>
              <a:t>Environment + scheduler configuration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880360"/>
            <a:ext cx="0" cy="457200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0" y="3337560"/>
            <a:ext cx="5943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800">
                <a:solidFill>
                  <a:srgbClr val="202D3C"/>
                </a:solidFill>
                <a:latin typeface="Liberation Sans"/>
              </a:defRPr>
            </a:pPr>
            <a:r>
              <a:t>Gang / Pod workload profiles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977639"/>
            <a:ext cx="0" cy="457201"/>
          </a:xfrm>
          <a:prstGeom prst="line">
            <a:avLst/>
          </a:prstGeom>
          <a:ln w="19050">
            <a:solidFill>
              <a:srgbClr val="8EA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57800" y="4434840"/>
            <a:ext cx="5943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800">
                <a:solidFill>
                  <a:srgbClr val="202D3C"/>
                </a:solidFill>
                <a:latin typeface="Liberation Sans"/>
              </a:defRPr>
            </a:pPr>
            <a:r>
              <a:t>Audit + Prometheus / Grafana +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04 / BENCHMARK FRAMEWORK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Progress So Far—and What We Are Still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进展页：左侧是已核查的框架能力；右侧是待讲者确认的测试重点，不写成已完成结果。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14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5349240" cy="3730752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810512"/>
            <a:ext cx="5349240" cy="3730752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2011680"/>
            <a:ext cx="2103120" cy="292608"/>
          </a:xfrm>
          <a:prstGeom prst="rect">
            <a:avLst/>
          </a:prstGeom>
          <a:solidFill>
            <a:srgbClr val="ED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011679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86C5A"/>
                </a:solidFill>
                <a:latin typeface="Liberation Sans"/>
              </a:defRPr>
            </a:pPr>
            <a:r>
              <a:t>IN THE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011680"/>
            <a:ext cx="2816352" cy="292608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039112"/>
            <a:ext cx="2724912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B621C"/>
                </a:solidFill>
                <a:latin typeface="Liberation Sans"/>
              </a:defRPr>
            </a:pPr>
            <a:r>
              <a:t>VALIDATION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0048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Configurable test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Gang / Pod profiles and topology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93592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Latency and throughput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6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Audit-based observations and scheduler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Repeatable setup and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Scripts, dashboards, and saved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670048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Representative workload shapes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090672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Scale, job sizes, and topology 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593592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Optimization comparisons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014216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Matched configurations and repeated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517136"/>
            <a:ext cx="4864608" cy="3566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D3C"/>
                </a:solidFill>
                <a:latin typeface="Liberation Sans"/>
              </a:defRPr>
            </a:pPr>
            <a:r>
              <a:t>Measurement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937760"/>
            <a:ext cx="4864608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47282"/>
                </a:solidFill>
                <a:latin typeface="Liberation Sans"/>
              </a:defRPr>
            </a:pPr>
            <a:r>
              <a:t>Separate creation, scheduling, and app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04 / BENCHMARK FRAMEWORK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Benchmark Snapshot: Results Under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待填：选择一项正在复测的结果，补环境、版本、负载与重复次数。当前没有放入测量数据。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2286000" cy="292608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8B621C"/>
                </a:solidFill>
                <a:latin typeface="Liberation Sans"/>
              </a:defRPr>
            </a:pPr>
            <a:r>
              <a:t>WORK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794760" cy="4480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One scenario. One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794760" cy="1316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647282"/>
                </a:solidFill>
                <a:latin typeface="Liberation Sans"/>
              </a:defRPr>
            </a:pPr>
            <a:r>
              <a:t>Show what changed, what was measured, and what remains under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3794760" cy="56692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56696"/>
                </a:solidFill>
                <a:latin typeface="Liberation Sans"/>
              </a:defRPr>
            </a:pPr>
            <a:r>
              <a:t>Freeze the claim after validation.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691640"/>
            <a:ext cx="6812280" cy="38587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819656"/>
            <a:ext cx="6483096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Mono"/>
              </a:defRPr>
            </a:pPr>
            <a:r>
              <a:t>RESULT PLACEHOLDER — NO MEASURED DATA YET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2414016"/>
            <a:ext cx="5916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200">
                <a:solidFill>
                  <a:srgbClr val="202D3C"/>
                </a:solidFill>
                <a:latin typeface="Liberation Sans"/>
              </a:defRPr>
            </a:pPr>
            <a:r>
              <a:t>Insert one verified chart or a real dashboard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877056"/>
            <a:ext cx="5650992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Mono"/>
              </a:defRPr>
            </a:pPr>
            <a:r>
              <a:t>Build / cluster / nodes / workload: TBD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4370832"/>
            <a:ext cx="5650992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Mono"/>
              </a:defRPr>
            </a:pPr>
            <a:r>
              <a:t>Metric / window / repetitions: TBD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864608"/>
            <a:ext cx="5650992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47282"/>
                </a:solidFill>
                <a:latin typeface="Liberation Mono"/>
              </a:defRPr>
            </a:pPr>
            <a:r>
              <a:t>Observation / limits / next test: TBD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04 / BENCHMARK FRAMEWORK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Framework, Workloads, Ecosystem,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收尾：测试和优化仍在继续，邀请贡献真实 workload 与 benchmark profile；不把 WIP 写成完成。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46504"/>
            <a:ext cx="530352" cy="29260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56696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91640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Coordinate scheduling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30552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Dual paths and NodeShard coordination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697480"/>
            <a:ext cx="530352" cy="29260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56696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42616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Preserve workload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81528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Multi-level gang and network topology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648456"/>
            <a:ext cx="530352" cy="29260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8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56696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93592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Extend ecosystem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3250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Existing adoption and deeper controller mappings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599431"/>
            <a:ext cx="530352" cy="29260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26864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56696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44568"/>
            <a:ext cx="987552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D3C"/>
                </a:solidFill>
                <a:latin typeface="Liberation Sans"/>
              </a:defRPr>
            </a:pPr>
            <a:r>
              <a:t>Measure and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83479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47282"/>
                </a:solidFill>
                <a:latin typeface="Liberation Sans"/>
              </a:defRPr>
            </a:pPr>
            <a:r>
              <a:t>Repeatable benchmarks and ongoing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59552"/>
            <a:ext cx="10789920" cy="2468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356696"/>
                </a:solidFill>
                <a:latin typeface="Liberation Sans"/>
              </a:defRPr>
            </a:pPr>
            <a:r>
              <a:t>Contribute workload profiles, reproducible observations, and integration feedback.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2860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56696"/>
                </a:solidFill>
                <a:latin typeface="Liberation Sans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94944"/>
            <a:ext cx="11201400" cy="8046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202D3C"/>
                </a:solidFill>
                <a:latin typeface="Liberation Sans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007608"/>
            <a:ext cx="11183112" cy="466344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99048"/>
            <a:ext cx="10899648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8B621C"/>
                </a:solidFill>
                <a:latin typeface="Noto Sans CJK SC"/>
              </a:defRPr>
            </a:pPr>
            <a:r>
              <a:t>备份材料：NodeShard 模式、关键 API、生态版本与 benchmark 方法；正式版移除此提示。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9601200" cy="17373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47282"/>
                </a:solidFill>
                <a:latin typeface="Liberation Sans"/>
              </a:defRPr>
            </a:pPr>
            <a:r>
              <a:t>VOLCANO  /  KUBECON NA 2026  /  WORKING DRAFT  •  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9376" y="6547104"/>
            <a:ext cx="649224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47282"/>
                </a:solidFill>
                <a:latin typeface="Liberation Sans"/>
              </a:defRPr>
            </a:pPr>
            <a:r>
              <a:t>17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789920" cy="58521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202D3C"/>
                </a:solidFill>
                <a:latin typeface="Liberation Sans"/>
              </a:defRPr>
            </a:pPr>
            <a:r>
              <a:t>What should your workload keep together—or place apart?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4983480" cy="1060704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400">
                <a:solidFill>
                  <a:srgbClr val="202D3C"/>
                </a:solidFill>
                <a:latin typeface="Liberation Sans"/>
              </a:defRPr>
            </a:pPr>
            <a:r>
              <a:t>Scheduling paths</a:t>
            </a:r>
            <a:br/>
            <a:r>
              <a:t>NodeShard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3246120"/>
            <a:ext cx="4983480" cy="1060704"/>
          </a:xfrm>
          <a:prstGeom prst="roundRect">
            <a:avLst>
              <a:gd name="adj" fmla="val 8000"/>
            </a:avLst>
          </a:prstGeom>
          <a:solidFill>
            <a:srgbClr val="F0F5FB"/>
          </a:solidFill>
          <a:ln w="12700">
            <a:solidFill>
              <a:srgbClr val="8E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400">
                <a:solidFill>
                  <a:srgbClr val="202D3C"/>
                </a:solidFill>
                <a:latin typeface="Liberation Sans"/>
              </a:defRPr>
            </a:pPr>
            <a:r>
              <a:t>Workload groups</a:t>
            </a:r>
            <a:br/>
            <a:r>
              <a:t>Gang + topology +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10912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356696"/>
                </a:solidFill>
                <a:latin typeface="Liberation Sans"/>
              </a:defRPr>
            </a:pPr>
            <a:r>
              <a:t>github.com/volcano-sh/volcano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Maintainer Track — editable content draft</dc:subject>
  <dc:creator>Volcano presentation working draft</dc:creator>
  <cp:keywords/>
  <dc:description>Revised 2026-10-29: unified scheduling, group topology, ecosystem, benchmark. Ecosystem status checked 2026-10-28. Benchmark results pending selection; no invented measurements.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