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0:40。简介暂依据公开资料；Ricardo 当前公司和正式职务不确定，未填公司。收到讲者偏好后更新文字与头像。照片来自 Linux Foundation 公开讲者页。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1:00。先讲共同的基础设施需求：训练/RL 更强调协同计算，推理有角色与副本结构，agent 业务带来突发和延迟压力。并非每次 agent 调用都要创建一个 Pod。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1:40。先让每个实例聚拢，再用 PodGroup anti-affinity 将两个实例分开。required 和 preferred 的差别是没有理想域时是否允许回退。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1:15。左侧讲 Kthena、KubeRay、Grove 的已交付能力及拓扑差距。右侧讲社区后续工作：RBG 正在推进，Kubeflow 计划深化，LWS 推进 multi-group 调度支持。RBG 已有 gang/SubGroup 映射文档，Kubeflow 与 LWS 已有基础接入，不从零开始。后续方向来自 maintainer 计划，不表示已交付。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na2026/svg/13-ecosystem.svg。PNG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1:10。说明后续在同一个 PodGroup 内表达 SubGroup affinity/anti-affinity 的方向。图是意图示例，不提供假装已可执行的未来 YAML。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na2026/svg/16-subgroup-next.svg。PNG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na2026/svg/18-benchmark-architecture.svg。PNG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1:20。已有框架、场景和观察能力是本章可以确定展示的进展。继续验证规模、约束和优化，不为了演讲单独制造漂亮结果。命令仅展示框架用法，本次没有运行集群测试。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na2026/svg/19-benchmark-progress.svg。PNG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1:20。讲清 created→scheduled 的统计口径、吞吐窗口和对照条件。仍待选定一项代表性结果，可以后续原位替换本页。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尚未选定代表性 benchmark 结果，本页只讲测量口径，不呈现虚构性能曲线或提升比例。</a:t>
            </a:r>
          </a:p>
          <a:p>
            <a:r>
              <a:t>Visual: na2026/svg/20-benchmark-measurement.svg。PNG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1:10。按后续工作收尾：SubGroup 关系；RBG、Kubeflow 与 LWS multi-group 集成；扩展规模、分组与拓扑约束场景的重复测试。每项都明确需要验证的行为，不承诺未经验证的性能提升。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na2026/svg/21-takeaways.svg。PNG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na2026/svg/22-questions.svg。PNG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6" name="Picture 5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Cloud Native &amp;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Open-source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Kubernetes and AI/ML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serverbooter.com</a:t>
            </a:r>
          </a:p>
        </p:txBody>
      </p:sp>
      <p:pic>
        <p:nvPicPr>
          <p:cNvPr id="11" name="Picture 10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How do schedulers coordinate node access?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Training, inference, and agent applications put different demands on the same cluster.</a:t>
            </a:r>
          </a:p>
        </p:txBody>
      </p:sp>
      <p:pic>
        <p:nvPicPr>
          <p:cNvPr id="7" name="Picture 6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Specialized scheduling paths coordinate through NodeShard.</a:t>
            </a:r>
          </a:p>
        </p:txBody>
      </p:sp>
      <p:pic>
        <p:nvPicPr>
          <p:cNvPr id="7" name="Picture 6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Changing a shard coordinates future placement; it does not migrate running Pods.</a:t>
            </a:r>
          </a:p>
        </p:txBody>
      </p:sp>
      <p:pic>
        <p:nvPicPr>
          <p:cNvPr id="7" name="Picture 6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What must run together, and where should it fit?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Gang requirements apply to the workload and to its complete subgroups.</a:t>
            </a:r>
          </a:p>
        </p:txBody>
      </p:sp>
      <p:pic>
        <p:nvPicPr>
          <p:cNvPr id="7" name="Picture 6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5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A parent HyperNode groups child HyperNodes; a leaf groups Kubernetes Nodes.</a:t>
            </a:r>
          </a:p>
        </p:txBody>
      </p:sp>
      <p:pic>
        <p:nvPicPr>
          <p:cNvPr id="7" name="Picture 6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An eight-Pod instance spans a larger domain; Prefill and Decode use different locality constraints.</a:t>
            </a:r>
          </a:p>
        </p:txBody>
      </p:sp>
      <p:pic>
        <p:nvPicPr>
          <p:cNvPr id="7" name="Picture 6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MULTI-LEVEL GANG &amp; 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PodGroup anti-affinity separates service instances across HyperNode domains.</a:t>
            </a:r>
          </a:p>
        </p:txBody>
      </p:sp>
      <p:pic>
        <p:nvPicPr>
          <p:cNvPr id="7" name="Picture 6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How do roles and replicas reach the scheduler?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Controllers Bring Workload Structure to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Existing integrations and the next steps in role, replica, and topology support.</a:t>
            </a:r>
          </a:p>
        </p:txBody>
      </p:sp>
      <p:pic>
        <p:nvPicPr>
          <p:cNvPr id="7" name="Picture 6" descr="13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One ServingGroup maps to one PodGroup; each role replica forms a SubGroup.</a:t>
            </a:r>
          </a:p>
        </p:txBody>
      </p:sp>
      <p:pic>
        <p:nvPicPr>
          <p:cNvPr id="7" name="Picture 6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The replica label separates complete groups inside one WorkerGroup.</a:t>
            </a:r>
          </a:p>
        </p:txBody>
      </p:sp>
      <p:pic>
        <p:nvPicPr>
          <p:cNvPr id="7" name="Picture 6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Extend the placement model as controllers expose richer workload structure.</a:t>
            </a:r>
          </a:p>
        </p:txBody>
      </p:sp>
      <p:pic>
        <p:nvPicPr>
          <p:cNvPr id="7" name="Picture 6" descr="16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791456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414F60"/>
                </a:solidFill>
                <a:latin typeface="Liberation Sans"/>
              </a:defRPr>
            </a:pPr>
            <a:r>
              <a:t>What can we reproduce, compare, and improve?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Generate scenarios, observe API events, and retain comparable measurements.</a:t>
            </a:r>
          </a:p>
        </p:txBody>
      </p:sp>
      <p:pic>
        <p:nvPicPr>
          <p:cNvPr id="7" name="Picture 6" descr="18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Benchmark Progress and Ongoing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The harness is available; testing and optimization continue across workload scenarios.</a:t>
            </a:r>
          </a:p>
        </p:txBody>
      </p:sp>
      <p:pic>
        <p:nvPicPr>
          <p:cNvPr id="7" name="Picture 6" descr="19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Benchmark Metrics: Latency and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Separate scheduling delay, runtime readiness, and successful binding throughput.</a:t>
            </a:r>
          </a:p>
        </p:txBody>
      </p:sp>
      <p:pic>
        <p:nvPicPr>
          <p:cNvPr id="7" name="Picture 6" descr="20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BENCHMARK FRAMEWORK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Next steps in group placement, controller integration, and benchmarking.</a:t>
            </a:r>
          </a:p>
        </p:txBody>
      </p:sp>
      <p:pic>
        <p:nvPicPr>
          <p:cNvPr id="7" name="Picture 6" descr="21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64F89"/>
                </a:solidFill>
                <a:latin typeface="Liberation Sans"/>
              </a:defRPr>
            </a:pPr>
            <a:r>
              <a:t>MAINTAINER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35608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414F60"/>
                </a:solidFill>
                <a:latin typeface="Liberation Sans"/>
              </a:defRPr>
            </a:pPr>
            <a:r>
              <a:t>Workload shapes, integration feedback, and reproducible observations are welcome.</a:t>
            </a:r>
          </a:p>
        </p:txBody>
      </p:sp>
      <p:pic>
        <p:nvPicPr>
          <p:cNvPr id="7" name="Picture 6" descr="22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38528"/>
            <a:ext cx="11277599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