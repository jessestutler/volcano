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0:30。原标题保持不变。开场一句：今天先讲调度路径之间如何协调，再讲分布式工作负载内部如何成组和放置。姓名与单位由讲者最终确认。</a:t>
            </a:r>
          </a:p>
          <a:p/>
          <a:p>
            <a:r>
              <a:t>Sources (status checked 2026-10-28):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1:00。Agentic AI 是应用背景，Volcano 讨论底层 Kubernetes 工作负载。训练与 RL 是平台工作负载，不暗示每次 Agent 请求都会触发它们。Substrate / CubeSandbox 可在 worker 资源池上自行调度执行单元。</a:t>
            </a:r>
          </a:p>
          <a:p/>
          <a:p>
            <a:r>
              <a:t>Sources (status checked 2026-10-28):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1:30。这张图是职责概览，不表示 Binder 是所有 scheduler 共享的全局事务协调器。Worker 使用自己的 snapshot；Binder 的冲突处理属于 Agent Scheduler 内部。统一框架不等于统一算法，也不代表全局资源记账已经强一致。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https://github.com/volcano-sh/volcano/blob/v1.16.0/docs/design/agent-scheduler.md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2:00。controller 分配候选节点范围；coordinator 协调当前周期正在使用的节点与期望节点。讲一次从 A 向 B 调整一个节点的例子，等相关周期完成再确认交接。none 不分片，soft 可回退到 shard 外，hard 限定范围。NodeShard 不迁移运行中的 Pods；soft 也不代表消除所有跨 scheduler 冲突。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https://github.com/volcano-sh/volcano/blob/v1.16.0/docs/design/agent-scheduler.md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1:00。交接句：So far, we have discussed how scheduling paths coordinate their use of cluster nodes. But a set of available nodes is not enough for a distributed AI workload. We also need complete groups, the right topology, and placement relationships between groups. 不将 NodeShard、HyperNode、SubGroup 画成一棵包含树。</a:t>
            </a:r>
          </a:p>
          <a:p/>
          <a:p>
            <a:r>
              <a:t>Sources (status checked 2026-10-28):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2:30。先用一个总 minMember 满足但必需角色缺失的反例。随后解释两级 gang。一个 subGroupPolicy 能生成多个实际 SubGroups；图中各画一个示意副本，不代表整个 Role 只能有一个 gang。成组调度不等于所有进程同一时刻启动或跨 Pod 原子 bind。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https://github.com/volcano-sh/kthena/blob/main/docs/kthena/versioned_docs/version-v1.0.0/user-guide/gang-scheduling.md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2:00。HyperNode 表达拓扑域；图示层级不是所有集群必须采用的物理架构。讲清 hard/soft topology constraint。它与 scheduler sharding mode 的 hard/soft 不是同一个配置，也不代表节点所有权。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2:00。整个实例限制在较大的 HyperNode 范围，实际 SubGroups 使用较小的范围。这里是放置示意，不是 NodeShard→HyperNode→PodGroup 的 API 包含关系。硬约束下局部域容量不足时，即使全集群资源充足也可能无法放置。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https://github.com/volcano-sh/kthena/blob/main/docs/kthena/versioned_docs/version-v1.0.0/user-guide/network-topology.md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2:00。每个实例是一个 PodGroup，内部约束到同一个 supernode，两个 PodGroups 用 anti-affinity 分散。需要启用 plugin；规则选择 PodGroup labels / namespaces，相互分离时双方都应配置规则。主要通过 allocate 执行，不承诺 backfill 的 BestEffort Pods 同样受约束。拓扑分散本身不等于应用 failover。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1:30。隔离测试环境中，其他资源与约束都满足，仅 anti-affinity 无第二个合法域。required 保持 Pending；preferred 可以选择违反偏好的可行放置，并非保证一定放到某节点。若无实测截图，保留 illustrative 标签，不宣称已经运行演示。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https://github.com/volcano-sh/volcano/blob/v1.16.0/docs/user-guide/how_to_use_podgroup_anti_affinity.md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2:00。Kthena 已有 gang/topology。KubeRay #5249 已合并，#5369 截至核查仍 open。Grove #516 最终实现包含 SubGroupPolicy，但显式拒绝 topology constraints。Kubeflow / LWS 不是从零集成，后续深化分组与拓扑。各条既有能力不都意味着同等支持两级 gang 或 topology。</a:t>
            </a:r>
          </a:p>
          <a:p/>
          <a:p>
            <a:r>
              <a:t>Sources (status checked 2026-10-28):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1:00。仅讨论一个 worker group，忽略 head 等其他需求。minReplicas=2,numOfHosts=2，需要两套完整 replica identity，每套两个 Pods。三个来自 replica 0、一个来自 replica 1 并不满足。一个 WorkerGroup / subgroup policy 能生成多个实际 SubGroups。</a:t>
            </a:r>
          </a:p>
          <a:p/>
          <a:p>
            <a:r>
              <a:t>Sources (status checked 2026-10-28):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1:00。standalone HyperNode controller 已在 v1.16 交付。外部消费者可使用 API，但 kube-scheduler / coscheduling 等 adapter 仍要单独实现，不能画成全部已经支持。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2:00。回到同一个 PodGroup 内部的关系需求，与前面两个 PodGroups 的 anti-affinity 区分。需明确作用层级、匹配实际副本的方法以及 required/preferred 语义。图是两个独立场景，不表示同一对组同时要求共置与分离。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https://github.com/volcano-sh/volcano/blob/v1.16.0/docs/design/group-topology-affinity.md</a:t>
            </a:r>
          </a:p>
          <a:p>
            <a:r>
              <a:t>https://github.com/volcano-sh/volcano/issues/5347</a:t>
            </a:r>
          </a:p>
          <a:p>
            <a:r>
              <a:t>https://github.com/volcano-sh/volcano/issues/6166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1:30。近期主线：关系语义、controller 映射、真实场景验证。Kthena 继续作为参考场景；KubeRay / Grove 深化；Kubeflow / LWS 在已有集成上拓展。xPU / DRA / GPU-NIC locality 为中期方向，不把整个路线图照搬到正文。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https://github.com/volcano-sh/volcano/issues/6166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1:30。总结：框架协调、工作负载结构、生态采用。邀请大家带来角色、副本和互联需求，参与 controller 集成与关系语义讨论。若需呼应摘要，可简述项目仍有 Global / 混部已有覆盖，但不宣称新的推进成果。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https://github.com/volcano-sh/volcano/issues/6166</a:t>
            </a:r>
          </a:p>
          <a:p>
            <a:r>
              <a:t>https://github.com/volcano-sh/volcano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 / Draft notes</a:t>
            </a:r>
          </a:p>
          <a:p>
            <a:r>
              <a:t>5:00。问答准备：NodeShard 和 HyperNode 的区别；hard shard 切开拓扑域的取舍；Gang 不等于进程同时启动；PodGroup anti-affinity 的 allocate 范围；SubGroup 关系尚未发布；生态 PR 合并与发行版本的区别。</a:t>
            </a:r>
          </a:p>
          <a:p/>
          <a:p>
            <a:r>
              <a:t>Sources (status checked 2026-10-28):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待确认：讲者姓名、署名顺序与单位；当前为工作版式，未套用官方模板。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0:30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01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097280"/>
            <a:ext cx="10881360" cy="1417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202D3C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202D3C"/>
                </a:solidFill>
                <a:latin typeface="Liberation Sans"/>
              </a:defRPr>
            </a:pPr>
            <a:r>
              <a:t>Agentic AI 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43200"/>
            <a:ext cx="10515600" cy="102412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0">
                <a:solidFill>
                  <a:srgbClr val="356696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2900" b="0">
                <a:solidFill>
                  <a:srgbClr val="356696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647282"/>
                </a:solidFill>
                <a:latin typeface="Liberation Sans"/>
              </a:defRPr>
            </a:pPr>
            <a:r>
              <a:t>KubeCon + CloudNativeCon North America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7132320" cy="502920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647282"/>
                </a:solidFill>
                <a:latin typeface="Liberation Sans"/>
              </a:defRPr>
            </a:pPr>
            <a:r>
              <a:t>SPEAKERS / AFFILIATIONS — TO CONFIRM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/ COORDINATING SCHEDULING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复用：生命周期图精简。Agent 应用依赖推理服务，不把每次调用画成一个新 Pod。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02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Different arrival patterns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221992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Long-running services, grouped compute, and bursts.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Different scheduling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520440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Responsiveness, complete groups, and communication locality.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A shared resource pool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818888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Coordinate infrastructure without forcing one execution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EDITABLE DIAGRAM 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212848"/>
            <a:ext cx="2953512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Agent applications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19488" y="2761488"/>
            <a:ext cx="0" cy="530352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57800" y="3291840"/>
            <a:ext cx="24231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Training / RL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91840"/>
            <a:ext cx="295351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Inference services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64808" y="3977639"/>
            <a:ext cx="0" cy="457201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19488" y="3977639"/>
            <a:ext cx="0" cy="457201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57800" y="4434840"/>
            <a:ext cx="58338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100">
                <a:solidFill>
                  <a:srgbClr val="202D3C"/>
                </a:solidFill>
                <a:latin typeface="Liberation Sans"/>
              </a:defRPr>
            </a:pPr>
            <a:r>
              <a:t>Shared Kubernetes infrastructure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/ COORDINATING SCHEDULING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复用：China 7–8 / EU 9。worker / Binder 讲 30–45 秒；本页不放性能提升数字。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03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Keep different scheduling</a:t>
            </a:r>
          </a:p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paths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569464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Support distinct workload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Coordinate access to 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520440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NodeShard connects the paths at the infrastructure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D3C"/>
                </a:solidFill>
                <a:latin typeface="Liberation Sans"/>
              </a:defRPr>
            </a:pPr>
            <a:r>
              <a:t>Handle local conflicts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818888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Workers and Binder coordinate within the Agent Scheduler.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SCHEMATIC — REUSE / SIMPLIFY EXISTING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377440"/>
            <a:ext cx="2423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900">
                <a:solidFill>
                  <a:srgbClr val="202D3C"/>
                </a:solidFill>
                <a:latin typeface="Liberation Sans"/>
              </a:defRPr>
            </a:pPr>
            <a:r>
              <a:t>Volcano Scheduler</a:t>
            </a:r>
            <a:br/>
            <a:r>
              <a:t>Group scheduling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2752" y="237744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900">
                <a:solidFill>
                  <a:srgbClr val="202D3C"/>
                </a:solidFill>
                <a:latin typeface="Liberation Sans"/>
              </a:defRPr>
            </a:pPr>
            <a:r>
              <a:t>Agent Scheduler</a:t>
            </a:r>
            <a:br/>
            <a:r>
              <a:t>Workers + Binder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3520440"/>
            <a:ext cx="0" cy="59436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784080" y="3520440"/>
            <a:ext cx="0" cy="59436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4114800"/>
            <a:ext cx="6089904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100">
                <a:solidFill>
                  <a:srgbClr val="202D3C"/>
                </a:solidFill>
                <a:latin typeface="Liberation Sans"/>
              </a:defRPr>
            </a:pPr>
            <a:r>
              <a:t>NodeShard coordination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5047488"/>
            <a:ext cx="585216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Mono"/>
              </a:defRPr>
            </a:pPr>
            <a:r>
              <a:t>Scheduler-internal conflicts ≠ cross-scheduler coordination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/ COORDINATING SCHEDULING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NodeShard: Coordinating Node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复用：China 9 / EU 10–11。补一个节点范围交接例子；不是迁移运行中的 Pods。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04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Controller sets desired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membership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569464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Express which nodes belong in each desired shard.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Coordinators synchronize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867911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Reconcile desired and in-use nodes around scheduling cycles.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Mode defines the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818888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none: all nodes · soft: preference · hard: restricted scope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CONTROL FLOW — NOT A PHYSICAL TOPOLOGY TREE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2304288"/>
            <a:ext cx="24231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Sharding controller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304288"/>
            <a:ext cx="28712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NodeShard objects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35240" y="2651760"/>
            <a:ext cx="685800" cy="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756648" y="2990088"/>
            <a:ext cx="0" cy="512064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12080" y="3502152"/>
            <a:ext cx="598017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Scheduler coordinators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02168" y="4187952"/>
            <a:ext cx="0" cy="438912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4626864"/>
            <a:ext cx="5980176" cy="576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>
                <a:solidFill>
                  <a:srgbClr val="202D3C"/>
                </a:solidFill>
                <a:latin typeface="Liberation Sans"/>
              </a:defRPr>
            </a:pPr>
            <a:r>
              <a:t>Candidate nodes for the next cycle / session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01 → 02 / THE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Available Nodes Are Only the Beginning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新增转场：NodeShard 是候选范围，HyperNode 是物理拓扑；不要画成父子层级。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05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10881360" cy="6858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202D3C"/>
                </a:solidFill>
                <a:latin typeface="Liberation Sans"/>
              </a:defRPr>
            </a:pPr>
            <a:r>
              <a:t>Enough free resources can still leave a workload unable to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852928"/>
            <a:ext cx="3383280" cy="2148840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3054096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356696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675887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Complete replicas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2519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Do all required members fit?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2852928"/>
            <a:ext cx="3383280" cy="2148840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3054096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356696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675887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Communication locality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42519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Are the nodes in the right domain?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2168" y="2852928"/>
            <a:ext cx="3383280" cy="2148840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3054096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356696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3675887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Group relationships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4251960"/>
            <a:ext cx="2971800" cy="54864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Should instances share a domain?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/ COORDINATING WORKLOAD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PodGroup and SubGroup: Complete Replicas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复用：China 14、22。policy 可以产生多个实际 SubGroups；以下为 P/D 示意，不是完整 API。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06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PodGroup: overall gang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569464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Describe what the workload needs as a whole.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SubGroup: complete member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867911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Preserve a replica that spans multiple Pods.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Use role and replica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818888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Extra Pods in one role cannot fill a missing replica in another.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ILLUSTRATIVE KTHENA PREFILL / DECODE INSTANCE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6360" y="2249424"/>
            <a:ext cx="6144768" cy="2852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2423160"/>
            <a:ext cx="5760720" cy="3474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ServingGroup → PodGroup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31536" y="30632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22976" y="3136392"/>
            <a:ext cx="1828800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02D3C"/>
                </a:solidFill>
                <a:latin typeface="Liberation Sans"/>
              </a:defRPr>
            </a:pPr>
            <a:r>
              <a:t>Prefill replica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59552" y="35021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4808" y="35021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0632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15400" y="3136392"/>
            <a:ext cx="1828800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02D3C"/>
                </a:solidFill>
                <a:latin typeface="Liberation Sans"/>
              </a:defRPr>
            </a:pPr>
            <a:r>
              <a:t>Decode replica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51976" y="35021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57232" y="35021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4480560"/>
            <a:ext cx="5477256" cy="39319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47282"/>
                </a:solidFill>
                <a:latin typeface="Liberation Sans"/>
              </a:defRPr>
            </a:pPr>
            <a:r>
              <a:t>SubGroup policies preserve role / replica membership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/ COORDINATING WORKLOAD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HyperNode: Expressing Topology Domains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复用：China 16。仅保留一棵树；层级名称按现场集群映射，不写固定带宽收益。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07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Describe nested infrastructure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569464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Represent nodes and their topology hierarchy.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Choose a placement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520440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 group can target an appropriate domain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Express hard or soft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5166359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State whether locality is required or preferred.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EDITABLE DIAGRAM 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2194560"/>
            <a:ext cx="18288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Supernode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720840" y="2743200"/>
            <a:ext cx="1554480" cy="621792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806440" y="3364992"/>
            <a:ext cx="18288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Rack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144767" y="3913632"/>
            <a:ext cx="576073" cy="68580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69279" y="4599432"/>
            <a:ext cx="978408" cy="484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Node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720840" y="3913632"/>
            <a:ext cx="566927" cy="68580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12279" y="4599432"/>
            <a:ext cx="978408" cy="484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Node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75320" y="2743200"/>
            <a:ext cx="1600200" cy="621792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61120" y="3364992"/>
            <a:ext cx="18288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Rack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299448" y="3913632"/>
            <a:ext cx="576072" cy="68580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23960" y="4599432"/>
            <a:ext cx="978408" cy="484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Node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875520" y="3913632"/>
            <a:ext cx="566928" cy="68580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966960" y="4599432"/>
            <a:ext cx="978408" cy="484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/ COORDINATING WORKLOAD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复用：China 17。延续 P/D 案例；用两层边框区分实例范围和完整副本范围。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08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One boundary for the instance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221992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Keep the PodGroup inside a larger topology domain.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Tighter boundaries for replicas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520440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Place each multi-Pod replica in a smaller domain.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Check capacity within the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5166359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Cluster-wide capacity alone is insufficient.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ILLUSTRATIVE PLACEMENT — NOT AN API OBJECT TREE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8928" y="2221992"/>
            <a:ext cx="6217920" cy="2944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2359152"/>
            <a:ext cx="5852160" cy="3474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2D3C"/>
                </a:solidFill>
                <a:latin typeface="Liberation Sans"/>
              </a:defRPr>
            </a:pPr>
            <a:r>
              <a:t>Supernode A · instance / PodGroup scope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76672" y="2971800"/>
            <a:ext cx="2688336" cy="1847088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310896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02D3C"/>
                </a:solidFill>
                <a:latin typeface="Liberation Sans"/>
              </a:defRPr>
            </a:pPr>
            <a:r>
              <a:t>Rack A1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3575304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3648456"/>
            <a:ext cx="1828800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02D3C"/>
                </a:solidFill>
                <a:latin typeface="Liberation Sans"/>
              </a:defRPr>
            </a:pPr>
            <a:r>
              <a:t>Prefill replica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97296" y="4014216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02552" y="4014216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21624" y="2971800"/>
            <a:ext cx="2688336" cy="1847088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310896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02D3C"/>
                </a:solidFill>
                <a:latin typeface="Liberation Sans"/>
              </a:defRPr>
            </a:pPr>
            <a:r>
              <a:t>Rack A2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4232" y="3575304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5672" y="3648456"/>
            <a:ext cx="1828800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02D3C"/>
                </a:solidFill>
                <a:latin typeface="Liberation Sans"/>
              </a:defRPr>
            </a:pPr>
            <a:r>
              <a:t>Decode replica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2248" y="4014216"/>
            <a:ext cx="777240" cy="39319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47504" y="4014216"/>
            <a:ext cx="777240" cy="39319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/ COORDINATING WORKLOAD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Keep Instances Together, Place Them Apart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新增重点：v1.16 PodGroup anti-affinity。复用 China 15 的构图，更新功能状态。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09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5751576"/>
            <a:ext cx="10972800" cy="16459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SOURCE  Volcano v1.16  ·  PodGroup anti-affinity #5349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719072"/>
            <a:ext cx="1920240" cy="292608"/>
          </a:xfrm>
          <a:prstGeom prst="rect">
            <a:avLst/>
          </a:prstGeom>
          <a:solidFill>
            <a:srgbClr val="ED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828800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86C5A"/>
                </a:solidFill>
                <a:latin typeface="Liberation Sans"/>
              </a:defRPr>
            </a:pPr>
            <a:r>
              <a:t>AVAILABLE IN v1.16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58568"/>
            <a:ext cx="3886200" cy="8686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202D3C"/>
                </a:solidFill>
                <a:latin typeface="Liberation Sans"/>
              </a:defRPr>
            </a:pPr>
            <a:r>
              <a:t>Locality within.</a:t>
            </a:r>
          </a:p>
          <a:p>
            <a:pPr>
              <a:spcAft>
                <a:spcPts val="500"/>
              </a:spcAft>
              <a:defRPr sz="2300" b="1">
                <a:solidFill>
                  <a:srgbClr val="202D3C"/>
                </a:solidFill>
                <a:latin typeface="Liberation Sans"/>
              </a:defRPr>
            </a:pPr>
            <a:r>
              <a:t>Separation between.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74720"/>
            <a:ext cx="3840480" cy="1417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647282"/>
                </a:solidFill>
                <a:latin typeface="Liberation Sans"/>
              </a:defRPr>
            </a:pPr>
            <a:r>
              <a:t>Combine PodGroup network topology with anti-affinity across selected PodGroups.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EDITABLE DIAGRAM DRAFT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60" y="2304288"/>
            <a:ext cx="2907792" cy="2670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468880"/>
            <a:ext cx="2651760" cy="31089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2D3C"/>
                </a:solidFill>
                <a:latin typeface="Liberation Sans"/>
              </a:defRPr>
            </a:pPr>
            <a:r>
              <a:t>Supernode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5816" y="3072384"/>
            <a:ext cx="2468880" cy="557784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>
                <a:solidFill>
                  <a:srgbClr val="202D3C"/>
                </a:solidFill>
                <a:latin typeface="Liberation Sans"/>
              </a:defRPr>
            </a:pPr>
            <a:r>
              <a:t>Instance A / PG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4023360"/>
            <a:ext cx="105156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Prefill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3408" y="4023360"/>
            <a:ext cx="1051560" cy="39319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Decode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48472" y="2304288"/>
            <a:ext cx="2907792" cy="2670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2468880"/>
            <a:ext cx="2651760" cy="31089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2D3C"/>
                </a:solidFill>
                <a:latin typeface="Liberation Sans"/>
              </a:defRPr>
            </a:pPr>
            <a:r>
              <a:t>Supernode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67928" y="3072384"/>
            <a:ext cx="2468880" cy="557784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>
                <a:solidFill>
                  <a:srgbClr val="202D3C"/>
                </a:solidFill>
                <a:latin typeface="Liberation Sans"/>
              </a:defRPr>
            </a:pPr>
            <a:r>
              <a:t>Instance B / PG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68512" y="4023360"/>
            <a:ext cx="105156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Prefill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4023360"/>
            <a:ext cx="1051560" cy="39319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Decode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5193792"/>
            <a:ext cx="5806440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56696"/>
                </a:solidFill>
                <a:latin typeface="Liberation Mono"/>
              </a:defRPr>
            </a:pPr>
            <a:r>
              <a:t>Within-group topology + between-group anti-affinity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02 / COORDINATING WORKLOAD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When Placement Rules Cannot Be Satisfied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待补：45–60 秒录屏或实际放置截图。当前是预期行为示意，不是测试结果。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10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55648"/>
            <a:ext cx="10881360" cy="53035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202D3C"/>
                </a:solidFill>
                <a:latin typeface="Liberation Sans"/>
              </a:defRPr>
            </a:pPr>
            <a:r>
              <a:t>Example: only one domain has enough resources.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670048"/>
            <a:ext cx="5294376" cy="2560320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4846320" cy="30175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56696"/>
                </a:solidFill>
                <a:latin typeface="Liberation Mono"/>
              </a:defRPr>
            </a:pPr>
            <a:r>
              <a:t>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02736"/>
            <a:ext cx="4800600" cy="77724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202D3C"/>
                </a:solidFill>
                <a:latin typeface="Liberation Sans"/>
              </a:defRPr>
            </a:pPr>
            <a:r>
              <a:t>Keep the second group 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90288"/>
            <a:ext cx="4800600" cy="4023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Do not violate the separation rule.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1928" y="2670048"/>
            <a:ext cx="5294376" cy="256032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4846320" cy="30175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356696"/>
                </a:solidFill>
                <a:latin typeface="Liberation Mono"/>
              </a:defRPr>
            </a:pPr>
            <a:r>
              <a:t>PREFERRED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602736"/>
            <a:ext cx="4800600" cy="77724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202D3C"/>
                </a:solidFill>
                <a:latin typeface="Liberation Sans"/>
              </a:defRPr>
            </a:pPr>
            <a:r>
              <a:t>Allow a feasible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90288"/>
            <a:ext cx="4800600" cy="4023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The preference may be relaxed.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03 / ECOSYSTEM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Controllers Bring Workload Structure to Scheduling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状态截至 2026-10-28；已合并不等于下游稳定版已发布。演讲前核对 PR 和版本。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11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5648"/>
            <a:ext cx="1755648" cy="466344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65376"/>
            <a:ext cx="1536192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1755648"/>
            <a:ext cx="4279392" cy="466344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9736" y="1865376"/>
            <a:ext cx="4059935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EXISTING / MERGED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755648"/>
            <a:ext cx="4389120" cy="466344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1865376"/>
            <a:ext cx="4169663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NEXT / 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231136"/>
            <a:ext cx="1755648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377440"/>
            <a:ext cx="1536192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02D3C"/>
                </a:solidFill>
                <a:latin typeface="Liberation Sans"/>
              </a:defRPr>
            </a:pPr>
            <a:r>
              <a:t>Kthena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50008" y="2231136"/>
            <a:ext cx="4279392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59736" y="2377440"/>
            <a:ext cx="4059935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02D3C"/>
                </a:solidFill>
                <a:latin typeface="Liberation Sans"/>
              </a:defRPr>
            </a:pPr>
            <a:r>
              <a:t>Role / replica gang + topology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2231136"/>
            <a:ext cx="4389120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9128" y="2377440"/>
            <a:ext cx="4169663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47282"/>
                </a:solidFill>
                <a:latin typeface="Liberation Sans"/>
              </a:defRPr>
            </a:pPr>
            <a:r>
              <a:t>Reference use cases for group relationships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2798064"/>
            <a:ext cx="1755648" cy="557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944368"/>
            <a:ext cx="1536192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02D3C"/>
                </a:solidFill>
                <a:latin typeface="Liberation Sans"/>
              </a:defRPr>
            </a:pPr>
            <a:r>
              <a:t>KubeRay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50008" y="2798064"/>
            <a:ext cx="4279392" cy="557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9736" y="2944368"/>
            <a:ext cx="4059935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02D3C"/>
                </a:solidFill>
                <a:latin typeface="Liberation Sans"/>
              </a:defRPr>
            </a:pPr>
            <a:r>
              <a:t>SubGroup support · #5249 merged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2798064"/>
            <a:ext cx="4389120" cy="557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39128" y="2944368"/>
            <a:ext cx="4169663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47282"/>
                </a:solidFill>
                <a:latin typeface="Liberation Sans"/>
              </a:defRPr>
            </a:pPr>
            <a:r>
              <a:t>Replica topology · #5369 open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3364991"/>
            <a:ext cx="1755648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511296"/>
            <a:ext cx="1536192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02D3C"/>
                </a:solidFill>
                <a:latin typeface="Liberation Sans"/>
              </a:defRPr>
            </a:pPr>
            <a:r>
              <a:t>Grove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50008" y="3364991"/>
            <a:ext cx="4279392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59736" y="3511296"/>
            <a:ext cx="4059935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02D3C"/>
                </a:solidFill>
                <a:latin typeface="Liberation Sans"/>
              </a:defRPr>
            </a:pPr>
            <a:r>
              <a:t>Gang / SubGroup backend merged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3364991"/>
            <a:ext cx="4389120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39128" y="3511296"/>
            <a:ext cx="4169663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47282"/>
                </a:solidFill>
                <a:latin typeface="Liberation Sans"/>
              </a:defRPr>
            </a:pPr>
            <a:r>
              <a:t>Topology mapping not yet supported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3931920"/>
            <a:ext cx="1755648" cy="557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078224"/>
            <a:ext cx="1536192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02D3C"/>
                </a:solidFill>
                <a:latin typeface="Liberation Sans"/>
              </a:defRPr>
            </a:pPr>
            <a:r>
              <a:t>Kubeflow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50008" y="3931920"/>
            <a:ext cx="4279392" cy="557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59736" y="4078224"/>
            <a:ext cx="4059935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02D3C"/>
                </a:solidFill>
                <a:latin typeface="Liberation Sans"/>
              </a:defRPr>
            </a:pPr>
            <a:r>
              <a:t>Existing Volcano integration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0" y="3931920"/>
            <a:ext cx="4389120" cy="5577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39128" y="4078224"/>
            <a:ext cx="4169663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47282"/>
                </a:solidFill>
                <a:latin typeface="Liberation Sans"/>
              </a:defRPr>
            </a:pPr>
            <a:r>
              <a:t>Finer TrainJob groups + topology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4498848"/>
            <a:ext cx="1755648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645152"/>
            <a:ext cx="1536192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02D3C"/>
                </a:solidFill>
                <a:latin typeface="Liberation Sans"/>
              </a:defRPr>
            </a:pPr>
            <a:r>
              <a:t>LWS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50008" y="4498848"/>
            <a:ext cx="4279392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59736" y="4645152"/>
            <a:ext cx="4059935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02D3C"/>
                </a:solidFill>
                <a:latin typeface="Liberation Sans"/>
              </a:defRPr>
            </a:pPr>
            <a:r>
              <a:t>Existing gang / Volcano integration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4498848"/>
            <a:ext cx="4389120" cy="557784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39128" y="4645152"/>
            <a:ext cx="4169663" cy="3566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47282"/>
                </a:solidFill>
                <a:latin typeface="Liberation Sans"/>
              </a:defRPr>
            </a:pPr>
            <a:r>
              <a:t>Explore roles / slices + group relationships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358384"/>
            <a:ext cx="10789920" cy="25603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356696"/>
                </a:solidFill>
                <a:latin typeface="Liberation Sans"/>
              </a:defRPr>
            </a:pPr>
            <a:r>
              <a:t>Controllers supply identity; the scheduler applies group and placement constraints.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03 / ECOSYSTEM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新增案例：WorkerGroup / policy / 实际 replica 不混为一谈；省略 head，仅聚焦一个 worker group。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12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73936"/>
            <a:ext cx="3840480" cy="54864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356696"/>
                </a:solidFill>
                <a:latin typeface="Liberation Mono"/>
              </a:defRPr>
            </a:pPr>
            <a:r>
              <a:t>minReplicas = 2</a:t>
            </a:r>
          </a:p>
          <a:p>
            <a:pPr>
              <a:spcAft>
                <a:spcPts val="500"/>
              </a:spcAft>
              <a:defRPr sz="2200" b="1">
                <a:solidFill>
                  <a:srgbClr val="356696"/>
                </a:solidFill>
                <a:latin typeface="Liberation Mono"/>
              </a:defRPr>
            </a:pPr>
            <a:r>
              <a:t>numOfHosts =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99232"/>
            <a:ext cx="3840480" cy="128016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202D3C"/>
                </a:solidFill>
                <a:latin typeface="Liberation Sans"/>
              </a:defRPr>
            </a:pPr>
            <a:r>
              <a:t>The requirement is two complete replicas, each spanning two Pods.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17720"/>
            <a:ext cx="3840480" cy="59436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647282"/>
                </a:solidFill>
                <a:latin typeface="Liberation Sans"/>
              </a:defRPr>
            </a:pPr>
            <a:r>
              <a:t>Any four Pods are not enough.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EDITABLE DIAGRAM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26060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679192"/>
            <a:ext cx="1828800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02D3C"/>
                </a:solidFill>
                <a:latin typeface="Liberation Sans"/>
              </a:defRPr>
            </a:pPr>
            <a:r>
              <a:t>Replica 0 → SubGroup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22976" y="30449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28232" y="30449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26060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7112" y="2679192"/>
            <a:ext cx="1828800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02D3C"/>
                </a:solidFill>
                <a:latin typeface="Liberation Sans"/>
              </a:defRPr>
            </a:pPr>
            <a:r>
              <a:t>Replica 1 → SubGroup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3688" y="30449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38944" y="3044952"/>
            <a:ext cx="777240" cy="393192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>
                <a:solidFill>
                  <a:srgbClr val="202D3C"/>
                </a:solidFill>
                <a:latin typeface="Liberation Sans"/>
              </a:defRPr>
            </a:pPr>
            <a:r>
              <a:t>Pod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050791"/>
            <a:ext cx="5422392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200">
                <a:solidFill>
                  <a:srgbClr val="202D3C"/>
                </a:solidFill>
                <a:latin typeface="Liberation Sans"/>
              </a:defRPr>
            </a:pPr>
            <a:r>
              <a:t>2 complete replicas × 2 hosts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5001768"/>
            <a:ext cx="2212848" cy="292608"/>
          </a:xfrm>
          <a:prstGeom prst="rect">
            <a:avLst/>
          </a:prstGeom>
          <a:solidFill>
            <a:srgbClr val="ED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5029200"/>
            <a:ext cx="2121408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86C5A"/>
                </a:solidFill>
                <a:latin typeface="Liberation Sans"/>
              </a:defRPr>
            </a:pPr>
            <a:r>
              <a:t>GANG: MERGED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0688" y="5001768"/>
            <a:ext cx="2916936" cy="292608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54696" y="5029200"/>
            <a:ext cx="2825496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8B621C"/>
                </a:solidFill>
                <a:latin typeface="Liberation Sans"/>
              </a:defRPr>
            </a:pPr>
            <a:r>
              <a:t>TOPOLOGY: IN PROGRESS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03 / ECOSYSTEM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HyperNode Beyond a Single Scheduler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复用：China 19。独立 controller 更新为已交付；外部 scheduler adapter 单独标状态。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13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783080"/>
            <a:ext cx="3931920" cy="7315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Standalone discovery and</a:t>
            </a:r>
          </a:p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569464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Topology can be maintained as a reusable component.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3081528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A shared topology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3520440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Consumers read the HyperNode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379976"/>
            <a:ext cx="3931920" cy="38404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202D3C"/>
                </a:solidFill>
                <a:latin typeface="Liberation Sans"/>
              </a:defRPr>
            </a:pPr>
            <a:r>
              <a:t>Adapters remain separate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4818888"/>
            <a:ext cx="3931920" cy="7040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API availability does not imply every scheduler is integrated.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EDITABLE DIAGRAM 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2304288"/>
            <a:ext cx="48920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Discovery / standalone controller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02168" y="2944368"/>
            <a:ext cx="0" cy="502920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760720" y="3447288"/>
            <a:ext cx="48920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HyperNode API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601968" y="4087368"/>
            <a:ext cx="1600200" cy="512064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02168" y="4087368"/>
            <a:ext cx="1691640" cy="512064"/>
          </a:xfrm>
          <a:prstGeom prst="line">
            <a:avLst/>
          </a:prstGeom>
          <a:ln w="19050">
            <a:solidFill>
              <a:srgbClr val="8EA8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212080" y="4599432"/>
            <a:ext cx="2761488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Volcano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22208" y="4599432"/>
            <a:ext cx="2761488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700">
                <a:solidFill>
                  <a:srgbClr val="202D3C"/>
                </a:solidFill>
                <a:latin typeface="Liberation Sans"/>
              </a:defRPr>
            </a:pPr>
            <a:r>
              <a:t>Other consumers*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5285232"/>
            <a:ext cx="5623560" cy="21031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Mono"/>
              </a:defRPr>
            </a:pPr>
            <a:r>
              <a:t>*Scheduler adapters: planned / separate integrations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/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未来方向：同一 PodGroup 内的 SubGroup 关系。以下只说明需求，不代表已发布字段。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2:00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14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19072"/>
            <a:ext cx="1508760" cy="292608"/>
          </a:xfrm>
          <a:prstGeom prst="rect">
            <a:avLst/>
          </a:prstGeom>
          <a:solidFill>
            <a:srgbClr val="F2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46504"/>
            <a:ext cx="1417319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765399"/>
                </a:solidFill>
                <a:latin typeface="Liberation Sans"/>
              </a:defRPr>
            </a:pPr>
            <a:r>
              <a:t>PROPOSED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04288"/>
            <a:ext cx="3840480" cy="96926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202D3C"/>
                </a:solidFill>
                <a:latin typeface="Liberation Sans"/>
              </a:defRPr>
            </a:pPr>
            <a:r>
              <a:t>Beyond a boundary</a:t>
            </a:r>
          </a:p>
          <a:p>
            <a:pPr>
              <a:spcAft>
                <a:spcPts val="500"/>
              </a:spcAft>
              <a:defRPr sz="2600" b="1">
                <a:solidFill>
                  <a:srgbClr val="202D3C"/>
                </a:solidFill>
                <a:latin typeface="Liberation Sans"/>
              </a:defRPr>
            </a:pPr>
            <a:r>
              <a:t>for each group.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47872"/>
            <a:ext cx="3840480" cy="1554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647282"/>
                </a:solidFill>
                <a:latin typeface="Liberation Sans"/>
              </a:defRPr>
            </a:pPr>
            <a:r>
              <a:t>Express which SubGroups should be near each other, and which should be spread across domains.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691640"/>
            <a:ext cx="6812280" cy="385876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1819656"/>
            <a:ext cx="6483096" cy="246888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Mono"/>
              </a:defRPr>
            </a:pPr>
            <a:r>
              <a:t>SAME PODGROUP — TWO SEPARATE SCENARIOS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2267712"/>
            <a:ext cx="6080760" cy="30175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65399"/>
                </a:solidFill>
                <a:latin typeface="Liberation Sans"/>
              </a:defRPr>
            </a:pPr>
            <a:r>
              <a:t>AFFINITY: share a target 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3886200"/>
            <a:ext cx="6080760" cy="30175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65399"/>
                </a:solidFill>
                <a:latin typeface="Liberation Sans"/>
              </a:defRPr>
            </a:pPr>
            <a:r>
              <a:t>ANTI-AFFINITY: use different domains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2743200"/>
            <a:ext cx="5852160" cy="804672"/>
          </a:xfrm>
          <a:prstGeom prst="roundRect">
            <a:avLst>
              <a:gd name="adj" fmla="val 8000"/>
            </a:avLst>
          </a:prstGeom>
          <a:solidFill>
            <a:srgbClr val="F2EDF8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0" y="2907792"/>
            <a:ext cx="2286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SubGroup 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2907792"/>
            <a:ext cx="2286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SubGroup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57800" y="4389120"/>
            <a:ext cx="2697480" cy="804672"/>
          </a:xfrm>
          <a:prstGeom prst="roundRect">
            <a:avLst>
              <a:gd name="adj" fmla="val 8000"/>
            </a:avLst>
          </a:prstGeom>
          <a:solidFill>
            <a:srgbClr val="F2EDF8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40680" y="4553712"/>
            <a:ext cx="233172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SubGroup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4389120"/>
            <a:ext cx="2697480" cy="804672"/>
          </a:xfrm>
          <a:prstGeom prst="roundRect">
            <a:avLst>
              <a:gd name="adj" fmla="val 8000"/>
            </a:avLst>
          </a:prstGeom>
          <a:solidFill>
            <a:srgbClr val="F2EDF8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95359" y="4553712"/>
            <a:ext cx="233172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>
                <a:solidFill>
                  <a:srgbClr val="202D3C"/>
                </a:solidFill>
                <a:latin typeface="Liberation Sans"/>
              </a:defRPr>
            </a:pPr>
            <a:r>
              <a:t>SubGroup 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/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From Placement Primitives to Ecosystem Adoption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路线建议：与实际投入对齐；不承诺这页所有事项都在 v1.17 一次交付。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15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47088"/>
            <a:ext cx="3337560" cy="3044952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20824"/>
            <a:ext cx="2971800" cy="4023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356696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697480"/>
            <a:ext cx="2971800" cy="74066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D3C"/>
                </a:solidFill>
                <a:latin typeface="Liberation Sans"/>
              </a:defRPr>
            </a:pPr>
            <a:r>
              <a:t>Define 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730752"/>
            <a:ext cx="2971800" cy="9144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SubGroup affinity / anti-affinity</a:t>
            </a:r>
          </a:p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Clear matching and failure semantics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847088"/>
            <a:ext cx="3337560" cy="3044952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020824"/>
            <a:ext cx="2971800" cy="4023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356696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697480"/>
            <a:ext cx="2971800" cy="74066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D3C"/>
                </a:solidFill>
                <a:latin typeface="Liberation Sans"/>
              </a:defRPr>
            </a:pPr>
            <a:r>
              <a:t>Preserve workload intent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730752"/>
            <a:ext cx="2971800" cy="9144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Deepen KubeRay / Grove mappings</a:t>
            </a:r>
          </a:p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Extend Kubeflow / LWS integration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4" y="1847088"/>
            <a:ext cx="3337560" cy="3044952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020824"/>
            <a:ext cx="2971800" cy="4023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300" b="1">
                <a:solidFill>
                  <a:srgbClr val="356696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2697480"/>
            <a:ext cx="2971800" cy="74066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D3C"/>
                </a:solidFill>
                <a:latin typeface="Liberation Sans"/>
              </a:defRPr>
            </a:pPr>
            <a:r>
              <a:t>Validate real scenarios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3730752"/>
            <a:ext cx="2971800" cy="91440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Runnable examples</a:t>
            </a:r>
          </a:p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Placement and failure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230368"/>
            <a:ext cx="10789920" cy="3474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Further out: topology adapters and device / network locality.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04 /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One Framework, Workload-Aware Placement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可用 20–30 秒提及 Global / 混部已有能力；正文收回到当前推进方向与社区参与。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1:30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837943"/>
            <a:ext cx="530352" cy="29260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5"/>
            <a:ext cx="438912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56696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9875520" cy="411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202D3C"/>
                </a:solidFill>
                <a:latin typeface="Liberation Sans"/>
              </a:defRPr>
            </a:pPr>
            <a:r>
              <a:t>Coordinate scheduling paths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295144"/>
            <a:ext cx="9875520" cy="39319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647282"/>
                </a:solidFill>
                <a:latin typeface="Liberation Sans"/>
              </a:defRPr>
            </a:pPr>
            <a:r>
              <a:t>NodeShard and scheduler coordination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3008376"/>
            <a:ext cx="530352" cy="29260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35808"/>
            <a:ext cx="438912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56696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953512"/>
            <a:ext cx="9875520" cy="411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202D3C"/>
                </a:solidFill>
                <a:latin typeface="Liberation Sans"/>
              </a:defRPr>
            </a:pPr>
            <a:r>
              <a:t>Preserve workload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9875520" cy="39319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647282"/>
                </a:solidFill>
                <a:latin typeface="Liberation Sans"/>
              </a:defRPr>
            </a:pPr>
            <a:r>
              <a:t>Complete groups, topology, and placement relationships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178807"/>
            <a:ext cx="530352" cy="292608"/>
          </a:xfrm>
          <a:prstGeom prst="rect">
            <a:avLst/>
          </a:prstGeom>
          <a:solidFill>
            <a:srgbClr val="F0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06240"/>
            <a:ext cx="438912" cy="21945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56696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23944"/>
            <a:ext cx="9875520" cy="41148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202D3C"/>
                </a:solidFill>
                <a:latin typeface="Liberation Sans"/>
              </a:defRPr>
            </a:pPr>
            <a:r>
              <a:t>Bring the semantics into controllers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9875520" cy="39319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647282"/>
                </a:solidFill>
                <a:latin typeface="Liberation Sans"/>
              </a:defRPr>
            </a:pPr>
            <a:r>
              <a:t>Share use cases and help build integrations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86400"/>
            <a:ext cx="1078992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56696"/>
                </a:solidFill>
                <a:latin typeface="Liberation Sans"/>
              </a:defRPr>
            </a:pPr>
            <a:r>
              <a:t>github.com/volcano-sh/volcano  ·  v1.17 roadmap: issue #6166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2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28600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94944"/>
            <a:ext cx="11201400" cy="804672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D3C"/>
                </a:solidFill>
                <a:latin typeface="Liberation Sans"/>
              </a:defRPr>
            </a:pPr>
            <a: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07608"/>
            <a:ext cx="11183112" cy="466344"/>
          </a:xfrm>
          <a:prstGeom prst="rect">
            <a:avLst/>
          </a:prstGeom>
          <a:solidFill>
            <a:srgbClr val="FFF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99048"/>
            <a:ext cx="10899648" cy="274320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8B621C"/>
                </a:solidFill>
                <a:latin typeface="Noto Sans CJK SC"/>
              </a:defRPr>
            </a:pPr>
            <a:r>
              <a:t>备份材料：NodeShard 模式、关键 API、plugin 开关、生态版本与来源；正式版移除此提示。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9601200" cy="17373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/  KUBECON NA 2026  /  WORKING DRAFT  •  5:00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9376" y="6547104"/>
            <a:ext cx="649224" cy="23774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47282"/>
                </a:solidFill>
                <a:latin typeface="Liberation Sans"/>
              </a:defRPr>
            </a:pPr>
            <a:r>
              <a:t>17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10789920" cy="585216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202D3C"/>
                </a:solidFill>
                <a:latin typeface="Liberation Sans"/>
              </a:defRPr>
            </a:pPr>
            <a:r>
              <a:t>What should your workload keep together—or place apart?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46120"/>
            <a:ext cx="4983480" cy="1060704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400">
                <a:solidFill>
                  <a:srgbClr val="202D3C"/>
                </a:solidFill>
                <a:latin typeface="Liberation Sans"/>
              </a:defRPr>
            </a:pPr>
            <a:r>
              <a:t>Scheduling paths</a:t>
            </a:r>
            <a:br/>
            <a:r>
              <a:t>NodeShard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9672" y="3246120"/>
            <a:ext cx="4983480" cy="1060704"/>
          </a:xfrm>
          <a:prstGeom prst="roundRect">
            <a:avLst>
              <a:gd name="adj" fmla="val 8000"/>
            </a:avLst>
          </a:prstGeom>
          <a:solidFill>
            <a:srgbClr val="F0F5FB"/>
          </a:solidFill>
          <a:ln w="12700">
            <a:solidFill>
              <a:srgbClr val="8EA8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2400">
                <a:solidFill>
                  <a:srgbClr val="202D3C"/>
                </a:solidFill>
                <a:latin typeface="Liberation Sans"/>
              </a:defRPr>
            </a:pPr>
            <a:r>
              <a:t>Workload groups</a:t>
            </a:r>
            <a:br/>
            <a:r>
              <a:t>Gang + topology + 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10912"/>
            <a:ext cx="10789920" cy="420624"/>
          </a:xfrm>
          <a:prstGeom prst="rect">
            <a:avLst/>
          </a:prstGeom>
          <a:noFill/>
        </p:spPr>
        <p:txBody>
          <a:bodyPr wrap="square" lIns="18288" rIns="18288" tIns="18288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356696"/>
                </a:solidFill>
                <a:latin typeface="Liberation Sans"/>
              </a:defRPr>
            </a:pPr>
            <a:r>
              <a:t>github.com/volcano-sh/volcano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Maintainer Track — editable content draft</dc:subject>
  <dc:creator>Volcano presentation working draft</dc:creator>
  <cp:keywords/>
  <dc:description>English slide content; Chinese production notes. Status checked 2026-10-28. Illustrative diagrams, not measured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