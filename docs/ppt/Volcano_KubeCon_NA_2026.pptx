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0:40。简介暂依据公开资料；Ricardo 当前公司和正式职务不确定，未填公司。收到讲者偏好后更新文字与头像。照片来自 Linux Foundation 公开讲者页。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1:00。先讲共同的基础设施需求：训练/RL 更强调协同计算，推理有角色与副本结构，agent 业务带来突发和延迟压力。并非每次 agent 调用都要创建一个 Pod。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1:30。复用 China 架构图，从左右两条路径讲到中间 NodeShard。worker/Binder 的冲突检查是局部机制；不宣称并行一定带来性能提升。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1:40。重点对照 nodesDesired 和 nodesInUse。期望集合变化后需等待协调器交接，不迁移运行中的 Pod。旧图中的资源策略是架构扩展点，不表示所有策略都已完成。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2:00。用左边训练和右边 serving 两种结构解释 PodGroup 与 SubGroup，先看完整计算组，再看下面的放置域。一个 policy 可以按 replica label 分出多个实际 SubGroup。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na2026/svg/08-group-structure.svg。PNG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na2026/svg/09-hypernode-api.svg。PNG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na2026/svg/10-multilevel-placement.svg。PNG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1:40。先让每个实例聚拢，再用 PodGroup anti-affinity 将两个实例分开。required 和 preferred 的差别是没有理想域时是否允许回退。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na2026/svg/11-instance-isolation.svg。PNG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1:15。依次区分已有接入和仍在扩展的能力。Grove 的 SubGroup backend 已合入，不表示支持所有 topology 约束。Kubeflow/LWS 已有接入，下一步深入分组与拓扑。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/>
          <a:p>
            <a:r>
              <a:t>本页新版素材与说明：Kthena docs; KubeRay #5249 / #5369; Grove #516; Kubeflow Trainer Volcano plugin; LWS #498.</a:t>
            </a:r>
          </a:p>
          <a:p>
            <a:r>
              <a:t>Visual: na2026/svg/13-ecosystem.svg。PNG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1:40。沿用 China Kthena 图及关键 YAML，按 ServingGroup→PodGroup、role replica→SubGroup 的顺序讲。一个 Entry 加一个 Worker 组成两 Pod 副本。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图中每个 role replica 有一个 Entry 和一个 Worker Pod；YAML 保留 gangPolicy、role 副本数与 workerReplicas，省略 entryTemplate、workerTemplate 与 networkTopology。Gang 不表示所有 Pod 原子绑定或同时启动。</a:t>
            </a:r>
          </a:p>
          <a:p>
            <a:r>
              <a:t>Visual: na2026/svg/14-kthena-mapping.svg。PNG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1:30。两个 replica，每个两个 hosts；用 matchLabelKeys 保持副本身份。head 另有分组。本页不把尚在推进的 KubeRay topology PR 当作已合入能力。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na2026/svg/15-ray-replicas.svg。PNG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1:10。说明后续在同一个 PodGroup 内表达 SubGroup affinity/anti-affinity 的方向。图是意图示例，不提供假装已可执行的未来 YAML。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na2026/svg/16-subgroup-next.svg。PNG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na2026/svg/18-benchmark-architecture.svg。PNG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1:20。已有框架、场景和观察能力是本章可以确定展示的进展。继续验证规模、约束和优化，不为了演讲单独制造漂亮结果。命令仅展示框架用法，本次没有运行集群测试。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na2026/svg/19-benchmark-progress.svg。PNG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1:20。讲清 created→scheduled 的统计口径、吞吐窗口和对照条件。仍待选定一项代表性结果，可以后续原位替换本页。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尚未选定代表性 benchmark 结果，本页只讲测量口径，不呈现虚构性能曲线或提升比例。</a:t>
            </a:r>
          </a:p>
          <a:p>
            <a:r>
              <a:t>Visual: na2026/svg/20-benchmark-measurement.svg。PNG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1:10。回扣四部分：路径协同、分组与拓扑、控制器映射、持续验证。邀请社区贡献具体 workload 与复现方式。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</a:t>
            </a:r>
          </a:p>
          <a:p>
            <a:r>
              <a:t>Visual: na2026/svg/21-takeaways.svg。PNG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5:00。问答。优先收集工作负载如何分组、需要哪些拓扑关系，以及可重复的测试场景。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</a:t>
            </a:r>
          </a:p>
          <a:p>
            <a:r>
              <a:t>Visual: na2026/svg/22-questions.svg。PNG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202D3C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202D3C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356696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356696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202D3C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647282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647282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202D3C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6" name="Picture 5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202D3C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356696"/>
                </a:solidFill>
                <a:latin typeface="Liberation Sans"/>
              </a:defRPr>
            </a:pPr>
            <a:r>
              <a:t>Cloud Native &amp; AI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647282"/>
                </a:solidFill>
                <a:latin typeface="Liberation Sans"/>
              </a:defRPr>
            </a:pPr>
            <a:r>
              <a:t>Open-source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647282"/>
                </a:solidFill>
                <a:latin typeface="Liberation Sans"/>
              </a:defRPr>
            </a:pPr>
            <a:r>
              <a:t>Kubernetes and AI/ML platforms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356696"/>
                </a:solidFill>
                <a:latin typeface="Liberation Sans"/>
              </a:defRPr>
            </a:pPr>
            <a:r>
              <a:t>serverbooter.com</a:t>
            </a:r>
          </a:p>
        </p:txBody>
      </p:sp>
      <p:pic>
        <p:nvPicPr>
          <p:cNvPr id="11" name="Picture 10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202D3C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356696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647282"/>
                </a:solidFill>
                <a:latin typeface="Liberation Sans"/>
              </a:defRPr>
            </a:pPr>
            <a:r>
              <a:t>Data processing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647282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356696"/>
                </a:solidFill>
                <a:latin typeface="Liberation Sans"/>
              </a:defRPr>
            </a:pPr>
            <a:r>
              <a:t>Apache YuniKorn · rainieli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356696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202D3C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356696"/>
                </a:solidFill>
                <a:latin typeface="Liberation Sans"/>
              </a:defRPr>
            </a:pPr>
            <a:r>
              <a:t>Different paths. Shared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647282"/>
                </a:solidFill>
                <a:latin typeface="Liberation Sans"/>
              </a:defRPr>
            </a:pPr>
            <a:r>
              <a:t>How do schedulers coordinate node access?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356696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Training, inference, and agent applications put different demands on the same cluster.</a:t>
            </a:r>
          </a:p>
        </p:txBody>
      </p:sp>
      <p:pic>
        <p:nvPicPr>
          <p:cNvPr id="7" name="Picture 6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Specialized scheduling paths coordinate through NodeShard.</a:t>
            </a:r>
          </a:p>
        </p:txBody>
      </p:sp>
      <p:pic>
        <p:nvPicPr>
          <p:cNvPr id="7" name="Picture 6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NodeShard: Desired Nodes and Current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Changing a shard coordinates future placement; it does not migrate running Pods.</a:t>
            </a:r>
          </a:p>
        </p:txBody>
      </p:sp>
      <p:pic>
        <p:nvPicPr>
          <p:cNvPr id="7" name="Picture 6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356696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202D3C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100" b="1">
                <a:solidFill>
                  <a:srgbClr val="202D3C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356696"/>
                </a:solidFill>
                <a:latin typeface="Liberation Sans"/>
              </a:defRPr>
            </a:pPr>
            <a:r>
              <a:t>From available nodes to runnable workloads.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647282"/>
                </a:solidFill>
                <a:latin typeface="Liberation Sans"/>
              </a:defRPr>
            </a:pPr>
            <a:r>
              <a:t>What must run together, and where should it fit?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356696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PodGroup and SubGroup: Preserve Workload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Gang requirements apply to the workload and to its complete subgroups.</a:t>
            </a:r>
          </a:p>
        </p:txBody>
      </p:sp>
      <p:pic>
        <p:nvPicPr>
          <p:cNvPr id="7" name="Picture 6" descr="08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50" b="1">
                <a:solidFill>
                  <a:srgbClr val="202D3C"/>
                </a:solidFill>
                <a:latin typeface="Liberation Sans"/>
              </a:defRPr>
            </a:pPr>
            <a:r>
              <a:t>HyperNode: From Physical Fabric to Scheduling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 parent HyperNode groups child HyperNodes; a leaf groups Kubernetes Nodes.</a:t>
            </a:r>
          </a:p>
        </p:txBody>
      </p:sp>
      <p:pic>
        <p:nvPicPr>
          <p:cNvPr id="7" name="Picture 6" descr="09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09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An eight-Pod instance spans a larger domain; Prefill and Decode use different locality constraints.</a:t>
            </a:r>
          </a:p>
        </p:txBody>
      </p:sp>
      <p:pic>
        <p:nvPicPr>
          <p:cNvPr id="7" name="Picture 6" descr="10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MULTI-LEVEL GANG &amp; NETWORK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PodGroup anti-affinity separates service instances across HyperNode domains.</a:t>
            </a:r>
          </a:p>
        </p:txBody>
      </p:sp>
      <p:pic>
        <p:nvPicPr>
          <p:cNvPr id="7" name="Picture 6" descr="11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356696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202D3C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356696"/>
                </a:solidFill>
                <a:latin typeface="Liberation Sans"/>
              </a:defRPr>
            </a:pPr>
            <a:r>
              <a:t>Workload controllers carry scheduling intent.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647282"/>
                </a:solidFill>
                <a:latin typeface="Liberation Sans"/>
              </a:defRPr>
            </a:pPr>
            <a:r>
              <a:t>How do roles and replicas reach the scheduler?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356696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Controllers Bring Workload Structure to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Integration depth differs: group support and topology support are separate steps.</a:t>
            </a:r>
          </a:p>
        </p:txBody>
      </p:sp>
      <p:pic>
        <p:nvPicPr>
          <p:cNvPr id="7" name="Picture 6" descr="13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Kthena: From Serving Roles to Scheduling 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One ServingGroup maps to one PodGroup; each role replica forms a SubGroup.</a:t>
            </a:r>
          </a:p>
        </p:txBody>
      </p:sp>
      <p:pic>
        <p:nvPicPr>
          <p:cNvPr id="7" name="Picture 6" descr="14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KubeRay: A Replica Can Span Multiple Pods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The replica label separates complete groups inside one WorkerGroup.</a:t>
            </a:r>
          </a:p>
        </p:txBody>
      </p:sp>
      <p:pic>
        <p:nvPicPr>
          <p:cNvPr id="7" name="Picture 6" descr="15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Extend the placement model as controllers expose richer workload structure.</a:t>
            </a:r>
          </a:p>
        </p:txBody>
      </p:sp>
      <p:pic>
        <p:nvPicPr>
          <p:cNvPr id="7" name="Picture 6" descr="16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356696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202D3C"/>
                </a:solidFill>
                <a:latin typeface="Liberation Sans"/>
              </a:defRPr>
            </a:pPr>
            <a:r>
              <a:t>Benchmark</a:t>
            </a:r>
          </a:p>
          <a:p>
            <a:pPr>
              <a:spcAft>
                <a:spcPts val="500"/>
              </a:spcAft>
              <a:defRPr sz="4100" b="1">
                <a:solidFill>
                  <a:srgbClr val="202D3C"/>
                </a:solidFill>
                <a:latin typeface="Liberation Sans"/>
              </a:defRPr>
            </a:pPr>
            <a:r>
              <a:t>framework &amp;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356696"/>
                </a:solidFill>
                <a:latin typeface="Liberation Sans"/>
              </a:defRPr>
            </a:pPr>
            <a:r>
              <a:t>Measure behavior across workload shapes.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791456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647282"/>
                </a:solidFill>
                <a:latin typeface="Liberation Sans"/>
              </a:defRPr>
            </a:pPr>
            <a:r>
              <a:t>What can we reproduce, compare, and improve?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647282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356696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Generate scenarios, observe API events, and retain comparable measurements.</a:t>
            </a:r>
          </a:p>
        </p:txBody>
      </p:sp>
      <p:pic>
        <p:nvPicPr>
          <p:cNvPr id="7" name="Picture 6" descr="18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Benchmark Progress and Ongoing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The harness is available; testing and optimization continue across workload scenarios.</a:t>
            </a:r>
          </a:p>
        </p:txBody>
      </p:sp>
      <p:pic>
        <p:nvPicPr>
          <p:cNvPr id="7" name="Picture 6" descr="19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From Measurements to Reliable Comparisons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Keep scheduling latency distinct from application readiness.</a:t>
            </a:r>
          </a:p>
        </p:txBody>
      </p:sp>
      <p:pic>
        <p:nvPicPr>
          <p:cNvPr id="7" name="Picture 6" descr="20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BENCHMARK FRAMEWORK &amp;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Framework, Workloads, Ecosystem,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Four connected pieces of the scheduling story.</a:t>
            </a:r>
          </a:p>
        </p:txBody>
      </p:sp>
      <p:pic>
        <p:nvPicPr>
          <p:cNvPr id="7" name="Picture 6" descr="21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56696"/>
                </a:solidFill>
                <a:latin typeface="Liberation Sans"/>
              </a:defRPr>
            </a:pPr>
            <a:r>
              <a:t>MAINTAINER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202D3C"/>
                </a:solidFill>
                <a:latin typeface="Liberation Sans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435608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647282"/>
                </a:solidFill>
                <a:latin typeface="Liberation Sans"/>
              </a:defRPr>
            </a:pPr>
            <a:r>
              <a:t>Workload shapes, integration feedback, and reproducible observations are welcome.</a:t>
            </a:r>
          </a:p>
        </p:txBody>
      </p:sp>
      <p:pic>
        <p:nvPicPr>
          <p:cNvPr id="7" name="Picture 6" descr="22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38528"/>
            <a:ext cx="11277599" cy="426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647282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647282"/>
                </a:solidFill>
                <a:latin typeface="Liberation Sans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2026-10-29.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