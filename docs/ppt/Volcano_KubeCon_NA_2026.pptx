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6"/>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1999"/>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VgqDUejHKW5zsxwP4L1eNF/yx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customschemas.google.com/relationships/presentationmetadata" Target="metadata"/><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Today we will look at how Volcano supports different AI workloads on shared Kubernetes clusters. We will move from scheduling paths to group placement, then show how ecosystem integrations and benchmarks bring these ideas into practice.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Briefly introduce yourselves and your work in cloud native infrastructure. Connect that experience to the challenges of scheduling training, inference, and emerging agent workloads.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have different scheduling needs. Start with how Volcano coordinates those needs across a shared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controller combines node state with a sharding strategy to calculate the desired allocation. For example, it can filter nodes by CPU allocation, prefer nodes labeled for warmup, and cap how many nodes a scheduler receives. CPU allocation here comes from Pod resource requests, rather than measured CPU usage.</a:t>
            </a:r>
          </a:p>
          <a:p>
            <a:pPr marL="0" indent="0">
              <a:spcAft>
                <a:spcPts val="800"/>
              </a:spcAft>
              <a:buNone/>
              <a:defRPr sz="1400"/>
            </a:pPr>
          </a:p>
          <a:p>
            <a:pPr marL="0" indent="0">
              <a:spcAft>
                <a:spcPts val="800"/>
              </a:spcAft>
              <a:buNone/>
              <a:defRPr sz="1400"/>
            </a:pPr>
            <a:r>
              <a:t>In the YAML, nodesDesired is the target set and nodesInUse is the current set. Their difference identifies nodes to add or release. The scheduler coordinates these changes as candidate pools evolve.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Having available nodes is only part of the problem. We also need to keep workload groups complete and place them within suitable network domains.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is one placement example, not a fixed layout for Prefill and Decode. The PodGroup uses the core tier, while its SubGroups request different topology domains. Each level can have its own network topology constraints.</a:t>
            </a:r>
          </a:p>
          <a:p>
            <a:pPr marL="0" indent="0">
              <a:spcAft>
                <a:spcPts val="800"/>
              </a:spcAft>
              <a:buNone/>
              <a:defRPr sz="1400"/>
            </a:pPr>
          </a:p>
          <a:p>
            <a:pPr marL="0" indent="0">
              <a:spcAft>
                <a:spcPts val="800"/>
              </a:spcAft>
              <a:buNone/>
              <a:defRPr sz="1400"/>
            </a:pPr>
            <a:r>
              <a:t>For example, one SubGroup may need tight communication within a leaf, while another can span a spine. The actual choices depend on communication patterns and cluster topology. The role names do not dictate where they must run.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training gang needs both of its Pods and stays inside one HyperNode. Taking one Pod from each of A, B, C and D interrupts four training jobs and can lose work since their last checkpoint.</a:t>
            </a:r>
          </a:p>
          <a:p>
            <a:pPr marL="0" indent="0">
              <a:spcAft>
                <a:spcPts val="800"/>
              </a:spcAft>
              <a:buNone/>
              <a:defRPr sz="1400"/>
            </a:pPr>
          </a:p>
          <a:p>
            <a:pPr marL="0" indent="0">
              <a:spcAft>
                <a:spcPts val="800"/>
              </a:spcAft>
              <a:buNone/>
              <a:defRPr sz="1400"/>
            </a:pPr>
            <a:r>
              <a:t>Within HyperNode West, consider victim gangs in priority order. A and B together release four slots. Simulate the complete incoming gang, including its topology constraints. Commit only a feasible plan. A failed trial causes no eviction.</a:t>
            </a:r>
          </a:p>
          <a:p>
            <a:pPr marL="0" indent="0">
              <a:spcAft>
                <a:spcPts val="800"/>
              </a:spcAft>
              <a:buNone/>
              <a:defRPr sz="1400"/>
            </a:pPr>
          </a:p>
          <a:p>
            <a:pPr marL="0" indent="0">
              <a:spcAft>
                <a:spcPts val="800"/>
              </a:spcAft>
              <a:buNone/>
              <a:defRPr sz="1400"/>
            </a:pPr>
            <a:r>
              <a:t>These training jobs have no surplus Pods, so this example uses whole-gang victims. C, D and the jobs in HyperNode East keep running.</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Workload controllers know the roles, replicas, and minimum group sizes. The next examples show how they pass that structure to Volcano.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Read the YAML and group diagrams together. Each role replica has one Entry Pod and one Worker Pod. workerReplicas counts workers only. One Prefill replica and three Decode replicas make four two-Pod SubGroups, so the PodGroup minimum is eight.</a:t>
            </a:r>
          </a:p>
          <a:p>
            <a:pPr marL="0" indent="0">
              <a:spcAft>
                <a:spcPts val="800"/>
              </a:spcAft>
              <a:buNone/>
              <a:defRPr sz="1400"/>
            </a:pPr>
          </a:p>
          <a:p>
            <a:pPr marL="0" indent="0">
              <a:spcAft>
                <a:spcPts val="800"/>
              </a:spcAft>
              <a:buNone/>
              <a:defRPr sz="1400"/>
            </a:pPr>
            <a:r>
              <a:t>There are two role policies but four SubGroups. Role identity labels distinguish the three Decode replicas. The groupPolicy and rolePolicy from the previous slide also carry into the generated PodGroup. The excerpts here focus on counts, while the companion YAML retains selectors and topology fields.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left diagram has one Ray head and two worker replicas, with two hosts per replica. The right diagram shows three SubGroups: one for the head and one for each worker replica. That gives five minimum Pods.</a:t>
            </a:r>
          </a:p>
          <a:p>
            <a:pPr marL="0" indent="0">
              <a:spcAft>
                <a:spcPts val="800"/>
              </a:spcAft>
              <a:buNone/>
              <a:defRPr sz="1400"/>
            </a:pPr>
          </a:p>
          <a:p>
            <a:pPr marL="0" indent="0">
              <a:spcAft>
                <a:spcPts val="800"/>
              </a:spcAft>
              <a:buNone/>
              <a:defRPr sz="1400"/>
            </a:pPr>
            <a:r>
              <a:t>With autoscaling enabled, minReplicas determines the minimum worker SubGroup count, and numOfHosts determines its size. The replica label keeps each pair of hosts together. Replica grouping must be enabled. The YAML now includes both the head and worker policies. The companion example includes the replica-name selector. Worker-group topology support is still in progress.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Start with the two named groups in the PodGang: Prefill needs two Pods and Decode needs four. The same names and counts appear inside the Volcano PodGroup. Each group creates one SubGroup policy, giving two SubGroups and six minimum Pods.</a:t>
            </a:r>
          </a:p>
          <a:p>
            <a:pPr marL="0" indent="0">
              <a:spcAft>
                <a:spcPts val="800"/>
              </a:spcAft>
              <a:buNone/>
              <a:defRPr sz="1400"/>
            </a:pPr>
          </a:p>
          <a:p>
            <a:pPr marL="0" indent="0">
              <a:spcAft>
                <a:spcPts val="800"/>
              </a:spcAft>
              <a:buNone/>
              <a:defRPr sz="1400"/>
            </a:pPr>
            <a:r>
              <a:t>The backend uses grove.io/podclique labels to select group members. The companion YAML includes those selectors. This mapping preserves gang structure, but this backend does not yet support topologyConstraint.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RBG integration is in progress at both the PodGroup and SubGroup levels. HyperNode tree query support is another part of that work, giving the controller access to the topology hierarchy.</a:t>
            </a:r>
          </a:p>
          <a:p>
            <a:pPr marL="0" indent="0">
              <a:spcAft>
                <a:spcPts val="800"/>
              </a:spcAft>
              <a:buNone/>
              <a:defRPr sz="1400"/>
            </a:pPr>
          </a:p>
          <a:p>
            <a:pPr marL="0" indent="0">
              <a:spcAft>
                <a:spcPts val="800"/>
              </a:spcAft>
              <a:buNone/>
              <a:defRPr sz="1400"/>
            </a:pPr>
            <a:r>
              <a:t>For Kubeflow, the planned work extends group structure and topology support. For LWS, it includes coordination across roles and multiple groups. These are ongoing and planned integrations, not a claim that every capability is already available.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More workload shapes and placement rules also mean more behavior to validate. We need repeatable tests that help us compare schedulers and understand where each approach works well.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page shows how we plan to compare schedulers. Keep the workload definition, arrivals, and resource requests fixed. Run one scheduler at a time, reset cluster state, and replay the same inputs for the next scheduler. Repeat runs and retain versions, configuration, and measurements.</a:t>
            </a:r>
          </a:p>
          <a:p>
            <a:pPr marL="0" indent="0">
              <a:spcAft>
                <a:spcPts val="800"/>
              </a:spcAft>
              <a:buNone/>
              <a:defRPr sz="1400"/>
            </a:pPr>
          </a:p>
          <a:p>
            <a:pPr marL="0" indent="0">
              <a:spcAft>
                <a:spcPts val="800"/>
              </a:spcAft>
              <a:buNone/>
              <a:defRPr sz="1400"/>
            </a:pPr>
            <a:r>
              <a:t>Check that compared schedulers support equivalent scheduling semantics, especially for gangs and topology. This is an experiment design, not a performance result. The next slide covers which workload and topology scenarios to test.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are roadmap directions selected for this talk, not an official priority ranking. Resource defragmentation would relocate workloads at PodGroup granularity to consolidate GPU capacity. HyperNode work includes a kube-scheduler extender and SubGroup affinity and anti-affinity.</a:t>
            </a:r>
          </a:p>
          <a:p>
            <a:pPr marL="0" indent="0">
              <a:spcAft>
                <a:spcPts val="800"/>
              </a:spcAft>
              <a:buNone/>
              <a:defRPr sz="1400"/>
            </a:pPr>
          </a:p>
          <a:p>
            <a:pPr marL="0" indent="0">
              <a:spcAft>
                <a:spcPts val="800"/>
              </a:spcAft>
              <a:buNone/>
              <a:defRPr sz="1400"/>
            </a:pPr>
            <a:r>
              <a:t>Accelerator work covers generic xPU topology, DRA binpack, and ResourceClaim preemption and reclaim. DRA-backed extended resources let workloads keep familiar resource requests; continue validating that integration rather than presenting the upstream feature as new. DRANET adds network-device allocation and GPU/NIC locality. Ecosystem work extends group and topology support in Kubeflow, KubeRay, and LWS. The roadmap also tracks gang preemption and reclaim, tenant queue fairness, and performance improvements backed by benchmarks.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logos represent Volcano users and platforms that use or provide Volcano. Their usage and integration models differ. Thank them for their feedback and contributions, and invite the audience to share workload examples or integration needs.</a:t>
            </a:r>
          </a:p>
          <a:p>
            <a:pPr marL="0" indent="0">
              <a:spcAft>
                <a:spcPts val="800"/>
              </a:spcAft>
              <a:buNone/>
              <a:defRPr sz="1400"/>
            </a:pPr>
          </a:p>
          <a:p>
            <a:pPr marL="0" indent="0">
              <a:spcAft>
                <a:spcPts val="800"/>
              </a:spcAft>
              <a:buNone/>
              <a:defRPr sz="1400"/>
            </a:pPr>
            <a:r>
              <a:t>The QR codes open the Volcano website, GitHub repository, and the Volcano channel in CNCF Slack. Slack requires workspace access. Open the floor for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11" name="Google Shape;11;p10"/>
          <p:cNvGrpSpPr/>
          <p:nvPr/>
        </p:nvGrpSpPr>
        <p:grpSpPr>
          <a:xfrm>
            <a:off x="237067" y="1704621"/>
            <a:ext cx="11954932" cy="3036712"/>
            <a:chOff x="177800" y="1278466"/>
            <a:chExt cx="8966200" cy="2277534"/>
          </a:xfrm>
        </p:grpSpPr>
        <p:sp>
          <p:nvSpPr>
            <p:cNvPr id="12" name="Google Shape;12;p10"/>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3" name="Google Shape;13;p10"/>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4" name="Google Shape;14;p10"/>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15" name="Google Shape;15;p10"/>
          <p:cNvSpPr txBox="1"/>
          <p:nvPr>
            <p:ph type="ctrTitle"/>
          </p:nvPr>
        </p:nvSpPr>
        <p:spPr>
          <a:xfrm>
            <a:off x="414953" y="1668595"/>
            <a:ext cx="10680267" cy="1940237"/>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b="1" i="0" sz="640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16" name="Google Shape;16;p10"/>
          <p:cNvSpPr txBox="1"/>
          <p:nvPr>
            <p:ph idx="1" type="subTitle"/>
          </p:nvPr>
        </p:nvSpPr>
        <p:spPr>
          <a:xfrm>
            <a:off x="414952" y="3608832"/>
            <a:ext cx="10680267" cy="812339"/>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i="0" sz="3733">
                <a:solidFill>
                  <a:schemeClr val="accent6"/>
                </a:solidFill>
                <a:latin typeface="Arial"/>
                <a:ea typeface="Arial"/>
                <a:cs typeface="Arial"/>
                <a:sym typeface="Aria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sp>
        <p:nvSpPr>
          <p:cNvPr id="17" name="Google Shape;17;p10"/>
          <p:cNvSpPr txBox="1"/>
          <p:nvPr/>
        </p:nvSpPr>
        <p:spPr>
          <a:xfrm>
            <a:off x="7621082" y="238043"/>
            <a:ext cx="4148337" cy="41036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0" i="0" lang="en" sz="1867" u="none" cap="none" strike="noStrike">
                <a:solidFill>
                  <a:schemeClr val="lt1"/>
                </a:solidFill>
                <a:latin typeface="Arial"/>
                <a:ea typeface="Arial"/>
                <a:cs typeface="Arial"/>
                <a:sym typeface="Arial"/>
              </a:rPr>
              <a:t>#KubeCon #CloudNativeCon</a:t>
            </a:r>
            <a:endParaRPr b="0" i="0" sz="1867" u="none" cap="none" strike="noStrike">
              <a:solidFill>
                <a:schemeClr val="lt1"/>
              </a:solidFill>
              <a:latin typeface="Arial"/>
              <a:ea typeface="Arial"/>
              <a:cs typeface="Arial"/>
              <a:sym typeface="Arial"/>
            </a:endParaRPr>
          </a:p>
        </p:txBody>
      </p:sp>
      <p:pic>
        <p:nvPicPr>
          <p:cNvPr id="18" name="Google Shape;18;p10"/>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9" name="Shape 19"/>
        <p:cNvGrpSpPr/>
        <p:nvPr/>
      </p:nvGrpSpPr>
      <p:grpSpPr>
        <a:xfrm>
          <a:off x="0" y="0"/>
          <a:ext cx="0" cy="0"/>
          <a:chOff x="0" y="0"/>
          <a:chExt cx="0" cy="0"/>
        </a:xfrm>
      </p:grpSpPr>
      <p:pic>
        <p:nvPicPr>
          <p:cNvPr id="20" name="Google Shape;20;p11"/>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21" name="Google Shape;21;p11"/>
          <p:cNvGrpSpPr/>
          <p:nvPr/>
        </p:nvGrpSpPr>
        <p:grpSpPr>
          <a:xfrm>
            <a:off x="237067" y="1704621"/>
            <a:ext cx="11954932" cy="3036712"/>
            <a:chOff x="177800" y="1278466"/>
            <a:chExt cx="8966200" cy="2277534"/>
          </a:xfrm>
        </p:grpSpPr>
        <p:sp>
          <p:nvSpPr>
            <p:cNvPr id="22" name="Google Shape;22;p11"/>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3" name="Google Shape;23;p11"/>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4" name="Google Shape;24;p11"/>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25" name="Google Shape;25;p11"/>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26" name="Google Shape;26;p11"/>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p:bg>
      <p:bgPr>
        <a:solidFill>
          <a:schemeClr val="lt2"/>
        </a:solidFill>
      </p:bgPr>
    </p:bg>
    <p:spTree>
      <p:nvGrpSpPr>
        <p:cNvPr id="27" name="Shape 27"/>
        <p:cNvGrpSpPr/>
        <p:nvPr/>
      </p:nvGrpSpPr>
      <p:grpSpPr>
        <a:xfrm>
          <a:off x="0" y="0"/>
          <a:ext cx="0" cy="0"/>
          <a:chOff x="0" y="0"/>
          <a:chExt cx="0" cy="0"/>
        </a:xfrm>
      </p:grpSpPr>
      <p:grpSp>
        <p:nvGrpSpPr>
          <p:cNvPr id="28" name="Google Shape;28;p12"/>
          <p:cNvGrpSpPr/>
          <p:nvPr/>
        </p:nvGrpSpPr>
        <p:grpSpPr>
          <a:xfrm>
            <a:off x="0" y="5967816"/>
            <a:ext cx="12191999" cy="890184"/>
            <a:chOff x="2374014" y="4484308"/>
            <a:chExt cx="9028304" cy="659191"/>
          </a:xfrm>
        </p:grpSpPr>
        <p:pic>
          <p:nvPicPr>
            <p:cNvPr id="29" name="Google Shape;29;p12"/>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0" name="Google Shape;30;p12"/>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31" name="Google Shape;31;p12"/>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pic>
        <p:nvPicPr>
          <p:cNvPr id="32" name="Google Shape;32;p12"/>
          <p:cNvPicPr preferRelativeResize="0"/>
          <p:nvPr/>
        </p:nvPicPr>
        <p:blipFill rotWithShape="1">
          <a:blip r:embed="rId4">
            <a:alphaModFix/>
          </a:blip>
          <a:srcRect b="23715" l="12113" r="0" t="0"/>
          <a:stretch/>
        </p:blipFill>
        <p:spPr>
          <a:xfrm>
            <a:off x="-1" y="5566241"/>
            <a:ext cx="3661025" cy="1291759"/>
          </a:xfrm>
          <a:prstGeom prst="rect">
            <a:avLst/>
          </a:prstGeom>
          <a:noFill/>
          <a:ln>
            <a:noFill/>
          </a:ln>
        </p:spPr>
      </p:pic>
      <p:pic>
        <p:nvPicPr>
          <p:cNvPr id="33" name="Google Shape;33;p12"/>
          <p:cNvPicPr preferRelativeResize="0"/>
          <p:nvPr/>
        </p:nvPicPr>
        <p:blipFill rotWithShape="1">
          <a:blip r:embed="rId5">
            <a:alphaModFix/>
          </a:blip>
          <a:srcRect b="1" l="0" r="0" t="6472"/>
          <a:stretch/>
        </p:blipFill>
        <p:spPr>
          <a:xfrm>
            <a:off x="6633349" y="0"/>
            <a:ext cx="2595841" cy="1101403"/>
          </a:xfrm>
          <a:prstGeom prst="rect">
            <a:avLst/>
          </a:prstGeom>
          <a:noFill/>
          <a:ln>
            <a:noFill/>
          </a:ln>
        </p:spPr>
      </p:pic>
      <p:sp>
        <p:nvSpPr>
          <p:cNvPr id="34" name="Google Shape;34;p12"/>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35" name="Google Shape;35;p12"/>
          <p:cNvPicPr preferRelativeResize="0"/>
          <p:nvPr/>
        </p:nvPicPr>
        <p:blipFill rotWithShape="1">
          <a:blip r:embed="rId6">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2">
    <p:bg>
      <p:bgPr>
        <a:solidFill>
          <a:schemeClr val="lt2"/>
        </a:solidFill>
      </p:bgPr>
    </p:bg>
    <p:spTree>
      <p:nvGrpSpPr>
        <p:cNvPr id="36" name="Shape 36"/>
        <p:cNvGrpSpPr/>
        <p:nvPr/>
      </p:nvGrpSpPr>
      <p:grpSpPr>
        <a:xfrm>
          <a:off x="0" y="0"/>
          <a:ext cx="0" cy="0"/>
          <a:chOff x="0" y="0"/>
          <a:chExt cx="0" cy="0"/>
        </a:xfrm>
      </p:grpSpPr>
      <p:grpSp>
        <p:nvGrpSpPr>
          <p:cNvPr id="37" name="Google Shape;37;p13"/>
          <p:cNvGrpSpPr/>
          <p:nvPr/>
        </p:nvGrpSpPr>
        <p:grpSpPr>
          <a:xfrm>
            <a:off x="0" y="5967816"/>
            <a:ext cx="12191999" cy="890184"/>
            <a:chOff x="2374014" y="4484308"/>
            <a:chExt cx="9028304" cy="659191"/>
          </a:xfrm>
        </p:grpSpPr>
        <p:pic>
          <p:nvPicPr>
            <p:cNvPr id="38" name="Google Shape;38;p13"/>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9" name="Google Shape;39;p13"/>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40" name="Google Shape;40;p13"/>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sp>
        <p:nvSpPr>
          <p:cNvPr id="41" name="Google Shape;41;p13"/>
          <p:cNvSpPr txBox="1"/>
          <p:nvPr>
            <p:ph type="ctrTitle"/>
          </p:nvPr>
        </p:nvSpPr>
        <p:spPr>
          <a:xfrm>
            <a:off x="531069" y="1831156"/>
            <a:ext cx="10680267" cy="2699251"/>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sz="6400">
                <a:solidFill>
                  <a:schemeClr val="lt1"/>
                </a:solidFil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42" name="Google Shape;42;p13"/>
          <p:cNvSpPr txBox="1"/>
          <p:nvPr>
            <p:ph idx="1" type="subTitle"/>
          </p:nvPr>
        </p:nvSpPr>
        <p:spPr>
          <a:xfrm>
            <a:off x="531068" y="4530407"/>
            <a:ext cx="10680267" cy="893572"/>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sz="3733">
                <a:solidFill>
                  <a:schemeClr val="accent6"/>
                </a:solidFil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pic>
        <p:nvPicPr>
          <p:cNvPr id="43" name="Google Shape;43;p13"/>
          <p:cNvPicPr preferRelativeResize="0"/>
          <p:nvPr/>
        </p:nvPicPr>
        <p:blipFill rotWithShape="1">
          <a:blip r:embed="rId4">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44" name="Shape 44"/>
        <p:cNvGrpSpPr/>
        <p:nvPr/>
      </p:nvGrpSpPr>
      <p:grpSpPr>
        <a:xfrm>
          <a:off x="0" y="0"/>
          <a:ext cx="0" cy="0"/>
          <a:chOff x="0" y="0"/>
          <a:chExt cx="0" cy="0"/>
        </a:xfrm>
      </p:grpSpPr>
      <p:sp>
        <p:nvSpPr>
          <p:cNvPr id="45" name="Google Shape;45;p14"/>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6" name="Google Shape;46;p14"/>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14"/>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14"/>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1_Title and body">
    <p:bg>
      <p:bgPr>
        <a:solidFill>
          <a:schemeClr val="lt1"/>
        </a:solidFill>
      </p:bgPr>
    </p:bg>
    <p:spTree>
      <p:nvGrpSpPr>
        <p:cNvPr id="49" name="Shape 49"/>
        <p:cNvGrpSpPr/>
        <p:nvPr/>
      </p:nvGrpSpPr>
      <p:grpSpPr>
        <a:xfrm>
          <a:off x="0" y="0"/>
          <a:ext cx="0" cy="0"/>
          <a:chOff x="0" y="0"/>
          <a:chExt cx="0" cy="0"/>
        </a:xfrm>
      </p:grpSpPr>
      <p:sp>
        <p:nvSpPr>
          <p:cNvPr id="50" name="Google Shape;50;p15"/>
          <p:cNvSpPr/>
          <p:nvPr/>
        </p:nvSpPr>
        <p:spPr>
          <a:xfrm>
            <a:off x="9467" y="7500"/>
            <a:ext cx="12182532" cy="13972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1" name="Google Shape;51;p15"/>
          <p:cNvSpPr txBox="1"/>
          <p:nvPr>
            <p:ph type="title"/>
          </p:nvPr>
        </p:nvSpPr>
        <p:spPr>
          <a:xfrm>
            <a:off x="415600" y="0"/>
            <a:ext cx="9266318" cy="13972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SzPts val="2800"/>
              <a:buNone/>
              <a:defRPr>
                <a:solidFill>
                  <a:schemeClr val="lt1"/>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2" name="Google Shape;52;p15"/>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3" name="Google Shape;53;p15"/>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15"/>
          <p:cNvPicPr preferRelativeResize="0"/>
          <p:nvPr/>
        </p:nvPicPr>
        <p:blipFill rotWithShape="1">
          <a:blip r:embed="rId2">
            <a:alphaModFix/>
          </a:blip>
          <a:srcRect b="0" l="0" r="0" t="0"/>
          <a:stretch/>
        </p:blipFill>
        <p:spPr>
          <a:xfrm>
            <a:off x="10103498" y="338495"/>
            <a:ext cx="1713600" cy="72020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55" name="Shape 55"/>
        <p:cNvGrpSpPr/>
        <p:nvPr/>
      </p:nvGrpSpPr>
      <p:grpSpPr>
        <a:xfrm>
          <a:off x="0" y="0"/>
          <a:ext cx="0" cy="0"/>
          <a:chOff x="0" y="0"/>
          <a:chExt cx="0" cy="0"/>
        </a:xfrm>
      </p:grpSpPr>
      <p:sp>
        <p:nvSpPr>
          <p:cNvPr id="56" name="Google Shape;56;p16"/>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7" name="Google Shape;57;p16"/>
          <p:cNvSpPr txBox="1"/>
          <p:nvPr>
            <p:ph idx="1" type="body"/>
          </p:nvPr>
        </p:nvSpPr>
        <p:spPr>
          <a:xfrm>
            <a:off x="415600"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8" name="Google Shape;58;p16"/>
          <p:cNvSpPr txBox="1"/>
          <p:nvPr>
            <p:ph idx="2" type="body"/>
          </p:nvPr>
        </p:nvSpPr>
        <p:spPr>
          <a:xfrm>
            <a:off x="6443199"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9" name="Google Shape;59;p16"/>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0" name="Google Shape;60;p16"/>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61" name="Shape 61"/>
        <p:cNvGrpSpPr/>
        <p:nvPr/>
      </p:nvGrpSpPr>
      <p:grpSpPr>
        <a:xfrm>
          <a:off x="0" y="0"/>
          <a:ext cx="0" cy="0"/>
          <a:chOff x="0" y="0"/>
          <a:chExt cx="0" cy="0"/>
        </a:xfrm>
      </p:grpSpPr>
      <p:sp>
        <p:nvSpPr>
          <p:cNvPr id="62" name="Google Shape;62;p17"/>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7"/>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4" name="Google Shape;64;p17"/>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chemeClr val="accent1"/>
              </a:buClr>
              <a:buSzPts val="2800"/>
              <a:buFont typeface="Arial"/>
              <a:buNone/>
              <a:defRPr b="1" i="0" sz="3733" u="none" cap="none" strike="noStrike">
                <a:solidFill>
                  <a:schemeClr val="accent1"/>
                </a:solidFill>
                <a:latin typeface="Arial"/>
                <a:ea typeface="Arial"/>
                <a:cs typeface="Arial"/>
                <a:sym typeface="Arial"/>
              </a:defRPr>
            </a:lvl1pPr>
            <a:lvl2pPr lvl="1"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2pPr>
            <a:lvl3pPr lvl="2"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3pPr>
            <a:lvl4pPr lvl="3"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4pPr>
            <a:lvl5pPr lvl="4"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5pPr>
            <a:lvl6pPr lvl="5"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6pPr>
            <a:lvl7pPr lvl="6"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7pPr>
            <a:lvl8pPr lvl="7"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8pPr>
            <a:lvl9pPr lvl="8"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9pPr>
          </a:lstStyle>
          <a:p/>
        </p:txBody>
      </p:sp>
      <p:sp>
        <p:nvSpPr>
          <p:cNvPr id="7" name="Google Shape;7;p9"/>
          <p:cNvSpPr txBox="1"/>
          <p:nvPr>
            <p:ph idx="1" type="body"/>
          </p:nvPr>
        </p:nvSpPr>
        <p:spPr>
          <a:xfrm>
            <a:off x="415600" y="1536633"/>
            <a:ext cx="11360799" cy="4555200"/>
          </a:xfrm>
          <a:prstGeom prst="rect">
            <a:avLst/>
          </a:prstGeom>
          <a:noFill/>
          <a:ln>
            <a:noFill/>
          </a:ln>
        </p:spPr>
        <p:txBody>
          <a:bodyPr anchorCtr="0" anchor="t" bIns="0" lIns="0" spcFirstLastPara="1" rIns="0" wrap="square" tIns="0">
            <a:noAutofit/>
          </a:bodyPr>
          <a:lstStyle>
            <a:lvl1pPr indent="-342900" lvl="0" marL="457200" marR="0" rtl="0" algn="l">
              <a:lnSpc>
                <a:spcPct val="115000"/>
              </a:lnSpc>
              <a:spcBef>
                <a:spcPts val="0"/>
              </a:spcBef>
              <a:spcAft>
                <a:spcPts val="0"/>
              </a:spcAft>
              <a:buClr>
                <a:schemeClr val="dk2"/>
              </a:buClr>
              <a:buSzPts val="1800"/>
              <a:buFont typeface="Arial"/>
              <a:buChar char="●"/>
              <a:defRPr b="0" i="0" sz="24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8" name="Google Shape;8;p9"/>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1691640"/>
            <a:ext cx="11109960" cy="585216"/>
          </a:xfrm>
          <a:prstGeom prst="rect">
            <a:avLst/>
          </a:prstGeom>
          <a:noFill/>
        </p:spPr>
        <p:txBody>
          <a:bodyPr wrap="square" lIns="0" rIns="0" tIns="0" bIns="0">
            <a:spAutoFit/>
          </a:bodyPr>
          <a:lstStyle/>
          <a:p>
            <a:pPr>
              <a:spcAft>
                <a:spcPts val="500"/>
              </a:spcAft>
              <a:defRPr sz="3600" b="1">
                <a:solidFill>
                  <a:srgbClr val="FFFFFF"/>
                </a:solidFill>
                <a:latin typeface="Liberation Sans"/>
              </a:defRPr>
            </a:pPr>
            <a:r>
              <a:t>Volcano for the Agentic AI Era:</a:t>
            </a:r>
          </a:p>
        </p:txBody>
      </p:sp>
      <p:sp>
        <p:nvSpPr>
          <p:cNvPr id="3" name="TextBox 2"/>
          <p:cNvSpPr txBox="1"/>
          <p:nvPr/>
        </p:nvSpPr>
        <p:spPr>
          <a:xfrm>
            <a:off x="475488" y="2423160"/>
            <a:ext cx="11109960" cy="484632"/>
          </a:xfrm>
          <a:prstGeom prst="rect">
            <a:avLst/>
          </a:prstGeom>
          <a:noFill/>
        </p:spPr>
        <p:txBody>
          <a:bodyPr wrap="square" lIns="0" rIns="0" tIns="0" bIns="0">
            <a:spAutoFit/>
          </a:bodyPr>
          <a:lstStyle/>
          <a:p>
            <a:pPr>
              <a:spcAft>
                <a:spcPts val="500"/>
              </a:spcAft>
              <a:defRPr sz="2600" b="0">
                <a:solidFill>
                  <a:srgbClr val="FFFFFF"/>
                </a:solidFill>
                <a:latin typeface="Liberation Sans"/>
              </a:defRPr>
            </a:pPr>
            <a:r>
              <a:t>Unified Scheduling Across Training, Inference, and Agents</a:t>
            </a:r>
          </a:p>
        </p:txBody>
      </p:sp>
      <p:sp>
        <p:nvSpPr>
          <p:cNvPr id="4" name="TextBox 3"/>
          <p:cNvSpPr txBox="1"/>
          <p:nvPr/>
        </p:nvSpPr>
        <p:spPr>
          <a:xfrm>
            <a:off x="475488"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Ricardo Aravena</a:t>
            </a:r>
          </a:p>
        </p:txBody>
      </p:sp>
      <p:sp>
        <p:nvSpPr>
          <p:cNvPr id="5" name="TextBox 4"/>
          <p:cNvSpPr txBox="1"/>
          <p:nvPr/>
        </p:nvSpPr>
        <p:spPr>
          <a:xfrm>
            <a:off x="475488"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AI Infrastructure Lead at Nunchux AI</a:t>
            </a:r>
          </a:p>
        </p:txBody>
      </p:sp>
      <p:sp>
        <p:nvSpPr>
          <p:cNvPr id="6" name="TextBox 5"/>
          <p:cNvSpPr txBox="1"/>
          <p:nvPr/>
        </p:nvSpPr>
        <p:spPr>
          <a:xfrm>
            <a:off x="475488"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CNCF TOC Alternate (GB)</a:t>
            </a:r>
          </a:p>
        </p:txBody>
      </p:sp>
      <p:sp>
        <p:nvSpPr>
          <p:cNvPr id="7" name="TextBox 6"/>
          <p:cNvSpPr txBox="1"/>
          <p:nvPr/>
        </p:nvSpPr>
        <p:spPr>
          <a:xfrm>
            <a:off x="6263640"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Rainie Li</a:t>
            </a:r>
          </a:p>
        </p:txBody>
      </p:sp>
      <p:sp>
        <p:nvSpPr>
          <p:cNvPr id="8" name="TextBox 7"/>
          <p:cNvSpPr txBox="1"/>
          <p:nvPr/>
        </p:nvSpPr>
        <p:spPr>
          <a:xfrm>
            <a:off x="6263640"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Engineering Manager at Pinterest</a:t>
            </a:r>
          </a:p>
        </p:txBody>
      </p:sp>
      <p:sp>
        <p:nvSpPr>
          <p:cNvPr id="9" name="TextBox 8"/>
          <p:cNvSpPr txBox="1"/>
          <p:nvPr/>
        </p:nvSpPr>
        <p:spPr>
          <a:xfrm>
            <a:off x="6263640"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Apache YuniKorn PMC member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Speakers</a:t>
            </a:r>
          </a:p>
        </p:txBody>
      </p:sp>
      <p:pic>
        <p:nvPicPr>
          <p:cNvPr id="3" name="Picture 2" descr="ricardo.jpeg"/>
          <p:cNvPicPr>
            <a:picLocks noChangeAspect="1"/>
          </p:cNvPicPr>
          <p:nvPr/>
        </p:nvPicPr>
        <p:blipFill>
          <a:blip r:embed="rId2"/>
          <a:stretch>
            <a:fillRect/>
          </a:stretch>
        </p:blipFill>
        <p:spPr>
          <a:xfrm>
            <a:off x="731520" y="1828800"/>
            <a:ext cx="1600200" cy="1600200"/>
          </a:xfrm>
          <a:prstGeom prst="rect">
            <a:avLst/>
          </a:prstGeom>
        </p:spPr>
      </p:pic>
      <p:sp>
        <p:nvSpPr>
          <p:cNvPr id="4" name="TextBox 3"/>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5" name="TextBox 4"/>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Nunchux AI</a:t>
            </a:r>
          </a:p>
        </p:txBody>
      </p:sp>
      <p:sp>
        <p:nvSpPr>
          <p:cNvPr id="6" name="TextBox 5"/>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7" name="TextBox 6"/>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a:t>
            </a:r>
          </a:p>
        </p:txBody>
      </p:sp>
      <p:pic>
        <p:nvPicPr>
          <p:cNvPr id="8" name="Picture 7" descr="rainie.jpeg"/>
          <p:cNvPicPr>
            <a:picLocks noChangeAspect="1"/>
          </p:cNvPicPr>
          <p:nvPr/>
        </p:nvPicPr>
        <p:blipFill>
          <a:blip r:embed="rId3"/>
          <a:stretch>
            <a:fillRect/>
          </a:stretch>
        </p:blipFill>
        <p:spPr>
          <a:xfrm>
            <a:off x="6446520" y="1828800"/>
            <a:ext cx="1600200" cy="1600200"/>
          </a:xfrm>
          <a:prstGeom prst="rect">
            <a:avLst/>
          </a:prstGeom>
        </p:spPr>
      </p:pic>
      <p:sp>
        <p:nvSpPr>
          <p:cNvPr id="9" name="TextBox 8"/>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0" name="TextBox 9"/>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Engineering Manager, Pinterest</a:t>
            </a:r>
          </a:p>
        </p:txBody>
      </p:sp>
      <p:sp>
        <p:nvSpPr>
          <p:cNvPr id="11" name="TextBox 10"/>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2" name="TextBox 11"/>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yunikorn.apache.org</a:t>
            </a:r>
          </a:p>
        </p:txBody>
      </p:sp>
      <p:sp>
        <p:nvSpPr>
          <p:cNvPr id="13" name="TextBox 12"/>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14" name="TextBox 13"/>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01</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Unified scheduling</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Different paths. Shared infrastructure.</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Different Workloads, Shared Infrastructure</a:t>
            </a:r>
          </a:p>
        </p:txBody>
      </p:sp>
      <p:pic>
        <p:nvPicPr>
          <p:cNvPr id="3" name="Picture 2" descr="04-workload-demand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Unified Scheduling Framework</a:t>
            </a:r>
          </a:p>
        </p:txBody>
      </p:sp>
      <p:pic>
        <p:nvPicPr>
          <p:cNvPr id="3" name="Picture 2" descr="05-unified-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Dynamic Node Sharding</a:t>
            </a:r>
          </a:p>
        </p:txBody>
      </p:sp>
      <p:pic>
        <p:nvPicPr>
          <p:cNvPr id="3" name="Picture 2" descr="06-nodeshard.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02</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Multi-level gang</a:t>
            </a:r>
          </a:p>
          <a:p>
            <a:pPr>
              <a:spcAft>
                <a:spcPts val="500"/>
              </a:spcAft>
              <a:defRPr sz="3800" b="1">
                <a:solidFill>
                  <a:srgbClr val="FFFFFF"/>
                </a:solidFill>
                <a:latin typeface="Liberation Sans"/>
              </a:defRPr>
            </a:pPr>
            <a:r>
              <a:t>&amp; network topology</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From available nodes to runnable workloads.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Training and Inference Groups</a:t>
            </a:r>
          </a:p>
        </p:txBody>
      </p:sp>
      <p:pic>
        <p:nvPicPr>
          <p:cNvPr id="3" name="Picture 2" descr="08-workload-gang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Multi-Level Gang Scheduling</a:t>
            </a:r>
          </a:p>
        </p:txBody>
      </p:sp>
      <p:pic>
        <p:nvPicPr>
          <p:cNvPr id="3" name="Picture 2" descr="09-group-stru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HyperNode: Network Topology</a:t>
            </a:r>
          </a:p>
        </p:txBody>
      </p:sp>
      <p:pic>
        <p:nvPicPr>
          <p:cNvPr id="3" name="Picture 2" descr="10-hypernode-api.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Place Groups at Different Topology Levels</a:t>
            </a:r>
          </a:p>
        </p:txBody>
      </p:sp>
      <p:pic>
        <p:nvPicPr>
          <p:cNvPr id="3" name="Picture 2" descr="11-multilevel-plac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Gang-Aware Preemption</a:t>
            </a:r>
          </a:p>
        </p:txBody>
      </p:sp>
      <p:pic>
        <p:nvPicPr>
          <p:cNvPr id="3" name="Picture 2" descr="12-gang-preemption.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PodGroup Anti-Affinity</a:t>
            </a:r>
          </a:p>
        </p:txBody>
      </p:sp>
      <p:sp>
        <p:nvSpPr>
          <p:cNvPr id="3" name="TextBox 2"/>
          <p:cNvSpPr txBox="1"/>
          <p:nvPr/>
        </p:nvSpPr>
        <p:spPr>
          <a:xfrm>
            <a:off x="475488" y="1499616"/>
            <a:ext cx="11201400" cy="356616"/>
          </a:xfrm>
          <a:prstGeom prst="rect">
            <a:avLst/>
          </a:prstGeom>
          <a:noFill/>
        </p:spPr>
        <p:txBody>
          <a:bodyPr wrap="square" lIns="0" rIns="0" tIns="0" bIns="0">
            <a:spAutoFit/>
          </a:bodyPr>
          <a:lstStyle/>
          <a:p>
            <a:pPr>
              <a:spcAft>
                <a:spcPts val="500"/>
              </a:spcAft>
              <a:defRPr sz="1900" b="0">
                <a:solidFill>
                  <a:srgbClr val="164F89"/>
                </a:solidFill>
                <a:latin typeface="Liberation Sans"/>
              </a:defRPr>
            </a:pPr>
            <a:r>
              <a:t>Separate matching PodGroups across supernodes</a:t>
            </a:r>
          </a:p>
        </p:txBody>
      </p:sp>
      <p:pic>
        <p:nvPicPr>
          <p:cNvPr id="4" name="Picture 3" descr="13-instance-isolation.png"/>
          <p:cNvPicPr>
            <a:picLocks noChangeAspect="1"/>
          </p:cNvPicPr>
          <p:nvPr/>
        </p:nvPicPr>
        <p:blipFill>
          <a:blip r:embed="rId2"/>
          <a:stretch>
            <a:fillRect/>
          </a:stretch>
        </p:blipFill>
        <p:spPr>
          <a:xfrm>
            <a:off x="457200" y="1920240"/>
            <a:ext cx="11277599" cy="4267200"/>
          </a:xfrm>
          <a:prstGeom prst="rect">
            <a:avLst/>
          </a:prstGeom>
        </p:spPr>
      </p:pic>
      <p:sp>
        <p:nvSpPr>
          <p:cNvPr id="5" name="TextBox 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6" name="TextBox 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SubGroup Affinity and Anti-Affinity</a:t>
            </a:r>
          </a:p>
        </p:txBody>
      </p:sp>
      <p:pic>
        <p:nvPicPr>
          <p:cNvPr id="3" name="Picture 2" descr="14-subgroup-nex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03</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Ecosystem</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Workload controllers carry scheduling intent.</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Group and Role Topology</a:t>
            </a:r>
          </a:p>
        </p:txBody>
      </p:sp>
      <p:pic>
        <p:nvPicPr>
          <p:cNvPr id="3" name="Picture 2" descr="16-kthena-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Role Replica Mapping</a:t>
            </a:r>
          </a:p>
        </p:txBody>
      </p:sp>
      <p:pic>
        <p:nvPicPr>
          <p:cNvPr id="3" name="Picture 2" descr="17-kthena-podgroup.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KubeRay: Multi-Host Replica Mapping</a:t>
            </a:r>
          </a:p>
        </p:txBody>
      </p:sp>
      <p:pic>
        <p:nvPicPr>
          <p:cNvPr id="3" name="Picture 2" descr="18-ray-replica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Grove: PodGang Mapping</a:t>
            </a:r>
          </a:p>
        </p:txBody>
      </p:sp>
      <p:pic>
        <p:nvPicPr>
          <p:cNvPr id="3" name="Picture 2" descr="19-grove-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Ecosystem Roadmap</a:t>
            </a:r>
          </a:p>
        </p:txBody>
      </p:sp>
      <p:pic>
        <p:nvPicPr>
          <p:cNvPr id="3" name="Picture 2" descr="20-ecosystem.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04</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Benchmark</a:t>
            </a:r>
          </a:p>
          <a:p>
            <a:pPr>
              <a:spcAft>
                <a:spcPts val="500"/>
              </a:spcAft>
              <a:defRPr sz="3800" b="1">
                <a:solidFill>
                  <a:srgbClr val="FFFFFF"/>
                </a:solidFill>
                <a:latin typeface="Liberation Sans"/>
              </a:defRPr>
            </a:pPr>
            <a:r>
              <a:t>framework &amp; progress</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Measure behavior across workload shapes.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04  Benchmark framework &amp;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Scheduling Benchmark Framework</a:t>
            </a:r>
          </a:p>
        </p:txBody>
      </p:sp>
      <p:pic>
        <p:nvPicPr>
          <p:cNvPr id="3" name="Picture 2" descr="22-benchmark-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Cross-Scheduler Benchmarks</a:t>
            </a:r>
          </a:p>
        </p:txBody>
      </p:sp>
      <p:pic>
        <p:nvPicPr>
          <p:cNvPr id="3" name="Picture 2" descr="23-benchmark-progres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Workload and Topology Test Matrix</a:t>
            </a:r>
          </a:p>
        </p:txBody>
      </p:sp>
      <p:pic>
        <p:nvPicPr>
          <p:cNvPr id="3" name="Picture 2" descr="24-benchmark-measur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v1.17 Roadmap</a:t>
            </a:r>
          </a:p>
        </p:txBody>
      </p:sp>
      <p:pic>
        <p:nvPicPr>
          <p:cNvPr id="3" name="Picture 2" descr="25-takeaway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Volcano Users</a:t>
            </a:r>
          </a:p>
        </p:txBody>
      </p:sp>
      <p:pic>
        <p:nvPicPr>
          <p:cNvPr id="3" name="Picture 2" descr="26-community-user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xmlns:r="http://schemas.openxmlformats.org/officeDocument/2006/relationships" name="OSSNA24">
  <a:themeElements>
    <a:clrScheme name="Custom 10">
      <a:dk1>
        <a:srgbClr val="000000"/>
      </a:dk1>
      <a:lt1>
        <a:srgbClr val="FFFFFF"/>
      </a:lt1>
      <a:dk2>
        <a:srgbClr val="052243"/>
      </a:dk2>
      <a:lt2>
        <a:srgbClr val="113E82"/>
      </a:lt2>
      <a:accent1>
        <a:srgbClr val="D62293"/>
      </a:accent1>
      <a:accent2>
        <a:srgbClr val="FFEE88"/>
      </a:accent2>
      <a:accent3>
        <a:srgbClr val="113851"/>
      </a:accent3>
      <a:accent4>
        <a:srgbClr val="2E9C68"/>
      </a:accent4>
      <a:accent5>
        <a:srgbClr val="40BE95"/>
      </a:accent5>
      <a:accent6>
        <a:srgbClr val="E3F6FF"/>
      </a:accent6>
      <a:hlink>
        <a:srgbClr val="ADC5EF"/>
      </a:hlink>
      <a:folHlink>
        <a:srgbClr val="FFF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dc:description>Official KubeCon NA 2026 template. Approved refinements to mappings, gang-preemption motivation, benchmarks and plain-paragraph speaker notes.</dc:description>
</cp:coreProperties>
</file>