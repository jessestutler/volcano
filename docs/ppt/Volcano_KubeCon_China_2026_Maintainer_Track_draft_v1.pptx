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7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</p:sldIdLst>
  <p:sldSz cx="9144000" cy="51435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User-provided China template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User-provided user-edited English deck, slide 2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User-provided KubeCon China 2026 template and English source deck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User-provided KubeCon EU maintainer deck, slide 6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User-provided KubeCon EU maintainer deck, slide 5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User-provided Kubernetes unified scheduling practice deck, slide 8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User-provided KubeCon EU maintainer deck, slide 9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User-provided KubeCon EU maintainer deck, slide 10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User-provided KubeCon EU maintainer deck, slide 13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User-provided Kubernetes unified scheduling practice deck, slide 14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User-provided Kubernetes unified scheduling practice deck, slide 15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User-provided Kubernetes unified scheduling practice deck, slide 17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User-provided Kubernetes unified scheduling practice deck, slide 20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User-provided Kubernetes unified scheduling practice deck, slide 21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User-provided KubeCon EU maintainer deck, slide 16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User-provided KubeCon EU maintainer deck, slide 17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User-provided Kubernetes unified scheduling practice deck, slide 24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User-provided Kubernetes unified scheduling practice deck, slide 27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User-provided Kubernetes unified scheduling practice deck, slide 30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User-provided KubeCon EU maintainer deck, slide 23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User-provided KubeCon EU maintainer deck, slide 24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User-provided China template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bg>
      <p:bgPr>
        <a:solidFill>
          <a:srgbClr val="083E4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63" name="Google Shape;56;p14"/>
          <p:cNvPicPr>
            <a:picLocks noChangeAspect="1"/>
          </p:cNvPicPr>
          <p:nvPr/>
        </p:nvPicPr>
        <p:blipFill rotWithShape="1">
          <a:blip r:embed="rId2"/>
          <a:srcRect l="7975" r="3180"/>
          <a:stretch>
            <a:fillRect/>
          </a:stretch>
        </p:blipFill>
        <p:spPr>
          <a:xfrm>
            <a:off x="0" y="0"/>
            <a:ext cx="9144000" cy="5146062"/>
          </a:xfrm>
          <a:prstGeom prst="rect">
            <a:avLst/>
          </a:prstGeom>
          <a:ln>
            <a:noFill/>
          </a:ln>
        </p:spPr>
      </p:pic>
      <p:sp>
        <p:nvSpPr>
          <p:cNvPr id="57" name="Google Shape;57;p14"/>
          <p:cNvSpPr>
            <a:spLocks noGrp="1"/>
          </p:cNvSpPr>
          <p:nvPr/>
        </p:nvSpPr>
        <p:spPr>
          <a:xfrm>
            <a:off x="0" y="2531700"/>
            <a:ext cx="1312500" cy="964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endParaRPr sz="1400" b="0" i="0" u="non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8" name="Google Shape;58;p14"/>
          <p:cNvSpPr>
            <a:spLocks noGrp="1"/>
          </p:cNvSpPr>
          <p:nvPr>
            <p:ph type="ctrTitle"/>
          </p:nvPr>
        </p:nvSpPr>
        <p:spPr>
          <a:xfrm>
            <a:off x="311215" y="1251446"/>
            <a:ext cx="8010201" cy="1455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 b="1" i="0">
                <a:solidFill>
                  <a:schemeClr val="lt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9" name="Google Shape;59;p14"/>
          <p:cNvSpPr>
            <a:spLocks noGrp="1"/>
          </p:cNvSpPr>
          <p:nvPr>
            <p:ph type="subTitle" idx="1"/>
          </p:nvPr>
        </p:nvSpPr>
        <p:spPr>
          <a:xfrm>
            <a:off x="311214" y="2706624"/>
            <a:ext cx="8010201" cy="609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1" i="0">
                <a:solidFill>
                  <a:schemeClr val="lt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14"/>
          <p:cNvSpPr>
            <a:spLocks noGrp="1"/>
          </p:cNvSpPr>
          <p:nvPr/>
        </p:nvSpPr>
        <p:spPr>
          <a:xfrm>
            <a:off x="4572000" y="178532"/>
            <a:ext cx="4255065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</a:pPr>
            <a:r>
              <a:rPr sz="1200" b="0" i="0" u="none" cap="none">
                <a:solidFill>
                  <a:schemeClr val="lt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#KubeCon #CloudNativeCon</a:t>
            </a:r>
            <a:br>
              <a:rPr sz="1200" b="0" i="0" u="none" cap="none">
                <a:solidFill>
                  <a:schemeClr val="lt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br>
            <a:r>
              <a:rPr sz="1200" b="0" i="0" u="none" cap="none">
                <a:solidFill>
                  <a:schemeClr val="lt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#OpenInfraSummit #PyTorchCon</a:t>
            </a:r>
            <a:endParaRPr sz="1200" b="0" i="0" u="none" cap="none">
              <a:solidFill>
                <a:schemeClr val="lt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68" name="Google Shape;61;p14"/>
          <p:cNvPicPr>
            <a:picLocks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311214" y="179487"/>
            <a:ext cx="4266509" cy="697793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1_Section header">
    <p:bg>
      <p:bgPr>
        <a:solidFill>
          <a:srgbClr val="083E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9" name="Google Shape;69;p16"/>
          <p:cNvSpPr>
            <a:spLocks noGrp="1"/>
          </p:cNvSpPr>
          <p:nvPr>
            <p:ph type="title"/>
          </p:nvPr>
        </p:nvSpPr>
        <p:spPr>
          <a:xfrm>
            <a:off x="311700" y="1940538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74" name="Google Shape;71;p16"/>
          <p:cNvPicPr>
            <a:picLocks noChangeAspect="1"/>
          </p:cNvPicPr>
          <p:nvPr/>
        </p:nvPicPr>
        <p:blipFill rotWithShape="1">
          <a:blip r:embed="rId2"/>
          <a:srcRect r="14460"/>
          <a:stretch>
            <a:fillRect/>
          </a:stretch>
        </p:blipFill>
        <p:spPr>
          <a:xfrm>
            <a:off x="2715352" y="2998599"/>
            <a:ext cx="6428647" cy="2144901"/>
          </a:xfrm>
          <a:prstGeom prst="rect">
            <a:avLst/>
          </a:prstGeom>
          <a:ln>
            <a:noFill/>
          </a:ln>
        </p:spPr>
      </p:pic>
      <p:pic>
        <p:nvPicPr>
          <p:cNvPr id="75" name="Google Shape;72;p16"/>
          <p:cNvPicPr>
            <a:picLocks noChangeAspect="1"/>
          </p:cNvPicPr>
          <p:nvPr/>
        </p:nvPicPr>
        <p:blipFill rotWithShape="1">
          <a:blip r:embed="rId3"/>
          <a:srcRect l="64144"/>
          <a:stretch>
            <a:fillRect/>
          </a:stretch>
        </p:blipFill>
        <p:spPr>
          <a:xfrm>
            <a:off x="0" y="4071049"/>
            <a:ext cx="2715353" cy="1072451"/>
          </a:xfrm>
          <a:prstGeom prst="rect">
            <a:avLst/>
          </a:prstGeom>
          <a:ln>
            <a:noFill/>
          </a:ln>
        </p:spPr>
      </p:pic>
      <p:pic>
        <p:nvPicPr>
          <p:cNvPr id="76" name="Google Shape;73;p16"/>
          <p:cNvPicPr>
            <a:picLocks noChangeAspect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311214" y="179487"/>
            <a:ext cx="4266509" cy="697793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1_Section header 2">
    <p:bg>
      <p:bgPr>
        <a:solidFill>
          <a:srgbClr val="083E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5" name="Google Shape;75;p17"/>
          <p:cNvSpPr>
            <a:spLocks noGrp="1"/>
          </p:cNvSpPr>
          <p:nvPr>
            <p:ph type="ctrTitle"/>
          </p:nvPr>
        </p:nvSpPr>
        <p:spPr>
          <a:xfrm>
            <a:off x="398302" y="1373367"/>
            <a:ext cx="8010201" cy="2024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6" name="Google Shape;76;p17"/>
          <p:cNvSpPr>
            <a:spLocks noGrp="1"/>
          </p:cNvSpPr>
          <p:nvPr>
            <p:ph type="subTitle" idx="1"/>
          </p:nvPr>
        </p:nvSpPr>
        <p:spPr>
          <a:xfrm>
            <a:off x="398301" y="3397805"/>
            <a:ext cx="8010201" cy="670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1">
                <a:solidFill>
                  <a:schemeClr val="lt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83" name="Google Shape;77;p17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040823" y="453033"/>
            <a:ext cx="2590800" cy="1181100"/>
          </a:xfrm>
          <a:prstGeom prst="rect">
            <a:avLst/>
          </a:prstGeom>
          <a:ln>
            <a:noFill/>
          </a:ln>
        </p:spPr>
      </p:pic>
      <p:pic>
        <p:nvPicPr>
          <p:cNvPr id="84" name="Google Shape;78;p17"/>
          <p:cNvPicPr>
            <a:picLocks noChangeAspect="1"/>
          </p:cNvPicPr>
          <p:nvPr/>
        </p:nvPicPr>
        <p:blipFill rotWithShape="1">
          <a:blip r:embed="rId2"/>
          <a:srcRect l="41002" b="9974"/>
          <a:stretch>
            <a:fillRect/>
          </a:stretch>
        </p:blipFill>
        <p:spPr>
          <a:xfrm>
            <a:off x="-1" y="4080209"/>
            <a:ext cx="1528535" cy="1063291"/>
          </a:xfrm>
          <a:prstGeom prst="rect">
            <a:avLst/>
          </a:prstGeom>
          <a:ln>
            <a:noFill/>
          </a:ln>
        </p:spPr>
      </p:pic>
      <p:pic>
        <p:nvPicPr>
          <p:cNvPr id="85" name="Google Shape;79;p17"/>
          <p:cNvPicPr>
            <a:picLocks noChangeAspect="1"/>
          </p:cNvPicPr>
          <p:nvPr/>
        </p:nvPicPr>
        <p:blipFill rotWithShape="1">
          <a:blip r:embed="rId3"/>
          <a:srcRect t="40037" r="35395" b="24793"/>
          <a:stretch>
            <a:fillRect/>
          </a:stretch>
        </p:blipFill>
        <p:spPr>
          <a:xfrm>
            <a:off x="5890451" y="-1"/>
            <a:ext cx="3253550" cy="5143501"/>
          </a:xfrm>
          <a:prstGeom prst="rect">
            <a:avLst/>
          </a:prstGeom>
          <a:ln>
            <a:noFill/>
          </a:ln>
        </p:spPr>
      </p:pic>
      <p:pic>
        <p:nvPicPr>
          <p:cNvPr id="86" name="Google Shape;80;p17"/>
          <p:cNvPicPr>
            <a:picLocks noChangeAspect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311214" y="179487"/>
            <a:ext cx="4266509" cy="697793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 matchingName="Title and body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4" name="Google Shape;84;p18"/>
          <p:cNvSpPr>
            <a:spLocks noGrp="1"/>
          </p:cNvSpPr>
          <p:nvPr>
            <p:ph type="sldNum" idx="12"/>
          </p:nvPr>
        </p:nvSpPr>
        <p:spPr>
          <a:xfrm>
            <a:off x="8283600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  <p:pic>
        <p:nvPicPr>
          <p:cNvPr id="87" name="Google Shape;85;p18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11700" y="4612899"/>
            <a:ext cx="2323131" cy="379951"/>
          </a:xfrm>
          <a:prstGeom prst="rect">
            <a:avLst/>
          </a:prstGeom>
          <a:ln>
            <a:noFill/>
          </a:ln>
        </p:spPr>
      </p:pic>
      <p:sp>
        <p:nvSpPr>
          <p:cNvPr id="3" name="图片占位符 2"/>
          <p:cNvSpPr>
            <a:spLocks noGrp="1"/>
          </p:cNvSpPr>
          <p:nvPr>
            <p:ph type="pic" idx="13" hasCustomPrompt="1"/>
          </p:nvPr>
        </p:nvSpPr>
        <p:spPr>
          <a:xfrm>
            <a:off x="1570038" y="1017588"/>
            <a:ext cx="1889125" cy="2465387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t>讲师照片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14" hasCustomPrompt="1"/>
          </p:nvPr>
        </p:nvSpPr>
        <p:spPr>
          <a:xfrm>
            <a:off x="4629150" y="1017588"/>
            <a:ext cx="3033713" cy="2465387"/>
          </a:xfrm>
        </p:spPr>
        <p:txBody>
          <a:bodyPr/>
          <a:lstStyle/>
          <a:p>
            <a:pPr lvl="0">
              <a:buNone/>
            </a:pPr>
            <a:r>
              <a:t>单击此处编辑讲师介绍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matchingName="Title and body">
  <p:cSld name="2_Title and 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4" name="Google Shape;84;p18"/>
          <p:cNvSpPr>
            <a:spLocks noGrp="1"/>
          </p:cNvSpPr>
          <p:nvPr>
            <p:ph type="sldNum" idx="12"/>
          </p:nvPr>
        </p:nvSpPr>
        <p:spPr>
          <a:xfrm>
            <a:off x="8283600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  <p:pic>
        <p:nvPicPr>
          <p:cNvPr id="87" name="Google Shape;85;p18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11700" y="4612899"/>
            <a:ext cx="2323131" cy="379951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1_Title and 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7" name="Google Shape;87;p19"/>
          <p:cNvSpPr>
            <a:spLocks noGrp="1"/>
          </p:cNvSpPr>
          <p:nvPr/>
        </p:nvSpPr>
        <p:spPr>
          <a:xfrm>
            <a:off x="7100" y="5625"/>
            <a:ext cx="9136900" cy="1047900"/>
          </a:xfrm>
          <a:prstGeom prst="rect">
            <a:avLst/>
          </a:prstGeom>
          <a:solidFill>
            <a:srgbClr val="083E4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endParaRPr sz="1400" b="0" i="0" u="non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8" name="Google Shape;88;p19"/>
          <p:cNvSpPr>
            <a:spLocks noGrp="1"/>
          </p:cNvSpPr>
          <p:nvPr>
            <p:ph type="title"/>
          </p:nvPr>
        </p:nvSpPr>
        <p:spPr>
          <a:xfrm>
            <a:off x="311701" y="0"/>
            <a:ext cx="5152398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19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3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>
            <a:lvl1pPr marL="45720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200"/>
            </a:lvl1pPr>
            <a:lvl2pPr marL="914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0" name="Google Shape;90;p19"/>
          <p:cNvSpPr>
            <a:spLocks noGrp="1"/>
          </p:cNvSpPr>
          <p:nvPr>
            <p:ph type="sldNum" idx="12"/>
          </p:nvPr>
        </p:nvSpPr>
        <p:spPr>
          <a:xfrm>
            <a:off x="8283600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  <p:pic>
        <p:nvPicPr>
          <p:cNvPr id="96" name="Google Shape;91;p19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04781" y="271117"/>
            <a:ext cx="3198536" cy="523125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Logo">
    <p:bg>
      <p:bgPr>
        <a:solidFill>
          <a:srgbClr val="00737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Google Shape;106;p23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-11317" y="0"/>
            <a:ext cx="9166634" cy="5143500"/>
          </a:xfrm>
          <a:prstGeom prst="rect">
            <a:avLst/>
          </a:prstGeom>
          <a:ln>
            <a:noFill/>
          </a:ln>
        </p:spPr>
      </p:pic>
      <p:pic>
        <p:nvPicPr>
          <p:cNvPr id="4" name="Google Shape;107;p23"/>
          <p:cNvPicPr>
            <a:picLocks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311213" y="178511"/>
            <a:ext cx="4255065" cy="695922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1" name="Google Shape;51;p13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 panose="020B0604020202090204"/>
              <a:buNone/>
              <a:defRPr sz="2800" b="1" i="0" u="none" cap="none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 panose="020B0604020202090204"/>
              <a:buNone/>
              <a:defRPr sz="2800" b="0" i="0" u="none" cap="none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 panose="020B0604020202090204"/>
              <a:buNone/>
              <a:defRPr sz="2800" b="0" i="0" u="none" cap="none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 panose="020B0604020202090204"/>
              <a:buNone/>
              <a:defRPr sz="2800" b="0" i="0" u="none" cap="none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 panose="020B0604020202090204"/>
              <a:buNone/>
              <a:defRPr sz="2800" b="0" i="0" u="none" cap="none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 panose="020B0604020202090204"/>
              <a:buNone/>
              <a:defRPr sz="2800" b="0" i="0" u="none" cap="none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 panose="020B0604020202090204"/>
              <a:buNone/>
              <a:defRPr sz="2800" b="0" i="0" u="none" cap="none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 panose="020B0604020202090204"/>
              <a:buNone/>
              <a:defRPr sz="2800" b="0" i="0" u="none" cap="none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 panose="020B0604020202090204"/>
              <a:buNone/>
              <a:defRPr sz="2800" b="0" i="0" u="none" cap="none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/>
        </p:txBody>
      </p:sp>
      <p:sp>
        <p:nvSpPr>
          <p:cNvPr id="52" name="Google Shape;52;p13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>
            <a:lvl1pPr marL="457200" marR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90204"/>
              <a:buChar char="●"/>
              <a:defRPr sz="1800" b="0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marL="9144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○"/>
              <a:defRPr sz="1400" b="0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marL="13716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■"/>
              <a:defRPr sz="1400" b="0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marL="18288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●"/>
              <a:defRPr sz="1400" b="0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marL="22860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○"/>
              <a:defRPr sz="1400" b="0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marL="27432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■"/>
              <a:defRPr sz="1400" b="0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marL="32004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●"/>
              <a:defRPr sz="1400" b="0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marL="36576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○"/>
              <a:defRPr sz="1400" b="0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marL="41148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■"/>
              <a:defRPr sz="1400" b="0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/>
        </p:txBody>
      </p:sp>
      <p:sp>
        <p:nvSpPr>
          <p:cNvPr id="53" name="Google Shape;53;p13"/>
          <p:cNvSpPr>
            <a:spLocks noGrp="1"/>
          </p:cNvSpPr>
          <p:nvPr>
            <p:ph type="sldNum" idx="12"/>
          </p:nvPr>
        </p:nvSpPr>
        <p:spPr>
          <a:xfrm>
            <a:off x="8283600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0.png"/><Relationship Id="rId1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.png"/><Relationship Id="rId8" Type="http://schemas.openxmlformats.org/officeDocument/2006/relationships/image" Target="../media/image18.png"/><Relationship Id="rId7" Type="http://schemas.openxmlformats.org/officeDocument/2006/relationships/image" Target="../media/image17.png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1" Type="http://schemas.openxmlformats.org/officeDocument/2006/relationships/notesSlide" Target="../notesSlides/notesSlide5.xml"/><Relationship Id="rId20" Type="http://schemas.openxmlformats.org/officeDocument/2006/relationships/slideLayout" Target="../slideLayouts/slideLayout6.xml"/><Relationship Id="rId2" Type="http://schemas.openxmlformats.org/officeDocument/2006/relationships/image" Target="../media/image12.png"/><Relationship Id="rId19" Type="http://schemas.openxmlformats.org/officeDocument/2006/relationships/image" Target="../media/image29.png"/><Relationship Id="rId18" Type="http://schemas.openxmlformats.org/officeDocument/2006/relationships/image" Target="../media/image28.png"/><Relationship Id="rId17" Type="http://schemas.openxmlformats.org/officeDocument/2006/relationships/image" Target="../media/image27.png"/><Relationship Id="rId16" Type="http://schemas.openxmlformats.org/officeDocument/2006/relationships/image" Target="../media/image26.png"/><Relationship Id="rId15" Type="http://schemas.openxmlformats.org/officeDocument/2006/relationships/image" Target="../media/image25.png"/><Relationship Id="rId14" Type="http://schemas.openxmlformats.org/officeDocument/2006/relationships/image" Target="../media/image24.png"/><Relationship Id="rId13" Type="http://schemas.openxmlformats.org/officeDocument/2006/relationships/image" Target="../media/image23.png"/><Relationship Id="rId12" Type="http://schemas.openxmlformats.org/officeDocument/2006/relationships/image" Target="../media/image22.png"/><Relationship Id="rId11" Type="http://schemas.openxmlformats.org/officeDocument/2006/relationships/image" Target="../media/image21.png"/><Relationship Id="rId10" Type="http://schemas.openxmlformats.org/officeDocument/2006/relationships/image" Target="../media/image20.png"/><Relationship Id="rId1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6.xml"/><Relationship Id="rId6" Type="http://schemas.openxmlformats.org/officeDocument/2006/relationships/slideLayout" Target="../slideLayouts/slideLayout6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4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6" name="Google Shape;586;p62"/>
          <p:cNvSpPr>
            <a:spLocks noGrp="1"/>
          </p:cNvSpPr>
          <p:nvPr>
            <p:ph type="ctrTitle"/>
          </p:nvPr>
        </p:nvSpPr>
        <p:spPr>
          <a:xfrm>
            <a:off x="311215" y="1251446"/>
            <a:ext cx="8010300" cy="14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Volcano: A Unified</a:t>
            </a:r>
            <a:endParaRPr sz="3200"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Scheduling Platform for</a:t>
            </a:r>
            <a:endParaRPr sz="3200"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Cloud Native AI</a:t>
            </a:r>
            <a:endParaRPr sz="3200"/>
          </a:p>
        </p:txBody>
      </p:sp>
      <p:sp>
        <p:nvSpPr>
          <p:cNvPr id="587" name="Google Shape;587;p62"/>
          <p:cNvSpPr>
            <a:spLocks noGrp="1"/>
          </p:cNvSpPr>
          <p:nvPr>
            <p:ph type="subTitle" idx="1"/>
          </p:nvPr>
        </p:nvSpPr>
        <p:spPr>
          <a:xfrm>
            <a:off x="311214" y="2706624"/>
            <a:ext cx="8010300" cy="60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rmAutofit/>
          </a:bodyPr>
          <a:lstStyle/>
          <a:p>
            <a: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Zicong Chen · Huawei Technologies</a:t>
            </a:r>
            <a:endParaRPr sz="1800"/>
          </a:p>
          <a:p>
            <a: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DongYang Wang · SenseTime</a:t>
            </a:r>
            <a:endParaRPr sz="1800"/>
          </a:p>
          <a:p>
            <a: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Maintainer Track · Sep 9 · 16:15–16:45 · 5B + C</a:t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" name="Google Shape;614;p67"/>
          <p:cNvSpPr>
            <a:spLocks noGrp="1"/>
          </p:cNvSpPr>
          <p:nvPr>
            <p:ph type="title"/>
          </p:nvPr>
        </p:nvSpPr>
        <p:spPr>
          <a:xfrm>
            <a:off x="311700" y="0"/>
            <a:ext cx="6949800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>Speakers</a:t>
            </a:r>
          </a:p>
        </p:txBody>
      </p:sp>
      <p:pic>
        <p:nvPicPr>
          <p:cNvPr id="620" name="Google Shape;122;g3d09662ff30_2_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1773" y="1156749"/>
            <a:ext cx="2049994" cy="2049994"/>
          </a:xfrm>
          <a:prstGeom prst="rect">
            <a:avLst/>
          </a:prstGeom>
          <a:ln>
            <a:noFill/>
          </a:ln>
        </p:spPr>
      </p:pic>
      <p:sp>
        <p:nvSpPr>
          <p:cNvPr id="616" name="Google Shape;123;g3d09662ff30_2_0"/>
          <p:cNvSpPr>
            <a:spLocks noGrp="1"/>
          </p:cNvSpPr>
          <p:nvPr/>
        </p:nvSpPr>
        <p:spPr>
          <a:xfrm>
            <a:off x="1383210" y="3392622"/>
            <a:ext cx="2200844" cy="1064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pPr marL="0" lvl="0" indent="0" algn="l">
              <a:lnSpc>
                <a:spcPct val="14100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sz="1345" b="1">
                <a:solidFill>
                  <a:srgbClr val="141414"/>
                </a:solidFill>
                <a:highlight>
                  <a:srgbClr val="FFFFFF"/>
                </a:highlight>
              </a:rPr>
              <a:t>Zicong Chen</a:t>
            </a:r>
            <a:br>
              <a:rPr sz="1345" b="1">
                <a:solidFill>
                  <a:srgbClr val="141414"/>
                </a:solidFill>
                <a:highlight>
                  <a:srgbClr val="FFFFFF"/>
                </a:highlight>
              </a:rPr>
            </a:br>
            <a:r>
              <a:rPr sz="1030">
                <a:solidFill>
                  <a:srgbClr val="141414"/>
                </a:solidFill>
                <a:highlight>
                  <a:srgbClr val="FFFFFF"/>
                </a:highlight>
              </a:rPr>
              <a:t>R&amp;D Engineer, Volcano Maintainer</a:t>
            </a:r>
            <a:br>
              <a:rPr sz="1030">
                <a:solidFill>
                  <a:srgbClr val="141414"/>
                </a:solidFill>
                <a:highlight>
                  <a:srgbClr val="FFFFFF"/>
                </a:highlight>
              </a:rPr>
            </a:br>
            <a:r>
              <a:rPr sz="1030">
                <a:solidFill>
                  <a:srgbClr val="141414"/>
                </a:solidFill>
                <a:highlight>
                  <a:srgbClr val="FFFFFF"/>
                </a:highlight>
              </a:rPr>
              <a:t>Huawei Technologies Co., Ltd</a:t>
            </a:r>
            <a:endParaRPr sz="1030">
              <a:solidFill>
                <a:srgbClr val="141414"/>
              </a:solidFill>
              <a:highlight>
                <a:srgbClr val="FFFFFF"/>
              </a:highlight>
            </a:endParaRPr>
          </a:p>
          <a:p>
            <a:pPr marL="0" lvl="0" indent="0" algn="l">
              <a:lnSpc>
                <a:spcPct val="14100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sz="1030">
                <a:solidFill>
                  <a:srgbClr val="141414"/>
                </a:solidFill>
                <a:highlight>
                  <a:srgbClr val="FFFFFF"/>
                </a:highlight>
              </a:rPr>
              <a:t>https://github.com/JesseStutler</a:t>
            </a:r>
            <a:endParaRPr sz="1030">
              <a:solidFill>
                <a:srgbClr val="141414"/>
              </a:solidFill>
              <a:highlight>
                <a:srgbClr val="FFFFFF"/>
              </a:highlight>
            </a:endParaRPr>
          </a:p>
        </p:txBody>
      </p:sp>
      <p:sp>
        <p:nvSpPr>
          <p:cNvPr id="617" name="Google Shape;124;g3d09662ff30_2_0"/>
          <p:cNvSpPr>
            <a:spLocks noGrp="1"/>
          </p:cNvSpPr>
          <p:nvPr/>
        </p:nvSpPr>
        <p:spPr>
          <a:xfrm>
            <a:off x="4753610" y="3474720"/>
            <a:ext cx="2745105" cy="1322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pPr marL="0" lvl="0" indent="0" algn="l">
              <a:lnSpc>
                <a:spcPct val="14100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sz="1345" b="1">
                <a:solidFill>
                  <a:srgbClr val="141414"/>
                </a:solidFill>
                <a:highlight>
                  <a:srgbClr val="FFFFFF"/>
                </a:highlight>
              </a:rPr>
              <a:t>DongYang Wang</a:t>
            </a:r>
            <a:br>
              <a:rPr sz="1345" b="1">
                <a:solidFill>
                  <a:srgbClr val="141414"/>
                </a:solidFill>
                <a:highlight>
                  <a:srgbClr val="FFFFFF"/>
                </a:highlight>
              </a:rPr>
            </a:br>
            <a:r>
              <a:rPr sz="1030">
                <a:solidFill>
                  <a:srgbClr val="141414"/>
                </a:solidFill>
                <a:highlight>
                  <a:srgbClr val="FFFFFF"/>
                </a:highlight>
              </a:rPr>
              <a:t>Cloud-Native AI Infrastructure Engineer at SenseTime</a:t>
            </a:r>
            <a:endParaRPr sz="1030">
              <a:solidFill>
                <a:srgbClr val="141414"/>
              </a:solidFill>
              <a:highlight>
                <a:srgbClr val="FFFFFF"/>
              </a:highlight>
            </a:endParaRPr>
          </a:p>
          <a:p>
            <a:pPr marL="0" lvl="0" indent="0" algn="l">
              <a:lnSpc>
                <a:spcPct val="14100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sz="1030">
                <a:solidFill>
                  <a:srgbClr val="141414"/>
                </a:solidFill>
                <a:highlight>
                  <a:srgbClr val="FFFFFF"/>
                </a:highlight>
              </a:rPr>
              <a:t>https://github.com/kingeasternsun</a:t>
            </a:r>
            <a:endParaRPr sz="1030">
              <a:solidFill>
                <a:srgbClr val="141414"/>
              </a:solidFill>
              <a:highlight>
                <a:srgbClr val="FFFFFF"/>
              </a:highlight>
            </a:endParaRPr>
          </a:p>
        </p:txBody>
      </p:sp>
      <p:pic>
        <p:nvPicPr>
          <p:cNvPr id="623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7107" y="1135144"/>
            <a:ext cx="2428875" cy="22574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" name="Google Shape;614;p67"/>
          <p:cNvSpPr>
            <a:spLocks noGrp="1"/>
          </p:cNvSpPr>
          <p:nvPr>
            <p:ph type="title"/>
          </p:nvPr>
        </p:nvSpPr>
        <p:spPr>
          <a:xfrm>
            <a:off x="311700" y="0"/>
            <a:ext cx="6949800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>Agenda</a:t>
            </a:r>
          </a:p>
        </p:txBody>
      </p:sp>
      <p:sp>
        <p:nvSpPr>
          <p:cNvPr id="615" name="V8 agenda lead"/>
          <p:cNvSpPr>
            <a:spLocks noGrp="1"/>
          </p:cNvSpPr>
          <p:nvPr/>
        </p:nvSpPr>
        <p:spPr>
          <a:xfrm>
            <a:off x="571500" y="1190625"/>
            <a:ext cx="8001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17313A"/>
                </a:solidFill>
              </a:defRPr>
            </a:pPr>
            <a:r>
              <a:rPr sz="1350" b="1">
                <a:solidFill>
                  <a:srgbClr val="17313A"/>
                </a:solidFill>
              </a:rPr>
              <a:t>One story, from cluster resources to inference requests</a:t>
            </a:r>
            <a:endParaRPr sz="1350" b="1">
              <a:solidFill>
                <a:srgbClr val="17313A"/>
              </a:solidFill>
            </a:endParaRPr>
          </a:p>
        </p:txBody>
      </p:sp>
      <p:sp>
        <p:nvSpPr>
          <p:cNvPr id="616" name="V8 container agenda 0"/>
          <p:cNvSpPr>
            <a:spLocks noGrp="1"/>
          </p:cNvSpPr>
          <p:nvPr/>
        </p:nvSpPr>
        <p:spPr>
          <a:xfrm>
            <a:off x="723900" y="1790700"/>
            <a:ext cx="2381250" cy="2038350"/>
          </a:xfrm>
          <a:prstGeom prst="rect">
            <a:avLst/>
          </a:prstGeom>
          <a:noFill/>
          <a:ln w="10478">
            <a:solidFill>
              <a:srgbClr val="2F6FED"/>
            </a:solidFill>
            <a:prstDash val="solid"/>
          </a:ln>
        </p:spPr>
      </p:sp>
      <p:sp>
        <p:nvSpPr>
          <p:cNvPr id="617" name="V8 container label agenda 0"/>
          <p:cNvSpPr>
            <a:spLocks noGrp="1"/>
          </p:cNvSpPr>
          <p:nvPr/>
        </p:nvSpPr>
        <p:spPr>
          <a:xfrm>
            <a:off x="800100" y="1819275"/>
            <a:ext cx="2228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25" b="1">
                <a:solidFill>
                  <a:srgbClr val="2F6FED"/>
                </a:solidFill>
              </a:defRPr>
            </a:pPr>
            <a:r>
              <a:rPr sz="1125" b="1">
                <a:solidFill>
                  <a:srgbClr val="2F6FED"/>
                </a:solidFill>
              </a:rPr>
              <a:t>01</a:t>
            </a:r>
            <a:endParaRPr sz="1125" b="1">
              <a:solidFill>
                <a:srgbClr val="2F6FED"/>
              </a:solidFill>
            </a:endParaRPr>
          </a:p>
        </p:txBody>
      </p:sp>
      <p:sp>
        <p:nvSpPr>
          <p:cNvPr id="618" name="V8 box agenda icon 0"/>
          <p:cNvSpPr>
            <a:spLocks noGrp="1"/>
          </p:cNvSpPr>
          <p:nvPr/>
        </p:nvSpPr>
        <p:spPr>
          <a:xfrm>
            <a:off x="1409700" y="2133600"/>
            <a:ext cx="1009650" cy="323850"/>
          </a:xfrm>
          <a:prstGeom prst="roundRect">
            <a:avLst>
              <a:gd name="adj" fmla="val 11765"/>
            </a:avLst>
          </a:prstGeom>
          <a:solidFill>
            <a:srgbClr val="F7F8FA"/>
          </a:solidFill>
          <a:ln w="10478">
            <a:solidFill>
              <a:srgbClr val="D0D5D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675" b="1">
                <a:solidFill>
                  <a:srgbClr val="17313A"/>
                </a:solidFill>
              </a:defRPr>
            </a:pPr>
            <a:r>
              <a:rPr sz="675" b="1">
                <a:solidFill>
                  <a:srgbClr val="17313A"/>
                </a:solidFill>
              </a:rPr>
              <a:t>WORKLOADS</a:t>
            </a:r>
            <a:endParaRPr sz="675" b="1">
              <a:solidFill>
                <a:srgbClr val="17313A"/>
              </a:solidFill>
            </a:endParaRPr>
          </a:p>
        </p:txBody>
      </p:sp>
      <p:sp>
        <p:nvSpPr>
          <p:cNvPr id="619" name="V8 agenda title 0"/>
          <p:cNvSpPr>
            <a:spLocks noGrp="1"/>
          </p:cNvSpPr>
          <p:nvPr/>
        </p:nvSpPr>
        <p:spPr>
          <a:xfrm>
            <a:off x="914400" y="2628900"/>
            <a:ext cx="2000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17313A"/>
                </a:solidFill>
              </a:defRPr>
            </a:pPr>
            <a:r>
              <a:rPr sz="1350" b="1">
                <a:solidFill>
                  <a:srgbClr val="17313A"/>
                </a:solidFill>
              </a:rPr>
              <a:t>Unified Scheduling</a:t>
            </a:r>
            <a:endParaRPr sz="1350" b="1">
              <a:solidFill>
                <a:srgbClr val="17313A"/>
              </a:solidFill>
            </a:endParaRPr>
          </a:p>
        </p:txBody>
      </p:sp>
      <p:sp>
        <p:nvSpPr>
          <p:cNvPr id="620" name="V8 agenda copy 0"/>
          <p:cNvSpPr>
            <a:spLocks noGrp="1"/>
          </p:cNvSpPr>
          <p:nvPr/>
        </p:nvSpPr>
        <p:spPr>
          <a:xfrm>
            <a:off x="952500" y="3028950"/>
            <a:ext cx="19240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Different workload semantics</a:t>
            </a:r>
            <a:endParaRPr sz="1050" b="0">
              <a:solidFill>
                <a:srgbClr val="667085"/>
              </a:solidFill>
            </a:endParaRPr>
          </a:p>
          <a:p>
            <a:pPr algn="ctr">
              <a:buNone/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on one Kubernetes cluster</a:t>
            </a:r>
            <a:endParaRPr sz="1050" b="0">
              <a:solidFill>
                <a:srgbClr val="667085"/>
              </a:solidFill>
            </a:endParaRPr>
          </a:p>
        </p:txBody>
      </p:sp>
      <p:sp>
        <p:nvSpPr>
          <p:cNvPr id="621" name="V8 container agenda 1"/>
          <p:cNvSpPr>
            <a:spLocks noGrp="1"/>
          </p:cNvSpPr>
          <p:nvPr/>
        </p:nvSpPr>
        <p:spPr>
          <a:xfrm>
            <a:off x="3524250" y="1790700"/>
            <a:ext cx="2381250" cy="2038350"/>
          </a:xfrm>
          <a:prstGeom prst="rect">
            <a:avLst/>
          </a:prstGeom>
          <a:noFill/>
          <a:ln w="10478">
            <a:solidFill>
              <a:srgbClr val="2F6FED"/>
            </a:solidFill>
            <a:prstDash val="solid"/>
          </a:ln>
        </p:spPr>
      </p:sp>
      <p:sp>
        <p:nvSpPr>
          <p:cNvPr id="622" name="V8 container label agenda 1"/>
          <p:cNvSpPr>
            <a:spLocks noGrp="1"/>
          </p:cNvSpPr>
          <p:nvPr/>
        </p:nvSpPr>
        <p:spPr>
          <a:xfrm>
            <a:off x="3600450" y="1819275"/>
            <a:ext cx="2228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25" b="1">
                <a:solidFill>
                  <a:srgbClr val="2F6FED"/>
                </a:solidFill>
              </a:defRPr>
            </a:pPr>
            <a:r>
              <a:rPr sz="1125" b="1">
                <a:solidFill>
                  <a:srgbClr val="2F6FED"/>
                </a:solidFill>
              </a:rPr>
              <a:t>02</a:t>
            </a:r>
            <a:endParaRPr sz="1125" b="1">
              <a:solidFill>
                <a:srgbClr val="2F6FED"/>
              </a:solidFill>
            </a:endParaRPr>
          </a:p>
        </p:txBody>
      </p:sp>
      <p:sp>
        <p:nvSpPr>
          <p:cNvPr id="623" name="V8 box agenda icon 1"/>
          <p:cNvSpPr>
            <a:spLocks noGrp="1"/>
          </p:cNvSpPr>
          <p:nvPr/>
        </p:nvSpPr>
        <p:spPr>
          <a:xfrm>
            <a:off x="4210050" y="2133600"/>
            <a:ext cx="1009650" cy="323850"/>
          </a:xfrm>
          <a:prstGeom prst="roundRect">
            <a:avLst>
              <a:gd name="adj" fmla="val 11765"/>
            </a:avLst>
          </a:prstGeom>
          <a:solidFill>
            <a:srgbClr val="F7F8FA"/>
          </a:solidFill>
          <a:ln w="10478">
            <a:solidFill>
              <a:srgbClr val="D0D5D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675" b="1">
                <a:solidFill>
                  <a:srgbClr val="17313A"/>
                </a:solidFill>
              </a:defRPr>
            </a:pPr>
            <a:r>
              <a:rPr sz="675" b="1">
                <a:solidFill>
                  <a:srgbClr val="17313A"/>
                </a:solidFill>
              </a:rPr>
              <a:t>SCHEDULER</a:t>
            </a:r>
            <a:endParaRPr sz="675" b="1">
              <a:solidFill>
                <a:srgbClr val="17313A"/>
              </a:solidFill>
            </a:endParaRPr>
          </a:p>
        </p:txBody>
      </p:sp>
      <p:sp>
        <p:nvSpPr>
          <p:cNvPr id="624" name="V8 agenda title 1"/>
          <p:cNvSpPr>
            <a:spLocks noGrp="1"/>
          </p:cNvSpPr>
          <p:nvPr/>
        </p:nvSpPr>
        <p:spPr>
          <a:xfrm>
            <a:off x="3714750" y="2628900"/>
            <a:ext cx="2000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17313A"/>
                </a:solidFill>
              </a:defRPr>
            </a:pPr>
            <a:r>
              <a:rPr sz="1350" b="1">
                <a:solidFill>
                  <a:srgbClr val="17313A"/>
                </a:solidFill>
              </a:rPr>
              <a:t>Volcano Core</a:t>
            </a:r>
            <a:endParaRPr sz="1350" b="1">
              <a:solidFill>
                <a:srgbClr val="17313A"/>
              </a:solidFill>
            </a:endParaRPr>
          </a:p>
        </p:txBody>
      </p:sp>
      <p:sp>
        <p:nvSpPr>
          <p:cNvPr id="625" name="V8 agenda copy 1"/>
          <p:cNvSpPr>
            <a:spLocks noGrp="1"/>
          </p:cNvSpPr>
          <p:nvPr/>
        </p:nvSpPr>
        <p:spPr>
          <a:xfrm>
            <a:off x="3752850" y="3028950"/>
            <a:ext cx="19240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Fast scheduling with coordinated
resource placement</a:t>
            </a:r>
            <a:endParaRPr sz="1050" b="0">
              <a:solidFill>
                <a:srgbClr val="667085"/>
              </a:solidFill>
            </a:endParaRPr>
          </a:p>
        </p:txBody>
      </p:sp>
      <p:sp>
        <p:nvSpPr>
          <p:cNvPr id="626" name="V8 container agenda 2"/>
          <p:cNvSpPr>
            <a:spLocks noGrp="1"/>
          </p:cNvSpPr>
          <p:nvPr/>
        </p:nvSpPr>
        <p:spPr>
          <a:xfrm>
            <a:off x="6324600" y="1790700"/>
            <a:ext cx="2381250" cy="2038350"/>
          </a:xfrm>
          <a:prstGeom prst="rect">
            <a:avLst/>
          </a:prstGeom>
          <a:noFill/>
          <a:ln w="10478">
            <a:solidFill>
              <a:srgbClr val="D97706"/>
            </a:solidFill>
            <a:prstDash val="solid"/>
          </a:ln>
        </p:spPr>
      </p:sp>
      <p:sp>
        <p:nvSpPr>
          <p:cNvPr id="627" name="V8 container label agenda 2"/>
          <p:cNvSpPr>
            <a:spLocks noGrp="1"/>
          </p:cNvSpPr>
          <p:nvPr/>
        </p:nvSpPr>
        <p:spPr>
          <a:xfrm>
            <a:off x="6400800" y="1819275"/>
            <a:ext cx="2228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25" b="1">
                <a:solidFill>
                  <a:srgbClr val="D97706"/>
                </a:solidFill>
              </a:defRPr>
            </a:pPr>
            <a:r>
              <a:rPr sz="1125" b="1">
                <a:solidFill>
                  <a:srgbClr val="D97706"/>
                </a:solidFill>
              </a:rPr>
              <a:t>03</a:t>
            </a:r>
            <a:endParaRPr sz="1125" b="1">
              <a:solidFill>
                <a:srgbClr val="D97706"/>
              </a:solidFill>
            </a:endParaRPr>
          </a:p>
        </p:txBody>
      </p:sp>
      <p:sp>
        <p:nvSpPr>
          <p:cNvPr id="628" name="V8 box agenda icon 2"/>
          <p:cNvSpPr>
            <a:spLocks noGrp="1"/>
          </p:cNvSpPr>
          <p:nvPr/>
        </p:nvSpPr>
        <p:spPr>
          <a:xfrm>
            <a:off x="7010400" y="2133600"/>
            <a:ext cx="1009650" cy="323850"/>
          </a:xfrm>
          <a:prstGeom prst="roundRect">
            <a:avLst>
              <a:gd name="adj" fmla="val 11765"/>
            </a:avLst>
          </a:prstGeom>
          <a:solidFill>
            <a:srgbClr val="F7F8FA"/>
          </a:solidFill>
          <a:ln w="10478">
            <a:solidFill>
              <a:srgbClr val="D0D5D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675" b="1">
                <a:solidFill>
                  <a:srgbClr val="17313A"/>
                </a:solidFill>
              </a:defRPr>
            </a:pPr>
            <a:r>
              <a:rPr sz="675" b="1">
                <a:solidFill>
                  <a:srgbClr val="17313A"/>
                </a:solidFill>
              </a:rPr>
              <a:t>SERVING</a:t>
            </a:r>
            <a:endParaRPr sz="675" b="1">
              <a:solidFill>
                <a:srgbClr val="17313A"/>
              </a:solidFill>
            </a:endParaRPr>
          </a:p>
        </p:txBody>
      </p:sp>
      <p:sp>
        <p:nvSpPr>
          <p:cNvPr id="629" name="V8 agenda title 2"/>
          <p:cNvSpPr>
            <a:spLocks noGrp="1"/>
          </p:cNvSpPr>
          <p:nvPr/>
        </p:nvSpPr>
        <p:spPr>
          <a:xfrm>
            <a:off x="6515100" y="2628900"/>
            <a:ext cx="2000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17313A"/>
                </a:solidFill>
              </a:defRPr>
            </a:pPr>
            <a:r>
              <a:rPr sz="1350" b="1">
                <a:solidFill>
                  <a:srgbClr val="17313A"/>
                </a:solidFill>
              </a:rPr>
              <a:t>Kthena Serving</a:t>
            </a:r>
            <a:endParaRPr sz="1350" b="1">
              <a:solidFill>
                <a:srgbClr val="17313A"/>
              </a:solidFill>
            </a:endParaRPr>
          </a:p>
        </p:txBody>
      </p:sp>
      <p:sp>
        <p:nvSpPr>
          <p:cNvPr id="630" name="V8 agenda copy 2"/>
          <p:cNvSpPr>
            <a:spLocks noGrp="1"/>
          </p:cNvSpPr>
          <p:nvPr/>
        </p:nvSpPr>
        <p:spPr>
          <a:xfrm>
            <a:off x="6553200" y="3028950"/>
            <a:ext cx="19240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Serving lifecycle, routing
and P/D operations</a:t>
            </a:r>
            <a:endParaRPr sz="1050" b="0">
              <a:solidFill>
                <a:srgbClr val="667085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" name="Google Shape;614;p67"/>
          <p:cNvSpPr>
            <a:spLocks noGrp="1"/>
          </p:cNvSpPr>
          <p:nvPr>
            <p:ph type="title"/>
          </p:nvPr>
        </p:nvSpPr>
        <p:spPr>
          <a:xfrm>
            <a:off x="311700" y="0"/>
            <a:ext cx="6949800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altLang="en-US"/>
              <a:t>AI Workloads Are Diverging</a:t>
            </a:r>
            <a:endParaRPr lang="en-US" altLang="en-US"/>
          </a:p>
        </p:txBody>
      </p:sp>
      <p:sp>
        <p:nvSpPr>
          <p:cNvPr id="337" name="Google Shape;337;p5"/>
          <p:cNvSpPr txBox="1"/>
          <p:nvPr>
            <p:ph type="body" idx="1"/>
          </p:nvPr>
        </p:nvSpPr>
        <p:spPr>
          <a:xfrm>
            <a:off x="311700" y="4128325"/>
            <a:ext cx="8520600" cy="4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2000">
                <a:solidFill>
                  <a:srgbClr val="000000"/>
                </a:solidFill>
              </a:rPr>
              <a:t>New requirement: one control plane, multiple execution patterns</a:t>
            </a:r>
            <a:endParaRPr sz="2000">
              <a:solidFill>
                <a:srgbClr val="000000"/>
              </a:solidFill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2000">
                <a:solidFill>
                  <a:srgbClr val="000000"/>
                </a:solidFill>
              </a:rPr>
              <a:t>One platform shall optimize for throughput and latency together</a:t>
            </a:r>
            <a:endParaRPr sz="2000"/>
          </a:p>
        </p:txBody>
      </p:sp>
      <p:sp>
        <p:nvSpPr>
          <p:cNvPr id="338" name="Google Shape;338;p5"/>
          <p:cNvSpPr txBox="1"/>
          <p:nvPr/>
        </p:nvSpPr>
        <p:spPr>
          <a:xfrm>
            <a:off x="311700" y="1284950"/>
            <a:ext cx="8520600" cy="46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90204"/>
              <a:buChar char="●"/>
              <a:defRPr sz="12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2000">
                <a:solidFill>
                  <a:srgbClr val="000000"/>
                </a:solidFill>
              </a:rPr>
              <a:t>AI workloads are diverging fast.</a:t>
            </a:r>
            <a:endParaRPr sz="2000"/>
          </a:p>
        </p:txBody>
      </p:sp>
      <p:sp>
        <p:nvSpPr>
          <p:cNvPr id="340" name="Google Shape;340;p5"/>
          <p:cNvSpPr txBox="1"/>
          <p:nvPr/>
        </p:nvSpPr>
        <p:spPr>
          <a:xfrm>
            <a:off x="3779400" y="2110500"/>
            <a:ext cx="2135400" cy="95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90204"/>
              <a:buChar char="●"/>
              <a:defRPr sz="12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45720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/>
              <a:t>LLM serving introduced disaggregated runtime patterns</a:t>
            </a:r>
            <a:endParaRPr sz="1400"/>
          </a:p>
        </p:txBody>
      </p:sp>
      <p:sp>
        <p:nvSpPr>
          <p:cNvPr id="341" name="Google Shape;341;p5"/>
          <p:cNvSpPr txBox="1"/>
          <p:nvPr/>
        </p:nvSpPr>
        <p:spPr>
          <a:xfrm>
            <a:off x="5986780" y="2110105"/>
            <a:ext cx="2369820" cy="955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90204"/>
              <a:buChar char="●"/>
              <a:defRPr sz="12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45720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/>
              <a:t>Agent workloads </a:t>
            </a:r>
            <a:endParaRPr sz="1400"/>
          </a:p>
          <a:p>
            <a:pPr marL="45720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/>
              <a:t>Bursty, short-lived, ultra-low latency scheduling</a:t>
            </a:r>
            <a:endParaRPr sz="1400"/>
          </a:p>
        </p:txBody>
      </p:sp>
      <p:cxnSp>
        <p:nvCxnSpPr>
          <p:cNvPr id="342" name="Google Shape;342;p5"/>
          <p:cNvCxnSpPr/>
          <p:nvPr/>
        </p:nvCxnSpPr>
        <p:spPr>
          <a:xfrm>
            <a:off x="2135400" y="2665350"/>
            <a:ext cx="4548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43" name="Google Shape;343;p5"/>
          <p:cNvSpPr/>
          <p:nvPr/>
        </p:nvSpPr>
        <p:spPr>
          <a:xfrm>
            <a:off x="789650" y="3453700"/>
            <a:ext cx="7414200" cy="116700"/>
          </a:xfrm>
          <a:prstGeom prst="rightArrow">
            <a:avLst>
              <a:gd name="adj1" fmla="val 50000"/>
              <a:gd name="adj2" fmla="val 101027"/>
            </a:avLst>
          </a:prstGeom>
          <a:solidFill>
            <a:srgbClr val="C71D3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90204"/>
              <a:buNone/>
            </a:pPr>
            <a:endParaRPr sz="1800" b="0" i="0" u="none" strike="noStrik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344" name="Google Shape;344;p5"/>
          <p:cNvSpPr txBox="1"/>
          <p:nvPr/>
        </p:nvSpPr>
        <p:spPr>
          <a:xfrm>
            <a:off x="263975" y="3600063"/>
            <a:ext cx="1434300" cy="49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90204"/>
              <a:buChar char="●"/>
              <a:defRPr sz="12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45720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solidFill>
                  <a:srgbClr val="B91C1C"/>
                </a:solidFill>
              </a:rPr>
              <a:t>~ 2018</a:t>
            </a:r>
            <a:endParaRPr sz="1400">
              <a:solidFill>
                <a:srgbClr val="B91C1C"/>
              </a:solidFill>
            </a:endParaRPr>
          </a:p>
        </p:txBody>
      </p:sp>
      <p:sp>
        <p:nvSpPr>
          <p:cNvPr id="345" name="Google Shape;345;p5"/>
          <p:cNvSpPr txBox="1"/>
          <p:nvPr/>
        </p:nvSpPr>
        <p:spPr>
          <a:xfrm>
            <a:off x="2207910" y="3573380"/>
            <a:ext cx="1434300" cy="49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90204"/>
              <a:buChar char="●"/>
              <a:defRPr sz="12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45720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solidFill>
                  <a:srgbClr val="B91C1C"/>
                </a:solidFill>
              </a:rPr>
              <a:t>~ 2023</a:t>
            </a:r>
            <a:endParaRPr sz="1400">
              <a:solidFill>
                <a:srgbClr val="B91C1C"/>
              </a:solidFill>
            </a:endParaRPr>
          </a:p>
        </p:txBody>
      </p:sp>
      <p:sp>
        <p:nvSpPr>
          <p:cNvPr id="346" name="Google Shape;346;p5"/>
          <p:cNvSpPr txBox="1"/>
          <p:nvPr/>
        </p:nvSpPr>
        <p:spPr>
          <a:xfrm>
            <a:off x="6324425" y="3602638"/>
            <a:ext cx="1434300" cy="49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90204"/>
              <a:buChar char="●"/>
              <a:defRPr sz="12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45720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solidFill>
                  <a:srgbClr val="B91C1C"/>
                </a:solidFill>
              </a:rPr>
              <a:t>~ 2025</a:t>
            </a:r>
            <a:endParaRPr sz="1400">
              <a:solidFill>
                <a:srgbClr val="B91C1C"/>
              </a:solidFill>
            </a:endParaRPr>
          </a:p>
        </p:txBody>
      </p:sp>
      <p:sp>
        <p:nvSpPr>
          <p:cNvPr id="347" name="Google Shape;347;p5"/>
          <p:cNvSpPr txBox="1"/>
          <p:nvPr/>
        </p:nvSpPr>
        <p:spPr>
          <a:xfrm>
            <a:off x="2207895" y="2198370"/>
            <a:ext cx="1621790" cy="95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90204"/>
              <a:buNone/>
            </a:pPr>
            <a:r>
              <a:rPr lang="en-GB"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Massive LLM</a:t>
            </a:r>
            <a:endParaRPr sz="1400" b="0" i="0" u="none" strike="noStrike" cap="none">
              <a:solidFill>
                <a:schemeClr val="dk2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45720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90204"/>
              <a:buNone/>
            </a:pPr>
            <a:r>
              <a:rPr lang="en-GB"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Distributed Training</a:t>
            </a:r>
            <a:endParaRPr sz="1400" b="0" i="0" u="none" strike="noStrike" cap="none">
              <a:solidFill>
                <a:schemeClr val="dk2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cxnSp>
        <p:nvCxnSpPr>
          <p:cNvPr id="348" name="Google Shape;348;p5"/>
          <p:cNvCxnSpPr/>
          <p:nvPr/>
        </p:nvCxnSpPr>
        <p:spPr>
          <a:xfrm>
            <a:off x="3901970" y="2683130"/>
            <a:ext cx="45466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49" name="Google Shape;349;p5"/>
          <p:cNvCxnSpPr/>
          <p:nvPr/>
        </p:nvCxnSpPr>
        <p:spPr>
          <a:xfrm>
            <a:off x="5869835" y="2658365"/>
            <a:ext cx="45466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50" name="Google Shape;350;p5"/>
          <p:cNvSpPr txBox="1"/>
          <p:nvPr/>
        </p:nvSpPr>
        <p:spPr>
          <a:xfrm>
            <a:off x="4032075" y="3574063"/>
            <a:ext cx="1434300" cy="4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90204"/>
              <a:buNone/>
            </a:pPr>
            <a:r>
              <a:rPr lang="en-GB" sz="1400" b="0" i="0" u="none" strike="noStrike" cap="none">
                <a:solidFill>
                  <a:srgbClr val="B91C1C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~ 2025</a:t>
            </a:r>
            <a:endParaRPr sz="1400" b="0" i="0" u="none" strike="noStrike" cap="none">
              <a:solidFill>
                <a:srgbClr val="B91C1C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339" name="Google Shape;339;p5"/>
          <p:cNvSpPr txBox="1"/>
          <p:nvPr/>
        </p:nvSpPr>
        <p:spPr>
          <a:xfrm>
            <a:off x="0" y="2187750"/>
            <a:ext cx="2135400" cy="95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90204"/>
              <a:buChar char="●"/>
              <a:defRPr sz="12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45720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/>
              <a:t>Batch training dominated cluster design</a:t>
            </a:r>
            <a:endParaRPr sz="1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" name="Google Shape;614;p67"/>
          <p:cNvSpPr>
            <a:spLocks noGrp="1"/>
          </p:cNvSpPr>
          <p:nvPr>
            <p:ph type="title"/>
          </p:nvPr>
        </p:nvSpPr>
        <p:spPr>
          <a:xfrm>
            <a:off x="311700" y="0"/>
            <a:ext cx="6949800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>Volcano Overview</a:t>
            </a:r>
          </a:p>
        </p:txBody>
      </p:sp>
      <p:sp>
        <p:nvSpPr>
          <p:cNvPr id="143" name="Google Shape;143;p4"/>
          <p:cNvSpPr/>
          <p:nvPr/>
        </p:nvSpPr>
        <p:spPr>
          <a:xfrm>
            <a:off x="7205679" y="1168650"/>
            <a:ext cx="1760100" cy="1115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DA3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5050" tIns="32550" rIns="65050" bIns="325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80"/>
              <a:buFont typeface="Arial" panose="020B0604020202090204"/>
              <a:buNone/>
            </a:pPr>
            <a:endParaRPr sz="1280" b="0" i="0" u="none" strike="noStrik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5443645" y="1168650"/>
            <a:ext cx="1666200" cy="11082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DA3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5050" tIns="32550" rIns="65050" bIns="325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80"/>
              <a:buFont typeface="Arial" panose="020B0604020202090204"/>
              <a:buNone/>
            </a:pPr>
            <a:endParaRPr sz="1280" b="0" i="0" u="none" strike="noStrik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45" name="Google Shape;145;p4"/>
          <p:cNvSpPr txBox="1"/>
          <p:nvPr/>
        </p:nvSpPr>
        <p:spPr>
          <a:xfrm>
            <a:off x="5443645" y="1168650"/>
            <a:ext cx="1704600" cy="8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5050" tIns="32550" rIns="65050" bIns="325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 panose="020B0604020202090204"/>
              <a:buNone/>
            </a:pPr>
            <a:r>
              <a:rPr lang="en-GB" sz="995" b="1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Unified Scheduling</a:t>
            </a:r>
            <a:endParaRPr sz="995" b="1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 panose="020B0604020202090204"/>
              <a:buNone/>
            </a:pPr>
            <a:endParaRPr sz="995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0"/>
              <a:buFont typeface="Arial" panose="020B0604020202090204"/>
              <a:buNone/>
            </a:pPr>
            <a:r>
              <a:rPr lang="en-GB" sz="78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Supports integrated job scheduling for both Kubernetes native workloads and mainstream computing frameworks (such as TensorFlow, Spark, PyTorch, Ray, Flink, etc.).</a:t>
            </a:r>
            <a:endParaRPr sz="78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46" name="Google Shape;146;p4"/>
          <p:cNvSpPr txBox="1"/>
          <p:nvPr/>
        </p:nvSpPr>
        <p:spPr>
          <a:xfrm>
            <a:off x="7300582" y="1168650"/>
            <a:ext cx="1560600" cy="8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5050" tIns="32550" rIns="65050" bIns="325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 panose="020B0604020202090204"/>
              <a:buNone/>
            </a:pPr>
            <a:r>
              <a:rPr lang="en-GB" sz="995" b="1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Queue Management</a:t>
            </a:r>
            <a:endParaRPr sz="995" b="1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 panose="020B0604020202090204"/>
              <a:buNone/>
            </a:pPr>
            <a:endParaRPr sz="995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0"/>
              <a:buFont typeface="Arial" panose="020B0604020202090204"/>
              <a:buNone/>
            </a:pPr>
            <a:r>
              <a:rPr lang="en-GB" sz="78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Provides multi-level queue management capabilities, enabling fine-grained resource quota control and task priority scheduling.</a:t>
            </a:r>
            <a:endParaRPr sz="78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5444097" y="2436745"/>
            <a:ext cx="1665900" cy="1172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DA3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5050" tIns="32550" rIns="65050" bIns="325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80"/>
              <a:buFont typeface="Arial" panose="020B0604020202090204"/>
              <a:buNone/>
            </a:pPr>
            <a:endParaRPr sz="1280" b="0" i="0" u="none" strike="noStrik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48" name="Google Shape;148;p4"/>
          <p:cNvSpPr txBox="1"/>
          <p:nvPr/>
        </p:nvSpPr>
        <p:spPr>
          <a:xfrm>
            <a:off x="5497423" y="2463409"/>
            <a:ext cx="1612500" cy="13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5050" tIns="32550" rIns="65050" bIns="325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5"/>
              <a:buFont typeface="Arial" panose="020B0604020202090204"/>
              <a:buNone/>
            </a:pPr>
            <a:r>
              <a:rPr lang="en-GB" sz="855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r>
              <a:rPr lang="en-GB" sz="995" b="1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Workloads Colocation</a:t>
            </a:r>
            <a:endParaRPr sz="995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 panose="020B0604020202090204"/>
              <a:buNone/>
            </a:pPr>
            <a:endParaRPr sz="995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0"/>
              <a:buFont typeface="Arial" panose="020B0604020202090204"/>
              <a:buNone/>
            </a:pPr>
            <a:r>
              <a:rPr lang="en-GB" sz="78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Enables online and offline workloads colocation, improving cluster resource utilization through intelligent scheduling strategies.</a:t>
            </a:r>
            <a:endParaRPr sz="78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7206131" y="2436745"/>
            <a:ext cx="1760100" cy="1172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DA3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5050" tIns="32550" rIns="65050" bIns="325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80"/>
              <a:buFont typeface="Arial" panose="020B0604020202090204"/>
              <a:buNone/>
            </a:pPr>
            <a:endParaRPr sz="1280" b="0" i="0" u="none" strike="noStrik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50" name="Google Shape;150;p4"/>
          <p:cNvSpPr txBox="1"/>
          <p:nvPr/>
        </p:nvSpPr>
        <p:spPr>
          <a:xfrm>
            <a:off x="7206131" y="2463409"/>
            <a:ext cx="1760100" cy="11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5050" tIns="32550" rIns="65050" bIns="325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 panose="020B0604020202090204"/>
              <a:buNone/>
            </a:pPr>
            <a:r>
              <a:rPr lang="en-GB" sz="995" b="1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Multi-cluster Scheduling</a:t>
            </a:r>
            <a:endParaRPr sz="995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 panose="020B0604020202090204"/>
              <a:buNone/>
            </a:pPr>
            <a:endParaRPr sz="995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0"/>
              <a:buFont typeface="Arial" panose="020B0604020202090204"/>
              <a:buNone/>
            </a:pPr>
            <a:r>
              <a:rPr lang="en-GB" sz="78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Supports cross cluster job scheduling, improving resource pool management capabilities and achieving large scale load balancing.</a:t>
            </a:r>
            <a:endParaRPr sz="78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5444097" y="3715235"/>
            <a:ext cx="1665900" cy="1305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DA3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5050" tIns="32550" rIns="65050" bIns="325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80"/>
              <a:buFont typeface="Arial" panose="020B0604020202090204"/>
              <a:buNone/>
            </a:pPr>
            <a:endParaRPr sz="1280" b="0" i="0" u="none" strike="noStrik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52" name="Google Shape;152;p4"/>
          <p:cNvSpPr txBox="1"/>
          <p:nvPr/>
        </p:nvSpPr>
        <p:spPr>
          <a:xfrm>
            <a:off x="5497423" y="3741899"/>
            <a:ext cx="1612500" cy="13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5050" tIns="32550" rIns="65050" bIns="325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 panose="020B0604020202090204"/>
              <a:buNone/>
            </a:pPr>
            <a:r>
              <a:rPr lang="en-GB" sz="995" b="1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Heterogeneous Device Support</a:t>
            </a:r>
            <a:endParaRPr sz="995" b="1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 panose="020B0604020202090204"/>
              <a:buNone/>
            </a:pPr>
            <a:endParaRPr sz="995" b="1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0"/>
              <a:buFont typeface="Arial" panose="020B0604020202090204"/>
              <a:buNone/>
            </a:pPr>
            <a:r>
              <a:rPr lang="en-GB" sz="78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Efficiently schedules heterogeneous devices like GPU and NPU, fully unleashing hardware computing potential.</a:t>
            </a:r>
            <a:endParaRPr sz="78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7206131" y="3715235"/>
            <a:ext cx="1760100" cy="1305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DA3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5050" tIns="32550" rIns="65050" bIns="325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80"/>
              <a:buFont typeface="Arial" panose="020B0604020202090204"/>
              <a:buNone/>
            </a:pPr>
            <a:endParaRPr sz="1280" b="0" i="0" u="none" strike="noStrik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54" name="Google Shape;154;p4"/>
          <p:cNvSpPr txBox="1"/>
          <p:nvPr/>
        </p:nvSpPr>
        <p:spPr>
          <a:xfrm>
            <a:off x="7206131" y="3741899"/>
            <a:ext cx="1760100" cy="11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5050" tIns="32550" rIns="65050" bIns="325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 panose="020B0604020202090204"/>
              <a:buNone/>
            </a:pPr>
            <a:r>
              <a:rPr lang="en-GB" sz="995" b="1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Multiple Scheduling Policies</a:t>
            </a:r>
            <a:endParaRPr sz="995" b="1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0"/>
              <a:buFont typeface="Arial" panose="020B0604020202090204"/>
              <a:buNone/>
            </a:pPr>
            <a:endParaRPr sz="78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0"/>
              <a:buFont typeface="Arial" panose="020B0604020202090204"/>
              <a:buNone/>
            </a:pPr>
            <a:r>
              <a:rPr lang="en-GB" sz="78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Supports various scheduling strategies such as Gang scheduling, Network Topology Aware Scheduling, Fair-Share, Binpack, DeviceShare, NUMA-aware scheduling, Task Topology, etc.</a:t>
            </a:r>
            <a:endParaRPr sz="78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grpSp>
        <p:nvGrpSpPr>
          <p:cNvPr id="155" name="Google Shape;155;p4"/>
          <p:cNvGrpSpPr/>
          <p:nvPr/>
        </p:nvGrpSpPr>
        <p:grpSpPr>
          <a:xfrm>
            <a:off x="119380" y="1254760"/>
            <a:ext cx="5223510" cy="3520440"/>
            <a:chOff x="5169823" y="658144"/>
            <a:chExt cx="7011790" cy="5672658"/>
          </a:xfrm>
        </p:grpSpPr>
        <p:sp>
          <p:nvSpPr>
            <p:cNvPr id="156" name="Google Shape;156;p4"/>
            <p:cNvSpPr/>
            <p:nvPr/>
          </p:nvSpPr>
          <p:spPr>
            <a:xfrm>
              <a:off x="5202515" y="4682162"/>
              <a:ext cx="3413379" cy="164864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800" b="0" i="0" u="none" strike="noStrik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157" name="Google Shape;157;p4"/>
            <p:cNvSpPr/>
            <p:nvPr/>
          </p:nvSpPr>
          <p:spPr>
            <a:xfrm>
              <a:off x="5337352" y="4740526"/>
              <a:ext cx="2978353" cy="1236066"/>
            </a:xfrm>
            <a:prstGeom prst="rect">
              <a:avLst/>
            </a:prstGeom>
            <a:solidFill>
              <a:srgbClr val="DEEBF7"/>
            </a:solidFill>
            <a:ln w="9525" cap="flat" cmpd="sng">
              <a:solidFill>
                <a:srgbClr val="ACCB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800" b="0" i="0" u="none" strike="noStrik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158" name="Google Shape;158;p4"/>
            <p:cNvSpPr/>
            <p:nvPr/>
          </p:nvSpPr>
          <p:spPr>
            <a:xfrm>
              <a:off x="5408298" y="4802871"/>
              <a:ext cx="2975737" cy="1234278"/>
            </a:xfrm>
            <a:prstGeom prst="rect">
              <a:avLst/>
            </a:prstGeom>
            <a:solidFill>
              <a:srgbClr val="DEEBF7"/>
            </a:solidFill>
            <a:ln w="9525" cap="flat" cmpd="sng">
              <a:solidFill>
                <a:srgbClr val="ACCB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800" b="0" i="0" u="none" strike="noStrik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159" name="Google Shape;159;p4"/>
            <p:cNvSpPr/>
            <p:nvPr/>
          </p:nvSpPr>
          <p:spPr>
            <a:xfrm>
              <a:off x="5495332" y="4877939"/>
              <a:ext cx="2981343" cy="1329784"/>
            </a:xfrm>
            <a:prstGeom prst="rect">
              <a:avLst/>
            </a:prstGeom>
            <a:solidFill>
              <a:srgbClr val="DEEBF7"/>
            </a:solidFill>
            <a:ln w="9525" cap="flat" cmpd="sng">
              <a:solidFill>
                <a:srgbClr val="ACCB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800" b="0" i="0" u="none" strike="noStrik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160" name="Google Shape;160;p4"/>
            <p:cNvSpPr/>
            <p:nvPr/>
          </p:nvSpPr>
          <p:spPr>
            <a:xfrm>
              <a:off x="5202515" y="3823575"/>
              <a:ext cx="3413379" cy="656726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800" b="0" i="0" u="none" strike="noStrik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pic>
          <p:nvPicPr>
            <p:cNvPr id="161" name="Google Shape;161;p4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>
              <a:off x="7041312" y="3917939"/>
              <a:ext cx="1361542" cy="22806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2" name="Google Shape;162;p4" descr="Kubernetes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5466730" y="3889508"/>
              <a:ext cx="1361542" cy="294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3" name="Google Shape;163;p4"/>
            <p:cNvSpPr/>
            <p:nvPr/>
          </p:nvSpPr>
          <p:spPr>
            <a:xfrm>
              <a:off x="8768234" y="3823574"/>
              <a:ext cx="3413379" cy="668581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800" b="0" i="0" u="none" strike="noStrik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pic>
          <p:nvPicPr>
            <p:cNvPr id="164" name="Google Shape;164;p4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>
              <a:off x="10607031" y="3936016"/>
              <a:ext cx="1361542" cy="22806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5" name="Google Shape;165;p4" descr="Kubernetes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9032449" y="3906512"/>
              <a:ext cx="1361542" cy="294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6" name="Google Shape;166;p4"/>
            <p:cNvSpPr/>
            <p:nvPr/>
          </p:nvSpPr>
          <p:spPr>
            <a:xfrm>
              <a:off x="5181856" y="2337905"/>
              <a:ext cx="6979098" cy="130394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800" b="0" i="0" u="none" strike="noStrik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pic>
          <p:nvPicPr>
            <p:cNvPr id="167" name="Google Shape;167;p4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7238524" y="2512245"/>
              <a:ext cx="499589" cy="4995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8" name="Google Shape;168;p4"/>
            <p:cNvPicPr preferRelativeResize="0"/>
            <p:nvPr/>
          </p:nvPicPr>
          <p:blipFill rotWithShape="1">
            <a:blip r:embed="rId4"/>
            <a:srcRect/>
            <a:stretch>
              <a:fillRect/>
            </a:stretch>
          </p:blipFill>
          <p:spPr>
            <a:xfrm>
              <a:off x="7881831" y="2500453"/>
              <a:ext cx="499589" cy="4995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9" name="Google Shape;169;p4"/>
            <p:cNvPicPr preferRelativeResize="0"/>
            <p:nvPr/>
          </p:nvPicPr>
          <p:blipFill rotWithShape="1">
            <a:blip r:embed="rId5"/>
            <a:srcRect/>
            <a:stretch>
              <a:fillRect/>
            </a:stretch>
          </p:blipFill>
          <p:spPr>
            <a:xfrm>
              <a:off x="8083921" y="3054560"/>
              <a:ext cx="499589" cy="4995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0" name="Google Shape;170;p4"/>
            <p:cNvPicPr preferRelativeResize="0"/>
            <p:nvPr/>
          </p:nvPicPr>
          <p:blipFill rotWithShape="1">
            <a:blip r:embed="rId6"/>
            <a:srcRect/>
            <a:stretch>
              <a:fillRect/>
            </a:stretch>
          </p:blipFill>
          <p:spPr>
            <a:xfrm>
              <a:off x="5979350" y="2523801"/>
              <a:ext cx="499589" cy="4995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1" name="Google Shape;171;p4"/>
            <p:cNvPicPr preferRelativeResize="0"/>
            <p:nvPr/>
          </p:nvPicPr>
          <p:blipFill rotWithShape="1">
            <a:blip r:embed="rId7"/>
            <a:srcRect l="-8510" t="1" r="-1" b="-8511"/>
            <a:stretch>
              <a:fillRect/>
            </a:stretch>
          </p:blipFill>
          <p:spPr>
            <a:xfrm>
              <a:off x="5357794" y="2546251"/>
              <a:ext cx="499589" cy="4995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2" name="Google Shape;172;p4"/>
            <p:cNvPicPr preferRelativeResize="0"/>
            <p:nvPr/>
          </p:nvPicPr>
          <p:blipFill rotWithShape="1">
            <a:blip r:embed="rId8"/>
            <a:srcRect/>
            <a:stretch>
              <a:fillRect/>
            </a:stretch>
          </p:blipFill>
          <p:spPr>
            <a:xfrm>
              <a:off x="6628170" y="2518625"/>
              <a:ext cx="499589" cy="4995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3" name="Google Shape;173;p4"/>
            <p:cNvPicPr preferRelativeResize="0"/>
            <p:nvPr/>
          </p:nvPicPr>
          <p:blipFill rotWithShape="1">
            <a:blip r:embed="rId9"/>
            <a:srcRect l="-4064" t="-4063" r="-4064" b="-4063"/>
            <a:stretch>
              <a:fillRect/>
            </a:stretch>
          </p:blipFill>
          <p:spPr>
            <a:xfrm>
              <a:off x="5373746" y="3018217"/>
              <a:ext cx="499589" cy="4995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4" name="Google Shape;174;p4"/>
            <p:cNvPicPr preferRelativeResize="0"/>
            <p:nvPr/>
          </p:nvPicPr>
          <p:blipFill rotWithShape="1">
            <a:blip r:embed="rId10"/>
            <a:srcRect/>
            <a:stretch>
              <a:fillRect/>
            </a:stretch>
          </p:blipFill>
          <p:spPr>
            <a:xfrm>
              <a:off x="5873335" y="3018219"/>
              <a:ext cx="499589" cy="499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5" name="Google Shape;175;p4"/>
            <p:cNvPicPr preferRelativeResize="0"/>
            <p:nvPr/>
          </p:nvPicPr>
          <p:blipFill rotWithShape="1">
            <a:blip r:embed="rId11"/>
            <a:srcRect/>
            <a:stretch>
              <a:fillRect/>
            </a:stretch>
          </p:blipFill>
          <p:spPr>
            <a:xfrm>
              <a:off x="6372924" y="3018219"/>
              <a:ext cx="499589" cy="499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6" name="Google Shape;176;p4"/>
            <p:cNvPicPr preferRelativeResize="0"/>
            <p:nvPr/>
          </p:nvPicPr>
          <p:blipFill rotWithShape="1">
            <a:blip r:embed="rId12"/>
            <a:srcRect/>
            <a:stretch>
              <a:fillRect/>
            </a:stretch>
          </p:blipFill>
          <p:spPr>
            <a:xfrm>
              <a:off x="8674931" y="3014467"/>
              <a:ext cx="499589" cy="4995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7" name="Google Shape;177;p4"/>
            <p:cNvPicPr preferRelativeResize="0"/>
            <p:nvPr/>
          </p:nvPicPr>
          <p:blipFill rotWithShape="1">
            <a:blip r:embed="rId13"/>
            <a:srcRect l="-4064" t="-4063" r="-4064" b="-4063"/>
            <a:stretch>
              <a:fillRect/>
            </a:stretch>
          </p:blipFill>
          <p:spPr>
            <a:xfrm>
              <a:off x="6892854" y="3020849"/>
              <a:ext cx="499589" cy="499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8" name="Google Shape;178;p4" descr="Ray - RISE Lab"/>
            <p:cNvPicPr preferRelativeResize="0"/>
            <p:nvPr/>
          </p:nvPicPr>
          <p:blipFill rotWithShape="1">
            <a:blip r:embed="rId14"/>
            <a:srcRect/>
            <a:stretch>
              <a:fillRect/>
            </a:stretch>
          </p:blipFill>
          <p:spPr>
            <a:xfrm>
              <a:off x="8441202" y="2569329"/>
              <a:ext cx="847979" cy="4242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9" name="Google Shape;179;p4" descr="TensorFlow - Wikipedia"/>
            <p:cNvPicPr preferRelativeResize="0"/>
            <p:nvPr/>
          </p:nvPicPr>
          <p:blipFill rotWithShape="1">
            <a:blip r:embed="rId15"/>
            <a:srcRect/>
            <a:stretch>
              <a:fillRect/>
            </a:stretch>
          </p:blipFill>
          <p:spPr>
            <a:xfrm>
              <a:off x="7327487" y="3024597"/>
              <a:ext cx="774750" cy="4958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0" name="Google Shape;180;p4"/>
            <p:cNvSpPr/>
            <p:nvPr/>
          </p:nvSpPr>
          <p:spPr>
            <a:xfrm>
              <a:off x="5314470" y="2500454"/>
              <a:ext cx="4577886" cy="1027127"/>
            </a:xfrm>
            <a:prstGeom prst="rect">
              <a:avLst/>
            </a:prstGeom>
            <a:noFill/>
            <a:ln w="12700" cap="flat" cmpd="sng">
              <a:solidFill>
                <a:srgbClr val="595959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800" b="0" i="0" u="none" strike="noStrik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181" name="Google Shape;181;p4"/>
            <p:cNvSpPr/>
            <p:nvPr/>
          </p:nvSpPr>
          <p:spPr>
            <a:xfrm>
              <a:off x="10042353" y="2596422"/>
              <a:ext cx="224787" cy="250597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800" b="0" i="0" u="none" strike="noStrik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grpSp>
          <p:nvGrpSpPr>
            <p:cNvPr id="182" name="Google Shape;182;p4"/>
            <p:cNvGrpSpPr/>
            <p:nvPr/>
          </p:nvGrpSpPr>
          <p:grpSpPr>
            <a:xfrm>
              <a:off x="5336881" y="1017462"/>
              <a:ext cx="382498" cy="344821"/>
              <a:chOff x="1470198" y="1397770"/>
              <a:chExt cx="382647" cy="344956"/>
            </a:xfrm>
          </p:grpSpPr>
          <p:sp>
            <p:nvSpPr>
              <p:cNvPr id="183" name="Google Shape;183;p4"/>
              <p:cNvSpPr/>
              <p:nvPr/>
            </p:nvSpPr>
            <p:spPr>
              <a:xfrm>
                <a:off x="1477011" y="1410632"/>
                <a:ext cx="324000" cy="324000"/>
              </a:xfrm>
              <a:prstGeom prst="ellipse">
                <a:avLst/>
              </a:prstGeom>
              <a:solidFill>
                <a:srgbClr val="CF5D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 i="0" u="none" strike="noStrike" cap="none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184" name="Google Shape;184;p4"/>
              <p:cNvSpPr/>
              <p:nvPr/>
            </p:nvSpPr>
            <p:spPr>
              <a:xfrm rot="5400000">
                <a:off x="1550061" y="1477308"/>
                <a:ext cx="180000" cy="1800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222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 i="0" u="none" strike="noStrike" cap="none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185" name="Google Shape;185;p4"/>
              <p:cNvSpPr txBox="1"/>
              <p:nvPr/>
            </p:nvSpPr>
            <p:spPr>
              <a:xfrm>
                <a:off x="1470198" y="1397770"/>
                <a:ext cx="382647" cy="3449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just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 b="0" i="0" u="none" strike="noStrike" cap="none">
                    <a:solidFill>
                      <a:srgbClr val="FFFFFF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AI</a:t>
                </a:r>
                <a:endParaRPr sz="800" b="0" i="0" u="none" strike="noStrike" cap="none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</p:grpSp>
        <p:grpSp>
          <p:nvGrpSpPr>
            <p:cNvPr id="186" name="Google Shape;186;p4"/>
            <p:cNvGrpSpPr/>
            <p:nvPr/>
          </p:nvGrpSpPr>
          <p:grpSpPr>
            <a:xfrm>
              <a:off x="6540179" y="1008833"/>
              <a:ext cx="382784" cy="344821"/>
              <a:chOff x="2587157" y="1068621"/>
              <a:chExt cx="382934" cy="344956"/>
            </a:xfrm>
          </p:grpSpPr>
          <p:sp>
            <p:nvSpPr>
              <p:cNvPr id="187" name="Google Shape;187;p4"/>
              <p:cNvSpPr/>
              <p:nvPr/>
            </p:nvSpPr>
            <p:spPr>
              <a:xfrm>
                <a:off x="2587157" y="1084958"/>
                <a:ext cx="324000" cy="324000"/>
              </a:xfrm>
              <a:prstGeom prst="ellipse">
                <a:avLst/>
              </a:prstGeom>
              <a:solidFill>
                <a:srgbClr val="FF70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 i="0" u="none" strike="noStrike" cap="none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188" name="Google Shape;188;p4"/>
              <p:cNvSpPr/>
              <p:nvPr/>
            </p:nvSpPr>
            <p:spPr>
              <a:xfrm rot="5400000">
                <a:off x="2660207" y="1151634"/>
                <a:ext cx="180000" cy="1800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222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 i="0" u="none" strike="noStrike" cap="none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189" name="Google Shape;189;p4"/>
              <p:cNvSpPr txBox="1"/>
              <p:nvPr/>
            </p:nvSpPr>
            <p:spPr>
              <a:xfrm>
                <a:off x="2587444" y="1068621"/>
                <a:ext cx="382647" cy="3449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just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 b="0" i="0" u="none" strike="noStrike" cap="none">
                    <a:solidFill>
                      <a:srgbClr val="FFFFFF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B</a:t>
                </a:r>
                <a:endParaRPr sz="800" b="0" i="0" u="none" strike="noStrike" cap="none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</p:grpSp>
        <p:grpSp>
          <p:nvGrpSpPr>
            <p:cNvPr id="190" name="Google Shape;190;p4"/>
            <p:cNvGrpSpPr/>
            <p:nvPr/>
          </p:nvGrpSpPr>
          <p:grpSpPr>
            <a:xfrm>
              <a:off x="8929083" y="1025164"/>
              <a:ext cx="386165" cy="346160"/>
              <a:chOff x="3659199" y="732848"/>
              <a:chExt cx="386316" cy="346296"/>
            </a:xfrm>
          </p:grpSpPr>
          <p:sp>
            <p:nvSpPr>
              <p:cNvPr id="191" name="Google Shape;191;p4"/>
              <p:cNvSpPr/>
              <p:nvPr/>
            </p:nvSpPr>
            <p:spPr>
              <a:xfrm>
                <a:off x="3659199" y="732848"/>
                <a:ext cx="324000" cy="324000"/>
              </a:xfrm>
              <a:prstGeom prst="ellipse">
                <a:avLst/>
              </a:prstGeom>
              <a:solidFill>
                <a:srgbClr val="23447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 i="0" u="none" strike="noStrike" cap="none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192" name="Google Shape;192;p4"/>
              <p:cNvSpPr/>
              <p:nvPr/>
            </p:nvSpPr>
            <p:spPr>
              <a:xfrm rot="5400000">
                <a:off x="3732249" y="799524"/>
                <a:ext cx="180000" cy="1800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222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 i="0" u="none" strike="noStrike" cap="none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193" name="Google Shape;193;p4"/>
              <p:cNvSpPr txBox="1"/>
              <p:nvPr/>
            </p:nvSpPr>
            <p:spPr>
              <a:xfrm>
                <a:off x="3662868" y="734188"/>
                <a:ext cx="382647" cy="3449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just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 b="0" i="0" u="none" strike="noStrike" cap="none">
                    <a:solidFill>
                      <a:srgbClr val="FFFFFF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T</a:t>
                </a:r>
                <a:endParaRPr sz="800" b="0" i="0" u="none" strike="noStrike" cap="none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</p:grpSp>
        <p:grpSp>
          <p:nvGrpSpPr>
            <p:cNvPr id="194" name="Google Shape;194;p4"/>
            <p:cNvGrpSpPr/>
            <p:nvPr/>
          </p:nvGrpSpPr>
          <p:grpSpPr>
            <a:xfrm>
              <a:off x="10643650" y="1023148"/>
              <a:ext cx="382929" cy="325851"/>
              <a:chOff x="4615274" y="681724"/>
              <a:chExt cx="383079" cy="325979"/>
            </a:xfrm>
          </p:grpSpPr>
          <p:sp>
            <p:nvSpPr>
              <p:cNvPr id="195" name="Google Shape;195;p4"/>
              <p:cNvSpPr/>
              <p:nvPr/>
            </p:nvSpPr>
            <p:spPr>
              <a:xfrm>
                <a:off x="4615274" y="683703"/>
                <a:ext cx="324000" cy="324000"/>
              </a:xfrm>
              <a:prstGeom prst="ellipse">
                <a:avLst/>
              </a:prstGeom>
              <a:solidFill>
                <a:srgbClr val="7030A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 i="0" u="none" strike="noStrike" cap="none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196" name="Google Shape;196;p4"/>
              <p:cNvSpPr/>
              <p:nvPr/>
            </p:nvSpPr>
            <p:spPr>
              <a:xfrm rot="5400000">
                <a:off x="4688324" y="750379"/>
                <a:ext cx="180000" cy="1800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222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 i="0" u="none" strike="noStrike" cap="none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197" name="Google Shape;197;p4"/>
              <p:cNvSpPr txBox="1"/>
              <p:nvPr/>
            </p:nvSpPr>
            <p:spPr>
              <a:xfrm>
                <a:off x="4616078" y="681724"/>
                <a:ext cx="382275" cy="32444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just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 b="0" i="0" u="none" strike="noStrike" cap="none">
                    <a:solidFill>
                      <a:srgbClr val="FFFFFF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M</a:t>
                </a:r>
                <a:endParaRPr sz="800" b="0" i="0" u="none" strike="noStrike" cap="none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</p:grpSp>
        <p:grpSp>
          <p:nvGrpSpPr>
            <p:cNvPr id="198" name="Google Shape;198;p4"/>
            <p:cNvGrpSpPr/>
            <p:nvPr/>
          </p:nvGrpSpPr>
          <p:grpSpPr>
            <a:xfrm>
              <a:off x="5692405" y="1017113"/>
              <a:ext cx="382498" cy="344821"/>
              <a:chOff x="1467783" y="1393813"/>
              <a:chExt cx="382647" cy="344956"/>
            </a:xfrm>
          </p:grpSpPr>
          <p:sp>
            <p:nvSpPr>
              <p:cNvPr id="199" name="Google Shape;199;p4"/>
              <p:cNvSpPr/>
              <p:nvPr/>
            </p:nvSpPr>
            <p:spPr>
              <a:xfrm>
                <a:off x="1477011" y="1410632"/>
                <a:ext cx="324000" cy="324000"/>
              </a:xfrm>
              <a:prstGeom prst="ellipse">
                <a:avLst/>
              </a:prstGeom>
              <a:solidFill>
                <a:srgbClr val="CF5D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 i="0" u="none" strike="noStrike" cap="none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200" name="Google Shape;200;p4"/>
              <p:cNvSpPr/>
              <p:nvPr/>
            </p:nvSpPr>
            <p:spPr>
              <a:xfrm rot="5400000">
                <a:off x="1550061" y="1477308"/>
                <a:ext cx="180000" cy="1800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222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 i="0" u="none" strike="noStrike" cap="none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201" name="Google Shape;201;p4"/>
              <p:cNvSpPr txBox="1"/>
              <p:nvPr/>
            </p:nvSpPr>
            <p:spPr>
              <a:xfrm>
                <a:off x="1467783" y="1393813"/>
                <a:ext cx="382647" cy="3449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just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 b="0" i="0" u="none" strike="noStrike" cap="none">
                    <a:solidFill>
                      <a:srgbClr val="FFFFFF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AI</a:t>
                </a:r>
                <a:endParaRPr sz="800" b="0" i="0" u="none" strike="noStrike" cap="none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</p:grpSp>
        <p:grpSp>
          <p:nvGrpSpPr>
            <p:cNvPr id="202" name="Google Shape;202;p4"/>
            <p:cNvGrpSpPr/>
            <p:nvPr/>
          </p:nvGrpSpPr>
          <p:grpSpPr>
            <a:xfrm>
              <a:off x="6057553" y="1017462"/>
              <a:ext cx="382498" cy="344821"/>
              <a:chOff x="1459736" y="1397770"/>
              <a:chExt cx="382647" cy="344956"/>
            </a:xfrm>
          </p:grpSpPr>
          <p:sp>
            <p:nvSpPr>
              <p:cNvPr id="203" name="Google Shape;203;p4"/>
              <p:cNvSpPr/>
              <p:nvPr/>
            </p:nvSpPr>
            <p:spPr>
              <a:xfrm>
                <a:off x="1477011" y="1410632"/>
                <a:ext cx="324000" cy="324000"/>
              </a:xfrm>
              <a:prstGeom prst="ellipse">
                <a:avLst/>
              </a:prstGeom>
              <a:solidFill>
                <a:srgbClr val="CF5D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 i="0" u="none" strike="noStrike" cap="none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204" name="Google Shape;204;p4"/>
              <p:cNvSpPr/>
              <p:nvPr/>
            </p:nvSpPr>
            <p:spPr>
              <a:xfrm rot="5400000">
                <a:off x="1550061" y="1477308"/>
                <a:ext cx="180000" cy="1800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222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 i="0" u="none" strike="noStrike" cap="none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205" name="Google Shape;205;p4"/>
              <p:cNvSpPr txBox="1"/>
              <p:nvPr/>
            </p:nvSpPr>
            <p:spPr>
              <a:xfrm>
                <a:off x="1459736" y="1397770"/>
                <a:ext cx="382647" cy="3449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just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 b="0" i="0" u="none" strike="noStrike" cap="none">
                    <a:solidFill>
                      <a:srgbClr val="FFFFFF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AI</a:t>
                </a:r>
                <a:endParaRPr sz="800" b="0" i="0" u="none" strike="noStrike" cap="none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</p:grpSp>
        <p:grpSp>
          <p:nvGrpSpPr>
            <p:cNvPr id="206" name="Google Shape;206;p4"/>
            <p:cNvGrpSpPr/>
            <p:nvPr/>
          </p:nvGrpSpPr>
          <p:grpSpPr>
            <a:xfrm>
              <a:off x="6908790" y="1008795"/>
              <a:ext cx="382784" cy="344821"/>
              <a:chOff x="2587157" y="1068621"/>
              <a:chExt cx="382934" cy="344956"/>
            </a:xfrm>
          </p:grpSpPr>
          <p:sp>
            <p:nvSpPr>
              <p:cNvPr id="207" name="Google Shape;207;p4"/>
              <p:cNvSpPr/>
              <p:nvPr/>
            </p:nvSpPr>
            <p:spPr>
              <a:xfrm>
                <a:off x="2587157" y="1084958"/>
                <a:ext cx="324000" cy="324000"/>
              </a:xfrm>
              <a:prstGeom prst="ellipse">
                <a:avLst/>
              </a:prstGeom>
              <a:solidFill>
                <a:srgbClr val="FF70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 i="0" u="none" strike="noStrike" cap="none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208" name="Google Shape;208;p4"/>
              <p:cNvSpPr/>
              <p:nvPr/>
            </p:nvSpPr>
            <p:spPr>
              <a:xfrm rot="5400000">
                <a:off x="2660207" y="1151634"/>
                <a:ext cx="180000" cy="1800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222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 i="0" u="none" strike="noStrike" cap="none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209" name="Google Shape;209;p4"/>
              <p:cNvSpPr txBox="1"/>
              <p:nvPr/>
            </p:nvSpPr>
            <p:spPr>
              <a:xfrm>
                <a:off x="2587444" y="1068621"/>
                <a:ext cx="382647" cy="3449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just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 b="0" i="0" u="none" strike="noStrike" cap="none">
                    <a:solidFill>
                      <a:srgbClr val="FFFFFF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B</a:t>
                </a:r>
                <a:endParaRPr sz="800" b="0" i="0" u="none" strike="noStrike" cap="none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</p:grpSp>
        <p:grpSp>
          <p:nvGrpSpPr>
            <p:cNvPr id="210" name="Google Shape;210;p4"/>
            <p:cNvGrpSpPr/>
            <p:nvPr/>
          </p:nvGrpSpPr>
          <p:grpSpPr>
            <a:xfrm>
              <a:off x="7270379" y="1008833"/>
              <a:ext cx="382784" cy="344821"/>
              <a:chOff x="2587157" y="1068621"/>
              <a:chExt cx="382934" cy="344956"/>
            </a:xfrm>
          </p:grpSpPr>
          <p:sp>
            <p:nvSpPr>
              <p:cNvPr id="211" name="Google Shape;211;p4"/>
              <p:cNvSpPr/>
              <p:nvPr/>
            </p:nvSpPr>
            <p:spPr>
              <a:xfrm>
                <a:off x="2587157" y="1084958"/>
                <a:ext cx="324000" cy="324000"/>
              </a:xfrm>
              <a:prstGeom prst="ellipse">
                <a:avLst/>
              </a:prstGeom>
              <a:solidFill>
                <a:srgbClr val="FF70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 i="0" u="none" strike="noStrike" cap="none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212" name="Google Shape;212;p4"/>
              <p:cNvSpPr/>
              <p:nvPr/>
            </p:nvSpPr>
            <p:spPr>
              <a:xfrm rot="5400000">
                <a:off x="2660207" y="1151634"/>
                <a:ext cx="180000" cy="1800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222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 i="0" u="none" strike="noStrike" cap="none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213" name="Google Shape;213;p4"/>
              <p:cNvSpPr txBox="1"/>
              <p:nvPr/>
            </p:nvSpPr>
            <p:spPr>
              <a:xfrm>
                <a:off x="2587444" y="1068621"/>
                <a:ext cx="382647" cy="3449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just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 b="0" i="0" u="none" strike="noStrike" cap="none">
                    <a:solidFill>
                      <a:srgbClr val="FFFFFF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B</a:t>
                </a:r>
                <a:endParaRPr sz="800" b="0" i="0" u="none" strike="noStrike" cap="none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</p:grpSp>
        <p:grpSp>
          <p:nvGrpSpPr>
            <p:cNvPr id="214" name="Google Shape;214;p4"/>
            <p:cNvGrpSpPr/>
            <p:nvPr/>
          </p:nvGrpSpPr>
          <p:grpSpPr>
            <a:xfrm>
              <a:off x="9304156" y="1025164"/>
              <a:ext cx="386165" cy="346160"/>
              <a:chOff x="3659199" y="732848"/>
              <a:chExt cx="386316" cy="346296"/>
            </a:xfrm>
          </p:grpSpPr>
          <p:sp>
            <p:nvSpPr>
              <p:cNvPr id="215" name="Google Shape;215;p4"/>
              <p:cNvSpPr/>
              <p:nvPr/>
            </p:nvSpPr>
            <p:spPr>
              <a:xfrm>
                <a:off x="3659199" y="732848"/>
                <a:ext cx="324000" cy="324000"/>
              </a:xfrm>
              <a:prstGeom prst="ellipse">
                <a:avLst/>
              </a:prstGeom>
              <a:solidFill>
                <a:srgbClr val="23447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 i="0" u="none" strike="noStrike" cap="none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216" name="Google Shape;216;p4"/>
              <p:cNvSpPr/>
              <p:nvPr/>
            </p:nvSpPr>
            <p:spPr>
              <a:xfrm rot="5400000">
                <a:off x="3732249" y="799524"/>
                <a:ext cx="180000" cy="1800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222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 i="0" u="none" strike="noStrike" cap="none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217" name="Google Shape;217;p4"/>
              <p:cNvSpPr txBox="1"/>
              <p:nvPr/>
            </p:nvSpPr>
            <p:spPr>
              <a:xfrm>
                <a:off x="3662868" y="734188"/>
                <a:ext cx="382647" cy="3449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just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 b="0" i="0" u="none" strike="noStrike" cap="none">
                    <a:solidFill>
                      <a:srgbClr val="FFFFFF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T</a:t>
                </a:r>
                <a:endParaRPr sz="800" b="0" i="0" u="none" strike="noStrike" cap="none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</p:grpSp>
        <p:grpSp>
          <p:nvGrpSpPr>
            <p:cNvPr id="218" name="Google Shape;218;p4"/>
            <p:cNvGrpSpPr/>
            <p:nvPr/>
          </p:nvGrpSpPr>
          <p:grpSpPr>
            <a:xfrm>
              <a:off x="9670312" y="1025126"/>
              <a:ext cx="386165" cy="346160"/>
              <a:chOff x="3659199" y="732848"/>
              <a:chExt cx="386316" cy="346296"/>
            </a:xfrm>
          </p:grpSpPr>
          <p:sp>
            <p:nvSpPr>
              <p:cNvPr id="219" name="Google Shape;219;p4"/>
              <p:cNvSpPr/>
              <p:nvPr/>
            </p:nvSpPr>
            <p:spPr>
              <a:xfrm>
                <a:off x="3659199" y="732848"/>
                <a:ext cx="324000" cy="324000"/>
              </a:xfrm>
              <a:prstGeom prst="ellipse">
                <a:avLst/>
              </a:prstGeom>
              <a:solidFill>
                <a:srgbClr val="23447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 i="0" u="none" strike="noStrike" cap="none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220" name="Google Shape;220;p4"/>
              <p:cNvSpPr/>
              <p:nvPr/>
            </p:nvSpPr>
            <p:spPr>
              <a:xfrm rot="5400000">
                <a:off x="3732249" y="799524"/>
                <a:ext cx="180000" cy="1800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222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 i="0" u="none" strike="noStrike" cap="none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221" name="Google Shape;221;p4"/>
              <p:cNvSpPr txBox="1"/>
              <p:nvPr/>
            </p:nvSpPr>
            <p:spPr>
              <a:xfrm>
                <a:off x="3662868" y="734188"/>
                <a:ext cx="382647" cy="3449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just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 b="0" i="0" u="none" strike="noStrike" cap="none">
                    <a:solidFill>
                      <a:srgbClr val="FFFFFF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T</a:t>
                </a:r>
                <a:endParaRPr sz="800" b="0" i="0" u="none" strike="noStrike" cap="none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</p:grpSp>
        <p:grpSp>
          <p:nvGrpSpPr>
            <p:cNvPr id="222" name="Google Shape;222;p4"/>
            <p:cNvGrpSpPr/>
            <p:nvPr/>
          </p:nvGrpSpPr>
          <p:grpSpPr>
            <a:xfrm>
              <a:off x="10995969" y="1024323"/>
              <a:ext cx="382929" cy="325851"/>
              <a:chOff x="4615274" y="681724"/>
              <a:chExt cx="383079" cy="325979"/>
            </a:xfrm>
          </p:grpSpPr>
          <p:sp>
            <p:nvSpPr>
              <p:cNvPr id="223" name="Google Shape;223;p4"/>
              <p:cNvSpPr/>
              <p:nvPr/>
            </p:nvSpPr>
            <p:spPr>
              <a:xfrm>
                <a:off x="4615274" y="683703"/>
                <a:ext cx="324000" cy="324000"/>
              </a:xfrm>
              <a:prstGeom prst="ellipse">
                <a:avLst/>
              </a:prstGeom>
              <a:solidFill>
                <a:srgbClr val="7030A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 i="0" u="none" strike="noStrike" cap="none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224" name="Google Shape;224;p4"/>
              <p:cNvSpPr/>
              <p:nvPr/>
            </p:nvSpPr>
            <p:spPr>
              <a:xfrm rot="5400000">
                <a:off x="4688324" y="750379"/>
                <a:ext cx="180000" cy="1800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222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 i="0" u="none" strike="noStrike" cap="none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225" name="Google Shape;225;p4"/>
              <p:cNvSpPr txBox="1"/>
              <p:nvPr/>
            </p:nvSpPr>
            <p:spPr>
              <a:xfrm>
                <a:off x="4616078" y="681724"/>
                <a:ext cx="382275" cy="32444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just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 b="0" i="0" u="none" strike="noStrike" cap="none">
                    <a:solidFill>
                      <a:srgbClr val="FFFFFF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M</a:t>
                </a:r>
                <a:endParaRPr sz="800" b="0" i="0" u="none" strike="noStrike" cap="none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</p:grpSp>
        <p:grpSp>
          <p:nvGrpSpPr>
            <p:cNvPr id="226" name="Google Shape;226;p4"/>
            <p:cNvGrpSpPr/>
            <p:nvPr/>
          </p:nvGrpSpPr>
          <p:grpSpPr>
            <a:xfrm>
              <a:off x="11348287" y="1016957"/>
              <a:ext cx="382929" cy="325851"/>
              <a:chOff x="4615274" y="681724"/>
              <a:chExt cx="383079" cy="325979"/>
            </a:xfrm>
          </p:grpSpPr>
          <p:sp>
            <p:nvSpPr>
              <p:cNvPr id="227" name="Google Shape;227;p4"/>
              <p:cNvSpPr/>
              <p:nvPr/>
            </p:nvSpPr>
            <p:spPr>
              <a:xfrm>
                <a:off x="4615274" y="683703"/>
                <a:ext cx="324000" cy="324000"/>
              </a:xfrm>
              <a:prstGeom prst="ellipse">
                <a:avLst/>
              </a:prstGeom>
              <a:solidFill>
                <a:srgbClr val="7030A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 i="0" u="none" strike="noStrike" cap="none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228" name="Google Shape;228;p4"/>
              <p:cNvSpPr/>
              <p:nvPr/>
            </p:nvSpPr>
            <p:spPr>
              <a:xfrm rot="5400000">
                <a:off x="4688324" y="750379"/>
                <a:ext cx="180000" cy="1800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222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 i="0" u="none" strike="noStrike" cap="none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229" name="Google Shape;229;p4"/>
              <p:cNvSpPr txBox="1"/>
              <p:nvPr/>
            </p:nvSpPr>
            <p:spPr>
              <a:xfrm>
                <a:off x="4616078" y="681724"/>
                <a:ext cx="382275" cy="32444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just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 b="0" i="0" u="none" strike="noStrike" cap="none">
                    <a:solidFill>
                      <a:srgbClr val="FFFFFF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M</a:t>
                </a:r>
                <a:endParaRPr sz="800" b="0" i="0" u="none" strike="noStrike" cap="none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</p:grpSp>
        <p:sp>
          <p:nvSpPr>
            <p:cNvPr id="230" name="Google Shape;230;p4"/>
            <p:cNvSpPr/>
            <p:nvPr/>
          </p:nvSpPr>
          <p:spPr>
            <a:xfrm>
              <a:off x="5299588" y="967988"/>
              <a:ext cx="1142622" cy="438267"/>
            </a:xfrm>
            <a:prstGeom prst="rect">
              <a:avLst/>
            </a:prstGeom>
            <a:noFill/>
            <a:ln w="12700" cap="flat" cmpd="sng">
              <a:solidFill>
                <a:srgbClr val="595959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800" b="0" i="0" u="none" strike="noStrik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231" name="Google Shape;231;p4"/>
            <p:cNvSpPr txBox="1"/>
            <p:nvPr/>
          </p:nvSpPr>
          <p:spPr>
            <a:xfrm>
              <a:off x="5466388" y="678293"/>
              <a:ext cx="859806" cy="3448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AI</a:t>
              </a:r>
              <a:endParaRPr sz="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232" name="Google Shape;232;p4"/>
            <p:cNvSpPr txBox="1"/>
            <p:nvPr/>
          </p:nvSpPr>
          <p:spPr>
            <a:xfrm>
              <a:off x="6532921" y="686564"/>
              <a:ext cx="1167400" cy="3448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Big Data</a:t>
              </a:r>
              <a:endParaRPr sz="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233" name="Google Shape;233;p4"/>
            <p:cNvSpPr txBox="1"/>
            <p:nvPr/>
          </p:nvSpPr>
          <p:spPr>
            <a:xfrm>
              <a:off x="8809209" y="686358"/>
              <a:ext cx="1284324" cy="3448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Transcoding</a:t>
              </a:r>
              <a:endParaRPr sz="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234" name="Google Shape;234;p4"/>
            <p:cNvSpPr txBox="1"/>
            <p:nvPr/>
          </p:nvSpPr>
          <p:spPr>
            <a:xfrm>
              <a:off x="10535529" y="658144"/>
              <a:ext cx="1191592" cy="3448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MicroService</a:t>
              </a:r>
              <a:endParaRPr sz="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235" name="Google Shape;235;p4"/>
            <p:cNvSpPr txBox="1"/>
            <p:nvPr/>
          </p:nvSpPr>
          <p:spPr>
            <a:xfrm>
              <a:off x="6540687" y="4407015"/>
              <a:ext cx="869714" cy="3448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 b="1" i="0" u="none" strike="noStrike" cap="none">
                  <a:solidFill>
                    <a:srgbClr val="595959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Cluster A</a:t>
              </a:r>
              <a:endParaRPr sz="800" b="1" i="0" u="none" strike="noStrike" cap="none">
                <a:solidFill>
                  <a:srgbClr val="595959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grpSp>
          <p:nvGrpSpPr>
            <p:cNvPr id="236" name="Google Shape;236;p4"/>
            <p:cNvGrpSpPr/>
            <p:nvPr/>
          </p:nvGrpSpPr>
          <p:grpSpPr>
            <a:xfrm>
              <a:off x="7749068" y="1028763"/>
              <a:ext cx="394192" cy="333220"/>
              <a:chOff x="6616904" y="300473"/>
              <a:chExt cx="394346" cy="333351"/>
            </a:xfrm>
          </p:grpSpPr>
          <p:sp>
            <p:nvSpPr>
              <p:cNvPr id="237" name="Google Shape;237;p4"/>
              <p:cNvSpPr/>
              <p:nvPr/>
            </p:nvSpPr>
            <p:spPr>
              <a:xfrm>
                <a:off x="6616904" y="304430"/>
                <a:ext cx="324000" cy="324000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 i="0" u="none" strike="noStrike" cap="none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238" name="Google Shape;238;p4"/>
              <p:cNvSpPr/>
              <p:nvPr/>
            </p:nvSpPr>
            <p:spPr>
              <a:xfrm rot="5400000">
                <a:off x="6689954" y="371106"/>
                <a:ext cx="180000" cy="1800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222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 i="0" u="none" strike="noStrike" cap="none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239" name="Google Shape;239;p4"/>
              <p:cNvSpPr txBox="1"/>
              <p:nvPr/>
            </p:nvSpPr>
            <p:spPr>
              <a:xfrm>
                <a:off x="6628976" y="300473"/>
                <a:ext cx="382274" cy="3333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just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 b="0" i="0" u="none" strike="noStrike" cap="none">
                    <a:solidFill>
                      <a:srgbClr val="FFFFFF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H</a:t>
                </a:r>
                <a:endParaRPr sz="800" b="0" i="0" u="none" strike="noStrike" cap="none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</p:grpSp>
        <p:grpSp>
          <p:nvGrpSpPr>
            <p:cNvPr id="240" name="Google Shape;240;p4"/>
            <p:cNvGrpSpPr/>
            <p:nvPr/>
          </p:nvGrpSpPr>
          <p:grpSpPr>
            <a:xfrm>
              <a:off x="8100856" y="1028763"/>
              <a:ext cx="394192" cy="333220"/>
              <a:chOff x="6616904" y="300473"/>
              <a:chExt cx="394346" cy="333351"/>
            </a:xfrm>
          </p:grpSpPr>
          <p:sp>
            <p:nvSpPr>
              <p:cNvPr id="241" name="Google Shape;241;p4"/>
              <p:cNvSpPr/>
              <p:nvPr/>
            </p:nvSpPr>
            <p:spPr>
              <a:xfrm>
                <a:off x="6616904" y="304430"/>
                <a:ext cx="324000" cy="324000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 i="0" u="none" strike="noStrike" cap="none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242" name="Google Shape;242;p4"/>
              <p:cNvSpPr/>
              <p:nvPr/>
            </p:nvSpPr>
            <p:spPr>
              <a:xfrm rot="5400000">
                <a:off x="6689954" y="371106"/>
                <a:ext cx="180000" cy="1800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222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 i="0" u="none" strike="noStrike" cap="none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243" name="Google Shape;243;p4"/>
              <p:cNvSpPr txBox="1"/>
              <p:nvPr/>
            </p:nvSpPr>
            <p:spPr>
              <a:xfrm>
                <a:off x="6628976" y="300473"/>
                <a:ext cx="382274" cy="3333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just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 b="0" i="0" u="none" strike="noStrike" cap="none">
                    <a:solidFill>
                      <a:srgbClr val="FFFFFF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H</a:t>
                </a:r>
                <a:endParaRPr sz="800" b="0" i="0" u="none" strike="noStrike" cap="none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</p:grpSp>
        <p:grpSp>
          <p:nvGrpSpPr>
            <p:cNvPr id="244" name="Google Shape;244;p4"/>
            <p:cNvGrpSpPr/>
            <p:nvPr/>
          </p:nvGrpSpPr>
          <p:grpSpPr>
            <a:xfrm>
              <a:off x="8467012" y="1034658"/>
              <a:ext cx="394192" cy="333220"/>
              <a:chOff x="6616904" y="300473"/>
              <a:chExt cx="394346" cy="333351"/>
            </a:xfrm>
          </p:grpSpPr>
          <p:sp>
            <p:nvSpPr>
              <p:cNvPr id="245" name="Google Shape;245;p4"/>
              <p:cNvSpPr/>
              <p:nvPr/>
            </p:nvSpPr>
            <p:spPr>
              <a:xfrm>
                <a:off x="6616904" y="304430"/>
                <a:ext cx="324000" cy="324000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 i="0" u="none" strike="noStrike" cap="none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246" name="Google Shape;246;p4"/>
              <p:cNvSpPr/>
              <p:nvPr/>
            </p:nvSpPr>
            <p:spPr>
              <a:xfrm rot="5400000">
                <a:off x="6689954" y="371106"/>
                <a:ext cx="180000" cy="1800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222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 i="0" u="none" strike="noStrike" cap="none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247" name="Google Shape;247;p4"/>
              <p:cNvSpPr txBox="1"/>
              <p:nvPr/>
            </p:nvSpPr>
            <p:spPr>
              <a:xfrm>
                <a:off x="6628976" y="300473"/>
                <a:ext cx="382274" cy="3333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just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 b="0" i="0" u="none" strike="noStrike" cap="none">
                    <a:solidFill>
                      <a:srgbClr val="FFFFFF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H</a:t>
                </a:r>
                <a:endParaRPr sz="800" b="0" i="0" u="none" strike="noStrike" cap="none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</p:grpSp>
        <p:sp>
          <p:nvSpPr>
            <p:cNvPr id="248" name="Google Shape;248;p4"/>
            <p:cNvSpPr/>
            <p:nvPr/>
          </p:nvSpPr>
          <p:spPr>
            <a:xfrm>
              <a:off x="6502814" y="970231"/>
              <a:ext cx="1142622" cy="438267"/>
            </a:xfrm>
            <a:prstGeom prst="rect">
              <a:avLst/>
            </a:prstGeom>
            <a:noFill/>
            <a:ln w="12700" cap="flat" cmpd="sng">
              <a:solidFill>
                <a:srgbClr val="595959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800" b="0" i="0" u="none" strike="noStrik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249" name="Google Shape;249;p4"/>
            <p:cNvSpPr/>
            <p:nvPr/>
          </p:nvSpPr>
          <p:spPr>
            <a:xfrm>
              <a:off x="8891568" y="969104"/>
              <a:ext cx="1142622" cy="438267"/>
            </a:xfrm>
            <a:prstGeom prst="rect">
              <a:avLst/>
            </a:prstGeom>
            <a:noFill/>
            <a:ln w="12700" cap="flat" cmpd="sng">
              <a:solidFill>
                <a:srgbClr val="595959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800" b="0" i="0" u="none" strike="noStrik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250" name="Google Shape;250;p4"/>
            <p:cNvSpPr/>
            <p:nvPr/>
          </p:nvSpPr>
          <p:spPr>
            <a:xfrm>
              <a:off x="10584478" y="969175"/>
              <a:ext cx="1142622" cy="438267"/>
            </a:xfrm>
            <a:prstGeom prst="rect">
              <a:avLst/>
            </a:prstGeom>
            <a:noFill/>
            <a:ln w="12700" cap="flat" cmpd="sng">
              <a:solidFill>
                <a:srgbClr val="595959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800" b="0" i="0" u="none" strike="noStrik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251" name="Google Shape;251;p4"/>
            <p:cNvSpPr/>
            <p:nvPr/>
          </p:nvSpPr>
          <p:spPr>
            <a:xfrm>
              <a:off x="7691290" y="970277"/>
              <a:ext cx="1142622" cy="438267"/>
            </a:xfrm>
            <a:prstGeom prst="rect">
              <a:avLst/>
            </a:prstGeom>
            <a:noFill/>
            <a:ln w="12700" cap="flat" cmpd="sng">
              <a:solidFill>
                <a:srgbClr val="595959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800" b="0" i="0" u="none" strike="noStrik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252" name="Google Shape;252;p4"/>
            <p:cNvSpPr txBox="1"/>
            <p:nvPr/>
          </p:nvSpPr>
          <p:spPr>
            <a:xfrm>
              <a:off x="7832698" y="687929"/>
              <a:ext cx="976326" cy="3448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HPC</a:t>
              </a:r>
              <a:endParaRPr sz="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253" name="Google Shape;253;p4"/>
            <p:cNvSpPr txBox="1"/>
            <p:nvPr/>
          </p:nvSpPr>
          <p:spPr>
            <a:xfrm>
              <a:off x="5326781" y="4878151"/>
              <a:ext cx="859806" cy="3448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 b="1" i="0" u="none" strike="noStrike" cap="none">
                  <a:solidFill>
                    <a:srgbClr val="262626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Node</a:t>
              </a:r>
              <a:endParaRPr sz="800" b="1" i="0" u="none" strike="noStrike" cap="none">
                <a:solidFill>
                  <a:srgbClr val="262626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254" name="Google Shape;254;p4"/>
            <p:cNvSpPr/>
            <p:nvPr/>
          </p:nvSpPr>
          <p:spPr>
            <a:xfrm>
              <a:off x="5573446" y="5876999"/>
              <a:ext cx="1278813" cy="242119"/>
            </a:xfrm>
            <a:prstGeom prst="rect">
              <a:avLst/>
            </a:prstGeom>
            <a:solidFill>
              <a:srgbClr val="ACCBE9"/>
            </a:solidFill>
            <a:ln>
              <a:noFill/>
            </a:ln>
            <a:effectLst>
              <a:outerShdw blurRad="44450" dist="27940" dir="5400000" algn="ctr">
                <a:srgbClr val="000000">
                  <a:alpha val="32156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 b="0" i="0" u="none" strike="noStrike" cap="none">
                  <a:solidFill>
                    <a:srgbClr val="262626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kubelet</a:t>
              </a:r>
              <a:endParaRPr sz="800" b="0" i="0" u="none" strike="noStrike" cap="none">
                <a:solidFill>
                  <a:srgbClr val="262626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255" name="Google Shape;255;p4"/>
            <p:cNvSpPr/>
            <p:nvPr/>
          </p:nvSpPr>
          <p:spPr>
            <a:xfrm>
              <a:off x="8756201" y="4676725"/>
              <a:ext cx="3413379" cy="164864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800" b="0" i="0" u="none" strike="noStrik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256" name="Google Shape;256;p4"/>
            <p:cNvSpPr/>
            <p:nvPr/>
          </p:nvSpPr>
          <p:spPr>
            <a:xfrm>
              <a:off x="8861900" y="4735089"/>
              <a:ext cx="2978353" cy="1236066"/>
            </a:xfrm>
            <a:prstGeom prst="rect">
              <a:avLst/>
            </a:prstGeom>
            <a:solidFill>
              <a:srgbClr val="DEEBF7"/>
            </a:solidFill>
            <a:ln w="9525" cap="flat" cmpd="sng">
              <a:solidFill>
                <a:srgbClr val="ACCB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800" b="0" i="0" u="none" strike="noStrik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257" name="Google Shape;257;p4"/>
            <p:cNvSpPr/>
            <p:nvPr/>
          </p:nvSpPr>
          <p:spPr>
            <a:xfrm>
              <a:off x="8932846" y="4797434"/>
              <a:ext cx="2975737" cy="1234278"/>
            </a:xfrm>
            <a:prstGeom prst="rect">
              <a:avLst/>
            </a:prstGeom>
            <a:solidFill>
              <a:srgbClr val="DEEBF7"/>
            </a:solidFill>
            <a:ln w="9525" cap="flat" cmpd="sng">
              <a:solidFill>
                <a:srgbClr val="ACCB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800" b="0" i="0" u="none" strike="noStrik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258" name="Google Shape;258;p4"/>
            <p:cNvSpPr/>
            <p:nvPr/>
          </p:nvSpPr>
          <p:spPr>
            <a:xfrm>
              <a:off x="9019880" y="4872503"/>
              <a:ext cx="2981343" cy="1335220"/>
            </a:xfrm>
            <a:prstGeom prst="rect">
              <a:avLst/>
            </a:prstGeom>
            <a:solidFill>
              <a:srgbClr val="DEEBF7"/>
            </a:solidFill>
            <a:ln w="9525" cap="flat" cmpd="sng">
              <a:solidFill>
                <a:srgbClr val="ACCB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800" b="0" i="0" u="none" strike="noStrik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259" name="Google Shape;259;p4"/>
            <p:cNvSpPr txBox="1"/>
            <p:nvPr/>
          </p:nvSpPr>
          <p:spPr>
            <a:xfrm>
              <a:off x="8851329" y="4872714"/>
              <a:ext cx="859806" cy="3448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 b="1" i="0" u="none" strike="noStrike" cap="none">
                  <a:solidFill>
                    <a:srgbClr val="262626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Node</a:t>
              </a:r>
              <a:endParaRPr sz="800" b="1" i="0" u="none" strike="noStrike" cap="none">
                <a:solidFill>
                  <a:srgbClr val="262626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260" name="Google Shape;260;p4"/>
            <p:cNvSpPr/>
            <p:nvPr/>
          </p:nvSpPr>
          <p:spPr>
            <a:xfrm>
              <a:off x="9119358" y="5876999"/>
              <a:ext cx="1274633" cy="242119"/>
            </a:xfrm>
            <a:prstGeom prst="rect">
              <a:avLst/>
            </a:prstGeom>
            <a:solidFill>
              <a:srgbClr val="ACCBE9"/>
            </a:solidFill>
            <a:ln>
              <a:noFill/>
            </a:ln>
            <a:effectLst>
              <a:outerShdw blurRad="44450" dist="27940" dir="5400000" algn="ctr">
                <a:srgbClr val="000000">
                  <a:alpha val="32156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 b="0" i="0" u="none" strike="noStrike" cap="none">
                  <a:solidFill>
                    <a:srgbClr val="262626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Kubelet</a:t>
              </a:r>
              <a:endParaRPr sz="800" b="0" i="0" u="none" strike="noStrike" cap="none">
                <a:solidFill>
                  <a:srgbClr val="262626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261" name="Google Shape;261;p4"/>
            <p:cNvSpPr/>
            <p:nvPr/>
          </p:nvSpPr>
          <p:spPr>
            <a:xfrm>
              <a:off x="9665427" y="4902178"/>
              <a:ext cx="1727800" cy="866661"/>
            </a:xfrm>
            <a:prstGeom prst="ellipse">
              <a:avLst/>
            </a:prstGeom>
            <a:solidFill>
              <a:srgbClr val="D8D8D8"/>
            </a:solidFill>
            <a:ln w="349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317500" algn="ctr">
                <a:srgbClr val="000000">
                  <a:alpha val="43137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800" b="0" i="0" u="none" strike="noStrik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grpSp>
          <p:nvGrpSpPr>
            <p:cNvPr id="262" name="Google Shape;262;p4"/>
            <p:cNvGrpSpPr/>
            <p:nvPr/>
          </p:nvGrpSpPr>
          <p:grpSpPr>
            <a:xfrm>
              <a:off x="9942339" y="4975751"/>
              <a:ext cx="382498" cy="359328"/>
              <a:chOff x="1470551" y="1375163"/>
              <a:chExt cx="382647" cy="359469"/>
            </a:xfrm>
          </p:grpSpPr>
          <p:sp>
            <p:nvSpPr>
              <p:cNvPr id="263" name="Google Shape;263;p4"/>
              <p:cNvSpPr/>
              <p:nvPr/>
            </p:nvSpPr>
            <p:spPr>
              <a:xfrm>
                <a:off x="1477011" y="1410632"/>
                <a:ext cx="324000" cy="324000"/>
              </a:xfrm>
              <a:prstGeom prst="ellipse">
                <a:avLst/>
              </a:prstGeom>
              <a:solidFill>
                <a:srgbClr val="CF5D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 i="0" u="none" strike="noStrike" cap="none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264" name="Google Shape;264;p4"/>
              <p:cNvSpPr/>
              <p:nvPr/>
            </p:nvSpPr>
            <p:spPr>
              <a:xfrm rot="5400000">
                <a:off x="1550061" y="1477308"/>
                <a:ext cx="180000" cy="1800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222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 i="0" u="none" strike="noStrike" cap="none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265" name="Google Shape;265;p4"/>
              <p:cNvSpPr txBox="1"/>
              <p:nvPr/>
            </p:nvSpPr>
            <p:spPr>
              <a:xfrm>
                <a:off x="1470551" y="1375163"/>
                <a:ext cx="382647" cy="3449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just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 b="0" i="0" u="none" strike="noStrike" cap="none">
                    <a:solidFill>
                      <a:srgbClr val="FFFFFF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AI</a:t>
                </a:r>
                <a:endParaRPr sz="800" b="0" i="0" u="none" strike="noStrike" cap="none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</p:grpSp>
        <p:grpSp>
          <p:nvGrpSpPr>
            <p:cNvPr id="266" name="Google Shape;266;p4"/>
            <p:cNvGrpSpPr/>
            <p:nvPr/>
          </p:nvGrpSpPr>
          <p:grpSpPr>
            <a:xfrm>
              <a:off x="10380243" y="4927139"/>
              <a:ext cx="382497" cy="345004"/>
              <a:chOff x="2586992" y="1063819"/>
              <a:chExt cx="382647" cy="345139"/>
            </a:xfrm>
          </p:grpSpPr>
          <p:sp>
            <p:nvSpPr>
              <p:cNvPr id="267" name="Google Shape;267;p4"/>
              <p:cNvSpPr/>
              <p:nvPr/>
            </p:nvSpPr>
            <p:spPr>
              <a:xfrm>
                <a:off x="2587157" y="1084958"/>
                <a:ext cx="324000" cy="324000"/>
              </a:xfrm>
              <a:prstGeom prst="ellipse">
                <a:avLst/>
              </a:prstGeom>
              <a:solidFill>
                <a:srgbClr val="FF700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 i="0" u="none" strike="noStrike" cap="none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268" name="Google Shape;268;p4"/>
              <p:cNvSpPr/>
              <p:nvPr/>
            </p:nvSpPr>
            <p:spPr>
              <a:xfrm rot="5400000">
                <a:off x="2660207" y="1151634"/>
                <a:ext cx="180000" cy="1800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222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 i="0" u="none" strike="noStrike" cap="none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269" name="Google Shape;269;p4"/>
              <p:cNvSpPr txBox="1"/>
              <p:nvPr/>
            </p:nvSpPr>
            <p:spPr>
              <a:xfrm>
                <a:off x="2586992" y="1063819"/>
                <a:ext cx="382647" cy="3449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just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 b="0" i="0" u="none" strike="noStrike" cap="none">
                    <a:solidFill>
                      <a:srgbClr val="FFFFFF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B</a:t>
                </a:r>
                <a:endParaRPr sz="800" b="0" i="0" u="none" strike="noStrike" cap="none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</p:grpSp>
        <p:grpSp>
          <p:nvGrpSpPr>
            <p:cNvPr id="270" name="Google Shape;270;p4"/>
            <p:cNvGrpSpPr/>
            <p:nvPr/>
          </p:nvGrpSpPr>
          <p:grpSpPr>
            <a:xfrm>
              <a:off x="10789875" y="4970620"/>
              <a:ext cx="382719" cy="358650"/>
              <a:chOff x="4615274" y="648912"/>
              <a:chExt cx="382869" cy="358791"/>
            </a:xfrm>
          </p:grpSpPr>
          <p:sp>
            <p:nvSpPr>
              <p:cNvPr id="271" name="Google Shape;271;p4"/>
              <p:cNvSpPr/>
              <p:nvPr/>
            </p:nvSpPr>
            <p:spPr>
              <a:xfrm>
                <a:off x="4615274" y="683703"/>
                <a:ext cx="324000" cy="324000"/>
              </a:xfrm>
              <a:prstGeom prst="ellipse">
                <a:avLst/>
              </a:prstGeom>
              <a:solidFill>
                <a:srgbClr val="7030A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 i="0" u="none" strike="noStrike" cap="none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272" name="Google Shape;272;p4"/>
              <p:cNvSpPr/>
              <p:nvPr/>
            </p:nvSpPr>
            <p:spPr>
              <a:xfrm rot="5400000">
                <a:off x="4688324" y="750379"/>
                <a:ext cx="180000" cy="1800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222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 i="0" u="none" strike="noStrike" cap="none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273" name="Google Shape;273;p4"/>
              <p:cNvSpPr txBox="1"/>
              <p:nvPr/>
            </p:nvSpPr>
            <p:spPr>
              <a:xfrm>
                <a:off x="4615496" y="648912"/>
                <a:ext cx="382647" cy="3449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just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 b="0" i="0" u="none" strike="noStrike" cap="none">
                    <a:solidFill>
                      <a:srgbClr val="FFFFFF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M</a:t>
                </a:r>
                <a:endParaRPr sz="800" b="0" i="0" u="none" strike="noStrike" cap="none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</p:grpSp>
        <p:grpSp>
          <p:nvGrpSpPr>
            <p:cNvPr id="274" name="Google Shape;274;p4"/>
            <p:cNvGrpSpPr/>
            <p:nvPr/>
          </p:nvGrpSpPr>
          <p:grpSpPr>
            <a:xfrm>
              <a:off x="10154747" y="5341108"/>
              <a:ext cx="388127" cy="355020"/>
              <a:chOff x="6616904" y="273271"/>
              <a:chExt cx="388279" cy="355159"/>
            </a:xfrm>
          </p:grpSpPr>
          <p:sp>
            <p:nvSpPr>
              <p:cNvPr id="275" name="Google Shape;275;p4"/>
              <p:cNvSpPr/>
              <p:nvPr/>
            </p:nvSpPr>
            <p:spPr>
              <a:xfrm>
                <a:off x="6616904" y="304430"/>
                <a:ext cx="324000" cy="324000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 i="0" u="none" strike="noStrike" cap="none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276" name="Google Shape;276;p4"/>
              <p:cNvSpPr/>
              <p:nvPr/>
            </p:nvSpPr>
            <p:spPr>
              <a:xfrm rot="5400000">
                <a:off x="6689954" y="371106"/>
                <a:ext cx="180000" cy="1800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222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 i="0" u="none" strike="noStrike" cap="none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277" name="Google Shape;277;p4"/>
              <p:cNvSpPr txBox="1"/>
              <p:nvPr/>
            </p:nvSpPr>
            <p:spPr>
              <a:xfrm>
                <a:off x="6622536" y="273271"/>
                <a:ext cx="382647" cy="3449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just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 b="0" i="0" u="none" strike="noStrike" cap="none">
                    <a:solidFill>
                      <a:srgbClr val="FFFFFF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H</a:t>
                </a:r>
                <a:endParaRPr sz="800" b="0" i="0" u="none" strike="noStrike" cap="none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</p:grpSp>
        <p:grpSp>
          <p:nvGrpSpPr>
            <p:cNvPr id="278" name="Google Shape;278;p4"/>
            <p:cNvGrpSpPr/>
            <p:nvPr/>
          </p:nvGrpSpPr>
          <p:grpSpPr>
            <a:xfrm>
              <a:off x="10601734" y="5335786"/>
              <a:ext cx="388127" cy="355020"/>
              <a:chOff x="6616904" y="273271"/>
              <a:chExt cx="388279" cy="355159"/>
            </a:xfrm>
          </p:grpSpPr>
          <p:sp>
            <p:nvSpPr>
              <p:cNvPr id="279" name="Google Shape;279;p4"/>
              <p:cNvSpPr/>
              <p:nvPr/>
            </p:nvSpPr>
            <p:spPr>
              <a:xfrm>
                <a:off x="6616904" y="304430"/>
                <a:ext cx="324000" cy="324000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 i="0" u="none" strike="noStrike" cap="none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280" name="Google Shape;280;p4"/>
              <p:cNvSpPr/>
              <p:nvPr/>
            </p:nvSpPr>
            <p:spPr>
              <a:xfrm rot="5400000">
                <a:off x="6689954" y="371106"/>
                <a:ext cx="180000" cy="1800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222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 i="0" u="none" strike="noStrike" cap="none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281" name="Google Shape;281;p4"/>
              <p:cNvSpPr txBox="1"/>
              <p:nvPr/>
            </p:nvSpPr>
            <p:spPr>
              <a:xfrm>
                <a:off x="6622536" y="273271"/>
                <a:ext cx="382647" cy="3449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just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 b="0" i="0" u="none" strike="noStrike" cap="none">
                    <a:solidFill>
                      <a:srgbClr val="FFFFFF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H</a:t>
                </a:r>
                <a:endParaRPr sz="800" b="0" i="0" u="none" strike="noStrike" cap="none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</p:grpSp>
        <p:sp>
          <p:nvSpPr>
            <p:cNvPr id="282" name="Google Shape;282;p4"/>
            <p:cNvSpPr/>
            <p:nvPr/>
          </p:nvSpPr>
          <p:spPr>
            <a:xfrm rot="10800000">
              <a:off x="5169823" y="2168932"/>
              <a:ext cx="6979098" cy="168973"/>
            </a:xfrm>
            <a:custGeom>
              <a:avLst/>
              <a:gdLst/>
              <a:ahLst/>
              <a:cxnLst/>
              <a:rect l="l" t="t" r="r" b="b"/>
              <a:pathLst>
                <a:path w="1931995" h="417617" extrusionOk="0">
                  <a:moveTo>
                    <a:pt x="0" y="0"/>
                  </a:moveTo>
                  <a:lnTo>
                    <a:pt x="1931995" y="0"/>
                  </a:lnTo>
                  <a:lnTo>
                    <a:pt x="1492645" y="404918"/>
                  </a:lnTo>
                  <a:lnTo>
                    <a:pt x="424022" y="417617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E0E0E0">
                    <a:alpha val="60000"/>
                  </a:srgbClr>
                </a:gs>
                <a:gs pos="95000">
                  <a:srgbClr val="E0E0E0">
                    <a:alpha val="0"/>
                  </a:srgbClr>
                </a:gs>
                <a:gs pos="100000">
                  <a:srgbClr val="E0E0E0">
                    <a:alpha val="0"/>
                  </a:srgbClr>
                </a:gs>
              </a:gsLst>
              <a:lin ang="5400000" scaled="0"/>
            </a:gradFill>
            <a:ln w="9525" cap="flat" cmpd="sng">
              <a:solidFill>
                <a:srgbClr val="C1C1C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3475" tIns="71950" rIns="13475" bIns="13475" anchor="t" anchorCtr="1">
              <a:noAutofit/>
            </a:bodyPr>
            <a:lstStyle/>
            <a:p>
              <a:pPr marL="0" marR="0" lvl="0" indent="0" algn="just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9900"/>
                </a:buClr>
                <a:buSzPts val="800"/>
                <a:buFont typeface="Arial" panose="020B0604020202090204"/>
                <a:buNone/>
              </a:pPr>
              <a:endParaRPr sz="800" b="0" i="0" u="none" strike="noStrike" cap="none">
                <a:solidFill>
                  <a:srgbClr val="1D1D1A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283" name="Google Shape;283;p4"/>
            <p:cNvSpPr/>
            <p:nvPr/>
          </p:nvSpPr>
          <p:spPr>
            <a:xfrm rot="10800000">
              <a:off x="5195829" y="3654600"/>
              <a:ext cx="3420065" cy="168973"/>
            </a:xfrm>
            <a:custGeom>
              <a:avLst/>
              <a:gdLst/>
              <a:ahLst/>
              <a:cxnLst/>
              <a:rect l="l" t="t" r="r" b="b"/>
              <a:pathLst>
                <a:path w="1931995" h="417617" extrusionOk="0">
                  <a:moveTo>
                    <a:pt x="0" y="0"/>
                  </a:moveTo>
                  <a:lnTo>
                    <a:pt x="1931995" y="0"/>
                  </a:lnTo>
                  <a:lnTo>
                    <a:pt x="1492645" y="404918"/>
                  </a:lnTo>
                  <a:lnTo>
                    <a:pt x="424022" y="417617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E0E0E0">
                    <a:alpha val="60000"/>
                  </a:srgbClr>
                </a:gs>
                <a:gs pos="95000">
                  <a:srgbClr val="E0E0E0">
                    <a:alpha val="0"/>
                  </a:srgbClr>
                </a:gs>
                <a:gs pos="100000">
                  <a:srgbClr val="E0E0E0">
                    <a:alpha val="0"/>
                  </a:srgbClr>
                </a:gs>
              </a:gsLst>
              <a:lin ang="5400000" scaled="0"/>
            </a:gradFill>
            <a:ln w="9525" cap="flat" cmpd="sng">
              <a:solidFill>
                <a:srgbClr val="C1C1C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3475" tIns="71950" rIns="13475" bIns="13475" anchor="t" anchorCtr="1">
              <a:noAutofit/>
            </a:bodyPr>
            <a:lstStyle/>
            <a:p>
              <a:pPr marL="0" marR="0" lvl="0" indent="0" algn="just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9900"/>
                </a:buClr>
                <a:buSzPts val="800"/>
                <a:buFont typeface="Arial" panose="020B0604020202090204"/>
                <a:buNone/>
              </a:pPr>
              <a:endParaRPr sz="800" b="0" i="0" u="none" strike="noStrike" cap="none">
                <a:solidFill>
                  <a:srgbClr val="1D1D1A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284" name="Google Shape;284;p4"/>
            <p:cNvSpPr/>
            <p:nvPr/>
          </p:nvSpPr>
          <p:spPr>
            <a:xfrm rot="10800000">
              <a:off x="8743395" y="3654602"/>
              <a:ext cx="3420065" cy="168973"/>
            </a:xfrm>
            <a:custGeom>
              <a:avLst/>
              <a:gdLst/>
              <a:ahLst/>
              <a:cxnLst/>
              <a:rect l="l" t="t" r="r" b="b"/>
              <a:pathLst>
                <a:path w="1931995" h="417617" extrusionOk="0">
                  <a:moveTo>
                    <a:pt x="0" y="0"/>
                  </a:moveTo>
                  <a:lnTo>
                    <a:pt x="1931995" y="0"/>
                  </a:lnTo>
                  <a:lnTo>
                    <a:pt x="1492645" y="404918"/>
                  </a:lnTo>
                  <a:lnTo>
                    <a:pt x="424022" y="417617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E0E0E0">
                    <a:alpha val="60000"/>
                  </a:srgbClr>
                </a:gs>
                <a:gs pos="95000">
                  <a:srgbClr val="E0E0E0">
                    <a:alpha val="0"/>
                  </a:srgbClr>
                </a:gs>
                <a:gs pos="100000">
                  <a:srgbClr val="E0E0E0">
                    <a:alpha val="0"/>
                  </a:srgbClr>
                </a:gs>
              </a:gsLst>
              <a:lin ang="5400000" scaled="0"/>
            </a:gradFill>
            <a:ln w="9525" cap="flat" cmpd="sng">
              <a:solidFill>
                <a:srgbClr val="C1C1C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3475" tIns="71950" rIns="13475" bIns="13475" anchor="t" anchorCtr="1">
              <a:noAutofit/>
            </a:bodyPr>
            <a:lstStyle/>
            <a:p>
              <a:pPr marL="0" marR="0" lvl="0" indent="0" algn="just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9900"/>
                </a:buClr>
                <a:buSzPts val="800"/>
                <a:buFont typeface="Arial" panose="020B0604020202090204"/>
                <a:buNone/>
              </a:pPr>
              <a:endParaRPr sz="800" b="0" i="0" u="none" strike="noStrike" cap="none">
                <a:solidFill>
                  <a:srgbClr val="1D1D1A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285" name="Google Shape;285;p4"/>
            <p:cNvSpPr/>
            <p:nvPr/>
          </p:nvSpPr>
          <p:spPr>
            <a:xfrm rot="10800000">
              <a:off x="5196247" y="4507448"/>
              <a:ext cx="3419803" cy="168829"/>
            </a:xfrm>
            <a:custGeom>
              <a:avLst/>
              <a:gdLst/>
              <a:ahLst/>
              <a:cxnLst/>
              <a:rect l="l" t="t" r="r" b="b"/>
              <a:pathLst>
                <a:path w="1931995" h="417617" extrusionOk="0">
                  <a:moveTo>
                    <a:pt x="0" y="0"/>
                  </a:moveTo>
                  <a:lnTo>
                    <a:pt x="1931995" y="0"/>
                  </a:lnTo>
                  <a:lnTo>
                    <a:pt x="1492645" y="404918"/>
                  </a:lnTo>
                  <a:lnTo>
                    <a:pt x="424022" y="417617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E0E0E0">
                    <a:alpha val="60000"/>
                  </a:srgbClr>
                </a:gs>
                <a:gs pos="95000">
                  <a:srgbClr val="E0E0E0">
                    <a:alpha val="0"/>
                  </a:srgbClr>
                </a:gs>
                <a:gs pos="100000">
                  <a:srgbClr val="E0E0E0">
                    <a:alpha val="0"/>
                  </a:srgbClr>
                </a:gs>
              </a:gsLst>
              <a:lin ang="5400000" scaled="0"/>
            </a:gradFill>
            <a:ln w="9525" cap="flat" cmpd="sng">
              <a:solidFill>
                <a:srgbClr val="C1C1C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3475" tIns="71950" rIns="13475" bIns="13475" anchor="t" anchorCtr="1">
              <a:noAutofit/>
            </a:bodyPr>
            <a:lstStyle/>
            <a:p>
              <a:pPr marL="0" marR="0" lvl="0" indent="0" algn="just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9900"/>
                </a:buClr>
                <a:buSzPts val="800"/>
                <a:buFont typeface="Arial" panose="020B0604020202090204"/>
                <a:buNone/>
              </a:pPr>
              <a:endParaRPr sz="800" b="0" i="0" u="none" strike="noStrike" cap="none">
                <a:solidFill>
                  <a:srgbClr val="1D1D1A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286" name="Google Shape;286;p4"/>
            <p:cNvSpPr/>
            <p:nvPr/>
          </p:nvSpPr>
          <p:spPr>
            <a:xfrm rot="10800000">
              <a:off x="8743395" y="4507752"/>
              <a:ext cx="3420065" cy="168973"/>
            </a:xfrm>
            <a:custGeom>
              <a:avLst/>
              <a:gdLst/>
              <a:ahLst/>
              <a:cxnLst/>
              <a:rect l="l" t="t" r="r" b="b"/>
              <a:pathLst>
                <a:path w="1931995" h="417617" extrusionOk="0">
                  <a:moveTo>
                    <a:pt x="0" y="0"/>
                  </a:moveTo>
                  <a:lnTo>
                    <a:pt x="1931995" y="0"/>
                  </a:lnTo>
                  <a:lnTo>
                    <a:pt x="1492645" y="404918"/>
                  </a:lnTo>
                  <a:lnTo>
                    <a:pt x="424022" y="417617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E0E0E0">
                    <a:alpha val="60000"/>
                  </a:srgbClr>
                </a:gs>
                <a:gs pos="95000">
                  <a:srgbClr val="E0E0E0">
                    <a:alpha val="0"/>
                  </a:srgbClr>
                </a:gs>
                <a:gs pos="100000">
                  <a:srgbClr val="E0E0E0">
                    <a:alpha val="0"/>
                  </a:srgbClr>
                </a:gs>
              </a:gsLst>
              <a:lin ang="5400000" scaled="0"/>
            </a:gradFill>
            <a:ln w="9525" cap="flat" cmpd="sng">
              <a:solidFill>
                <a:srgbClr val="C1C1C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3475" tIns="71950" rIns="13475" bIns="13475" anchor="t" anchorCtr="1">
              <a:noAutofit/>
            </a:bodyPr>
            <a:lstStyle/>
            <a:p>
              <a:pPr marL="0" marR="0" lvl="0" indent="0" algn="just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9900"/>
                </a:buClr>
                <a:buSzPts val="800"/>
                <a:buFont typeface="Arial" panose="020B0604020202090204"/>
                <a:buNone/>
              </a:pPr>
              <a:endParaRPr sz="800" b="0" i="0" u="none" strike="noStrike" cap="none">
                <a:solidFill>
                  <a:srgbClr val="1D1D1A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287" name="Google Shape;287;p4"/>
            <p:cNvSpPr/>
            <p:nvPr/>
          </p:nvSpPr>
          <p:spPr>
            <a:xfrm rot="5400000">
              <a:off x="5998887" y="3593390"/>
              <a:ext cx="109279" cy="250597"/>
            </a:xfrm>
            <a:prstGeom prst="rightArrow">
              <a:avLst>
                <a:gd name="adj1" fmla="val 57599"/>
                <a:gd name="adj2" fmla="val 50000"/>
              </a:avLst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800" b="0" i="0" u="none" strike="noStrik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288" name="Google Shape;288;p4"/>
            <p:cNvSpPr/>
            <p:nvPr/>
          </p:nvSpPr>
          <p:spPr>
            <a:xfrm rot="5400000">
              <a:off x="7382265" y="3593390"/>
              <a:ext cx="109279" cy="250597"/>
            </a:xfrm>
            <a:prstGeom prst="rightArrow">
              <a:avLst>
                <a:gd name="adj1" fmla="val 57599"/>
                <a:gd name="adj2" fmla="val 50000"/>
              </a:avLst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800" b="0" i="0" u="none" strike="noStrik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289" name="Google Shape;289;p4"/>
            <p:cNvSpPr/>
            <p:nvPr/>
          </p:nvSpPr>
          <p:spPr>
            <a:xfrm rot="5400000">
              <a:off x="9829911" y="3593390"/>
              <a:ext cx="109279" cy="250597"/>
            </a:xfrm>
            <a:prstGeom prst="rightArrow">
              <a:avLst>
                <a:gd name="adj1" fmla="val 57599"/>
                <a:gd name="adj2" fmla="val 50000"/>
              </a:avLst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800" b="0" i="0" u="none" strike="noStrik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290" name="Google Shape;290;p4"/>
            <p:cNvSpPr/>
            <p:nvPr/>
          </p:nvSpPr>
          <p:spPr>
            <a:xfrm rot="5400000">
              <a:off x="11213289" y="3593391"/>
              <a:ext cx="109280" cy="250597"/>
            </a:xfrm>
            <a:prstGeom prst="rightArrow">
              <a:avLst>
                <a:gd name="adj1" fmla="val 57599"/>
                <a:gd name="adj2" fmla="val 50000"/>
              </a:avLst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800" b="0" i="0" u="none" strike="noStrik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pic>
          <p:nvPicPr>
            <p:cNvPr id="291" name="Google Shape;291;p4" descr="Apache Tomcat - 维基百科，自由的百科全书"/>
            <p:cNvPicPr preferRelativeResize="0"/>
            <p:nvPr/>
          </p:nvPicPr>
          <p:blipFill rotWithShape="1">
            <a:blip r:embed="rId16"/>
            <a:srcRect/>
            <a:stretch>
              <a:fillRect/>
            </a:stretch>
          </p:blipFill>
          <p:spPr>
            <a:xfrm>
              <a:off x="9350796" y="2634964"/>
              <a:ext cx="332973" cy="2355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2" name="Google Shape;292;p4" descr="MySQL - 维基百科，自由的百科全书"/>
            <p:cNvPicPr preferRelativeResize="0"/>
            <p:nvPr/>
          </p:nvPicPr>
          <p:blipFill rotWithShape="1">
            <a:blip r:embed="rId17"/>
            <a:srcRect/>
            <a:stretch>
              <a:fillRect/>
            </a:stretch>
          </p:blipFill>
          <p:spPr>
            <a:xfrm>
              <a:off x="9327092" y="3121140"/>
              <a:ext cx="442425" cy="2278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93" name="Google Shape;293;p4"/>
            <p:cNvGrpSpPr/>
            <p:nvPr/>
          </p:nvGrpSpPr>
          <p:grpSpPr>
            <a:xfrm>
              <a:off x="5337353" y="1392965"/>
              <a:ext cx="4757740" cy="396000"/>
              <a:chOff x="1564275" y="4952942"/>
              <a:chExt cx="9595142" cy="777480"/>
            </a:xfrm>
          </p:grpSpPr>
          <p:sp>
            <p:nvSpPr>
              <p:cNvPr id="294" name="Google Shape;294;p4"/>
              <p:cNvSpPr/>
              <p:nvPr/>
            </p:nvSpPr>
            <p:spPr>
              <a:xfrm>
                <a:off x="2071061" y="5285154"/>
                <a:ext cx="8581570" cy="445268"/>
              </a:xfrm>
              <a:prstGeom prst="rect">
                <a:avLst/>
              </a:prstGeom>
              <a:solidFill>
                <a:srgbClr val="666666">
                  <a:alpha val="34901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1D1D1A"/>
                  </a:buClr>
                  <a:buSzPts val="800"/>
                  <a:buFont typeface="Arial" panose="020B0604020202090204"/>
                  <a:buNone/>
                </a:pPr>
                <a:r>
                  <a:rPr lang="en-GB" sz="800" b="1" i="0" u="none" strike="noStrike" cap="none">
                    <a:solidFill>
                      <a:srgbClr val="1D1D1A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Batch Computing</a:t>
                </a:r>
                <a:endParaRPr sz="800" b="1" i="0" u="none" strike="noStrike" cap="none">
                  <a:solidFill>
                    <a:srgbClr val="1D1D1A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295" name="Google Shape;295;p4"/>
              <p:cNvSpPr/>
              <p:nvPr/>
            </p:nvSpPr>
            <p:spPr>
              <a:xfrm rot="5400000">
                <a:off x="1516121" y="5167202"/>
                <a:ext cx="605476" cy="509168"/>
              </a:xfrm>
              <a:custGeom>
                <a:avLst/>
                <a:gdLst/>
                <a:ahLst/>
                <a:cxnLst/>
                <a:rect l="l" t="t" r="r" b="b"/>
                <a:pathLst>
                  <a:path w="605476" h="509168" extrusionOk="0">
                    <a:moveTo>
                      <a:pt x="0" y="509168"/>
                    </a:moveTo>
                    <a:lnTo>
                      <a:pt x="169461" y="2382"/>
                    </a:lnTo>
                    <a:lnTo>
                      <a:pt x="605476" y="0"/>
                    </a:lnTo>
                    <a:lnTo>
                      <a:pt x="430063" y="509168"/>
                    </a:lnTo>
                    <a:lnTo>
                      <a:pt x="0" y="509168"/>
                    </a:lnTo>
                    <a:close/>
                  </a:path>
                </a:pathLst>
              </a:custGeom>
              <a:solidFill>
                <a:srgbClr val="666666">
                  <a:alpha val="50196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 panose="020B0604020202090204"/>
                  <a:buNone/>
                </a:pPr>
                <a:endParaRPr sz="8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296" name="Google Shape;296;p4"/>
              <p:cNvSpPr/>
              <p:nvPr/>
            </p:nvSpPr>
            <p:spPr>
              <a:xfrm>
                <a:off x="1564277" y="4952942"/>
                <a:ext cx="9595140" cy="336974"/>
              </a:xfrm>
              <a:custGeom>
                <a:avLst/>
                <a:gdLst/>
                <a:ahLst/>
                <a:cxnLst/>
                <a:rect l="l" t="t" r="r" b="b"/>
                <a:pathLst>
                  <a:path w="8198812" h="491587" extrusionOk="0">
                    <a:moveTo>
                      <a:pt x="0" y="240664"/>
                    </a:moveTo>
                    <a:lnTo>
                      <a:pt x="615651" y="0"/>
                    </a:lnTo>
                    <a:lnTo>
                      <a:pt x="7583161" y="0"/>
                    </a:lnTo>
                    <a:lnTo>
                      <a:pt x="8198812" y="240664"/>
                    </a:lnTo>
                    <a:lnTo>
                      <a:pt x="7765387" y="485511"/>
                    </a:lnTo>
                    <a:lnTo>
                      <a:pt x="434712" y="491587"/>
                    </a:lnTo>
                    <a:lnTo>
                      <a:pt x="0" y="240664"/>
                    </a:lnTo>
                    <a:close/>
                  </a:path>
                </a:pathLst>
              </a:custGeom>
              <a:gradFill>
                <a:gsLst>
                  <a:gs pos="0">
                    <a:srgbClr val="666666">
                      <a:alpha val="0"/>
                    </a:srgbClr>
                  </a:gs>
                  <a:gs pos="100000">
                    <a:srgbClr val="666666">
                      <a:alpha val="25098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 panose="020B0604020202090204"/>
                  <a:buNone/>
                </a:pPr>
                <a:endParaRPr sz="8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297" name="Google Shape;297;p4"/>
              <p:cNvSpPr/>
              <p:nvPr/>
            </p:nvSpPr>
            <p:spPr>
              <a:xfrm rot="-5400000" flipH="1">
                <a:off x="10600351" y="5167202"/>
                <a:ext cx="605476" cy="509168"/>
              </a:xfrm>
              <a:custGeom>
                <a:avLst/>
                <a:gdLst/>
                <a:ahLst/>
                <a:cxnLst/>
                <a:rect l="l" t="t" r="r" b="b"/>
                <a:pathLst>
                  <a:path w="605476" h="509168" extrusionOk="0">
                    <a:moveTo>
                      <a:pt x="0" y="509168"/>
                    </a:moveTo>
                    <a:lnTo>
                      <a:pt x="169461" y="2382"/>
                    </a:lnTo>
                    <a:lnTo>
                      <a:pt x="605476" y="0"/>
                    </a:lnTo>
                    <a:lnTo>
                      <a:pt x="430063" y="509168"/>
                    </a:lnTo>
                    <a:lnTo>
                      <a:pt x="0" y="509168"/>
                    </a:lnTo>
                    <a:close/>
                  </a:path>
                </a:pathLst>
              </a:custGeom>
              <a:solidFill>
                <a:srgbClr val="666666">
                  <a:alpha val="50196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 panose="020B0604020202090204"/>
                  <a:buNone/>
                </a:pPr>
                <a:endParaRPr sz="8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</p:grpSp>
        <p:grpSp>
          <p:nvGrpSpPr>
            <p:cNvPr id="298" name="Google Shape;298;p4"/>
            <p:cNvGrpSpPr/>
            <p:nvPr/>
          </p:nvGrpSpPr>
          <p:grpSpPr>
            <a:xfrm>
              <a:off x="10272670" y="1392965"/>
              <a:ext cx="1876251" cy="392996"/>
              <a:chOff x="1564275" y="4952942"/>
              <a:chExt cx="9595142" cy="777480"/>
            </a:xfrm>
          </p:grpSpPr>
          <p:sp>
            <p:nvSpPr>
              <p:cNvPr id="299" name="Google Shape;299;p4"/>
              <p:cNvSpPr/>
              <p:nvPr/>
            </p:nvSpPr>
            <p:spPr>
              <a:xfrm>
                <a:off x="2071061" y="5285154"/>
                <a:ext cx="8581570" cy="445268"/>
              </a:xfrm>
              <a:prstGeom prst="rect">
                <a:avLst/>
              </a:prstGeom>
              <a:solidFill>
                <a:srgbClr val="666666">
                  <a:alpha val="34901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1D1D1A"/>
                  </a:buClr>
                  <a:buSzPts val="800"/>
                  <a:buFont typeface="Arial" panose="020B0604020202090204"/>
                  <a:buNone/>
                </a:pPr>
                <a:r>
                  <a:rPr lang="en-GB" sz="800" b="1" i="0" u="none" strike="noStrike" cap="none">
                    <a:solidFill>
                      <a:srgbClr val="1D1D1A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MicroService</a:t>
                </a:r>
                <a:endParaRPr sz="800" b="1" i="0" u="none" strike="noStrike" cap="none">
                  <a:solidFill>
                    <a:srgbClr val="1D1D1A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300" name="Google Shape;300;p4"/>
              <p:cNvSpPr/>
              <p:nvPr/>
            </p:nvSpPr>
            <p:spPr>
              <a:xfrm rot="5400000">
                <a:off x="1516121" y="5167202"/>
                <a:ext cx="605476" cy="509168"/>
              </a:xfrm>
              <a:custGeom>
                <a:avLst/>
                <a:gdLst/>
                <a:ahLst/>
                <a:cxnLst/>
                <a:rect l="l" t="t" r="r" b="b"/>
                <a:pathLst>
                  <a:path w="605476" h="509168" extrusionOk="0">
                    <a:moveTo>
                      <a:pt x="0" y="509168"/>
                    </a:moveTo>
                    <a:lnTo>
                      <a:pt x="169461" y="2382"/>
                    </a:lnTo>
                    <a:lnTo>
                      <a:pt x="605476" y="0"/>
                    </a:lnTo>
                    <a:lnTo>
                      <a:pt x="430063" y="509168"/>
                    </a:lnTo>
                    <a:lnTo>
                      <a:pt x="0" y="509168"/>
                    </a:lnTo>
                    <a:close/>
                  </a:path>
                </a:pathLst>
              </a:custGeom>
              <a:solidFill>
                <a:srgbClr val="666666">
                  <a:alpha val="50196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 panose="020B0604020202090204"/>
                  <a:buNone/>
                </a:pPr>
                <a:endParaRPr sz="8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301" name="Google Shape;301;p4"/>
              <p:cNvSpPr/>
              <p:nvPr/>
            </p:nvSpPr>
            <p:spPr>
              <a:xfrm>
                <a:off x="1564277" y="4952942"/>
                <a:ext cx="9595140" cy="336974"/>
              </a:xfrm>
              <a:custGeom>
                <a:avLst/>
                <a:gdLst/>
                <a:ahLst/>
                <a:cxnLst/>
                <a:rect l="l" t="t" r="r" b="b"/>
                <a:pathLst>
                  <a:path w="8198812" h="491587" extrusionOk="0">
                    <a:moveTo>
                      <a:pt x="0" y="240664"/>
                    </a:moveTo>
                    <a:lnTo>
                      <a:pt x="615651" y="0"/>
                    </a:lnTo>
                    <a:lnTo>
                      <a:pt x="7583161" y="0"/>
                    </a:lnTo>
                    <a:lnTo>
                      <a:pt x="8198812" y="240664"/>
                    </a:lnTo>
                    <a:lnTo>
                      <a:pt x="7765387" y="485511"/>
                    </a:lnTo>
                    <a:lnTo>
                      <a:pt x="434712" y="491587"/>
                    </a:lnTo>
                    <a:lnTo>
                      <a:pt x="0" y="240664"/>
                    </a:lnTo>
                    <a:close/>
                  </a:path>
                </a:pathLst>
              </a:custGeom>
              <a:gradFill>
                <a:gsLst>
                  <a:gs pos="0">
                    <a:srgbClr val="666666">
                      <a:alpha val="0"/>
                    </a:srgbClr>
                  </a:gs>
                  <a:gs pos="100000">
                    <a:srgbClr val="666666">
                      <a:alpha val="25098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 panose="020B0604020202090204"/>
                  <a:buNone/>
                </a:pPr>
                <a:endParaRPr sz="8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302" name="Google Shape;302;p4"/>
              <p:cNvSpPr/>
              <p:nvPr/>
            </p:nvSpPr>
            <p:spPr>
              <a:xfrm rot="-5400000" flipH="1">
                <a:off x="10600351" y="5167202"/>
                <a:ext cx="605476" cy="509168"/>
              </a:xfrm>
              <a:custGeom>
                <a:avLst/>
                <a:gdLst/>
                <a:ahLst/>
                <a:cxnLst/>
                <a:rect l="l" t="t" r="r" b="b"/>
                <a:pathLst>
                  <a:path w="605476" h="509168" extrusionOk="0">
                    <a:moveTo>
                      <a:pt x="0" y="509168"/>
                    </a:moveTo>
                    <a:lnTo>
                      <a:pt x="169461" y="2382"/>
                    </a:lnTo>
                    <a:lnTo>
                      <a:pt x="605476" y="0"/>
                    </a:lnTo>
                    <a:lnTo>
                      <a:pt x="430063" y="509168"/>
                    </a:lnTo>
                    <a:lnTo>
                      <a:pt x="0" y="509168"/>
                    </a:lnTo>
                    <a:close/>
                  </a:path>
                </a:pathLst>
              </a:custGeom>
              <a:solidFill>
                <a:srgbClr val="666666">
                  <a:alpha val="50196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 panose="020B0604020202090204"/>
                  <a:buNone/>
                </a:pPr>
                <a:endParaRPr sz="8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</p:grpSp>
        <p:pic>
          <p:nvPicPr>
            <p:cNvPr id="303" name="Google Shape;303;p4" descr="\\Bchief-sever180\共享\华为\2016\6月\D-201606417-金融营销材料设计-刘泉\文件\link\组 26.png"/>
            <p:cNvPicPr preferRelativeResize="0"/>
            <p:nvPr/>
          </p:nvPicPr>
          <p:blipFill rotWithShape="1">
            <a:blip r:embed="rId18">
              <a:alphaModFix amt="50000"/>
            </a:blip>
            <a:srcRect/>
            <a:stretch>
              <a:fillRect/>
            </a:stretch>
          </p:blipFill>
          <p:spPr>
            <a:xfrm>
              <a:off x="6288592" y="1810610"/>
              <a:ext cx="5232801" cy="44800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4" name="Google Shape;304;p4"/>
            <p:cNvSpPr/>
            <p:nvPr/>
          </p:nvSpPr>
          <p:spPr>
            <a:xfrm>
              <a:off x="6177412" y="4871851"/>
              <a:ext cx="1727800" cy="866661"/>
            </a:xfrm>
            <a:prstGeom prst="ellipse">
              <a:avLst/>
            </a:prstGeom>
            <a:solidFill>
              <a:srgbClr val="D8D8D8"/>
            </a:solidFill>
            <a:ln w="349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317500" algn="ctr">
                <a:srgbClr val="000000">
                  <a:alpha val="43137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800" b="0" i="0" u="none" strike="noStrik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grpSp>
          <p:nvGrpSpPr>
            <p:cNvPr id="305" name="Google Shape;305;p4"/>
            <p:cNvGrpSpPr/>
            <p:nvPr/>
          </p:nvGrpSpPr>
          <p:grpSpPr>
            <a:xfrm>
              <a:off x="6397801" y="5003758"/>
              <a:ext cx="382498" cy="346201"/>
              <a:chOff x="1465435" y="1410632"/>
              <a:chExt cx="382647" cy="346337"/>
            </a:xfrm>
          </p:grpSpPr>
          <p:sp>
            <p:nvSpPr>
              <p:cNvPr id="306" name="Google Shape;306;p4"/>
              <p:cNvSpPr/>
              <p:nvPr/>
            </p:nvSpPr>
            <p:spPr>
              <a:xfrm>
                <a:off x="1477011" y="1410632"/>
                <a:ext cx="324000" cy="324000"/>
              </a:xfrm>
              <a:prstGeom prst="ellipse">
                <a:avLst/>
              </a:prstGeom>
              <a:solidFill>
                <a:srgbClr val="CF5D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 i="0" u="none" strike="noStrike" cap="none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307" name="Google Shape;307;p4"/>
              <p:cNvSpPr/>
              <p:nvPr/>
            </p:nvSpPr>
            <p:spPr>
              <a:xfrm rot="5400000">
                <a:off x="1550061" y="1477308"/>
                <a:ext cx="180000" cy="1800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222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 i="0" u="none" strike="noStrike" cap="none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308" name="Google Shape;308;p4"/>
              <p:cNvSpPr txBox="1"/>
              <p:nvPr/>
            </p:nvSpPr>
            <p:spPr>
              <a:xfrm>
                <a:off x="1465435" y="1412013"/>
                <a:ext cx="382647" cy="3449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just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 b="0" i="0" u="none" strike="noStrike" cap="none">
                    <a:solidFill>
                      <a:srgbClr val="FFFFFF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AI</a:t>
                </a:r>
                <a:endParaRPr sz="800" b="0" i="0" u="none" strike="noStrike" cap="none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</p:grpSp>
        <p:grpSp>
          <p:nvGrpSpPr>
            <p:cNvPr id="309" name="Google Shape;309;p4"/>
            <p:cNvGrpSpPr/>
            <p:nvPr/>
          </p:nvGrpSpPr>
          <p:grpSpPr>
            <a:xfrm>
              <a:off x="6810493" y="4956077"/>
              <a:ext cx="382498" cy="346201"/>
              <a:chOff x="1465435" y="1410632"/>
              <a:chExt cx="382647" cy="346337"/>
            </a:xfrm>
          </p:grpSpPr>
          <p:sp>
            <p:nvSpPr>
              <p:cNvPr id="310" name="Google Shape;310;p4"/>
              <p:cNvSpPr/>
              <p:nvPr/>
            </p:nvSpPr>
            <p:spPr>
              <a:xfrm>
                <a:off x="1477011" y="1410632"/>
                <a:ext cx="324000" cy="324000"/>
              </a:xfrm>
              <a:prstGeom prst="ellipse">
                <a:avLst/>
              </a:prstGeom>
              <a:solidFill>
                <a:srgbClr val="CF5D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 i="0" u="none" strike="noStrike" cap="none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311" name="Google Shape;311;p4"/>
              <p:cNvSpPr/>
              <p:nvPr/>
            </p:nvSpPr>
            <p:spPr>
              <a:xfrm rot="5400000">
                <a:off x="1550061" y="1477308"/>
                <a:ext cx="180000" cy="1800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222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 i="0" u="none" strike="noStrike" cap="none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312" name="Google Shape;312;p4"/>
              <p:cNvSpPr txBox="1"/>
              <p:nvPr/>
            </p:nvSpPr>
            <p:spPr>
              <a:xfrm>
                <a:off x="1465435" y="1412013"/>
                <a:ext cx="382647" cy="3449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just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 b="0" i="0" u="none" strike="noStrike" cap="none">
                    <a:solidFill>
                      <a:srgbClr val="FFFFFF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AI</a:t>
                </a:r>
                <a:endParaRPr sz="800" b="0" i="0" u="none" strike="noStrike" cap="none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</p:grpSp>
        <p:grpSp>
          <p:nvGrpSpPr>
            <p:cNvPr id="313" name="Google Shape;313;p4"/>
            <p:cNvGrpSpPr/>
            <p:nvPr/>
          </p:nvGrpSpPr>
          <p:grpSpPr>
            <a:xfrm>
              <a:off x="7227356" y="5005293"/>
              <a:ext cx="383013" cy="350510"/>
              <a:chOff x="3659199" y="732848"/>
              <a:chExt cx="383163" cy="350647"/>
            </a:xfrm>
          </p:grpSpPr>
          <p:sp>
            <p:nvSpPr>
              <p:cNvPr id="314" name="Google Shape;314;p4"/>
              <p:cNvSpPr/>
              <p:nvPr/>
            </p:nvSpPr>
            <p:spPr>
              <a:xfrm>
                <a:off x="3659199" y="732848"/>
                <a:ext cx="324000" cy="324000"/>
              </a:xfrm>
              <a:prstGeom prst="ellipse">
                <a:avLst/>
              </a:prstGeom>
              <a:solidFill>
                <a:srgbClr val="23447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 i="0" u="none" strike="noStrike" cap="none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315" name="Google Shape;315;p4"/>
              <p:cNvSpPr/>
              <p:nvPr/>
            </p:nvSpPr>
            <p:spPr>
              <a:xfrm rot="5400000">
                <a:off x="3732249" y="799524"/>
                <a:ext cx="180000" cy="1800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222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 i="0" u="none" strike="noStrike" cap="none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316" name="Google Shape;316;p4"/>
              <p:cNvSpPr txBox="1"/>
              <p:nvPr/>
            </p:nvSpPr>
            <p:spPr>
              <a:xfrm>
                <a:off x="3659715" y="738539"/>
                <a:ext cx="382647" cy="3449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just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 b="0" i="0" u="none" strike="noStrike" cap="none">
                    <a:solidFill>
                      <a:srgbClr val="FFFFFF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T</a:t>
                </a:r>
                <a:endParaRPr sz="800" b="0" i="0" u="none" strike="noStrike" cap="none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</p:grpSp>
        <p:grpSp>
          <p:nvGrpSpPr>
            <p:cNvPr id="317" name="Google Shape;317;p4"/>
            <p:cNvGrpSpPr/>
            <p:nvPr/>
          </p:nvGrpSpPr>
          <p:grpSpPr>
            <a:xfrm>
              <a:off x="6574016" y="5347144"/>
              <a:ext cx="383013" cy="350510"/>
              <a:chOff x="3659199" y="732848"/>
              <a:chExt cx="383163" cy="350647"/>
            </a:xfrm>
          </p:grpSpPr>
          <p:sp>
            <p:nvSpPr>
              <p:cNvPr id="318" name="Google Shape;318;p4"/>
              <p:cNvSpPr/>
              <p:nvPr/>
            </p:nvSpPr>
            <p:spPr>
              <a:xfrm>
                <a:off x="3659199" y="732848"/>
                <a:ext cx="324000" cy="324000"/>
              </a:xfrm>
              <a:prstGeom prst="ellipse">
                <a:avLst/>
              </a:prstGeom>
              <a:solidFill>
                <a:srgbClr val="23447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 i="0" u="none" strike="noStrike" cap="none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319" name="Google Shape;319;p4"/>
              <p:cNvSpPr/>
              <p:nvPr/>
            </p:nvSpPr>
            <p:spPr>
              <a:xfrm rot="5400000">
                <a:off x="3732249" y="799524"/>
                <a:ext cx="180000" cy="1800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222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 i="0" u="none" strike="noStrike" cap="none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320" name="Google Shape;320;p4"/>
              <p:cNvSpPr txBox="1"/>
              <p:nvPr/>
            </p:nvSpPr>
            <p:spPr>
              <a:xfrm>
                <a:off x="3659715" y="738539"/>
                <a:ext cx="382647" cy="3449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just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 b="0" i="0" u="none" strike="noStrike" cap="none">
                    <a:solidFill>
                      <a:srgbClr val="FFFFFF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T</a:t>
                </a:r>
                <a:endParaRPr sz="800" b="0" i="0" u="none" strike="noStrike" cap="none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</p:grpSp>
        <p:grpSp>
          <p:nvGrpSpPr>
            <p:cNvPr id="321" name="Google Shape;321;p4"/>
            <p:cNvGrpSpPr/>
            <p:nvPr/>
          </p:nvGrpSpPr>
          <p:grpSpPr>
            <a:xfrm>
              <a:off x="7052688" y="5333574"/>
              <a:ext cx="336604" cy="361905"/>
              <a:chOff x="2673743" y="5684448"/>
              <a:chExt cx="336604" cy="361905"/>
            </a:xfrm>
          </p:grpSpPr>
          <p:sp>
            <p:nvSpPr>
              <p:cNvPr id="322" name="Google Shape;322;p4"/>
              <p:cNvSpPr/>
              <p:nvPr/>
            </p:nvSpPr>
            <p:spPr>
              <a:xfrm>
                <a:off x="2686474" y="5684448"/>
                <a:ext cx="323873" cy="323873"/>
              </a:xfrm>
              <a:prstGeom prst="ellipse">
                <a:avLst/>
              </a:prstGeom>
              <a:solidFill>
                <a:srgbClr val="7030A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 i="0" u="none" strike="noStrike" cap="none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323" name="Google Shape;323;p4"/>
              <p:cNvSpPr/>
              <p:nvPr/>
            </p:nvSpPr>
            <p:spPr>
              <a:xfrm rot="5400000">
                <a:off x="2758445" y="5762493"/>
                <a:ext cx="179930" cy="17993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222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b="0" i="0" u="none" strike="noStrike" cap="none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324" name="Google Shape;324;p4"/>
              <p:cNvSpPr txBox="1"/>
              <p:nvPr/>
            </p:nvSpPr>
            <p:spPr>
              <a:xfrm>
                <a:off x="2673743" y="5701532"/>
                <a:ext cx="260762" cy="3448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just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 b="0" i="0" u="none" strike="noStrike" cap="none">
                    <a:solidFill>
                      <a:srgbClr val="FFFFFF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M</a:t>
                </a:r>
                <a:endParaRPr sz="800" b="0" i="0" u="none" strike="noStrike" cap="none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</p:grpSp>
      </p:grpSp>
      <p:sp>
        <p:nvSpPr>
          <p:cNvPr id="325" name="Google Shape;325;p4"/>
          <p:cNvSpPr txBox="1"/>
          <p:nvPr/>
        </p:nvSpPr>
        <p:spPr>
          <a:xfrm>
            <a:off x="3876675" y="3596640"/>
            <a:ext cx="767715" cy="1974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 i="0" u="none" strike="noStrike" cap="none">
                <a:solidFill>
                  <a:srgbClr val="595959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Cluster B</a:t>
            </a:r>
            <a:endParaRPr sz="800" b="1" i="0" u="none" strike="noStrike" cap="none">
              <a:solidFill>
                <a:srgbClr val="595959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pic>
        <p:nvPicPr>
          <p:cNvPr id="326" name="Google Shape;326;p4"/>
          <p:cNvPicPr preferRelativeResize="0"/>
          <p:nvPr/>
        </p:nvPicPr>
        <p:blipFill rotWithShape="1">
          <a:blip r:embed="rId19"/>
          <a:srcRect/>
          <a:stretch>
            <a:fillRect/>
          </a:stretch>
        </p:blipFill>
        <p:spPr>
          <a:xfrm flipH="1">
            <a:off x="4123055" y="2213610"/>
            <a:ext cx="597535" cy="539115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4"/>
          <p:cNvSpPr txBox="1"/>
          <p:nvPr/>
        </p:nvSpPr>
        <p:spPr>
          <a:xfrm>
            <a:off x="4045585" y="2721610"/>
            <a:ext cx="128778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Volcano Global</a:t>
            </a:r>
            <a:endParaRPr sz="8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pic>
        <p:nvPicPr>
          <p:cNvPr id="328" name="Google Shape;328;p4"/>
          <p:cNvPicPr preferRelativeResize="0"/>
          <p:nvPr/>
        </p:nvPicPr>
        <p:blipFill rotWithShape="1">
          <a:blip r:embed="rId19"/>
          <a:srcRect/>
          <a:stretch>
            <a:fillRect/>
          </a:stretch>
        </p:blipFill>
        <p:spPr>
          <a:xfrm flipH="1">
            <a:off x="1838325" y="3988435"/>
            <a:ext cx="504825" cy="52006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4"/>
          <p:cNvSpPr txBox="1"/>
          <p:nvPr/>
        </p:nvSpPr>
        <p:spPr>
          <a:xfrm>
            <a:off x="1682750" y="4444365"/>
            <a:ext cx="859790" cy="173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Volcano Agent</a:t>
            </a:r>
            <a:endParaRPr sz="8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pic>
        <p:nvPicPr>
          <p:cNvPr id="330" name="Google Shape;330;p4"/>
          <p:cNvPicPr preferRelativeResize="0"/>
          <p:nvPr/>
        </p:nvPicPr>
        <p:blipFill rotWithShape="1">
          <a:blip r:embed="rId19"/>
          <a:srcRect/>
          <a:stretch>
            <a:fillRect/>
          </a:stretch>
        </p:blipFill>
        <p:spPr>
          <a:xfrm flipH="1">
            <a:off x="4605020" y="3984625"/>
            <a:ext cx="504825" cy="520065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4"/>
          <p:cNvSpPr txBox="1"/>
          <p:nvPr/>
        </p:nvSpPr>
        <p:spPr>
          <a:xfrm>
            <a:off x="4468495" y="4465320"/>
            <a:ext cx="859790" cy="173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Volcano Agent</a:t>
            </a:r>
            <a:endParaRPr sz="8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" name="Google Shape;614;p67"/>
          <p:cNvSpPr>
            <a:spLocks noGrp="1"/>
          </p:cNvSpPr>
          <p:nvPr>
            <p:ph type="title"/>
          </p:nvPr>
        </p:nvSpPr>
        <p:spPr>
          <a:xfrm>
            <a:off x="311700" y="0"/>
            <a:ext cx="6949800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>Unified Scheduling Architecture</a:t>
            </a:r>
          </a:p>
        </p:txBody>
      </p:sp>
      <p:sp>
        <p:nvSpPr>
          <p:cNvPr id="615" name="Shape 5"/>
          <p:cNvSpPr>
            <a:spLocks noGrp="1"/>
          </p:cNvSpPr>
          <p:nvPr/>
        </p:nvSpPr>
        <p:spPr>
          <a:xfrm>
            <a:off x="278139" y="1115150"/>
            <a:ext cx="8471241" cy="0"/>
          </a:xfrm>
          <a:prstGeom prst="line">
            <a:avLst/>
          </a:prstGeom>
          <a:noFill/>
          <a:ln w="11430">
            <a:solidFill>
              <a:srgbClr val="B9C8D8"/>
            </a:solidFill>
            <a:prstDash val="solid"/>
            <a:headEnd type="none"/>
          </a:ln>
        </p:spPr>
      </p:sp>
      <p:sp>
        <p:nvSpPr>
          <p:cNvPr id="616" name="Shape 6"/>
          <p:cNvSpPr>
            <a:spLocks noGrp="1"/>
          </p:cNvSpPr>
          <p:nvPr/>
        </p:nvSpPr>
        <p:spPr>
          <a:xfrm>
            <a:off x="278139" y="1080000"/>
            <a:ext cx="942030" cy="70301"/>
          </a:xfrm>
          <a:prstGeom prst="rect">
            <a:avLst/>
          </a:prstGeom>
          <a:solidFill>
            <a:srgbClr val="E43D30"/>
          </a:solidFill>
          <a:ln w="12700">
            <a:solidFill>
              <a:srgbClr val="E43D30">
                <a:alpha val="0"/>
              </a:srgbClr>
            </a:solidFill>
            <a:prstDash val="solid"/>
          </a:ln>
        </p:spPr>
      </p:sp>
      <p:sp>
        <p:nvSpPr>
          <p:cNvPr id="617" name="Shape 8"/>
          <p:cNvSpPr>
            <a:spLocks noGrp="1"/>
          </p:cNvSpPr>
          <p:nvPr/>
        </p:nvSpPr>
        <p:spPr>
          <a:xfrm>
            <a:off x="348440" y="1269812"/>
            <a:ext cx="970150" cy="267143"/>
          </a:xfrm>
          <a:prstGeom prst="chevron">
            <a:avLst/>
          </a:prstGeom>
          <a:solidFill>
            <a:srgbClr val="6F8193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618" name="Text 9"/>
          <p:cNvSpPr>
            <a:spLocks noGrp="1"/>
          </p:cNvSpPr>
          <p:nvPr/>
        </p:nvSpPr>
        <p:spPr>
          <a:xfrm>
            <a:off x="404680" y="1297932"/>
            <a:ext cx="815489" cy="1898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4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Scheduling inputs</a:t>
            </a:r>
            <a:endParaRPr sz="940"/>
          </a:p>
        </p:txBody>
      </p:sp>
      <p:sp>
        <p:nvSpPr>
          <p:cNvPr id="619" name="Shape 10"/>
          <p:cNvSpPr>
            <a:spLocks noGrp="1"/>
          </p:cNvSpPr>
          <p:nvPr/>
        </p:nvSpPr>
        <p:spPr>
          <a:xfrm>
            <a:off x="1529492" y="1206541"/>
            <a:ext cx="1532556" cy="492105"/>
          </a:xfrm>
          <a:prstGeom prst="rect">
            <a:avLst/>
          </a:prstGeom>
          <a:solidFill>
            <a:srgbClr val="FFFFFF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620" name="Text 11"/>
          <p:cNvSpPr>
            <a:spLocks noGrp="1"/>
          </p:cNvSpPr>
          <p:nvPr/>
        </p:nvSpPr>
        <p:spPr>
          <a:xfrm>
            <a:off x="1641974" y="1269812"/>
            <a:ext cx="1307594" cy="18278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5" b="1">
                <a:solidFill>
                  <a:srgbClr val="003F8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Workload intent</a:t>
            </a:r>
            <a:endParaRPr sz="905"/>
          </a:p>
        </p:txBody>
      </p:sp>
      <p:sp>
        <p:nvSpPr>
          <p:cNvPr id="621" name="Text 12"/>
          <p:cNvSpPr>
            <a:spLocks noGrp="1"/>
          </p:cNvSpPr>
          <p:nvPr/>
        </p:nvSpPr>
        <p:spPr>
          <a:xfrm>
            <a:off x="1641974" y="1494774"/>
            <a:ext cx="1307594" cy="126541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00">
                <a:solidFill>
                  <a:srgbClr val="5D6B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Object type / schedulerName</a:t>
            </a:r>
            <a:endParaRPr sz="700"/>
          </a:p>
        </p:txBody>
      </p:sp>
      <p:sp>
        <p:nvSpPr>
          <p:cNvPr id="622" name="Shape 13"/>
          <p:cNvSpPr>
            <a:spLocks noGrp="1"/>
          </p:cNvSpPr>
          <p:nvPr/>
        </p:nvSpPr>
        <p:spPr>
          <a:xfrm>
            <a:off x="2295771" y="1712707"/>
            <a:ext cx="0" cy="140602"/>
          </a:xfrm>
          <a:prstGeom prst="line">
            <a:avLst/>
          </a:prstGeom>
          <a:noFill/>
          <a:ln w="12700">
            <a:solidFill>
              <a:srgbClr val="0B5CAD"/>
            </a:solidFill>
            <a:prstDash val="solid"/>
            <a:headEnd type="none"/>
            <a:tailEnd type="triangle"/>
          </a:ln>
        </p:spPr>
      </p:sp>
      <p:sp>
        <p:nvSpPr>
          <p:cNvPr id="623" name="Shape 14"/>
          <p:cNvSpPr>
            <a:spLocks noGrp="1"/>
          </p:cNvSpPr>
          <p:nvPr/>
        </p:nvSpPr>
        <p:spPr>
          <a:xfrm>
            <a:off x="3265921" y="1206541"/>
            <a:ext cx="1532556" cy="492105"/>
          </a:xfrm>
          <a:prstGeom prst="rect">
            <a:avLst/>
          </a:prstGeom>
          <a:solidFill>
            <a:srgbClr val="FFFFFF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624" name="Text 15"/>
          <p:cNvSpPr>
            <a:spLocks noGrp="1"/>
          </p:cNvSpPr>
          <p:nvPr/>
        </p:nvSpPr>
        <p:spPr>
          <a:xfrm>
            <a:off x="3378402" y="1269812"/>
            <a:ext cx="1307594" cy="18278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5" b="1">
                <a:solidFill>
                  <a:srgbClr val="003F8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SLA and priority</a:t>
            </a:r>
            <a:endParaRPr sz="905"/>
          </a:p>
        </p:txBody>
      </p:sp>
      <p:sp>
        <p:nvSpPr>
          <p:cNvPr id="625" name="Text 16"/>
          <p:cNvSpPr>
            <a:spLocks noGrp="1"/>
          </p:cNvSpPr>
          <p:nvPr/>
        </p:nvSpPr>
        <p:spPr>
          <a:xfrm>
            <a:off x="3378402" y="1494774"/>
            <a:ext cx="1307594" cy="126541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00">
                <a:solidFill>
                  <a:srgbClr val="5D6B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Latency / throughput / criticality</a:t>
            </a:r>
            <a:endParaRPr sz="700"/>
          </a:p>
        </p:txBody>
      </p:sp>
      <p:sp>
        <p:nvSpPr>
          <p:cNvPr id="626" name="Shape 17"/>
          <p:cNvSpPr>
            <a:spLocks noGrp="1"/>
          </p:cNvSpPr>
          <p:nvPr/>
        </p:nvSpPr>
        <p:spPr>
          <a:xfrm>
            <a:off x="4032199" y="1712707"/>
            <a:ext cx="0" cy="140602"/>
          </a:xfrm>
          <a:prstGeom prst="line">
            <a:avLst/>
          </a:prstGeom>
          <a:noFill/>
          <a:ln w="12700">
            <a:solidFill>
              <a:srgbClr val="0B5CAD"/>
            </a:solidFill>
            <a:prstDash val="solid"/>
            <a:headEnd type="none"/>
            <a:tailEnd type="triangle"/>
          </a:ln>
        </p:spPr>
      </p:sp>
      <p:sp>
        <p:nvSpPr>
          <p:cNvPr id="627" name="Shape 18"/>
          <p:cNvSpPr>
            <a:spLocks noGrp="1"/>
          </p:cNvSpPr>
          <p:nvPr/>
        </p:nvSpPr>
        <p:spPr>
          <a:xfrm>
            <a:off x="5002350" y="1206541"/>
            <a:ext cx="1532556" cy="492105"/>
          </a:xfrm>
          <a:prstGeom prst="rect">
            <a:avLst/>
          </a:prstGeom>
          <a:solidFill>
            <a:srgbClr val="FFFFFF"/>
          </a:solidFill>
          <a:ln w="12700">
            <a:solidFill>
              <a:srgbClr val="6F8193"/>
            </a:solidFill>
            <a:prstDash val="solid"/>
          </a:ln>
        </p:spPr>
      </p:sp>
      <p:sp>
        <p:nvSpPr>
          <p:cNvPr id="628" name="Text 19"/>
          <p:cNvSpPr>
            <a:spLocks noGrp="1"/>
          </p:cNvSpPr>
          <p:nvPr/>
        </p:nvSpPr>
        <p:spPr>
          <a:xfrm>
            <a:off x="5114831" y="1269812"/>
            <a:ext cx="1307594" cy="18278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5" b="1">
                <a:solidFill>
                  <a:srgbClr val="003F8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Workload structure and topology</a:t>
            </a:r>
            <a:endParaRPr sz="905"/>
          </a:p>
        </p:txBody>
      </p:sp>
      <p:sp>
        <p:nvSpPr>
          <p:cNvPr id="629" name="Text 20"/>
          <p:cNvSpPr>
            <a:spLocks noGrp="1"/>
          </p:cNvSpPr>
          <p:nvPr/>
        </p:nvSpPr>
        <p:spPr>
          <a:xfrm>
            <a:off x="5114831" y="1494774"/>
            <a:ext cx="1307594" cy="126541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00">
                <a:solidFill>
                  <a:srgbClr val="5D6B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Gang / role groups / network boundary</a:t>
            </a:r>
            <a:endParaRPr sz="700"/>
          </a:p>
        </p:txBody>
      </p:sp>
      <p:sp>
        <p:nvSpPr>
          <p:cNvPr id="630" name="Shape 21"/>
          <p:cNvSpPr>
            <a:spLocks noGrp="1"/>
          </p:cNvSpPr>
          <p:nvPr/>
        </p:nvSpPr>
        <p:spPr>
          <a:xfrm>
            <a:off x="5768628" y="1712707"/>
            <a:ext cx="0" cy="140602"/>
          </a:xfrm>
          <a:prstGeom prst="line">
            <a:avLst/>
          </a:prstGeom>
          <a:noFill/>
          <a:ln w="12700">
            <a:solidFill>
              <a:srgbClr val="6F8193"/>
            </a:solidFill>
            <a:prstDash val="solid"/>
            <a:headEnd type="none"/>
            <a:tailEnd type="triangle"/>
          </a:ln>
        </p:spPr>
      </p:sp>
      <p:sp>
        <p:nvSpPr>
          <p:cNvPr id="631" name="Shape 22"/>
          <p:cNvSpPr>
            <a:spLocks noGrp="1"/>
          </p:cNvSpPr>
          <p:nvPr/>
        </p:nvSpPr>
        <p:spPr>
          <a:xfrm>
            <a:off x="6738778" y="1206541"/>
            <a:ext cx="1532556" cy="492105"/>
          </a:xfrm>
          <a:prstGeom prst="rect">
            <a:avLst/>
          </a:prstGeom>
          <a:solidFill>
            <a:srgbClr val="FFFFFF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632" name="Text 23"/>
          <p:cNvSpPr>
            <a:spLocks noGrp="1"/>
          </p:cNvSpPr>
          <p:nvPr/>
        </p:nvSpPr>
        <p:spPr>
          <a:xfrm>
            <a:off x="6851259" y="1269812"/>
            <a:ext cx="1307594" cy="18278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5" b="1">
                <a:solidFill>
                  <a:srgbClr val="003F8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Node runtime state</a:t>
            </a:r>
            <a:endParaRPr sz="905"/>
          </a:p>
        </p:txBody>
      </p:sp>
      <p:sp>
        <p:nvSpPr>
          <p:cNvPr id="633" name="Text 24"/>
          <p:cNvSpPr>
            <a:spLocks noGrp="1"/>
          </p:cNvSpPr>
          <p:nvPr/>
        </p:nvSpPr>
        <p:spPr>
          <a:xfrm>
            <a:off x="6851259" y="1494774"/>
            <a:ext cx="1307594" cy="126541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00">
                <a:solidFill>
                  <a:srgbClr val="5D6B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Capacity / utilization / availability</a:t>
            </a:r>
            <a:endParaRPr sz="700"/>
          </a:p>
        </p:txBody>
      </p:sp>
      <p:sp>
        <p:nvSpPr>
          <p:cNvPr id="634" name="Shape 25"/>
          <p:cNvSpPr>
            <a:spLocks noGrp="1"/>
          </p:cNvSpPr>
          <p:nvPr/>
        </p:nvSpPr>
        <p:spPr>
          <a:xfrm>
            <a:off x="7505056" y="1712707"/>
            <a:ext cx="0" cy="140602"/>
          </a:xfrm>
          <a:prstGeom prst="line">
            <a:avLst/>
          </a:prstGeom>
          <a:noFill/>
          <a:ln w="12700">
            <a:solidFill>
              <a:srgbClr val="0B5CAD"/>
            </a:solidFill>
            <a:prstDash val="solid"/>
            <a:headEnd type="none"/>
            <a:tailEnd type="triangle"/>
          </a:ln>
        </p:spPr>
      </p:sp>
      <p:sp>
        <p:nvSpPr>
          <p:cNvPr id="635" name="Shape 26"/>
          <p:cNvSpPr>
            <a:spLocks noGrp="1"/>
          </p:cNvSpPr>
          <p:nvPr/>
        </p:nvSpPr>
        <p:spPr>
          <a:xfrm>
            <a:off x="348440" y="1846278"/>
            <a:ext cx="8379850" cy="2601128"/>
          </a:xfrm>
          <a:prstGeom prst="rect">
            <a:avLst/>
          </a:prstGeom>
          <a:solidFill>
            <a:srgbClr val="FFFFFF"/>
          </a:solidFill>
          <a:ln w="12700">
            <a:solidFill>
              <a:srgbClr val="B7C7D9"/>
            </a:solidFill>
            <a:prstDash val="solid"/>
          </a:ln>
          <a:effectLst>
            <a:outerShdw blurRad="12700" dist="50800" dir="2700000" algn="bl" rotWithShape="0">
              <a:srgbClr val="7A8796">
                <a:alpha val="14000"/>
              </a:srgbClr>
            </a:outerShdw>
          </a:effectLst>
        </p:spPr>
      </p:sp>
      <p:pic>
        <p:nvPicPr>
          <p:cNvPr id="665" name="Imag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2374" y="1972820"/>
            <a:ext cx="3391982" cy="2348045"/>
          </a:xfrm>
          <a:prstGeom prst="rect">
            <a:avLst/>
          </a:prstGeom>
        </p:spPr>
      </p:pic>
      <p:sp>
        <p:nvSpPr>
          <p:cNvPr id="637" name="Shape 27"/>
          <p:cNvSpPr>
            <a:spLocks noGrp="1"/>
          </p:cNvSpPr>
          <p:nvPr/>
        </p:nvSpPr>
        <p:spPr>
          <a:xfrm>
            <a:off x="601523" y="4517707"/>
            <a:ext cx="2565977" cy="302293"/>
          </a:xfrm>
          <a:prstGeom prst="rect">
            <a:avLst/>
          </a:prstGeom>
          <a:solidFill>
            <a:srgbClr val="FFFFFF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638" name="Text 28"/>
          <p:cNvSpPr>
            <a:spLocks noGrp="1"/>
          </p:cNvSpPr>
          <p:nvPr/>
        </p:nvSpPr>
        <p:spPr>
          <a:xfrm>
            <a:off x="742124" y="4573947"/>
            <a:ext cx="2284774" cy="16872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890" b="1">
                <a:solidFill>
                  <a:srgbClr val="0B5CA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One control plane</a:t>
            </a:r>
            <a:endParaRPr sz="890"/>
          </a:p>
        </p:txBody>
      </p:sp>
      <p:sp>
        <p:nvSpPr>
          <p:cNvPr id="639" name="Shape 29"/>
          <p:cNvSpPr>
            <a:spLocks noGrp="1"/>
          </p:cNvSpPr>
          <p:nvPr/>
        </p:nvSpPr>
        <p:spPr>
          <a:xfrm>
            <a:off x="3448703" y="4517707"/>
            <a:ext cx="2565977" cy="302293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40" name="Text 30"/>
          <p:cNvSpPr>
            <a:spLocks noGrp="1"/>
          </p:cNvSpPr>
          <p:nvPr/>
        </p:nvSpPr>
        <p:spPr>
          <a:xfrm>
            <a:off x="3589305" y="4573947"/>
            <a:ext cx="2284774" cy="16872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890" b="1">
                <a:solidFill>
                  <a:schemeClr val="accent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Specialized scheduling paths</a:t>
            </a:r>
            <a:endParaRPr sz="890" b="1">
              <a:solidFill>
                <a:schemeClr val="accent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41" name="Shape 31"/>
          <p:cNvSpPr>
            <a:spLocks noGrp="1"/>
          </p:cNvSpPr>
          <p:nvPr/>
        </p:nvSpPr>
        <p:spPr>
          <a:xfrm>
            <a:off x="6295883" y="4517707"/>
            <a:ext cx="2565977" cy="302293"/>
          </a:xfrm>
          <a:prstGeom prst="rect">
            <a:avLst/>
          </a:prstGeom>
          <a:solidFill>
            <a:srgbClr val="FFFFFF"/>
          </a:solidFill>
          <a:ln w="12700">
            <a:solidFill>
              <a:srgbClr val="003F8F"/>
            </a:solidFill>
            <a:prstDash val="solid"/>
          </a:ln>
        </p:spPr>
      </p:sp>
      <p:sp>
        <p:nvSpPr>
          <p:cNvPr id="642" name="Text 32"/>
          <p:cNvSpPr>
            <a:spLocks noGrp="1"/>
          </p:cNvSpPr>
          <p:nvPr/>
        </p:nvSpPr>
        <p:spPr>
          <a:xfrm>
            <a:off x="6436485" y="4573947"/>
            <a:ext cx="2284774" cy="16872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890" b="1">
                <a:solidFill>
                  <a:srgbClr val="003F8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Dynamic NodeShard boundaries</a:t>
            </a:r>
            <a:endParaRPr sz="89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" name="Google Shape;614;p67"/>
          <p:cNvSpPr>
            <a:spLocks noGrp="1"/>
          </p:cNvSpPr>
          <p:nvPr>
            <p:ph type="title"/>
          </p:nvPr>
        </p:nvSpPr>
        <p:spPr>
          <a:xfrm>
            <a:off x="311700" y="0"/>
            <a:ext cx="6949800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>Fast-Path Agent Scheduling</a:t>
            </a:r>
            <a:endParaRPr lang="en-US"/>
          </a:p>
        </p:txBody>
      </p:sp>
      <p:sp>
        <p:nvSpPr>
          <p:cNvPr id="615" name="Google Shape;455;p8"/>
          <p:cNvSpPr>
            <a:spLocks noGrp="1"/>
          </p:cNvSpPr>
          <p:nvPr>
            <p:ph type="body" idx="4294967295"/>
          </p:nvPr>
        </p:nvSpPr>
        <p:spPr>
          <a:xfrm>
            <a:off x="241773" y="1357706"/>
            <a:ext cx="4722279" cy="2883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127000" lvl="0" indent="0" algn="l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Clr>
                <a:schemeClr val="dk1"/>
              </a:buClr>
              <a:buSzPts val="1537"/>
              <a:buNone/>
            </a:pPr>
            <a:r>
              <a:rPr lang="en-US" altLang="en-US" sz="1535" b="1">
                <a:solidFill>
                  <a:schemeClr val="dk1"/>
                </a:solidFill>
                <a:latin typeface="Arial Bold" panose="020B0604020202090204" charset="0"/>
                <a:cs typeface="Arial Bold" panose="020B0604020202090204" charset="0"/>
              </a:rPr>
              <a:t>Dedicated fast path</a:t>
            </a:r>
            <a:endParaRPr lang="en-US" altLang="en-US" sz="1535" b="1">
              <a:solidFill>
                <a:schemeClr val="dk1"/>
              </a:solidFill>
              <a:latin typeface="Arial Bold" panose="020B0604020202090204" charset="0"/>
              <a:cs typeface="Arial Bold" panose="020B0604020202090204" charset="0"/>
            </a:endParaRPr>
          </a:p>
          <a:p>
            <a:pPr marL="457200" lvl="0" indent="-330200" algn="l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Clr>
                <a:schemeClr val="dk1"/>
              </a:buClr>
              <a:buSzPts val="1537"/>
              <a:buChar char="●"/>
            </a:pPr>
            <a:r>
              <a:rPr lang="en-US" altLang="en-US" sz="1535">
                <a:solidFill>
                  <a:schemeClr val="dk1"/>
                </a:solidFill>
              </a:rPr>
              <a:t>Bursty, short-lived agent tasks bypass the batch-oriented scheduling path.</a:t>
            </a:r>
            <a:endParaRPr lang="en-US" altLang="en-US" sz="1535">
              <a:solidFill>
                <a:schemeClr val="dk1"/>
              </a:solidFill>
            </a:endParaRPr>
          </a:p>
          <a:p>
            <a:pPr marL="127000" lvl="0" indent="0" algn="l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Clr>
                <a:schemeClr val="dk1"/>
              </a:buClr>
              <a:buSzPts val="1537"/>
              <a:buNone/>
            </a:pPr>
            <a:r>
              <a:rPr lang="en-US" altLang="en-US" sz="1535" b="1">
                <a:solidFill>
                  <a:schemeClr val="dk1"/>
                </a:solidFill>
                <a:latin typeface="Arial Bold" panose="020B0604020202090204" charset="0"/>
                <a:cs typeface="Arial Bold" panose="020B0604020202090204" charset="0"/>
              </a:rPr>
              <a:t>Parallel scheduling</a:t>
            </a:r>
            <a:endParaRPr lang="en-US" altLang="en-US" sz="1535" b="1">
              <a:solidFill>
                <a:schemeClr val="dk1"/>
              </a:solidFill>
              <a:latin typeface="Arial Bold" panose="020B0604020202090204" charset="0"/>
              <a:cs typeface="Arial Bold" panose="020B0604020202090204" charset="0"/>
            </a:endParaRPr>
          </a:p>
          <a:p>
            <a:pPr marL="457200" lvl="0" indent="-330200" algn="l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Clr>
                <a:schemeClr val="dk1"/>
              </a:buClr>
              <a:buSzPts val="1537"/>
              <a:buChar char="●"/>
            </a:pPr>
            <a:r>
              <a:rPr lang="en-US" altLang="en-US" sz="1535">
                <a:solidFill>
                  <a:schemeClr val="dk1"/>
                </a:solidFill>
              </a:rPr>
              <a:t>Multiple workers make placement decisions from shared cluster snapshots.</a:t>
            </a:r>
            <a:endParaRPr lang="en-US" altLang="en-US" sz="1535">
              <a:solidFill>
                <a:schemeClr val="dk1"/>
              </a:solidFill>
            </a:endParaRPr>
          </a:p>
          <a:p>
            <a:pPr marL="127000" lvl="0" indent="0" algn="l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Clr>
                <a:schemeClr val="dk1"/>
              </a:buClr>
              <a:buSzPts val="1537"/>
              <a:buNone/>
            </a:pPr>
            <a:r>
              <a:rPr lang="en-US" altLang="en-US" sz="1535" b="1">
                <a:solidFill>
                  <a:schemeClr val="dk1"/>
                </a:solidFill>
                <a:latin typeface="Arial Bold" panose="020B0604020202090204" charset="0"/>
                <a:cs typeface="Arial Bold" panose="020B0604020202090204" charset="0"/>
              </a:rPr>
              <a:t>Conflict-aware binding</a:t>
            </a:r>
            <a:endParaRPr lang="en-US" altLang="en-US" sz="1535" b="1">
              <a:solidFill>
                <a:schemeClr val="dk1"/>
              </a:solidFill>
              <a:latin typeface="Arial Bold" panose="020B0604020202090204" charset="0"/>
              <a:cs typeface="Arial Bold" panose="020B0604020202090204" charset="0"/>
            </a:endParaRPr>
          </a:p>
          <a:p>
            <a:pPr marL="457200" lvl="0" indent="-330200" algn="l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Clr>
                <a:schemeClr val="dk1"/>
              </a:buClr>
              <a:buSzPts val="1537"/>
              <a:buChar char="●"/>
            </a:pPr>
            <a:r>
              <a:rPr lang="en-US" altLang="en-US" sz="1535">
                <a:solidFill>
                  <a:schemeClr val="dk1"/>
                </a:solidFill>
              </a:rPr>
              <a:t>Optimistic scheduling reduces coordination overhead while preserving correctness.</a:t>
            </a:r>
            <a:endParaRPr lang="en-US" altLang="en-US" sz="1535">
              <a:solidFill>
                <a:schemeClr val="dk1"/>
              </a:solidFill>
            </a:endParaRPr>
          </a:p>
        </p:txBody>
      </p:sp>
      <p:pic>
        <p:nvPicPr>
          <p:cNvPr id="619" name="Google Shape;456;p8"/>
          <p:cNvPicPr>
            <a:picLocks noChangeAspect="1"/>
          </p:cNvPicPr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5255282" y="1080000"/>
            <a:ext cx="3522296" cy="3740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" name="Google Shape;614;p67"/>
          <p:cNvSpPr>
            <a:spLocks noGrp="1"/>
          </p:cNvSpPr>
          <p:nvPr>
            <p:ph type="title"/>
          </p:nvPr>
        </p:nvSpPr>
        <p:spPr>
          <a:xfrm>
            <a:off x="311700" y="0"/>
            <a:ext cx="6949800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>Dynamic Node Sharding</a:t>
            </a:r>
          </a:p>
        </p:txBody>
      </p:sp>
      <p:pic>
        <p:nvPicPr>
          <p:cNvPr id="618" name="Google Shape;462;p9"/>
          <p:cNvPicPr>
            <a:picLocks noChangeAspect="1"/>
          </p:cNvPicPr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5120617" y="1080000"/>
            <a:ext cx="3684134" cy="3740000"/>
          </a:xfrm>
          <a:prstGeom prst="rect">
            <a:avLst/>
          </a:prstGeom>
          <a:ln>
            <a:noFill/>
          </a:ln>
        </p:spPr>
      </p:pic>
      <p:sp>
        <p:nvSpPr>
          <p:cNvPr id="616" name="Google Shape;463;p9"/>
          <p:cNvSpPr>
            <a:spLocks noGrp="1"/>
          </p:cNvSpPr>
          <p:nvPr>
            <p:ph type="body" idx="4294967295"/>
          </p:nvPr>
        </p:nvSpPr>
        <p:spPr>
          <a:xfrm>
            <a:off x="311754" y="1355727"/>
            <a:ext cx="4556606" cy="2871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lvl="0" indent="0" algn="ctr">
              <a:lnSpc>
                <a:spcPct val="136000"/>
              </a:lnSpc>
              <a:spcBef>
                <a:spcPts val="955"/>
              </a:spcBef>
              <a:spcAft>
                <a:spcPts val="700"/>
              </a:spcAft>
              <a:buSzPts val="1721"/>
              <a:buNone/>
            </a:pPr>
            <a:r>
              <a:rPr sz="1530" b="1">
                <a:solidFill>
                  <a:schemeClr val="dk1"/>
                </a:solidFill>
              </a:rPr>
              <a:t>Specialized Scheduling, Resource Optimization</a:t>
            </a:r>
            <a:endParaRPr sz="1530" b="1">
              <a:solidFill>
                <a:schemeClr val="dk1"/>
              </a:solidFill>
            </a:endParaRPr>
          </a:p>
          <a:p>
            <a:pPr marL="0" lvl="0" indent="0" algn="ctr">
              <a:lnSpc>
                <a:spcPct val="136000"/>
              </a:lnSpc>
              <a:spcBef>
                <a:spcPts val="700"/>
              </a:spcBef>
              <a:spcAft>
                <a:spcPts val="700"/>
              </a:spcAft>
              <a:buSzPts val="1721"/>
              <a:buNone/>
            </a:pPr>
            <a:r>
              <a:rPr sz="1530" b="1">
                <a:solidFill>
                  <a:schemeClr val="dk1"/>
                </a:solidFill>
              </a:rPr>
              <a:t>Scalability, Workload Isolation</a:t>
            </a:r>
            <a:endParaRPr sz="1530">
              <a:solidFill>
                <a:schemeClr val="dk1"/>
              </a:solidFill>
            </a:endParaRPr>
          </a:p>
          <a:p>
            <a:pPr marL="457200" lvl="0" indent="-330200" algn="l">
              <a:lnSpc>
                <a:spcPct val="136000"/>
              </a:lnSpc>
              <a:spcBef>
                <a:spcPts val="955"/>
              </a:spcBef>
              <a:spcAft>
                <a:spcPts val="700"/>
              </a:spcAft>
              <a:buClr>
                <a:schemeClr val="dk1"/>
              </a:buClr>
              <a:buSzPts val="1530"/>
              <a:buChar char="●"/>
            </a:pPr>
            <a:r>
              <a:rPr sz="1530">
                <a:solidFill>
                  <a:schemeClr val="dk1"/>
                </a:solidFill>
              </a:rPr>
              <a:t>Sharding Controller dynamically computes node pools based on extensible policies rather than inefficient static hard partitioning.</a:t>
            </a:r>
            <a:endParaRPr sz="1530">
              <a:solidFill>
                <a:schemeClr val="dk1"/>
              </a:solidFill>
            </a:endParaRPr>
          </a:p>
          <a:p>
            <a:pPr marL="457200" lvl="0" indent="-330200" algn="l">
              <a:lnSpc>
                <a:spcPct val="136000"/>
              </a:lnSpc>
              <a:spcBef>
                <a:spcPts val="955"/>
              </a:spcBef>
              <a:spcAft>
                <a:spcPts val="700"/>
              </a:spcAft>
              <a:buClr>
                <a:schemeClr val="dk1"/>
              </a:buClr>
              <a:buSzPts val="1530"/>
              <a:buChar char="●"/>
            </a:pPr>
            <a:r>
              <a:rPr sz="1530">
                <a:solidFill>
                  <a:schemeClr val="dk1"/>
                </a:solidFill>
              </a:rPr>
              <a:t>Enables flexible scheduler combinations (e.g., multiple Batch Schedulers, or Agent + Batch) coordinating via the NodeShard CRD.</a:t>
            </a:r>
            <a:endParaRPr sz="153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" name="Google Shape;614;p67"/>
          <p:cNvSpPr>
            <a:spLocks noGrp="1"/>
          </p:cNvSpPr>
          <p:nvPr>
            <p:ph type="title"/>
          </p:nvPr>
        </p:nvSpPr>
        <p:spPr>
          <a:xfrm>
            <a:off x="311700" y="0"/>
            <a:ext cx="6949800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>Colocation Foundations</a:t>
            </a:r>
          </a:p>
        </p:txBody>
      </p:sp>
      <p:sp>
        <p:nvSpPr>
          <p:cNvPr id="615" name="Google Shape;491;p12"/>
          <p:cNvSpPr>
            <a:spLocks noGrp="1"/>
          </p:cNvSpPr>
          <p:nvPr>
            <p:ph type="body" idx="1"/>
          </p:nvPr>
        </p:nvSpPr>
        <p:spPr>
          <a:xfrm>
            <a:off x="865505" y="1216025"/>
            <a:ext cx="4335780" cy="2897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457200" lvl="0" indent="-330200" algn="l">
              <a:lnSpc>
                <a:spcPct val="150000"/>
              </a:lnSpc>
              <a:spcBef>
                <a:spcPts val="700"/>
              </a:spcBef>
              <a:spcAft>
                <a:spcPts val="700"/>
              </a:spcAft>
              <a:buClr>
                <a:schemeClr val="dk1"/>
              </a:buClr>
              <a:buSzPts val="1265"/>
              <a:buChar char="●"/>
            </a:pPr>
            <a:r>
              <a:rPr sz="1105">
                <a:solidFill>
                  <a:schemeClr val="dk1"/>
                </a:solidFill>
              </a:rPr>
              <a:t>Expanded OS Support: Fully decoupled from specific distros, </a:t>
            </a:r>
            <a:r>
              <a:rPr sz="1105" b="1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now supporting generic operating systems (Ubuntu, CentOS, etc.).</a:t>
            </a:r>
            <a:endParaRPr sz="1105" b="1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457200" lvl="0" indent="-330200" algn="l">
              <a:lnSpc>
                <a:spcPct val="150000"/>
              </a:lnSpc>
              <a:spcBef>
                <a:spcPts val="700"/>
              </a:spcBef>
              <a:spcAft>
                <a:spcPts val="700"/>
              </a:spcAft>
              <a:buClr>
                <a:schemeClr val="dk1"/>
              </a:buClr>
              <a:buSzPts val="1265"/>
              <a:buChar char="●"/>
            </a:pPr>
            <a:r>
              <a:rPr sz="1105">
                <a:solidFill>
                  <a:schemeClr val="dk1"/>
                </a:solidFill>
              </a:rPr>
              <a:t>Dynamic CPU Throttling &amp; Burst: Adaptive CPU quota adjustment for offline pods to protect online workloads, plus CPU Burst for latency-sensitive tasks.</a:t>
            </a:r>
            <a:endParaRPr sz="1105">
              <a:solidFill>
                <a:schemeClr val="dk1"/>
              </a:solidFill>
            </a:endParaRPr>
          </a:p>
          <a:p>
            <a:pPr marL="457200" lvl="0" indent="-330200" algn="l">
              <a:lnSpc>
                <a:spcPct val="150000"/>
              </a:lnSpc>
              <a:spcBef>
                <a:spcPts val="700"/>
              </a:spcBef>
              <a:spcAft>
                <a:spcPts val="700"/>
              </a:spcAft>
              <a:buClr>
                <a:schemeClr val="dk1"/>
              </a:buClr>
              <a:buSzPts val="1265"/>
              <a:buChar char="●"/>
            </a:pPr>
            <a:r>
              <a:rPr sz="1105">
                <a:solidFill>
                  <a:schemeClr val="dk1"/>
                </a:solidFill>
              </a:rPr>
              <a:t>Full Cgroup v2 Integration: Auto-detects cgroup versions and natively implements v2 resource managers.</a:t>
            </a:r>
            <a:endParaRPr sz="1105">
              <a:solidFill>
                <a:schemeClr val="dk1"/>
              </a:solidFill>
            </a:endParaRPr>
          </a:p>
          <a:p>
            <a:pPr marL="457200" lvl="0" indent="-330200" algn="l">
              <a:lnSpc>
                <a:spcPct val="150000"/>
              </a:lnSpc>
              <a:spcBef>
                <a:spcPts val="700"/>
              </a:spcBef>
              <a:spcAft>
                <a:spcPts val="700"/>
              </a:spcAft>
              <a:buClr>
                <a:schemeClr val="dk1"/>
              </a:buClr>
              <a:buSzPts val="1265"/>
              <a:buChar char="●"/>
            </a:pPr>
            <a:r>
              <a:rPr sz="1105">
                <a:solidFill>
                  <a:schemeClr val="dk1"/>
                </a:solidFill>
              </a:rPr>
              <a:t>Fine-grained Memory QoS</a:t>
            </a:r>
            <a:endParaRPr sz="1105">
              <a:solidFill>
                <a:schemeClr val="dk1"/>
              </a:solidFill>
            </a:endParaRPr>
          </a:p>
          <a:p>
            <a:pPr marL="457200" lvl="0" indent="-330200" algn="l">
              <a:lnSpc>
                <a:spcPct val="150000"/>
              </a:lnSpc>
              <a:spcBef>
                <a:spcPts val="700"/>
              </a:spcBef>
              <a:spcAft>
                <a:spcPts val="700"/>
              </a:spcAft>
              <a:buClr>
                <a:schemeClr val="dk1"/>
              </a:buClr>
              <a:buSzPts val="1265"/>
              <a:buChar char="●"/>
            </a:pPr>
            <a:r>
              <a:rPr sz="1105">
                <a:solidFill>
                  <a:schemeClr val="dk1"/>
                </a:solidFill>
              </a:rPr>
              <a:t>Declarative Policy API: Introduced ColocationConfiguration CRD </a:t>
            </a:r>
            <a:endParaRPr sz="1105">
              <a:solidFill>
                <a:schemeClr val="dk1"/>
              </a:solidFill>
            </a:endParaRPr>
          </a:p>
        </p:txBody>
      </p:sp>
      <p:pic>
        <p:nvPicPr>
          <p:cNvPr id="619" name="Google Shape;492;p12"/>
          <p:cNvPicPr>
            <a:picLocks noChangeAspect="1"/>
          </p:cNvPicPr>
          <p:nvPr/>
        </p:nvPicPr>
        <p:blipFill rotWithShape="1">
          <a:blip r:embed="rId1"/>
          <a:srcRect l="13455" t="12895" r="12410" b="11519"/>
          <a:stretch>
            <a:fillRect/>
          </a:stretch>
        </p:blipFill>
        <p:spPr>
          <a:xfrm>
            <a:off x="5586267" y="1559081"/>
            <a:ext cx="2447733" cy="2469379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" name="Google Shape;614;p67"/>
          <p:cNvSpPr>
            <a:spLocks noGrp="1"/>
          </p:cNvSpPr>
          <p:nvPr>
            <p:ph type="title"/>
          </p:nvPr>
        </p:nvSpPr>
        <p:spPr>
          <a:xfrm>
            <a:off x="311700" y="0"/>
            <a:ext cx="6949800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>Why Pod-Level Eviction Fails</a:t>
            </a:r>
          </a:p>
        </p:txBody>
      </p:sp>
      <p:sp>
        <p:nvSpPr>
          <p:cNvPr id="619" name="TextBox 111"/>
          <p:cNvSpPr>
            <a:spLocks noGrp="1"/>
          </p:cNvSpPr>
          <p:nvPr/>
        </p:nvSpPr>
        <p:spPr>
          <a:xfrm>
            <a:off x="513095" y="1258416"/>
            <a:ext cx="8106622" cy="57150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buNone/>
              <a:defRPr sz="73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 Serving PodGroup needs 4 GPUs. What happens if one Pod is evicted from each of four training jobs?</a:t>
            </a:r>
            <a:endParaRPr sz="1800" b="1">
              <a:solidFill>
                <a:srgbClr val="17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22" name="Rounded Rectangle 114"/>
          <p:cNvSpPr>
            <a:spLocks noGrp="1"/>
          </p:cNvSpPr>
          <p:nvPr/>
        </p:nvSpPr>
        <p:spPr>
          <a:xfrm>
            <a:off x="297494" y="2112747"/>
            <a:ext cx="1983535" cy="113550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23" name="TextBox 115"/>
          <p:cNvSpPr>
            <a:spLocks noGrp="1"/>
          </p:cNvSpPr>
          <p:nvPr/>
        </p:nvSpPr>
        <p:spPr>
          <a:xfrm>
            <a:off x="412481" y="2227734"/>
            <a:ext cx="1753560" cy="1365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buNone/>
              <a:defRPr sz="905" b="1">
                <a:solidFill>
                  <a:srgbClr val="003F8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Training Job A</a:t>
            </a:r>
          </a:p>
        </p:txBody>
      </p:sp>
      <p:sp>
        <p:nvSpPr>
          <p:cNvPr id="624" name="Rectangle 116"/>
          <p:cNvSpPr>
            <a:spLocks noGrp="1"/>
          </p:cNvSpPr>
          <p:nvPr/>
        </p:nvSpPr>
        <p:spPr>
          <a:xfrm>
            <a:off x="441227" y="2508017"/>
            <a:ext cx="344963" cy="301842"/>
          </a:xfrm>
          <a:prstGeom prst="rect">
            <a:avLst/>
          </a:prstGeom>
          <a:solidFill>
            <a:srgbClr val="FFFFFF"/>
          </a:solidFill>
          <a:ln w="8890">
            <a:solidFill>
              <a:srgbClr val="C23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25" name="TextBox 117"/>
          <p:cNvSpPr>
            <a:spLocks noGrp="1"/>
          </p:cNvSpPr>
          <p:nvPr/>
        </p:nvSpPr>
        <p:spPr>
          <a:xfrm>
            <a:off x="441227" y="2594257"/>
            <a:ext cx="344963" cy="86241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buNone/>
              <a:defRPr sz="745" b="1">
                <a:solidFill>
                  <a:srgbClr val="C23A3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W1</a:t>
            </a:r>
          </a:p>
        </p:txBody>
      </p:sp>
      <p:sp>
        <p:nvSpPr>
          <p:cNvPr id="626" name="Connector 118"/>
          <p:cNvSpPr>
            <a:spLocks noGrp="1"/>
          </p:cNvSpPr>
          <p:nvPr/>
        </p:nvSpPr>
        <p:spPr>
          <a:xfrm>
            <a:off x="505908" y="2572697"/>
            <a:ext cx="215602" cy="179668"/>
          </a:xfrm>
          <a:prstGeom prst="line">
            <a:avLst/>
          </a:prstGeom>
          <a:ln w="12700">
            <a:solidFill>
              <a:srgbClr val="C23A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627" name="Connector 119"/>
          <p:cNvSpPr>
            <a:spLocks noGrp="1"/>
          </p:cNvSpPr>
          <p:nvPr/>
        </p:nvSpPr>
        <p:spPr>
          <a:xfrm flipH="1">
            <a:off x="505908" y="2572697"/>
            <a:ext cx="215602" cy="179668"/>
          </a:xfrm>
          <a:prstGeom prst="line">
            <a:avLst/>
          </a:prstGeom>
          <a:ln w="12700">
            <a:solidFill>
              <a:srgbClr val="C23A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628" name="Rectangle 120"/>
          <p:cNvSpPr>
            <a:spLocks noGrp="1"/>
          </p:cNvSpPr>
          <p:nvPr/>
        </p:nvSpPr>
        <p:spPr>
          <a:xfrm>
            <a:off x="879617" y="2508017"/>
            <a:ext cx="344963" cy="301842"/>
          </a:xfrm>
          <a:prstGeom prst="rect">
            <a:avLst/>
          </a:prstGeom>
          <a:solidFill>
            <a:srgbClr val="EAF2FF"/>
          </a:solidFill>
          <a:ln w="889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29" name="TextBox 121"/>
          <p:cNvSpPr>
            <a:spLocks noGrp="1"/>
          </p:cNvSpPr>
          <p:nvPr/>
        </p:nvSpPr>
        <p:spPr>
          <a:xfrm>
            <a:off x="879617" y="2594257"/>
            <a:ext cx="344963" cy="86241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buNone/>
              <a:defRPr sz="745" b="1">
                <a:solidFill>
                  <a:srgbClr val="0B5CA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W2</a:t>
            </a:r>
          </a:p>
        </p:txBody>
      </p:sp>
      <p:sp>
        <p:nvSpPr>
          <p:cNvPr id="630" name="Rectangle 122"/>
          <p:cNvSpPr>
            <a:spLocks noGrp="1"/>
          </p:cNvSpPr>
          <p:nvPr/>
        </p:nvSpPr>
        <p:spPr>
          <a:xfrm>
            <a:off x="1318008" y="2508017"/>
            <a:ext cx="344963" cy="301842"/>
          </a:xfrm>
          <a:prstGeom prst="rect">
            <a:avLst/>
          </a:prstGeom>
          <a:solidFill>
            <a:srgbClr val="EAF2FF"/>
          </a:solidFill>
          <a:ln w="889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31" name="TextBox 123"/>
          <p:cNvSpPr>
            <a:spLocks noGrp="1"/>
          </p:cNvSpPr>
          <p:nvPr/>
        </p:nvSpPr>
        <p:spPr>
          <a:xfrm>
            <a:off x="1318008" y="2594257"/>
            <a:ext cx="344963" cy="86241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buNone/>
              <a:defRPr sz="745" b="1">
                <a:solidFill>
                  <a:srgbClr val="0B5CA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W3</a:t>
            </a:r>
          </a:p>
        </p:txBody>
      </p:sp>
      <p:sp>
        <p:nvSpPr>
          <p:cNvPr id="632" name="Rectangle 124"/>
          <p:cNvSpPr>
            <a:spLocks noGrp="1"/>
          </p:cNvSpPr>
          <p:nvPr/>
        </p:nvSpPr>
        <p:spPr>
          <a:xfrm>
            <a:off x="1756398" y="2508017"/>
            <a:ext cx="344963" cy="301842"/>
          </a:xfrm>
          <a:prstGeom prst="rect">
            <a:avLst/>
          </a:prstGeom>
          <a:solidFill>
            <a:srgbClr val="EAF2FF"/>
          </a:solidFill>
          <a:ln w="889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33" name="TextBox 125"/>
          <p:cNvSpPr>
            <a:spLocks noGrp="1"/>
          </p:cNvSpPr>
          <p:nvPr/>
        </p:nvSpPr>
        <p:spPr>
          <a:xfrm>
            <a:off x="1756398" y="2594257"/>
            <a:ext cx="344963" cy="86241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buNone/>
              <a:defRPr sz="745" b="1">
                <a:solidFill>
                  <a:srgbClr val="0B5CA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W4</a:t>
            </a:r>
          </a:p>
        </p:txBody>
      </p:sp>
      <p:sp>
        <p:nvSpPr>
          <p:cNvPr id="634" name="TextBox 126"/>
          <p:cNvSpPr>
            <a:spLocks noGrp="1"/>
          </p:cNvSpPr>
          <p:nvPr/>
        </p:nvSpPr>
        <p:spPr>
          <a:xfrm>
            <a:off x="455601" y="2975154"/>
            <a:ext cx="1667320" cy="12217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buNone/>
              <a:defRPr sz="745" b="1">
                <a:solidFill>
                  <a:srgbClr val="C23A3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3 / 4 Worker → Blocked</a:t>
            </a:r>
          </a:p>
        </p:txBody>
      </p:sp>
      <p:sp>
        <p:nvSpPr>
          <p:cNvPr id="635" name="Rounded Rectangle 127"/>
          <p:cNvSpPr>
            <a:spLocks noGrp="1"/>
          </p:cNvSpPr>
          <p:nvPr/>
        </p:nvSpPr>
        <p:spPr>
          <a:xfrm>
            <a:off x="2489444" y="2112747"/>
            <a:ext cx="1983535" cy="113550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36" name="TextBox 128"/>
          <p:cNvSpPr>
            <a:spLocks noGrp="1"/>
          </p:cNvSpPr>
          <p:nvPr/>
        </p:nvSpPr>
        <p:spPr>
          <a:xfrm>
            <a:off x="2604432" y="2227734"/>
            <a:ext cx="1753560" cy="1365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buNone/>
              <a:defRPr sz="905" b="1">
                <a:solidFill>
                  <a:srgbClr val="003F8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Training Job B</a:t>
            </a:r>
          </a:p>
        </p:txBody>
      </p:sp>
      <p:sp>
        <p:nvSpPr>
          <p:cNvPr id="637" name="Rectangle 129"/>
          <p:cNvSpPr>
            <a:spLocks noGrp="1"/>
          </p:cNvSpPr>
          <p:nvPr/>
        </p:nvSpPr>
        <p:spPr>
          <a:xfrm>
            <a:off x="2633178" y="2508017"/>
            <a:ext cx="344963" cy="301842"/>
          </a:xfrm>
          <a:prstGeom prst="rect">
            <a:avLst/>
          </a:prstGeom>
          <a:solidFill>
            <a:srgbClr val="EAF2FF"/>
          </a:solidFill>
          <a:ln w="889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38" name="TextBox 130"/>
          <p:cNvSpPr>
            <a:spLocks noGrp="1"/>
          </p:cNvSpPr>
          <p:nvPr/>
        </p:nvSpPr>
        <p:spPr>
          <a:xfrm>
            <a:off x="2633178" y="2594257"/>
            <a:ext cx="344963" cy="86241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buNone/>
              <a:defRPr sz="745" b="1">
                <a:solidFill>
                  <a:srgbClr val="0B5CA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W1</a:t>
            </a:r>
          </a:p>
        </p:txBody>
      </p:sp>
      <p:sp>
        <p:nvSpPr>
          <p:cNvPr id="639" name="Rectangle 131"/>
          <p:cNvSpPr>
            <a:spLocks noGrp="1"/>
          </p:cNvSpPr>
          <p:nvPr/>
        </p:nvSpPr>
        <p:spPr>
          <a:xfrm>
            <a:off x="3071568" y="2508017"/>
            <a:ext cx="344963" cy="301842"/>
          </a:xfrm>
          <a:prstGeom prst="rect">
            <a:avLst/>
          </a:prstGeom>
          <a:solidFill>
            <a:srgbClr val="FFFFFF"/>
          </a:solidFill>
          <a:ln w="8890">
            <a:solidFill>
              <a:srgbClr val="C23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40" name="TextBox 132"/>
          <p:cNvSpPr>
            <a:spLocks noGrp="1"/>
          </p:cNvSpPr>
          <p:nvPr/>
        </p:nvSpPr>
        <p:spPr>
          <a:xfrm>
            <a:off x="3071568" y="2594257"/>
            <a:ext cx="344963" cy="86241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buNone/>
              <a:defRPr sz="745" b="1">
                <a:solidFill>
                  <a:srgbClr val="C23A3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W2</a:t>
            </a:r>
          </a:p>
        </p:txBody>
      </p:sp>
      <p:sp>
        <p:nvSpPr>
          <p:cNvPr id="641" name="Connector 133"/>
          <p:cNvSpPr>
            <a:spLocks noGrp="1"/>
          </p:cNvSpPr>
          <p:nvPr/>
        </p:nvSpPr>
        <p:spPr>
          <a:xfrm>
            <a:off x="3136249" y="2572697"/>
            <a:ext cx="215602" cy="179668"/>
          </a:xfrm>
          <a:prstGeom prst="line">
            <a:avLst/>
          </a:prstGeom>
          <a:ln w="12700">
            <a:solidFill>
              <a:srgbClr val="C23A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642" name="Connector 134"/>
          <p:cNvSpPr>
            <a:spLocks noGrp="1"/>
          </p:cNvSpPr>
          <p:nvPr/>
        </p:nvSpPr>
        <p:spPr>
          <a:xfrm flipH="1">
            <a:off x="3136249" y="2572697"/>
            <a:ext cx="215602" cy="179668"/>
          </a:xfrm>
          <a:prstGeom prst="line">
            <a:avLst/>
          </a:prstGeom>
          <a:ln w="12700">
            <a:solidFill>
              <a:srgbClr val="C23A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643" name="Rectangle 135"/>
          <p:cNvSpPr>
            <a:spLocks noGrp="1"/>
          </p:cNvSpPr>
          <p:nvPr/>
        </p:nvSpPr>
        <p:spPr>
          <a:xfrm>
            <a:off x="3509959" y="2508017"/>
            <a:ext cx="344963" cy="301842"/>
          </a:xfrm>
          <a:prstGeom prst="rect">
            <a:avLst/>
          </a:prstGeom>
          <a:solidFill>
            <a:srgbClr val="EAF2FF"/>
          </a:solidFill>
          <a:ln w="889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44" name="TextBox 136"/>
          <p:cNvSpPr>
            <a:spLocks noGrp="1"/>
          </p:cNvSpPr>
          <p:nvPr/>
        </p:nvSpPr>
        <p:spPr>
          <a:xfrm>
            <a:off x="3509959" y="2594257"/>
            <a:ext cx="344963" cy="86241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buNone/>
              <a:defRPr sz="745" b="1">
                <a:solidFill>
                  <a:srgbClr val="0B5CA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W3</a:t>
            </a:r>
          </a:p>
        </p:txBody>
      </p:sp>
      <p:sp>
        <p:nvSpPr>
          <p:cNvPr id="645" name="Rectangle 137"/>
          <p:cNvSpPr>
            <a:spLocks noGrp="1"/>
          </p:cNvSpPr>
          <p:nvPr/>
        </p:nvSpPr>
        <p:spPr>
          <a:xfrm>
            <a:off x="3948349" y="2508017"/>
            <a:ext cx="344963" cy="301842"/>
          </a:xfrm>
          <a:prstGeom prst="rect">
            <a:avLst/>
          </a:prstGeom>
          <a:solidFill>
            <a:srgbClr val="EAF2FF"/>
          </a:solidFill>
          <a:ln w="889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46" name="TextBox 138"/>
          <p:cNvSpPr>
            <a:spLocks noGrp="1"/>
          </p:cNvSpPr>
          <p:nvPr/>
        </p:nvSpPr>
        <p:spPr>
          <a:xfrm>
            <a:off x="3948349" y="2594257"/>
            <a:ext cx="344963" cy="86241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buNone/>
              <a:defRPr sz="745" b="1">
                <a:solidFill>
                  <a:srgbClr val="0B5CA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W4</a:t>
            </a:r>
          </a:p>
        </p:txBody>
      </p:sp>
      <p:sp>
        <p:nvSpPr>
          <p:cNvPr id="647" name="TextBox 139"/>
          <p:cNvSpPr>
            <a:spLocks noGrp="1"/>
          </p:cNvSpPr>
          <p:nvPr/>
        </p:nvSpPr>
        <p:spPr>
          <a:xfrm>
            <a:off x="2647552" y="2975154"/>
            <a:ext cx="1667320" cy="12217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buNone/>
              <a:defRPr sz="745" b="1">
                <a:solidFill>
                  <a:srgbClr val="C23A3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3 / 4 Worker → Blocked</a:t>
            </a:r>
          </a:p>
        </p:txBody>
      </p:sp>
      <p:sp>
        <p:nvSpPr>
          <p:cNvPr id="648" name="Rounded Rectangle 140"/>
          <p:cNvSpPr>
            <a:spLocks noGrp="1"/>
          </p:cNvSpPr>
          <p:nvPr/>
        </p:nvSpPr>
        <p:spPr>
          <a:xfrm>
            <a:off x="4681394" y="2112747"/>
            <a:ext cx="1983535" cy="113550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49" name="TextBox 141"/>
          <p:cNvSpPr>
            <a:spLocks noGrp="1"/>
          </p:cNvSpPr>
          <p:nvPr/>
        </p:nvSpPr>
        <p:spPr>
          <a:xfrm>
            <a:off x="4796382" y="2227734"/>
            <a:ext cx="1753560" cy="1365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buNone/>
              <a:defRPr sz="905" b="1">
                <a:solidFill>
                  <a:srgbClr val="003F8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Training Job C</a:t>
            </a:r>
          </a:p>
        </p:txBody>
      </p:sp>
      <p:sp>
        <p:nvSpPr>
          <p:cNvPr id="650" name="Rectangle 142"/>
          <p:cNvSpPr>
            <a:spLocks noGrp="1"/>
          </p:cNvSpPr>
          <p:nvPr/>
        </p:nvSpPr>
        <p:spPr>
          <a:xfrm>
            <a:off x="4825129" y="2508017"/>
            <a:ext cx="344963" cy="301842"/>
          </a:xfrm>
          <a:prstGeom prst="rect">
            <a:avLst/>
          </a:prstGeom>
          <a:solidFill>
            <a:srgbClr val="EAF2FF"/>
          </a:solidFill>
          <a:ln w="889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51" name="TextBox 143"/>
          <p:cNvSpPr>
            <a:spLocks noGrp="1"/>
          </p:cNvSpPr>
          <p:nvPr/>
        </p:nvSpPr>
        <p:spPr>
          <a:xfrm>
            <a:off x="4825129" y="2594257"/>
            <a:ext cx="344963" cy="86241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buNone/>
              <a:defRPr sz="745" b="1">
                <a:solidFill>
                  <a:srgbClr val="0B5CA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W1</a:t>
            </a:r>
          </a:p>
        </p:txBody>
      </p:sp>
      <p:sp>
        <p:nvSpPr>
          <p:cNvPr id="652" name="Rectangle 144"/>
          <p:cNvSpPr>
            <a:spLocks noGrp="1"/>
          </p:cNvSpPr>
          <p:nvPr/>
        </p:nvSpPr>
        <p:spPr>
          <a:xfrm>
            <a:off x="5263519" y="2508017"/>
            <a:ext cx="344963" cy="301842"/>
          </a:xfrm>
          <a:prstGeom prst="rect">
            <a:avLst/>
          </a:prstGeom>
          <a:solidFill>
            <a:srgbClr val="EAF2FF"/>
          </a:solidFill>
          <a:ln w="889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53" name="TextBox 145"/>
          <p:cNvSpPr>
            <a:spLocks noGrp="1"/>
          </p:cNvSpPr>
          <p:nvPr/>
        </p:nvSpPr>
        <p:spPr>
          <a:xfrm>
            <a:off x="5263519" y="2594257"/>
            <a:ext cx="344963" cy="86241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buNone/>
              <a:defRPr sz="745" b="1">
                <a:solidFill>
                  <a:srgbClr val="0B5CA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W2</a:t>
            </a:r>
          </a:p>
        </p:txBody>
      </p:sp>
      <p:sp>
        <p:nvSpPr>
          <p:cNvPr id="654" name="Rectangle 146"/>
          <p:cNvSpPr>
            <a:spLocks noGrp="1"/>
          </p:cNvSpPr>
          <p:nvPr/>
        </p:nvSpPr>
        <p:spPr>
          <a:xfrm>
            <a:off x="5701909" y="2508017"/>
            <a:ext cx="344963" cy="301842"/>
          </a:xfrm>
          <a:prstGeom prst="rect">
            <a:avLst/>
          </a:prstGeom>
          <a:solidFill>
            <a:srgbClr val="FFFFFF"/>
          </a:solidFill>
          <a:ln w="8890">
            <a:solidFill>
              <a:srgbClr val="C23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55" name="TextBox 147"/>
          <p:cNvSpPr>
            <a:spLocks noGrp="1"/>
          </p:cNvSpPr>
          <p:nvPr/>
        </p:nvSpPr>
        <p:spPr>
          <a:xfrm>
            <a:off x="5701909" y="2594257"/>
            <a:ext cx="344963" cy="86241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buNone/>
              <a:defRPr sz="745" b="1">
                <a:solidFill>
                  <a:srgbClr val="C23A3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W3</a:t>
            </a:r>
          </a:p>
        </p:txBody>
      </p:sp>
      <p:sp>
        <p:nvSpPr>
          <p:cNvPr id="656" name="Connector 148"/>
          <p:cNvSpPr>
            <a:spLocks noGrp="1"/>
          </p:cNvSpPr>
          <p:nvPr/>
        </p:nvSpPr>
        <p:spPr>
          <a:xfrm>
            <a:off x="5766589" y="2572697"/>
            <a:ext cx="215602" cy="179668"/>
          </a:xfrm>
          <a:prstGeom prst="line">
            <a:avLst/>
          </a:prstGeom>
          <a:ln w="12700">
            <a:solidFill>
              <a:srgbClr val="C23A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657" name="Connector 149"/>
          <p:cNvSpPr>
            <a:spLocks noGrp="1"/>
          </p:cNvSpPr>
          <p:nvPr/>
        </p:nvSpPr>
        <p:spPr>
          <a:xfrm flipH="1">
            <a:off x="5766589" y="2572697"/>
            <a:ext cx="215602" cy="179668"/>
          </a:xfrm>
          <a:prstGeom prst="line">
            <a:avLst/>
          </a:prstGeom>
          <a:ln w="12700">
            <a:solidFill>
              <a:srgbClr val="C23A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658" name="Rectangle 150"/>
          <p:cNvSpPr>
            <a:spLocks noGrp="1"/>
          </p:cNvSpPr>
          <p:nvPr/>
        </p:nvSpPr>
        <p:spPr>
          <a:xfrm>
            <a:off x="6140299" y="2508017"/>
            <a:ext cx="344963" cy="301842"/>
          </a:xfrm>
          <a:prstGeom prst="rect">
            <a:avLst/>
          </a:prstGeom>
          <a:solidFill>
            <a:srgbClr val="EAF2FF"/>
          </a:solidFill>
          <a:ln w="889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59" name="TextBox 151"/>
          <p:cNvSpPr>
            <a:spLocks noGrp="1"/>
          </p:cNvSpPr>
          <p:nvPr/>
        </p:nvSpPr>
        <p:spPr>
          <a:xfrm>
            <a:off x="6140299" y="2594257"/>
            <a:ext cx="344963" cy="86241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buNone/>
              <a:defRPr sz="745" b="1">
                <a:solidFill>
                  <a:srgbClr val="0B5CA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W4</a:t>
            </a:r>
          </a:p>
        </p:txBody>
      </p:sp>
      <p:sp>
        <p:nvSpPr>
          <p:cNvPr id="660" name="TextBox 152"/>
          <p:cNvSpPr>
            <a:spLocks noGrp="1"/>
          </p:cNvSpPr>
          <p:nvPr/>
        </p:nvSpPr>
        <p:spPr>
          <a:xfrm>
            <a:off x="4839502" y="2975154"/>
            <a:ext cx="1667320" cy="12217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buNone/>
              <a:defRPr sz="745" b="1">
                <a:solidFill>
                  <a:srgbClr val="C23A3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3 / 4 Worker → Blocked</a:t>
            </a:r>
          </a:p>
        </p:txBody>
      </p:sp>
      <p:sp>
        <p:nvSpPr>
          <p:cNvPr id="661" name="Rounded Rectangle 153"/>
          <p:cNvSpPr>
            <a:spLocks noGrp="1"/>
          </p:cNvSpPr>
          <p:nvPr/>
        </p:nvSpPr>
        <p:spPr>
          <a:xfrm>
            <a:off x="6873344" y="2112747"/>
            <a:ext cx="1983535" cy="113550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62" name="TextBox 154"/>
          <p:cNvSpPr>
            <a:spLocks noGrp="1"/>
          </p:cNvSpPr>
          <p:nvPr/>
        </p:nvSpPr>
        <p:spPr>
          <a:xfrm>
            <a:off x="6988331" y="2227734"/>
            <a:ext cx="1753560" cy="1365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buNone/>
              <a:defRPr sz="905" b="1">
                <a:solidFill>
                  <a:srgbClr val="003F8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Training Job D</a:t>
            </a:r>
          </a:p>
        </p:txBody>
      </p:sp>
      <p:sp>
        <p:nvSpPr>
          <p:cNvPr id="663" name="Rectangle 155"/>
          <p:cNvSpPr>
            <a:spLocks noGrp="1"/>
          </p:cNvSpPr>
          <p:nvPr/>
        </p:nvSpPr>
        <p:spPr>
          <a:xfrm>
            <a:off x="7017078" y="2508017"/>
            <a:ext cx="344963" cy="301842"/>
          </a:xfrm>
          <a:prstGeom prst="rect">
            <a:avLst/>
          </a:prstGeom>
          <a:solidFill>
            <a:srgbClr val="EAF2FF"/>
          </a:solidFill>
          <a:ln w="889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64" name="TextBox 156"/>
          <p:cNvSpPr>
            <a:spLocks noGrp="1"/>
          </p:cNvSpPr>
          <p:nvPr/>
        </p:nvSpPr>
        <p:spPr>
          <a:xfrm>
            <a:off x="7017078" y="2594257"/>
            <a:ext cx="344963" cy="86241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buNone/>
              <a:defRPr sz="745" b="1">
                <a:solidFill>
                  <a:srgbClr val="0B5CA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W1</a:t>
            </a:r>
          </a:p>
        </p:txBody>
      </p:sp>
      <p:sp>
        <p:nvSpPr>
          <p:cNvPr id="665" name="Rectangle 157"/>
          <p:cNvSpPr>
            <a:spLocks noGrp="1"/>
          </p:cNvSpPr>
          <p:nvPr/>
        </p:nvSpPr>
        <p:spPr>
          <a:xfrm>
            <a:off x="7455468" y="2508017"/>
            <a:ext cx="344963" cy="301842"/>
          </a:xfrm>
          <a:prstGeom prst="rect">
            <a:avLst/>
          </a:prstGeom>
          <a:solidFill>
            <a:srgbClr val="EAF2FF"/>
          </a:solidFill>
          <a:ln w="889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66" name="TextBox 158"/>
          <p:cNvSpPr>
            <a:spLocks noGrp="1"/>
          </p:cNvSpPr>
          <p:nvPr/>
        </p:nvSpPr>
        <p:spPr>
          <a:xfrm>
            <a:off x="7455468" y="2594257"/>
            <a:ext cx="344963" cy="86241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buNone/>
              <a:defRPr sz="745" b="1">
                <a:solidFill>
                  <a:srgbClr val="0B5CA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W2</a:t>
            </a:r>
          </a:p>
        </p:txBody>
      </p:sp>
      <p:sp>
        <p:nvSpPr>
          <p:cNvPr id="667" name="Rectangle 159"/>
          <p:cNvSpPr>
            <a:spLocks noGrp="1"/>
          </p:cNvSpPr>
          <p:nvPr/>
        </p:nvSpPr>
        <p:spPr>
          <a:xfrm>
            <a:off x="7893858" y="2508017"/>
            <a:ext cx="344963" cy="301842"/>
          </a:xfrm>
          <a:prstGeom prst="rect">
            <a:avLst/>
          </a:prstGeom>
          <a:solidFill>
            <a:srgbClr val="EAF2FF"/>
          </a:solidFill>
          <a:ln w="889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68" name="TextBox 160"/>
          <p:cNvSpPr>
            <a:spLocks noGrp="1"/>
          </p:cNvSpPr>
          <p:nvPr/>
        </p:nvSpPr>
        <p:spPr>
          <a:xfrm>
            <a:off x="7893858" y="2594257"/>
            <a:ext cx="344963" cy="86241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buNone/>
              <a:defRPr sz="745" b="1">
                <a:solidFill>
                  <a:srgbClr val="0B5CA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W3</a:t>
            </a:r>
          </a:p>
        </p:txBody>
      </p:sp>
      <p:sp>
        <p:nvSpPr>
          <p:cNvPr id="669" name="Rectangle 161"/>
          <p:cNvSpPr>
            <a:spLocks noGrp="1"/>
          </p:cNvSpPr>
          <p:nvPr/>
        </p:nvSpPr>
        <p:spPr>
          <a:xfrm>
            <a:off x="8332248" y="2508017"/>
            <a:ext cx="344963" cy="301842"/>
          </a:xfrm>
          <a:prstGeom prst="rect">
            <a:avLst/>
          </a:prstGeom>
          <a:solidFill>
            <a:srgbClr val="FFFFFF"/>
          </a:solidFill>
          <a:ln w="8890">
            <a:solidFill>
              <a:srgbClr val="C23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70" name="TextBox 162"/>
          <p:cNvSpPr>
            <a:spLocks noGrp="1"/>
          </p:cNvSpPr>
          <p:nvPr/>
        </p:nvSpPr>
        <p:spPr>
          <a:xfrm>
            <a:off x="8332248" y="2594257"/>
            <a:ext cx="344963" cy="86241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buNone/>
              <a:defRPr sz="745" b="1">
                <a:solidFill>
                  <a:srgbClr val="C23A3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W4</a:t>
            </a:r>
          </a:p>
        </p:txBody>
      </p:sp>
      <p:sp>
        <p:nvSpPr>
          <p:cNvPr id="671" name="Connector 163"/>
          <p:cNvSpPr>
            <a:spLocks noGrp="1"/>
          </p:cNvSpPr>
          <p:nvPr/>
        </p:nvSpPr>
        <p:spPr>
          <a:xfrm>
            <a:off x="8396929" y="2572697"/>
            <a:ext cx="215602" cy="179668"/>
          </a:xfrm>
          <a:prstGeom prst="line">
            <a:avLst/>
          </a:prstGeom>
          <a:ln w="12700">
            <a:solidFill>
              <a:srgbClr val="C23A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672" name="Connector 164"/>
          <p:cNvSpPr>
            <a:spLocks noGrp="1"/>
          </p:cNvSpPr>
          <p:nvPr/>
        </p:nvSpPr>
        <p:spPr>
          <a:xfrm flipH="1">
            <a:off x="8396929" y="2572697"/>
            <a:ext cx="215602" cy="179668"/>
          </a:xfrm>
          <a:prstGeom prst="line">
            <a:avLst/>
          </a:prstGeom>
          <a:ln w="12700">
            <a:solidFill>
              <a:srgbClr val="C23A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673" name="TextBox 165"/>
          <p:cNvSpPr>
            <a:spLocks noGrp="1"/>
          </p:cNvSpPr>
          <p:nvPr/>
        </p:nvSpPr>
        <p:spPr>
          <a:xfrm>
            <a:off x="7031451" y="2975154"/>
            <a:ext cx="1667320" cy="12217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buNone/>
              <a:defRPr sz="745" b="1">
                <a:solidFill>
                  <a:srgbClr val="C23A3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3 / 4 Worker → Blocked</a:t>
            </a:r>
          </a:p>
        </p:txBody>
      </p:sp>
      <p:sp>
        <p:nvSpPr>
          <p:cNvPr id="674" name="Connector 166"/>
          <p:cNvSpPr>
            <a:spLocks noGrp="1"/>
          </p:cNvSpPr>
          <p:nvPr/>
        </p:nvSpPr>
        <p:spPr>
          <a:xfrm>
            <a:off x="1289261" y="3262622"/>
            <a:ext cx="3277145" cy="330589"/>
          </a:xfrm>
          <a:prstGeom prst="line">
            <a:avLst/>
          </a:prstGeom>
          <a:ln w="11430">
            <a:solidFill>
              <a:srgbClr val="C23A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675" name="Connector 167"/>
          <p:cNvSpPr>
            <a:spLocks noGrp="1"/>
          </p:cNvSpPr>
          <p:nvPr/>
        </p:nvSpPr>
        <p:spPr>
          <a:xfrm>
            <a:off x="3481212" y="3262622"/>
            <a:ext cx="1085195" cy="330589"/>
          </a:xfrm>
          <a:prstGeom prst="line">
            <a:avLst/>
          </a:prstGeom>
          <a:ln w="11430">
            <a:solidFill>
              <a:srgbClr val="C23A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676" name="Connector 168"/>
          <p:cNvSpPr>
            <a:spLocks noGrp="1"/>
          </p:cNvSpPr>
          <p:nvPr/>
        </p:nvSpPr>
        <p:spPr>
          <a:xfrm flipH="1">
            <a:off x="4566407" y="3262622"/>
            <a:ext cx="1106755" cy="330589"/>
          </a:xfrm>
          <a:prstGeom prst="line">
            <a:avLst/>
          </a:prstGeom>
          <a:ln w="11430">
            <a:solidFill>
              <a:srgbClr val="C23A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677" name="Connector 169"/>
          <p:cNvSpPr>
            <a:spLocks noGrp="1"/>
          </p:cNvSpPr>
          <p:nvPr/>
        </p:nvSpPr>
        <p:spPr>
          <a:xfrm flipH="1">
            <a:off x="4566407" y="3262622"/>
            <a:ext cx="3298705" cy="330589"/>
          </a:xfrm>
          <a:prstGeom prst="line">
            <a:avLst/>
          </a:prstGeom>
          <a:ln w="11430">
            <a:solidFill>
              <a:srgbClr val="C23A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678" name="Down Arrow 170"/>
          <p:cNvSpPr>
            <a:spLocks noGrp="1"/>
          </p:cNvSpPr>
          <p:nvPr/>
        </p:nvSpPr>
        <p:spPr>
          <a:xfrm>
            <a:off x="4429859" y="3521344"/>
            <a:ext cx="273095" cy="244349"/>
          </a:xfrm>
          <a:prstGeom prst="downArrow">
            <a:avLst/>
          </a:prstGeom>
          <a:solidFill>
            <a:srgbClr val="C23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79" name="Rounded Rectangle 171"/>
          <p:cNvSpPr>
            <a:spLocks noGrp="1"/>
          </p:cNvSpPr>
          <p:nvPr/>
        </p:nvSpPr>
        <p:spPr>
          <a:xfrm>
            <a:off x="2931160" y="3780155"/>
            <a:ext cx="3209925" cy="402590"/>
          </a:xfrm>
          <a:prstGeom prst="roundRect">
            <a:avLst>
              <a:gd name="adj" fmla="val 8000"/>
            </a:avLst>
          </a:prstGeom>
          <a:solidFill>
            <a:srgbClr val="FFF8E8"/>
          </a:solidFill>
          <a:ln w="10160">
            <a:solidFill>
              <a:srgbClr val="C23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80" name="TextBox 172"/>
          <p:cNvSpPr>
            <a:spLocks noGrp="1"/>
          </p:cNvSpPr>
          <p:nvPr/>
        </p:nvSpPr>
        <p:spPr>
          <a:xfrm>
            <a:off x="2931160" y="3895725"/>
            <a:ext cx="3209925" cy="17145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buNone/>
              <a:defRPr sz="710" b="1">
                <a:solidFill>
                  <a:srgbClr val="C23A3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00" b="1">
                <a:solidFill>
                  <a:srgbClr val="C23A3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Evict one worker from each job to release 4 GPUs</a:t>
            </a:r>
            <a:endParaRPr sz="1000" b="1">
              <a:solidFill>
                <a:srgbClr val="C23A3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81" name="Rounded Rectangle 173"/>
          <p:cNvSpPr>
            <a:spLocks noGrp="1"/>
          </p:cNvSpPr>
          <p:nvPr/>
        </p:nvSpPr>
        <p:spPr>
          <a:xfrm>
            <a:off x="419294" y="4398124"/>
            <a:ext cx="3837710" cy="416830"/>
          </a:xfrm>
          <a:prstGeom prst="roundRect">
            <a:avLst>
              <a:gd name="adj" fmla="val 8000"/>
            </a:avLst>
          </a:prstGeom>
          <a:solidFill>
            <a:srgbClr val="EAF5F2"/>
          </a:solidFill>
          <a:ln w="10160">
            <a:solidFill>
              <a:srgbClr val="2D6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82" name="TextBox 174"/>
          <p:cNvSpPr>
            <a:spLocks noGrp="1"/>
          </p:cNvSpPr>
          <p:nvPr/>
        </p:nvSpPr>
        <p:spPr>
          <a:xfrm>
            <a:off x="455295" y="4498975"/>
            <a:ext cx="3734435" cy="17145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buNone/>
              <a:defRPr sz="700" b="1">
                <a:solidFill>
                  <a:srgbClr val="2D6A5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00" b="1">
                <a:solidFill>
                  <a:srgbClr val="2D6A5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Apparent result: the Serving Gang gets 4 GPUs and can start</a:t>
            </a:r>
            <a:endParaRPr sz="1000" b="1">
              <a:solidFill>
                <a:srgbClr val="2D6A5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83" name="Rounded Rectangle 175"/>
          <p:cNvSpPr>
            <a:spLocks noGrp="1"/>
          </p:cNvSpPr>
          <p:nvPr/>
        </p:nvSpPr>
        <p:spPr>
          <a:xfrm>
            <a:off x="4451419" y="4398124"/>
            <a:ext cx="4283286" cy="41683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C23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84" name="TextBox 176"/>
          <p:cNvSpPr>
            <a:spLocks noGrp="1"/>
          </p:cNvSpPr>
          <p:nvPr/>
        </p:nvSpPr>
        <p:spPr>
          <a:xfrm>
            <a:off x="4623900" y="4431310"/>
            <a:ext cx="3938324" cy="32512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buNone/>
              <a:defRPr sz="700" b="1">
                <a:solidFill>
                  <a:srgbClr val="C23A3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00" b="1">
                <a:solidFill>
                  <a:srgbClr val="C23A3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Actual cost: four training jobs stall and 12 remaining workers stop making useful progress</a:t>
            </a:r>
            <a:endParaRPr sz="1000" b="1">
              <a:solidFill>
                <a:srgbClr val="C23A3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" name="Google Shape;614;p67"/>
          <p:cNvSpPr>
            <a:spLocks noGrp="1"/>
          </p:cNvSpPr>
          <p:nvPr>
            <p:ph type="title"/>
          </p:nvPr>
        </p:nvSpPr>
        <p:spPr>
          <a:xfrm>
            <a:off x="311700" y="0"/>
            <a:ext cx="6949800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>Gang-Aware </a:t>
            </a:r>
            <a:r>
              <a:rPr lang="en-US"/>
              <a:t>Preempt / Reclaim</a:t>
            </a:r>
          </a:p>
        </p:txBody>
      </p:sp>
      <p:pic>
        <p:nvPicPr>
          <p:cNvPr id="2" name="Picture 1"/>
          <p:cNvPicPr/>
          <p:nvPr/>
        </p:nvPicPr>
        <p:blipFill>
          <a:blip r:embed="rId1"/>
          <a:stretch>
            <a:fillRect/>
          </a:stretch>
        </p:blipFill>
        <p:spPr>
          <a:xfrm>
            <a:off x="524510" y="1267460"/>
            <a:ext cx="8211820" cy="2839085"/>
          </a:xfrm>
          <a:prstGeom prst="rect">
            <a:avLst/>
          </a:prstGeom>
        </p:spPr>
      </p:pic>
      <p:sp>
        <p:nvSpPr>
          <p:cNvPr id="4" name="TextBox 111"/>
          <p:cNvSpPr>
            <a:spLocks noGrp="1"/>
          </p:cNvSpPr>
          <p:nvPr/>
        </p:nvSpPr>
        <p:spPr>
          <a:xfrm>
            <a:off x="469900" y="4334510"/>
            <a:ext cx="8284210" cy="50990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l">
              <a:buNone/>
              <a:defRPr sz="73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en-US" altLang="en-US" sz="160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Volcano evicts Training Job A as a whole, freeing 4 GPUs in HyperNode A so the pending Serving PodGroup can start together, while HyperNode B remains untouched.</a:t>
            </a:r>
            <a:endParaRPr lang="en-US" altLang="en-US" sz="1600" b="1">
              <a:solidFill>
                <a:srgbClr val="17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" name="Google Shape;614;p67"/>
          <p:cNvSpPr>
            <a:spLocks noGrp="1"/>
          </p:cNvSpPr>
          <p:nvPr>
            <p:ph type="title"/>
          </p:nvPr>
        </p:nvSpPr>
        <p:spPr>
          <a:xfrm>
            <a:off x="311700" y="0"/>
            <a:ext cx="6949800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>Recoverable Handover</a:t>
            </a:r>
          </a:p>
        </p:txBody>
      </p:sp>
      <p:sp>
        <p:nvSpPr>
          <p:cNvPr id="615" name="Shape 5"/>
          <p:cNvSpPr>
            <a:spLocks noGrp="1"/>
          </p:cNvSpPr>
          <p:nvPr/>
        </p:nvSpPr>
        <p:spPr>
          <a:xfrm>
            <a:off x="427813" y="1114375"/>
            <a:ext cx="8284375" cy="0"/>
          </a:xfrm>
          <a:prstGeom prst="line">
            <a:avLst/>
          </a:prstGeom>
          <a:noFill/>
          <a:ln w="11430">
            <a:solidFill>
              <a:srgbClr val="B9C8D8"/>
            </a:solidFill>
            <a:prstDash val="solid"/>
            <a:headEnd type="none"/>
          </a:ln>
        </p:spPr>
        <p:txBody>
          <a:bodyPr/>
          <a:lstStyle/>
          <a:p/>
        </p:txBody>
      </p:sp>
      <p:sp>
        <p:nvSpPr>
          <p:cNvPr id="616" name="Shape 6"/>
          <p:cNvSpPr>
            <a:spLocks noGrp="1"/>
          </p:cNvSpPr>
          <p:nvPr/>
        </p:nvSpPr>
        <p:spPr>
          <a:xfrm>
            <a:off x="427813" y="1080000"/>
            <a:ext cx="921250" cy="68750"/>
          </a:xfrm>
          <a:prstGeom prst="rect">
            <a:avLst/>
          </a:prstGeom>
          <a:solidFill>
            <a:srgbClr val="E43D30"/>
          </a:solidFill>
          <a:ln w="12700">
            <a:solidFill>
              <a:srgbClr val="E43D30">
                <a:alpha val="0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617" name="Rectangle 93"/>
          <p:cNvSpPr>
            <a:spLocks noGrp="1"/>
          </p:cNvSpPr>
          <p:nvPr/>
        </p:nvSpPr>
        <p:spPr>
          <a:xfrm>
            <a:off x="496563" y="1224375"/>
            <a:ext cx="8188125" cy="302500"/>
          </a:xfrm>
          <a:prstGeom prst="rect">
            <a:avLst/>
          </a:prstGeom>
          <a:solidFill>
            <a:srgbClr val="FFFFFF"/>
          </a:solidFill>
          <a:ln w="1143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18" name="Rectangle 94"/>
          <p:cNvSpPr>
            <a:spLocks noGrp="1"/>
          </p:cNvSpPr>
          <p:nvPr/>
        </p:nvSpPr>
        <p:spPr>
          <a:xfrm>
            <a:off x="496563" y="1224375"/>
            <a:ext cx="82500" cy="302500"/>
          </a:xfrm>
          <a:prstGeom prst="rect">
            <a:avLst/>
          </a:prstGeom>
          <a:solidFill>
            <a:srgbClr val="C23A32"/>
          </a:solidFill>
          <a:ln w="10160">
            <a:solidFill>
              <a:srgbClr val="C23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19" name="TextBox 95"/>
          <p:cNvSpPr>
            <a:spLocks noGrp="1"/>
          </p:cNvSpPr>
          <p:nvPr/>
        </p:nvSpPr>
        <p:spPr>
          <a:xfrm>
            <a:off x="689063" y="1286250"/>
            <a:ext cx="7755000" cy="15125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buNone/>
              <a:defRPr sz="70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0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Checkpoint is not a queue reclaim action today; it is a foundation for reducing future victim-job training loss.</a:t>
            </a:r>
            <a:endParaRPr sz="700" b="1">
              <a:solidFill>
                <a:srgbClr val="17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20" name="Rounded Rectangle 96"/>
          <p:cNvSpPr>
            <a:spLocks noGrp="1"/>
          </p:cNvSpPr>
          <p:nvPr/>
        </p:nvSpPr>
        <p:spPr>
          <a:xfrm>
            <a:off x="537813" y="1636875"/>
            <a:ext cx="8098750" cy="74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21" name="TextBox 97"/>
          <p:cNvSpPr>
            <a:spLocks noGrp="1"/>
          </p:cNvSpPr>
          <p:nvPr/>
        </p:nvSpPr>
        <p:spPr>
          <a:xfrm>
            <a:off x="702813" y="1760624"/>
            <a:ext cx="811250" cy="11000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buNone/>
              <a:defRPr sz="700" b="1">
                <a:solidFill>
                  <a:srgbClr val="0B5CA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00" b="1">
                <a:solidFill>
                  <a:srgbClr val="0B5CA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Resource return trigger</a:t>
            </a:r>
            <a:endParaRPr sz="700" b="1">
              <a:solidFill>
                <a:srgbClr val="0B5CA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22" name="Rounded Rectangle 98"/>
          <p:cNvSpPr>
            <a:spLocks noGrp="1"/>
          </p:cNvSpPr>
          <p:nvPr/>
        </p:nvSpPr>
        <p:spPr>
          <a:xfrm>
            <a:off x="702813" y="1946250"/>
            <a:ext cx="1581250" cy="275000"/>
          </a:xfrm>
          <a:prstGeom prst="roundRect">
            <a:avLst>
              <a:gd name="adj" fmla="val 8000"/>
            </a:avLst>
          </a:prstGeom>
          <a:solidFill>
            <a:srgbClr val="EAF2FF"/>
          </a:solidFill>
          <a:ln w="889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23" name="TextBox 99"/>
          <p:cNvSpPr>
            <a:spLocks noGrp="1"/>
          </p:cNvSpPr>
          <p:nvPr/>
        </p:nvSpPr>
        <p:spPr>
          <a:xfrm>
            <a:off x="702813" y="2028750"/>
            <a:ext cx="1581250" cy="9625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buNone/>
              <a:defRPr sz="700" b="1">
                <a:solidFill>
                  <a:srgbClr val="0B5CA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00" b="1">
                <a:solidFill>
                  <a:srgbClr val="0B5CA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Serving PodGroup is short 4 GPUs</a:t>
            </a:r>
            <a:endParaRPr sz="700" b="1">
              <a:solidFill>
                <a:srgbClr val="0B5CA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24" name="Chevron 100"/>
          <p:cNvSpPr>
            <a:spLocks noGrp="1"/>
          </p:cNvSpPr>
          <p:nvPr/>
        </p:nvSpPr>
        <p:spPr>
          <a:xfrm>
            <a:off x="2407813" y="1973750"/>
            <a:ext cx="261250" cy="192500"/>
          </a:xfrm>
          <a:prstGeom prst="chevron">
            <a:avLst/>
          </a:prstGeom>
          <a:solidFill>
            <a:srgbClr val="0B5C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25" name="Rounded Rectangle 101"/>
          <p:cNvSpPr>
            <a:spLocks noGrp="1"/>
          </p:cNvSpPr>
          <p:nvPr/>
        </p:nvSpPr>
        <p:spPr>
          <a:xfrm>
            <a:off x="2779063" y="1836250"/>
            <a:ext cx="2887500" cy="39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26" name="TextBox 102"/>
          <p:cNvSpPr>
            <a:spLocks noGrp="1"/>
          </p:cNvSpPr>
          <p:nvPr/>
        </p:nvSpPr>
        <p:spPr>
          <a:xfrm>
            <a:off x="2916563" y="1911875"/>
            <a:ext cx="2392500" cy="11687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buNone/>
              <a:defRPr sz="700" b="1">
                <a:solidFill>
                  <a:srgbClr val="003F8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00" b="1">
                <a:solidFill>
                  <a:srgbClr val="003F8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Queue: Training should return 4 GPUs</a:t>
            </a:r>
            <a:endParaRPr sz="700" b="1">
              <a:solidFill>
                <a:srgbClr val="003F8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27" name="TextBox 103"/>
          <p:cNvSpPr>
            <a:spLocks noGrp="1"/>
          </p:cNvSpPr>
          <p:nvPr/>
        </p:nvSpPr>
        <p:spPr>
          <a:xfrm>
            <a:off x="2916563" y="2070000"/>
            <a:ext cx="2447500" cy="9625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buNone/>
              <a:defRPr sz="700" b="0">
                <a:solidFill>
                  <a:srgbClr val="6678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00" b="0">
                <a:solidFill>
                  <a:srgbClr val="6678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Gang-aware: select one complete victim job</a:t>
            </a:r>
            <a:endParaRPr sz="700" b="0">
              <a:solidFill>
                <a:srgbClr val="66788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28" name="Chevron 104"/>
          <p:cNvSpPr>
            <a:spLocks noGrp="1"/>
          </p:cNvSpPr>
          <p:nvPr/>
        </p:nvSpPr>
        <p:spPr>
          <a:xfrm>
            <a:off x="5817813" y="1973750"/>
            <a:ext cx="261250" cy="192500"/>
          </a:xfrm>
          <a:prstGeom prst="chevron">
            <a:avLst/>
          </a:prstGeom>
          <a:solidFill>
            <a:srgbClr val="0B5C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29" name="Rounded Rectangle 105"/>
          <p:cNvSpPr>
            <a:spLocks noGrp="1"/>
          </p:cNvSpPr>
          <p:nvPr/>
        </p:nvSpPr>
        <p:spPr>
          <a:xfrm>
            <a:off x="6202813" y="1946250"/>
            <a:ext cx="2145000" cy="2750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8890">
            <a:solidFill>
              <a:srgbClr val="667A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30" name="TextBox 106"/>
          <p:cNvSpPr>
            <a:spLocks noGrp="1"/>
          </p:cNvSpPr>
          <p:nvPr/>
        </p:nvSpPr>
        <p:spPr>
          <a:xfrm>
            <a:off x="6202813" y="2028750"/>
            <a:ext cx="2145000" cy="9625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buNone/>
              <a:defRPr sz="700" b="1">
                <a:solidFill>
                  <a:srgbClr val="667A8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00" b="1">
                <a:solidFill>
                  <a:srgbClr val="667A8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Training victim job selected</a:t>
            </a:r>
            <a:endParaRPr sz="700" b="1">
              <a:solidFill>
                <a:srgbClr val="667A8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31" name="Rounded Rectangle 107"/>
          <p:cNvSpPr>
            <a:spLocks noGrp="1"/>
          </p:cNvSpPr>
          <p:nvPr/>
        </p:nvSpPr>
        <p:spPr>
          <a:xfrm>
            <a:off x="537813" y="2613125"/>
            <a:ext cx="2303125" cy="19662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667A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32" name="Rounded Rectangle 108"/>
          <p:cNvSpPr>
            <a:spLocks noGrp="1"/>
          </p:cNvSpPr>
          <p:nvPr/>
        </p:nvSpPr>
        <p:spPr>
          <a:xfrm>
            <a:off x="3047187" y="2613125"/>
            <a:ext cx="2495625" cy="19662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33" name="Rounded Rectangle 109"/>
          <p:cNvSpPr>
            <a:spLocks noGrp="1"/>
          </p:cNvSpPr>
          <p:nvPr/>
        </p:nvSpPr>
        <p:spPr>
          <a:xfrm>
            <a:off x="5749062" y="2613125"/>
            <a:ext cx="2887500" cy="19662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2D6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34" name="TextBox 110"/>
          <p:cNvSpPr>
            <a:spLocks noGrp="1"/>
          </p:cNvSpPr>
          <p:nvPr/>
        </p:nvSpPr>
        <p:spPr>
          <a:xfrm>
            <a:off x="661563" y="2702500"/>
            <a:ext cx="2055625" cy="8937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buNone/>
              <a:defRPr sz="715" b="1">
                <a:solidFill>
                  <a:srgbClr val="667A8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CURRENT</a:t>
            </a:r>
          </a:p>
        </p:txBody>
      </p:sp>
      <p:sp>
        <p:nvSpPr>
          <p:cNvPr id="635" name="TextBox 111"/>
          <p:cNvSpPr>
            <a:spLocks noGrp="1"/>
          </p:cNvSpPr>
          <p:nvPr/>
        </p:nvSpPr>
        <p:spPr>
          <a:xfrm>
            <a:off x="661563" y="2846875"/>
            <a:ext cx="2055625" cy="15125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buNone/>
              <a:defRPr sz="700" b="1">
                <a:solidFill>
                  <a:srgbClr val="003F8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00" b="1">
                <a:solidFill>
                  <a:srgbClr val="003F8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Current Volcano path</a:t>
            </a:r>
            <a:endParaRPr sz="700" b="1">
              <a:solidFill>
                <a:srgbClr val="003F8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36" name="Connector 112"/>
          <p:cNvSpPr>
            <a:spLocks noGrp="1"/>
          </p:cNvSpPr>
          <p:nvPr/>
        </p:nvSpPr>
        <p:spPr>
          <a:xfrm>
            <a:off x="661563" y="3094375"/>
            <a:ext cx="2055624" cy="0"/>
          </a:xfrm>
          <a:prstGeom prst="line">
            <a:avLst/>
          </a:prstGeom>
          <a:ln w="17780">
            <a:solidFill>
              <a:srgbClr val="667A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637" name="Rounded Rectangle 113"/>
          <p:cNvSpPr>
            <a:spLocks noGrp="1"/>
          </p:cNvSpPr>
          <p:nvPr/>
        </p:nvSpPr>
        <p:spPr>
          <a:xfrm>
            <a:off x="716563" y="3211249"/>
            <a:ext cx="1945625" cy="3850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667A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38" name="TextBox 114"/>
          <p:cNvSpPr>
            <a:spLocks noGrp="1"/>
          </p:cNvSpPr>
          <p:nvPr/>
        </p:nvSpPr>
        <p:spPr>
          <a:xfrm>
            <a:off x="819688" y="3279999"/>
            <a:ext cx="1739375" cy="11687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buNone/>
              <a:defRPr sz="700" b="1">
                <a:solidFill>
                  <a:srgbClr val="667A8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00" b="1">
                <a:solidFill>
                  <a:srgbClr val="667A8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Commit eviction</a:t>
            </a:r>
            <a:endParaRPr sz="700" b="1">
              <a:solidFill>
                <a:srgbClr val="667A8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39" name="TextBox 115"/>
          <p:cNvSpPr>
            <a:spLocks noGrp="1"/>
          </p:cNvSpPr>
          <p:nvPr/>
        </p:nvSpPr>
        <p:spPr>
          <a:xfrm>
            <a:off x="819688" y="3445000"/>
            <a:ext cx="1739375" cy="11000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buNone/>
              <a:defRPr sz="700" b="0">
                <a:solidFill>
                  <a:srgbClr val="6678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00" b="0">
                <a:solidFill>
                  <a:srgbClr val="6678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Delete the complete victim job</a:t>
            </a:r>
            <a:endParaRPr sz="700" b="0">
              <a:solidFill>
                <a:srgbClr val="66788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40" name="Down Arrow 116"/>
          <p:cNvSpPr>
            <a:spLocks noGrp="1"/>
          </p:cNvSpPr>
          <p:nvPr/>
        </p:nvSpPr>
        <p:spPr>
          <a:xfrm>
            <a:off x="1582813" y="3630625"/>
            <a:ext cx="206250" cy="171875"/>
          </a:xfrm>
          <a:prstGeom prst="downArrow">
            <a:avLst/>
          </a:prstGeom>
          <a:solidFill>
            <a:srgbClr val="667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41" name="Rounded Rectangle 117"/>
          <p:cNvSpPr>
            <a:spLocks noGrp="1"/>
          </p:cNvSpPr>
          <p:nvPr/>
        </p:nvSpPr>
        <p:spPr>
          <a:xfrm>
            <a:off x="716563" y="3823125"/>
            <a:ext cx="1945625" cy="385000"/>
          </a:xfrm>
          <a:prstGeom prst="roundRect">
            <a:avLst>
              <a:gd name="adj" fmla="val 8000"/>
            </a:avLst>
          </a:prstGeom>
          <a:solidFill>
            <a:srgbClr val="EAF2FF"/>
          </a:solidFill>
          <a:ln w="9525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42" name="TextBox 118"/>
          <p:cNvSpPr>
            <a:spLocks noGrp="1"/>
          </p:cNvSpPr>
          <p:nvPr/>
        </p:nvSpPr>
        <p:spPr>
          <a:xfrm>
            <a:off x="819688" y="3891875"/>
            <a:ext cx="1739375" cy="11687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buNone/>
              <a:defRPr sz="700" b="1">
                <a:solidFill>
                  <a:srgbClr val="0B5CA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00" b="1">
                <a:solidFill>
                  <a:srgbClr val="0B5CA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Release 4 GPUs</a:t>
            </a:r>
            <a:endParaRPr sz="700" b="1">
              <a:solidFill>
                <a:srgbClr val="0B5CA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43" name="TextBox 119"/>
          <p:cNvSpPr>
            <a:spLocks noGrp="1"/>
          </p:cNvSpPr>
          <p:nvPr/>
        </p:nvSpPr>
        <p:spPr>
          <a:xfrm>
            <a:off x="819688" y="4056875"/>
            <a:ext cx="1739375" cy="11000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buNone/>
              <a:defRPr sz="700" b="0">
                <a:solidFill>
                  <a:srgbClr val="6678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00" b="0">
                <a:solidFill>
                  <a:srgbClr val="6678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Admit the Serving PodGroup</a:t>
            </a:r>
            <a:endParaRPr sz="700" b="0">
              <a:solidFill>
                <a:srgbClr val="66788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44" name="TextBox 121"/>
          <p:cNvSpPr>
            <a:spLocks noGrp="1"/>
          </p:cNvSpPr>
          <p:nvPr/>
        </p:nvSpPr>
        <p:spPr>
          <a:xfrm>
            <a:off x="3170937" y="2702500"/>
            <a:ext cx="2248125" cy="8937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buNone/>
              <a:defRPr sz="715" b="1">
                <a:solidFill>
                  <a:srgbClr val="0B5CA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UPSTREAM EXPLORATION</a:t>
            </a:r>
          </a:p>
        </p:txBody>
      </p:sp>
      <p:sp>
        <p:nvSpPr>
          <p:cNvPr id="645" name="TextBox 122"/>
          <p:cNvSpPr>
            <a:spLocks noGrp="1"/>
          </p:cNvSpPr>
          <p:nvPr/>
        </p:nvSpPr>
        <p:spPr>
          <a:xfrm>
            <a:off x="3170937" y="2846875"/>
            <a:ext cx="2248125" cy="15125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buNone/>
              <a:defRPr sz="865" b="1">
                <a:solidFill>
                  <a:srgbClr val="003F8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Kubernetes Pod C/R</a:t>
            </a:r>
          </a:p>
        </p:txBody>
      </p:sp>
      <p:sp>
        <p:nvSpPr>
          <p:cNvPr id="646" name="Connector 123"/>
          <p:cNvSpPr>
            <a:spLocks noGrp="1"/>
          </p:cNvSpPr>
          <p:nvPr/>
        </p:nvSpPr>
        <p:spPr>
          <a:xfrm>
            <a:off x="3170937" y="3094375"/>
            <a:ext cx="2248125" cy="0"/>
          </a:xfrm>
          <a:prstGeom prst="line">
            <a:avLst/>
          </a:prstGeom>
          <a:ln w="17780">
            <a:solidFill>
              <a:srgbClr val="0B5C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647" name="TextBox 124"/>
          <p:cNvSpPr>
            <a:spLocks noGrp="1"/>
          </p:cNvSpPr>
          <p:nvPr/>
        </p:nvSpPr>
        <p:spPr>
          <a:xfrm>
            <a:off x="3219063" y="3190625"/>
            <a:ext cx="2151875" cy="11687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buNone/>
              <a:defRPr sz="790" b="1">
                <a:solidFill>
                  <a:srgbClr val="0B5CA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Checkpoint/Restore WG · KEP-5823</a:t>
            </a:r>
          </a:p>
        </p:txBody>
      </p:sp>
      <p:sp>
        <p:nvSpPr>
          <p:cNvPr id="648" name="Rounded Rectangle 125"/>
          <p:cNvSpPr>
            <a:spLocks noGrp="1"/>
          </p:cNvSpPr>
          <p:nvPr/>
        </p:nvSpPr>
        <p:spPr>
          <a:xfrm>
            <a:off x="3219063" y="3417500"/>
            <a:ext cx="935000" cy="330000"/>
          </a:xfrm>
          <a:prstGeom prst="roundRect">
            <a:avLst>
              <a:gd name="adj" fmla="val 8000"/>
            </a:avLst>
          </a:prstGeom>
          <a:solidFill>
            <a:srgbClr val="EAF2FF"/>
          </a:solidFill>
          <a:ln w="889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49" name="TextBox 126"/>
          <p:cNvSpPr>
            <a:spLocks noGrp="1"/>
          </p:cNvSpPr>
          <p:nvPr/>
        </p:nvSpPr>
        <p:spPr>
          <a:xfrm>
            <a:off x="3219063" y="3520625"/>
            <a:ext cx="935000" cy="9625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buNone/>
              <a:defRPr sz="790" b="1">
                <a:solidFill>
                  <a:srgbClr val="0B5CA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PodCheckpoint</a:t>
            </a:r>
          </a:p>
        </p:txBody>
      </p:sp>
      <p:sp>
        <p:nvSpPr>
          <p:cNvPr id="650" name="Chevron 127"/>
          <p:cNvSpPr>
            <a:spLocks noGrp="1"/>
          </p:cNvSpPr>
          <p:nvPr/>
        </p:nvSpPr>
        <p:spPr>
          <a:xfrm>
            <a:off x="4243438" y="3486250"/>
            <a:ext cx="192500" cy="165000"/>
          </a:xfrm>
          <a:prstGeom prst="chevron">
            <a:avLst/>
          </a:prstGeom>
          <a:solidFill>
            <a:srgbClr val="0B5C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51" name="Rounded Rectangle 128"/>
          <p:cNvSpPr>
            <a:spLocks noGrp="1"/>
          </p:cNvSpPr>
          <p:nvPr/>
        </p:nvSpPr>
        <p:spPr>
          <a:xfrm>
            <a:off x="4504688" y="3417500"/>
            <a:ext cx="880000" cy="330000"/>
          </a:xfrm>
          <a:prstGeom prst="roundRect">
            <a:avLst>
              <a:gd name="adj" fmla="val 8000"/>
            </a:avLst>
          </a:prstGeom>
          <a:solidFill>
            <a:srgbClr val="EAF2FF"/>
          </a:solidFill>
          <a:ln w="889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52" name="TextBox 129"/>
          <p:cNvSpPr>
            <a:spLocks noGrp="1"/>
          </p:cNvSpPr>
          <p:nvPr/>
        </p:nvSpPr>
        <p:spPr>
          <a:xfrm>
            <a:off x="4504688" y="3520625"/>
            <a:ext cx="880000" cy="9625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buNone/>
              <a:defRPr sz="790" b="1">
                <a:solidFill>
                  <a:srgbClr val="0B5CA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restoreFrom</a:t>
            </a:r>
          </a:p>
        </p:txBody>
      </p:sp>
      <p:sp>
        <p:nvSpPr>
          <p:cNvPr id="653" name="TextBox 133"/>
          <p:cNvSpPr>
            <a:spLocks noGrp="1"/>
          </p:cNvSpPr>
          <p:nvPr/>
        </p:nvSpPr>
        <p:spPr>
          <a:xfrm>
            <a:off x="5872812" y="2702500"/>
            <a:ext cx="2640000" cy="8937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buNone/>
              <a:defRPr sz="715" b="1">
                <a:solidFill>
                  <a:srgbClr val="2D6A5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VOLCANO EVOLUTION</a:t>
            </a:r>
          </a:p>
        </p:txBody>
      </p:sp>
      <p:sp>
        <p:nvSpPr>
          <p:cNvPr id="654" name="TextBox 134"/>
          <p:cNvSpPr>
            <a:spLocks noGrp="1"/>
          </p:cNvSpPr>
          <p:nvPr/>
        </p:nvSpPr>
        <p:spPr>
          <a:xfrm>
            <a:off x="5872812" y="2846875"/>
            <a:ext cx="2640000" cy="15125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buNone/>
              <a:defRPr sz="700" b="1">
                <a:solidFill>
                  <a:srgbClr val="003F8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00" b="1">
                <a:solidFill>
                  <a:srgbClr val="003F8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Coordinated recovery for training jobs</a:t>
            </a:r>
            <a:endParaRPr sz="700" b="1">
              <a:solidFill>
                <a:srgbClr val="003F8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55" name="Connector 135"/>
          <p:cNvSpPr>
            <a:spLocks noGrp="1"/>
          </p:cNvSpPr>
          <p:nvPr/>
        </p:nvSpPr>
        <p:spPr>
          <a:xfrm>
            <a:off x="5872812" y="3094375"/>
            <a:ext cx="2640001" cy="0"/>
          </a:xfrm>
          <a:prstGeom prst="line">
            <a:avLst/>
          </a:prstGeom>
          <a:ln w="17780">
            <a:solidFill>
              <a:srgbClr val="2D6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656" name="Rounded Rectangle 136"/>
          <p:cNvSpPr>
            <a:spLocks noGrp="1"/>
          </p:cNvSpPr>
          <p:nvPr/>
        </p:nvSpPr>
        <p:spPr>
          <a:xfrm>
            <a:off x="5934688" y="3170000"/>
            <a:ext cx="2516250" cy="336875"/>
          </a:xfrm>
          <a:prstGeom prst="roundRect">
            <a:avLst>
              <a:gd name="adj" fmla="val 8000"/>
            </a:avLst>
          </a:prstGeom>
          <a:solidFill>
            <a:srgbClr val="EAF2FF"/>
          </a:solidFill>
          <a:ln w="9525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57" name="TextBox 137"/>
          <p:cNvSpPr>
            <a:spLocks noGrp="1"/>
          </p:cNvSpPr>
          <p:nvPr/>
        </p:nvSpPr>
        <p:spPr>
          <a:xfrm>
            <a:off x="6037813" y="3238749"/>
            <a:ext cx="2310000" cy="11687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buNone/>
              <a:defRPr sz="790" b="1">
                <a:solidFill>
                  <a:srgbClr val="0B5CA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① ReclaimIntent</a:t>
            </a:r>
          </a:p>
        </p:txBody>
      </p:sp>
      <p:sp>
        <p:nvSpPr>
          <p:cNvPr id="658" name="TextBox 138"/>
          <p:cNvSpPr>
            <a:spLocks noGrp="1"/>
          </p:cNvSpPr>
          <p:nvPr/>
        </p:nvSpPr>
        <p:spPr>
          <a:xfrm>
            <a:off x="6037813" y="3403750"/>
            <a:ext cx="2310000" cy="6187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buNone/>
              <a:defRPr sz="700" b="0">
                <a:solidFill>
                  <a:srgbClr val="6678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00" b="0">
                <a:solidFill>
                  <a:srgbClr val="6678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Return capacity as one Job / PodGroup</a:t>
            </a:r>
            <a:endParaRPr sz="700" b="0">
              <a:solidFill>
                <a:srgbClr val="66788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59" name="Down Arrow 139"/>
          <p:cNvSpPr>
            <a:spLocks noGrp="1"/>
          </p:cNvSpPr>
          <p:nvPr/>
        </p:nvSpPr>
        <p:spPr>
          <a:xfrm>
            <a:off x="7082813" y="3527500"/>
            <a:ext cx="206250" cy="137500"/>
          </a:xfrm>
          <a:prstGeom prst="downArrow">
            <a:avLst/>
          </a:prstGeom>
          <a:solidFill>
            <a:srgbClr val="2D6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60" name="Rounded Rectangle 140"/>
          <p:cNvSpPr>
            <a:spLocks noGrp="1"/>
          </p:cNvSpPr>
          <p:nvPr/>
        </p:nvSpPr>
        <p:spPr>
          <a:xfrm>
            <a:off x="5934688" y="3665000"/>
            <a:ext cx="2516250" cy="336875"/>
          </a:xfrm>
          <a:prstGeom prst="roundRect">
            <a:avLst>
              <a:gd name="adj" fmla="val 8000"/>
            </a:avLst>
          </a:prstGeom>
          <a:solidFill>
            <a:srgbClr val="EAF5F2"/>
          </a:solidFill>
          <a:ln w="9525">
            <a:solidFill>
              <a:srgbClr val="2D6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61" name="TextBox 141"/>
          <p:cNvSpPr>
            <a:spLocks noGrp="1"/>
          </p:cNvSpPr>
          <p:nvPr/>
        </p:nvSpPr>
        <p:spPr>
          <a:xfrm>
            <a:off x="6037813" y="3733749"/>
            <a:ext cx="2310000" cy="11687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buNone/>
              <a:defRPr sz="790" b="1">
                <a:solidFill>
                  <a:srgbClr val="2D6A5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② Training Controller</a:t>
            </a:r>
          </a:p>
        </p:txBody>
      </p:sp>
      <p:sp>
        <p:nvSpPr>
          <p:cNvPr id="662" name="TextBox 142"/>
          <p:cNvSpPr>
            <a:spLocks noGrp="1"/>
          </p:cNvSpPr>
          <p:nvPr/>
        </p:nvSpPr>
        <p:spPr>
          <a:xfrm>
            <a:off x="6037813" y="3898750"/>
            <a:ext cx="2310000" cy="6187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buNone/>
              <a:defRPr sz="700" b="0">
                <a:solidFill>
                  <a:srgbClr val="6678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00" b="0">
                <a:solidFill>
                  <a:srgbClr val="6678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Coordinate ranks and report checkpoint ready</a:t>
            </a:r>
            <a:endParaRPr sz="700" b="0">
              <a:solidFill>
                <a:srgbClr val="66788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63" name="Down Arrow 143"/>
          <p:cNvSpPr>
            <a:spLocks noGrp="1"/>
          </p:cNvSpPr>
          <p:nvPr/>
        </p:nvSpPr>
        <p:spPr>
          <a:xfrm>
            <a:off x="7082813" y="4022500"/>
            <a:ext cx="206250" cy="137500"/>
          </a:xfrm>
          <a:prstGeom prst="downArrow">
            <a:avLst/>
          </a:prstGeom>
          <a:solidFill>
            <a:srgbClr val="2D6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64" name="Rounded Rectangle 144"/>
          <p:cNvSpPr>
            <a:spLocks noGrp="1"/>
          </p:cNvSpPr>
          <p:nvPr/>
        </p:nvSpPr>
        <p:spPr>
          <a:xfrm>
            <a:off x="5934688" y="4160000"/>
            <a:ext cx="2516250" cy="336875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667A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65" name="TextBox 145"/>
          <p:cNvSpPr>
            <a:spLocks noGrp="1"/>
          </p:cNvSpPr>
          <p:nvPr/>
        </p:nvSpPr>
        <p:spPr>
          <a:xfrm>
            <a:off x="6037813" y="4228749"/>
            <a:ext cx="2310000" cy="11687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buNone/>
              <a:defRPr sz="790" b="1">
                <a:solidFill>
                  <a:srgbClr val="667A8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③ Commit &amp; Restore</a:t>
            </a:r>
          </a:p>
        </p:txBody>
      </p:sp>
      <p:sp>
        <p:nvSpPr>
          <p:cNvPr id="666" name="TextBox 146"/>
          <p:cNvSpPr>
            <a:spLocks noGrp="1"/>
          </p:cNvSpPr>
          <p:nvPr/>
        </p:nvSpPr>
        <p:spPr>
          <a:xfrm>
            <a:off x="6037813" y="4393749"/>
            <a:ext cx="2310000" cy="6187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buNone/>
              <a:defRPr sz="700" b="0">
                <a:solidFill>
                  <a:srgbClr val="6678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00" b="0">
                <a:solidFill>
                  <a:srgbClr val="6678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Evict after checkpoint; later restore the job</a:t>
            </a:r>
            <a:endParaRPr sz="700" b="0">
              <a:solidFill>
                <a:srgbClr val="66788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67" name="Rounded Rectangle 147"/>
          <p:cNvSpPr>
            <a:spLocks noGrp="1"/>
          </p:cNvSpPr>
          <p:nvPr/>
        </p:nvSpPr>
        <p:spPr>
          <a:xfrm>
            <a:off x="5941563" y="4648125"/>
            <a:ext cx="962500" cy="171875"/>
          </a:xfrm>
          <a:prstGeom prst="roundRect">
            <a:avLst>
              <a:gd name="adj" fmla="val 8000"/>
            </a:avLst>
          </a:prstGeom>
          <a:solidFill>
            <a:srgbClr val="EAF5F2"/>
          </a:solidFill>
          <a:ln w="6350">
            <a:solidFill>
              <a:srgbClr val="2D6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68" name="TextBox 148"/>
          <p:cNvSpPr>
            <a:spLocks noGrp="1"/>
          </p:cNvSpPr>
          <p:nvPr/>
        </p:nvSpPr>
        <p:spPr>
          <a:xfrm>
            <a:off x="5941563" y="4696250"/>
            <a:ext cx="962500" cy="7562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buNone/>
              <a:defRPr sz="700" b="1">
                <a:solidFill>
                  <a:srgbClr val="2D6A5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00" b="1">
                <a:solidFill>
                  <a:srgbClr val="2D6A5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Near term: framework level</a:t>
            </a:r>
            <a:endParaRPr sz="700" b="1">
              <a:solidFill>
                <a:srgbClr val="2D6A5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69" name="Rounded Rectangle 149"/>
          <p:cNvSpPr>
            <a:spLocks noGrp="1"/>
          </p:cNvSpPr>
          <p:nvPr/>
        </p:nvSpPr>
        <p:spPr>
          <a:xfrm>
            <a:off x="7000313" y="4648125"/>
            <a:ext cx="1443750" cy="171875"/>
          </a:xfrm>
          <a:prstGeom prst="roundRect">
            <a:avLst>
              <a:gd name="adj" fmla="val 8000"/>
            </a:avLst>
          </a:prstGeom>
          <a:solidFill>
            <a:srgbClr val="EAF2FF"/>
          </a:solidFill>
          <a:ln w="635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70" name="TextBox 150"/>
          <p:cNvSpPr>
            <a:spLocks noGrp="1"/>
          </p:cNvSpPr>
          <p:nvPr/>
        </p:nvSpPr>
        <p:spPr>
          <a:xfrm>
            <a:off x="7000313" y="4696250"/>
            <a:ext cx="1443750" cy="7562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buNone/>
              <a:defRPr sz="700" b="1">
                <a:solidFill>
                  <a:srgbClr val="0B5CA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00" b="1">
                <a:solidFill>
                  <a:srgbClr val="0B5CA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Long term: native Pod checkpoint / restore</a:t>
            </a:r>
            <a:endParaRPr sz="700" b="1">
              <a:solidFill>
                <a:srgbClr val="0B5CA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" name="Google Shape;614;p67"/>
          <p:cNvSpPr>
            <a:spLocks noGrp="1"/>
          </p:cNvSpPr>
          <p:nvPr>
            <p:ph type="title"/>
          </p:nvPr>
        </p:nvSpPr>
        <p:spPr>
          <a:xfrm>
            <a:off x="311700" y="0"/>
            <a:ext cx="6949800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>PodGroup and SubGroup</a:t>
            </a:r>
          </a:p>
        </p:txBody>
      </p:sp>
      <p:sp>
        <p:nvSpPr>
          <p:cNvPr id="615" name="Shape 5"/>
          <p:cNvSpPr>
            <a:spLocks noGrp="1"/>
          </p:cNvSpPr>
          <p:nvPr/>
        </p:nvSpPr>
        <p:spPr>
          <a:xfrm>
            <a:off x="240000" y="1153320"/>
            <a:ext cx="8660000" cy="0"/>
          </a:xfrm>
          <a:prstGeom prst="line">
            <a:avLst/>
          </a:prstGeom>
          <a:noFill/>
          <a:ln w="11430">
            <a:solidFill>
              <a:srgbClr val="B9C8D8"/>
            </a:solidFill>
            <a:prstDash val="solid"/>
            <a:headEnd type="none"/>
          </a:ln>
        </p:spPr>
      </p:sp>
      <p:sp>
        <p:nvSpPr>
          <p:cNvPr id="616" name="Shape 6"/>
          <p:cNvSpPr>
            <a:spLocks noGrp="1"/>
          </p:cNvSpPr>
          <p:nvPr/>
        </p:nvSpPr>
        <p:spPr>
          <a:xfrm>
            <a:off x="240000" y="1117386"/>
            <a:ext cx="963021" cy="71867"/>
          </a:xfrm>
          <a:prstGeom prst="rect">
            <a:avLst/>
          </a:prstGeom>
          <a:solidFill>
            <a:srgbClr val="E43D30"/>
          </a:solidFill>
          <a:ln w="12700">
            <a:solidFill>
              <a:srgbClr val="E43D30">
                <a:alpha val="0"/>
              </a:srgbClr>
            </a:solidFill>
            <a:prstDash val="solid"/>
          </a:ln>
        </p:spPr>
      </p:sp>
      <p:sp>
        <p:nvSpPr>
          <p:cNvPr id="617" name="Shape 8"/>
          <p:cNvSpPr>
            <a:spLocks noGrp="1"/>
          </p:cNvSpPr>
          <p:nvPr/>
        </p:nvSpPr>
        <p:spPr>
          <a:xfrm>
            <a:off x="311867" y="1253934"/>
            <a:ext cx="8559386" cy="344963"/>
          </a:xfrm>
          <a:prstGeom prst="rect">
            <a:avLst/>
          </a:prstGeom>
          <a:solidFill>
            <a:srgbClr val="FFFFFF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618" name="Shape 9"/>
          <p:cNvSpPr>
            <a:spLocks noGrp="1"/>
          </p:cNvSpPr>
          <p:nvPr/>
        </p:nvSpPr>
        <p:spPr>
          <a:xfrm>
            <a:off x="311867" y="1253934"/>
            <a:ext cx="86241" cy="344963"/>
          </a:xfrm>
          <a:prstGeom prst="rect">
            <a:avLst/>
          </a:prstGeom>
          <a:solidFill>
            <a:srgbClr val="E43D30"/>
          </a:solidFill>
          <a:ln w="12700">
            <a:solidFill>
              <a:srgbClr val="E43D30"/>
            </a:solidFill>
            <a:prstDash val="solid"/>
          </a:ln>
        </p:spPr>
      </p:sp>
      <p:sp>
        <p:nvSpPr>
          <p:cNvPr id="619" name="Text 10"/>
          <p:cNvSpPr>
            <a:spLocks noGrp="1"/>
          </p:cNvSpPr>
          <p:nvPr/>
        </p:nvSpPr>
        <p:spPr>
          <a:xfrm>
            <a:off x="527469" y="1318614"/>
            <a:ext cx="8106622" cy="194041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115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 single PodGroup tells the scheduler how many Pods are needed, but not which Pods belong together or where each group should land.</a:t>
            </a:r>
            <a:endParaRPr sz="1115"/>
          </a:p>
        </p:txBody>
      </p:sp>
      <p:sp>
        <p:nvSpPr>
          <p:cNvPr id="620" name="Shape 11"/>
          <p:cNvSpPr>
            <a:spLocks noGrp="1"/>
          </p:cNvSpPr>
          <p:nvPr/>
        </p:nvSpPr>
        <p:spPr>
          <a:xfrm>
            <a:off x="311867" y="1728257"/>
            <a:ext cx="2335685" cy="3054357"/>
          </a:xfrm>
          <a:prstGeom prst="rect">
            <a:avLst/>
          </a:prstGeom>
          <a:solidFill>
            <a:srgbClr val="FFFFFF"/>
          </a:solidFill>
          <a:ln w="12700">
            <a:solidFill>
              <a:srgbClr val="6F8193"/>
            </a:solidFill>
            <a:prstDash val="solid"/>
          </a:ln>
        </p:spPr>
      </p:sp>
      <p:sp>
        <p:nvSpPr>
          <p:cNvPr id="621" name="Shape 12"/>
          <p:cNvSpPr>
            <a:spLocks noGrp="1"/>
          </p:cNvSpPr>
          <p:nvPr/>
        </p:nvSpPr>
        <p:spPr>
          <a:xfrm>
            <a:off x="469975" y="1908125"/>
            <a:ext cx="1207369" cy="273095"/>
          </a:xfrm>
          <a:prstGeom prst="chevron">
            <a:avLst/>
          </a:prstGeom>
          <a:solidFill>
            <a:schemeClr val="accent1"/>
          </a:solidFill>
          <a:ln w="12700">
            <a:solidFill>
              <a:srgbClr val="6F8193">
                <a:alpha val="0"/>
              </a:srgbClr>
            </a:solidFill>
            <a:prstDash val="solid"/>
          </a:ln>
        </p:spPr>
      </p:sp>
      <p:sp>
        <p:nvSpPr>
          <p:cNvPr id="622" name="Text 13"/>
          <p:cNvSpPr>
            <a:spLocks noGrp="1"/>
          </p:cNvSpPr>
          <p:nvPr/>
        </p:nvSpPr>
        <p:spPr>
          <a:xfrm>
            <a:off x="527569" y="1943060"/>
            <a:ext cx="1189303" cy="194141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86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 flat PodGroup</a:t>
            </a:r>
            <a:endParaRPr sz="865"/>
          </a:p>
        </p:txBody>
      </p:sp>
      <p:sp>
        <p:nvSpPr>
          <p:cNvPr id="623" name="Shape 14"/>
          <p:cNvSpPr>
            <a:spLocks noGrp="1"/>
          </p:cNvSpPr>
          <p:nvPr/>
        </p:nvSpPr>
        <p:spPr>
          <a:xfrm>
            <a:off x="570589" y="2360689"/>
            <a:ext cx="1811054" cy="603685"/>
          </a:xfrm>
          <a:prstGeom prst="rect">
            <a:avLst/>
          </a:prstGeom>
          <a:solidFill>
            <a:srgbClr val="FFFFFF"/>
          </a:solidFill>
          <a:ln w="12700">
            <a:solidFill>
              <a:srgbClr val="6F8193"/>
            </a:solidFill>
            <a:prstDash val="solid"/>
          </a:ln>
        </p:spPr>
      </p:sp>
      <p:sp>
        <p:nvSpPr>
          <p:cNvPr id="624" name="Text 15"/>
          <p:cNvSpPr>
            <a:spLocks noGrp="1"/>
          </p:cNvSpPr>
          <p:nvPr/>
        </p:nvSpPr>
        <p:spPr>
          <a:xfrm>
            <a:off x="699950" y="2454116"/>
            <a:ext cx="1552332" cy="194041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80" b="1">
                <a:solidFill>
                  <a:srgbClr val="003F8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minMember / minResources</a:t>
            </a:r>
            <a:endParaRPr sz="980"/>
          </a:p>
        </p:txBody>
      </p:sp>
      <p:sp>
        <p:nvSpPr>
          <p:cNvPr id="625" name="Text 16"/>
          <p:cNvSpPr>
            <a:spLocks noGrp="1"/>
          </p:cNvSpPr>
          <p:nvPr/>
        </p:nvSpPr>
        <p:spPr>
          <a:xfrm>
            <a:off x="699950" y="2734398"/>
            <a:ext cx="1552332" cy="150921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30">
                <a:solidFill>
                  <a:srgbClr val="5D6B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Describes only the admission threshold for the whole job</a:t>
            </a:r>
            <a:endParaRPr sz="730"/>
          </a:p>
        </p:txBody>
      </p:sp>
      <p:sp>
        <p:nvSpPr>
          <p:cNvPr id="626" name="Shape 17"/>
          <p:cNvSpPr>
            <a:spLocks noGrp="1"/>
          </p:cNvSpPr>
          <p:nvPr/>
        </p:nvSpPr>
        <p:spPr>
          <a:xfrm>
            <a:off x="570589" y="3122481"/>
            <a:ext cx="1811054" cy="359336"/>
          </a:xfrm>
          <a:prstGeom prst="rect">
            <a:avLst/>
          </a:prstGeom>
          <a:solidFill>
            <a:srgbClr val="FFFFFF"/>
          </a:solidFill>
          <a:ln w="12700">
            <a:solidFill>
              <a:srgbClr val="6F8193"/>
            </a:solidFill>
            <a:prstDash val="solid"/>
          </a:ln>
        </p:spPr>
      </p:sp>
      <p:sp>
        <p:nvSpPr>
          <p:cNvPr id="627" name="Shape 18"/>
          <p:cNvSpPr>
            <a:spLocks noGrp="1"/>
          </p:cNvSpPr>
          <p:nvPr/>
        </p:nvSpPr>
        <p:spPr>
          <a:xfrm>
            <a:off x="685577" y="3192552"/>
            <a:ext cx="344963" cy="244349"/>
          </a:xfrm>
          <a:prstGeom prst="roundRect">
            <a:avLst>
              <a:gd name="adj" fmla="val 23529"/>
            </a:avLst>
          </a:prstGeom>
          <a:solidFill>
            <a:schemeClr val="accent1"/>
          </a:solidFill>
          <a:ln w="12700">
            <a:solidFill>
              <a:srgbClr val="6F8193"/>
            </a:solidFill>
            <a:prstDash val="solid"/>
          </a:ln>
        </p:spPr>
      </p:sp>
      <p:sp>
        <p:nvSpPr>
          <p:cNvPr id="628" name="Text 19"/>
          <p:cNvSpPr>
            <a:spLocks noGrp="1"/>
          </p:cNvSpPr>
          <p:nvPr/>
        </p:nvSpPr>
        <p:spPr>
          <a:xfrm>
            <a:off x="743071" y="3199739"/>
            <a:ext cx="229975" cy="2227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01</a:t>
            </a:r>
            <a:endParaRPr sz="700"/>
          </a:p>
        </p:txBody>
      </p:sp>
      <p:sp>
        <p:nvSpPr>
          <p:cNvPr id="629" name="Text 20"/>
          <p:cNvSpPr>
            <a:spLocks noGrp="1"/>
          </p:cNvSpPr>
          <p:nvPr/>
        </p:nvSpPr>
        <p:spPr>
          <a:xfrm>
            <a:off x="1116780" y="3201535"/>
            <a:ext cx="615758" cy="21560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30" b="1">
                <a:solidFill>
                  <a:srgbClr val="003F8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Training</a:t>
            </a:r>
            <a:endParaRPr sz="730"/>
          </a:p>
        </p:txBody>
      </p:sp>
      <p:sp>
        <p:nvSpPr>
          <p:cNvPr id="630" name="Text 21"/>
          <p:cNvSpPr>
            <a:spLocks noGrp="1"/>
          </p:cNvSpPr>
          <p:nvPr/>
        </p:nvSpPr>
        <p:spPr>
          <a:xfrm>
            <a:off x="1790032" y="3187162"/>
            <a:ext cx="490997" cy="23716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00">
                <a:solidFill>
                  <a:srgbClr val="5D6B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TP / PP / DP groups</a:t>
            </a:r>
            <a:endParaRPr sz="700"/>
          </a:p>
        </p:txBody>
      </p:sp>
      <p:sp>
        <p:nvSpPr>
          <p:cNvPr id="631" name="Shape 22"/>
          <p:cNvSpPr>
            <a:spLocks noGrp="1"/>
          </p:cNvSpPr>
          <p:nvPr/>
        </p:nvSpPr>
        <p:spPr>
          <a:xfrm>
            <a:off x="570589" y="3568058"/>
            <a:ext cx="1811054" cy="359336"/>
          </a:xfrm>
          <a:prstGeom prst="rect">
            <a:avLst/>
          </a:prstGeom>
          <a:solidFill>
            <a:srgbClr val="FFFFFF"/>
          </a:solidFill>
          <a:ln w="12700">
            <a:solidFill>
              <a:srgbClr val="6F8193"/>
            </a:solidFill>
            <a:prstDash val="solid"/>
          </a:ln>
        </p:spPr>
      </p:sp>
      <p:sp>
        <p:nvSpPr>
          <p:cNvPr id="632" name="Shape 23"/>
          <p:cNvSpPr>
            <a:spLocks noGrp="1"/>
          </p:cNvSpPr>
          <p:nvPr/>
        </p:nvSpPr>
        <p:spPr>
          <a:xfrm>
            <a:off x="685577" y="3638129"/>
            <a:ext cx="344963" cy="244349"/>
          </a:xfrm>
          <a:prstGeom prst="roundRect">
            <a:avLst>
              <a:gd name="adj" fmla="val 23529"/>
            </a:avLst>
          </a:prstGeom>
          <a:solidFill>
            <a:schemeClr val="accent1"/>
          </a:solidFill>
          <a:ln w="12700">
            <a:solidFill>
              <a:srgbClr val="6F8193"/>
            </a:solidFill>
            <a:prstDash val="solid"/>
          </a:ln>
        </p:spPr>
      </p:sp>
      <p:sp>
        <p:nvSpPr>
          <p:cNvPr id="633" name="Text 24"/>
          <p:cNvSpPr>
            <a:spLocks noGrp="1"/>
          </p:cNvSpPr>
          <p:nvPr/>
        </p:nvSpPr>
        <p:spPr>
          <a:xfrm>
            <a:off x="743071" y="3645315"/>
            <a:ext cx="229975" cy="2227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02</a:t>
            </a:r>
            <a:endParaRPr sz="700"/>
          </a:p>
        </p:txBody>
      </p:sp>
      <p:sp>
        <p:nvSpPr>
          <p:cNvPr id="634" name="Text 25"/>
          <p:cNvSpPr>
            <a:spLocks noGrp="1"/>
          </p:cNvSpPr>
          <p:nvPr/>
        </p:nvSpPr>
        <p:spPr>
          <a:xfrm>
            <a:off x="1116780" y="3647112"/>
            <a:ext cx="615758" cy="21560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30" b="1">
                <a:solidFill>
                  <a:srgbClr val="003F8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Inference</a:t>
            </a:r>
            <a:endParaRPr sz="730"/>
          </a:p>
        </p:txBody>
      </p:sp>
      <p:sp>
        <p:nvSpPr>
          <p:cNvPr id="635" name="Text 26"/>
          <p:cNvSpPr>
            <a:spLocks noGrp="1"/>
          </p:cNvSpPr>
          <p:nvPr/>
        </p:nvSpPr>
        <p:spPr>
          <a:xfrm>
            <a:off x="1790032" y="3632739"/>
            <a:ext cx="490997" cy="23716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00">
                <a:solidFill>
                  <a:srgbClr val="5D6B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Prefill / Decode roles</a:t>
            </a:r>
            <a:endParaRPr sz="700"/>
          </a:p>
        </p:txBody>
      </p:sp>
      <p:sp>
        <p:nvSpPr>
          <p:cNvPr id="636" name="Shape 27"/>
          <p:cNvSpPr>
            <a:spLocks noGrp="1"/>
          </p:cNvSpPr>
          <p:nvPr/>
        </p:nvSpPr>
        <p:spPr>
          <a:xfrm>
            <a:off x="570589" y="4013635"/>
            <a:ext cx="1811054" cy="359336"/>
          </a:xfrm>
          <a:prstGeom prst="rect">
            <a:avLst/>
          </a:prstGeom>
          <a:solidFill>
            <a:srgbClr val="FFFFFF"/>
          </a:solidFill>
          <a:ln w="12700">
            <a:solidFill>
              <a:srgbClr val="6F8193"/>
            </a:solidFill>
            <a:prstDash val="solid"/>
          </a:ln>
        </p:spPr>
      </p:sp>
      <p:sp>
        <p:nvSpPr>
          <p:cNvPr id="637" name="Shape 28"/>
          <p:cNvSpPr>
            <a:spLocks noGrp="1"/>
          </p:cNvSpPr>
          <p:nvPr/>
        </p:nvSpPr>
        <p:spPr>
          <a:xfrm>
            <a:off x="685577" y="4083705"/>
            <a:ext cx="344963" cy="244349"/>
          </a:xfrm>
          <a:prstGeom prst="roundRect">
            <a:avLst>
              <a:gd name="adj" fmla="val 23529"/>
            </a:avLst>
          </a:prstGeom>
          <a:solidFill>
            <a:schemeClr val="accent1"/>
          </a:solidFill>
          <a:ln w="12700">
            <a:solidFill>
              <a:srgbClr val="6F8193"/>
            </a:solidFill>
            <a:prstDash val="solid"/>
          </a:ln>
        </p:spPr>
      </p:sp>
      <p:sp>
        <p:nvSpPr>
          <p:cNvPr id="638" name="Text 29"/>
          <p:cNvSpPr>
            <a:spLocks noGrp="1"/>
          </p:cNvSpPr>
          <p:nvPr/>
        </p:nvSpPr>
        <p:spPr>
          <a:xfrm>
            <a:off x="743071" y="4105365"/>
            <a:ext cx="229975" cy="2227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03</a:t>
            </a:r>
            <a:endParaRPr sz="700"/>
          </a:p>
        </p:txBody>
      </p:sp>
      <p:sp>
        <p:nvSpPr>
          <p:cNvPr id="639" name="Text 30"/>
          <p:cNvSpPr>
            <a:spLocks noGrp="1"/>
          </p:cNvSpPr>
          <p:nvPr/>
        </p:nvSpPr>
        <p:spPr>
          <a:xfrm>
            <a:off x="1116780" y="4092689"/>
            <a:ext cx="615758" cy="21560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30" b="1">
                <a:solidFill>
                  <a:srgbClr val="003F8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Placement</a:t>
            </a:r>
            <a:endParaRPr sz="730"/>
          </a:p>
        </p:txBody>
      </p:sp>
      <p:sp>
        <p:nvSpPr>
          <p:cNvPr id="640" name="Text 31"/>
          <p:cNvSpPr>
            <a:spLocks noGrp="1"/>
          </p:cNvSpPr>
          <p:nvPr/>
        </p:nvSpPr>
        <p:spPr>
          <a:xfrm>
            <a:off x="1790032" y="4078315"/>
            <a:ext cx="490997" cy="23716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00">
                <a:solidFill>
                  <a:srgbClr val="5D6B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Different topology tiers</a:t>
            </a:r>
            <a:endParaRPr sz="700"/>
          </a:p>
        </p:txBody>
      </p:sp>
      <p:sp>
        <p:nvSpPr>
          <p:cNvPr id="641" name="Shape 32"/>
          <p:cNvSpPr>
            <a:spLocks noGrp="1"/>
          </p:cNvSpPr>
          <p:nvPr/>
        </p:nvSpPr>
        <p:spPr>
          <a:xfrm>
            <a:off x="2812846" y="3122481"/>
            <a:ext cx="330589" cy="301842"/>
          </a:xfrm>
          <a:prstGeom prst="chevron">
            <a:avLst/>
          </a:prstGeom>
          <a:solidFill>
            <a:srgbClr val="003F8F"/>
          </a:solidFill>
          <a:ln w="12700">
            <a:solidFill>
              <a:srgbClr val="003F8F">
                <a:alpha val="0"/>
              </a:srgbClr>
            </a:solidFill>
            <a:prstDash val="solid"/>
          </a:ln>
        </p:spPr>
      </p:sp>
      <p:sp>
        <p:nvSpPr>
          <p:cNvPr id="642" name="Shape 33"/>
          <p:cNvSpPr>
            <a:spLocks noGrp="1"/>
          </p:cNvSpPr>
          <p:nvPr/>
        </p:nvSpPr>
        <p:spPr>
          <a:xfrm>
            <a:off x="3315917" y="1728257"/>
            <a:ext cx="5548149" cy="3054357"/>
          </a:xfrm>
          <a:prstGeom prst="rect">
            <a:avLst/>
          </a:prstGeom>
          <a:solidFill>
            <a:srgbClr val="FFFFFF"/>
          </a:solidFill>
          <a:ln w="12700">
            <a:solidFill>
              <a:srgbClr val="003F8F"/>
            </a:solidFill>
            <a:prstDash val="solid"/>
          </a:ln>
        </p:spPr>
      </p:sp>
      <p:sp>
        <p:nvSpPr>
          <p:cNvPr id="643" name="Shape 34"/>
          <p:cNvSpPr>
            <a:spLocks noGrp="1"/>
          </p:cNvSpPr>
          <p:nvPr/>
        </p:nvSpPr>
        <p:spPr>
          <a:xfrm>
            <a:off x="3481212" y="1879178"/>
            <a:ext cx="1164249" cy="273095"/>
          </a:xfrm>
          <a:prstGeom prst="chevron">
            <a:avLst/>
          </a:prstGeom>
          <a:solidFill>
            <a:srgbClr val="003F8F"/>
          </a:solidFill>
          <a:ln w="12700">
            <a:solidFill>
              <a:srgbClr val="003F8F">
                <a:alpha val="0"/>
              </a:srgbClr>
            </a:solidFill>
            <a:prstDash val="solid"/>
          </a:ln>
        </p:spPr>
      </p:sp>
      <p:sp>
        <p:nvSpPr>
          <p:cNvPr id="644" name="Text 35"/>
          <p:cNvSpPr>
            <a:spLocks noGrp="1"/>
          </p:cNvSpPr>
          <p:nvPr/>
        </p:nvSpPr>
        <p:spPr>
          <a:xfrm>
            <a:off x="3538705" y="1907925"/>
            <a:ext cx="1006141" cy="194041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6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Three scheduling levels</a:t>
            </a:r>
            <a:endParaRPr sz="960"/>
          </a:p>
        </p:txBody>
      </p:sp>
      <p:sp>
        <p:nvSpPr>
          <p:cNvPr id="645" name="Shape 36"/>
          <p:cNvSpPr>
            <a:spLocks noGrp="1"/>
          </p:cNvSpPr>
          <p:nvPr/>
        </p:nvSpPr>
        <p:spPr>
          <a:xfrm>
            <a:off x="3675253" y="2331942"/>
            <a:ext cx="4829477" cy="2048216"/>
          </a:xfrm>
          <a:prstGeom prst="rect">
            <a:avLst/>
          </a:prstGeom>
          <a:solidFill>
            <a:srgbClr val="F5F8FC"/>
          </a:solidFill>
          <a:ln w="12700">
            <a:solidFill>
              <a:srgbClr val="003F8F"/>
            </a:solidFill>
            <a:prstDash val="solid"/>
          </a:ln>
        </p:spPr>
      </p:sp>
      <p:sp>
        <p:nvSpPr>
          <p:cNvPr id="646" name="Text 37"/>
          <p:cNvSpPr>
            <a:spLocks noGrp="1"/>
          </p:cNvSpPr>
          <p:nvPr/>
        </p:nvSpPr>
        <p:spPr>
          <a:xfrm>
            <a:off x="3876481" y="2454116"/>
            <a:ext cx="1688880" cy="172481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140" b="1">
                <a:solidFill>
                  <a:srgbClr val="003F8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PodGroup  →  JobInfo</a:t>
            </a:r>
            <a:endParaRPr sz="1140"/>
          </a:p>
        </p:txBody>
      </p:sp>
      <p:sp>
        <p:nvSpPr>
          <p:cNvPr id="647" name="Text 38"/>
          <p:cNvSpPr>
            <a:spLocks noGrp="1"/>
          </p:cNvSpPr>
          <p:nvPr/>
        </p:nvSpPr>
        <p:spPr>
          <a:xfrm>
            <a:off x="5989378" y="2461303"/>
            <a:ext cx="2242257" cy="1581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buNone/>
            </a:pPr>
            <a:r>
              <a:rPr sz="760">
                <a:solidFill>
                  <a:srgbClr val="5D6B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Complete training job / ServingGroup</a:t>
            </a:r>
            <a:endParaRPr sz="760"/>
          </a:p>
        </p:txBody>
      </p:sp>
      <p:sp>
        <p:nvSpPr>
          <p:cNvPr id="648" name="Shape 39"/>
          <p:cNvSpPr>
            <a:spLocks noGrp="1"/>
          </p:cNvSpPr>
          <p:nvPr/>
        </p:nvSpPr>
        <p:spPr>
          <a:xfrm>
            <a:off x="3905228" y="2863759"/>
            <a:ext cx="1940415" cy="1113942"/>
          </a:xfrm>
          <a:prstGeom prst="rect">
            <a:avLst/>
          </a:prstGeom>
          <a:solidFill>
            <a:srgbClr val="FFFFFF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649" name="Text 40"/>
          <p:cNvSpPr>
            <a:spLocks noGrp="1"/>
          </p:cNvSpPr>
          <p:nvPr/>
        </p:nvSpPr>
        <p:spPr>
          <a:xfrm>
            <a:off x="4013029" y="2971560"/>
            <a:ext cx="1724813" cy="1581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835" b="1">
                <a:solidFill>
                  <a:srgbClr val="003F8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Training SubGroup</a:t>
            </a:r>
            <a:endParaRPr sz="835"/>
          </a:p>
        </p:txBody>
      </p:sp>
      <p:sp>
        <p:nvSpPr>
          <p:cNvPr id="650" name="Text 41"/>
          <p:cNvSpPr>
            <a:spLocks noGrp="1"/>
          </p:cNvSpPr>
          <p:nvPr/>
        </p:nvSpPr>
        <p:spPr>
          <a:xfrm>
            <a:off x="4013029" y="3223095"/>
            <a:ext cx="1724813" cy="129361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00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TP / PP / DP</a:t>
            </a:r>
            <a:endParaRPr sz="700"/>
          </a:p>
        </p:txBody>
      </p:sp>
      <p:sp>
        <p:nvSpPr>
          <p:cNvPr id="651" name="Shape 42"/>
          <p:cNvSpPr>
            <a:spLocks noGrp="1"/>
          </p:cNvSpPr>
          <p:nvPr/>
        </p:nvSpPr>
        <p:spPr>
          <a:xfrm>
            <a:off x="4156763" y="3517751"/>
            <a:ext cx="1437344" cy="179668"/>
          </a:xfrm>
          <a:prstGeom prst="rect">
            <a:avLst/>
          </a:prstGeom>
          <a:solidFill>
            <a:srgbClr val="F2F5F8"/>
          </a:solidFill>
          <a:ln w="8890">
            <a:solidFill>
              <a:srgbClr val="0B5CAD"/>
            </a:solidFill>
            <a:prstDash val="solid"/>
          </a:ln>
        </p:spPr>
      </p:sp>
      <p:sp>
        <p:nvSpPr>
          <p:cNvPr id="652" name="Text 43"/>
          <p:cNvSpPr>
            <a:spLocks noGrp="1"/>
          </p:cNvSpPr>
          <p:nvPr/>
        </p:nvSpPr>
        <p:spPr>
          <a:xfrm>
            <a:off x="4185510" y="3550091"/>
            <a:ext cx="1379851" cy="107801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00" b="1">
                <a:solidFill>
                  <a:srgbClr val="0B5CA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size · minSubGroups</a:t>
            </a:r>
            <a:endParaRPr sz="700"/>
          </a:p>
        </p:txBody>
      </p:sp>
      <p:sp>
        <p:nvSpPr>
          <p:cNvPr id="653" name="Shape 44"/>
          <p:cNvSpPr>
            <a:spLocks noGrp="1"/>
          </p:cNvSpPr>
          <p:nvPr/>
        </p:nvSpPr>
        <p:spPr>
          <a:xfrm>
            <a:off x="4207071" y="3783660"/>
            <a:ext cx="309029" cy="194041"/>
          </a:xfrm>
          <a:prstGeom prst="rect">
            <a:avLst/>
          </a:prstGeom>
          <a:solidFill>
            <a:srgbClr val="EDF3F8"/>
          </a:solidFill>
          <a:ln w="12700">
            <a:solidFill>
              <a:srgbClr val="A2B2C2"/>
            </a:solidFill>
            <a:prstDash val="solid"/>
          </a:ln>
        </p:spPr>
      </p:sp>
      <p:sp>
        <p:nvSpPr>
          <p:cNvPr id="654" name="Text 45"/>
          <p:cNvSpPr>
            <a:spLocks noGrp="1"/>
          </p:cNvSpPr>
          <p:nvPr/>
        </p:nvSpPr>
        <p:spPr>
          <a:xfrm>
            <a:off x="4207071" y="3826780"/>
            <a:ext cx="309029" cy="71867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00" b="1">
                <a:solidFill>
                  <a:srgbClr val="003F8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Pod</a:t>
            </a:r>
            <a:endParaRPr sz="700"/>
          </a:p>
        </p:txBody>
      </p:sp>
      <p:sp>
        <p:nvSpPr>
          <p:cNvPr id="655" name="Shape 46"/>
          <p:cNvSpPr>
            <a:spLocks noGrp="1"/>
          </p:cNvSpPr>
          <p:nvPr/>
        </p:nvSpPr>
        <p:spPr>
          <a:xfrm>
            <a:off x="4667021" y="3783660"/>
            <a:ext cx="309029" cy="194041"/>
          </a:xfrm>
          <a:prstGeom prst="rect">
            <a:avLst/>
          </a:prstGeom>
          <a:solidFill>
            <a:srgbClr val="EDF3F8"/>
          </a:solidFill>
          <a:ln w="12700">
            <a:solidFill>
              <a:srgbClr val="A2B2C2"/>
            </a:solidFill>
            <a:prstDash val="solid"/>
          </a:ln>
        </p:spPr>
      </p:sp>
      <p:sp>
        <p:nvSpPr>
          <p:cNvPr id="656" name="Text 47"/>
          <p:cNvSpPr>
            <a:spLocks noGrp="1"/>
          </p:cNvSpPr>
          <p:nvPr/>
        </p:nvSpPr>
        <p:spPr>
          <a:xfrm>
            <a:off x="4667021" y="3826780"/>
            <a:ext cx="309029" cy="71867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00" b="1">
                <a:solidFill>
                  <a:srgbClr val="003F8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Pod</a:t>
            </a:r>
            <a:endParaRPr sz="700"/>
          </a:p>
        </p:txBody>
      </p:sp>
      <p:sp>
        <p:nvSpPr>
          <p:cNvPr id="657" name="Shape 48"/>
          <p:cNvSpPr>
            <a:spLocks noGrp="1"/>
          </p:cNvSpPr>
          <p:nvPr/>
        </p:nvSpPr>
        <p:spPr>
          <a:xfrm>
            <a:off x="5126971" y="3783660"/>
            <a:ext cx="309029" cy="194041"/>
          </a:xfrm>
          <a:prstGeom prst="rect">
            <a:avLst/>
          </a:prstGeom>
          <a:solidFill>
            <a:srgbClr val="EDF3F8"/>
          </a:solidFill>
          <a:ln w="12700">
            <a:solidFill>
              <a:srgbClr val="A2B2C2"/>
            </a:solidFill>
            <a:prstDash val="solid"/>
          </a:ln>
        </p:spPr>
      </p:sp>
      <p:sp>
        <p:nvSpPr>
          <p:cNvPr id="658" name="Text 49"/>
          <p:cNvSpPr>
            <a:spLocks noGrp="1"/>
          </p:cNvSpPr>
          <p:nvPr/>
        </p:nvSpPr>
        <p:spPr>
          <a:xfrm>
            <a:off x="5126971" y="3826780"/>
            <a:ext cx="309029" cy="71867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00" b="1">
                <a:solidFill>
                  <a:srgbClr val="003F8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Pod</a:t>
            </a:r>
            <a:endParaRPr sz="700"/>
          </a:p>
        </p:txBody>
      </p:sp>
      <p:sp>
        <p:nvSpPr>
          <p:cNvPr id="659" name="Shape 50"/>
          <p:cNvSpPr>
            <a:spLocks noGrp="1"/>
          </p:cNvSpPr>
          <p:nvPr/>
        </p:nvSpPr>
        <p:spPr>
          <a:xfrm>
            <a:off x="6082805" y="2863759"/>
            <a:ext cx="1940415" cy="1113942"/>
          </a:xfrm>
          <a:prstGeom prst="rect">
            <a:avLst/>
          </a:prstGeom>
          <a:solidFill>
            <a:srgbClr val="FFFFFF"/>
          </a:solidFill>
          <a:ln w="12700">
            <a:solidFill>
              <a:srgbClr val="6F8193"/>
            </a:solidFill>
            <a:prstDash val="solid"/>
          </a:ln>
        </p:spPr>
      </p:sp>
      <p:sp>
        <p:nvSpPr>
          <p:cNvPr id="660" name="Text 51"/>
          <p:cNvSpPr>
            <a:spLocks noGrp="1"/>
          </p:cNvSpPr>
          <p:nvPr/>
        </p:nvSpPr>
        <p:spPr>
          <a:xfrm>
            <a:off x="6190606" y="2971560"/>
            <a:ext cx="1724813" cy="1581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835" b="1">
                <a:solidFill>
                  <a:srgbClr val="003F8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Inference SubGroup</a:t>
            </a:r>
            <a:endParaRPr sz="835"/>
          </a:p>
        </p:txBody>
      </p:sp>
      <p:sp>
        <p:nvSpPr>
          <p:cNvPr id="661" name="Text 52"/>
          <p:cNvSpPr>
            <a:spLocks noGrp="1"/>
          </p:cNvSpPr>
          <p:nvPr/>
        </p:nvSpPr>
        <p:spPr>
          <a:xfrm>
            <a:off x="6190606" y="3223095"/>
            <a:ext cx="1724813" cy="129361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00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Prefill / Decode</a:t>
            </a:r>
            <a:endParaRPr sz="700"/>
          </a:p>
        </p:txBody>
      </p:sp>
      <p:sp>
        <p:nvSpPr>
          <p:cNvPr id="662" name="Shape 53"/>
          <p:cNvSpPr>
            <a:spLocks noGrp="1"/>
          </p:cNvSpPr>
          <p:nvPr/>
        </p:nvSpPr>
        <p:spPr>
          <a:xfrm>
            <a:off x="6334340" y="3517751"/>
            <a:ext cx="1437344" cy="179668"/>
          </a:xfrm>
          <a:prstGeom prst="rect">
            <a:avLst/>
          </a:prstGeom>
          <a:solidFill>
            <a:srgbClr val="F2F5F8"/>
          </a:solidFill>
          <a:ln w="8890">
            <a:solidFill>
              <a:srgbClr val="6F8193"/>
            </a:solidFill>
            <a:prstDash val="solid"/>
          </a:ln>
        </p:spPr>
      </p:sp>
      <p:sp>
        <p:nvSpPr>
          <p:cNvPr id="663" name="Text 54"/>
          <p:cNvSpPr>
            <a:spLocks noGrp="1"/>
          </p:cNvSpPr>
          <p:nvPr/>
        </p:nvSpPr>
        <p:spPr>
          <a:xfrm>
            <a:off x="6363087" y="3550091"/>
            <a:ext cx="1379851" cy="107801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00" b="1">
                <a:solidFill>
                  <a:srgbClr val="6F819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networkTopology · affinity</a:t>
            </a:r>
            <a:endParaRPr sz="700"/>
          </a:p>
        </p:txBody>
      </p:sp>
      <p:sp>
        <p:nvSpPr>
          <p:cNvPr id="664" name="Shape 55"/>
          <p:cNvSpPr>
            <a:spLocks noGrp="1"/>
          </p:cNvSpPr>
          <p:nvPr/>
        </p:nvSpPr>
        <p:spPr>
          <a:xfrm>
            <a:off x="6384647" y="3783660"/>
            <a:ext cx="309029" cy="194041"/>
          </a:xfrm>
          <a:prstGeom prst="rect">
            <a:avLst/>
          </a:prstGeom>
          <a:solidFill>
            <a:srgbClr val="EDF3F8"/>
          </a:solidFill>
          <a:ln w="12700">
            <a:solidFill>
              <a:srgbClr val="A2B2C2"/>
            </a:solidFill>
            <a:prstDash val="solid"/>
          </a:ln>
        </p:spPr>
      </p:sp>
      <p:sp>
        <p:nvSpPr>
          <p:cNvPr id="665" name="Text 56"/>
          <p:cNvSpPr>
            <a:spLocks noGrp="1"/>
          </p:cNvSpPr>
          <p:nvPr/>
        </p:nvSpPr>
        <p:spPr>
          <a:xfrm>
            <a:off x="6384647" y="3826780"/>
            <a:ext cx="309029" cy="71867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00" b="1">
                <a:solidFill>
                  <a:srgbClr val="003F8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Pod</a:t>
            </a:r>
            <a:endParaRPr sz="700"/>
          </a:p>
        </p:txBody>
      </p:sp>
      <p:sp>
        <p:nvSpPr>
          <p:cNvPr id="666" name="Shape 57"/>
          <p:cNvSpPr>
            <a:spLocks noGrp="1"/>
          </p:cNvSpPr>
          <p:nvPr/>
        </p:nvSpPr>
        <p:spPr>
          <a:xfrm>
            <a:off x="6844598" y="3783660"/>
            <a:ext cx="309029" cy="194041"/>
          </a:xfrm>
          <a:prstGeom prst="rect">
            <a:avLst/>
          </a:prstGeom>
          <a:solidFill>
            <a:srgbClr val="EDF3F8"/>
          </a:solidFill>
          <a:ln w="12700">
            <a:solidFill>
              <a:srgbClr val="A2B2C2"/>
            </a:solidFill>
            <a:prstDash val="solid"/>
          </a:ln>
        </p:spPr>
      </p:sp>
      <p:sp>
        <p:nvSpPr>
          <p:cNvPr id="667" name="Text 58"/>
          <p:cNvSpPr>
            <a:spLocks noGrp="1"/>
          </p:cNvSpPr>
          <p:nvPr/>
        </p:nvSpPr>
        <p:spPr>
          <a:xfrm>
            <a:off x="6844598" y="3826780"/>
            <a:ext cx="309029" cy="71867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00" b="1">
                <a:solidFill>
                  <a:srgbClr val="003F8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Pod</a:t>
            </a:r>
            <a:endParaRPr sz="700"/>
          </a:p>
        </p:txBody>
      </p:sp>
      <p:sp>
        <p:nvSpPr>
          <p:cNvPr id="668" name="Shape 59"/>
          <p:cNvSpPr>
            <a:spLocks noGrp="1"/>
          </p:cNvSpPr>
          <p:nvPr/>
        </p:nvSpPr>
        <p:spPr>
          <a:xfrm>
            <a:off x="7304548" y="3783660"/>
            <a:ext cx="309029" cy="194041"/>
          </a:xfrm>
          <a:prstGeom prst="rect">
            <a:avLst/>
          </a:prstGeom>
          <a:solidFill>
            <a:srgbClr val="EDF3F8"/>
          </a:solidFill>
          <a:ln w="12700">
            <a:solidFill>
              <a:srgbClr val="A2B2C2"/>
            </a:solidFill>
            <a:prstDash val="solid"/>
          </a:ln>
        </p:spPr>
      </p:sp>
      <p:sp>
        <p:nvSpPr>
          <p:cNvPr id="669" name="Text 60"/>
          <p:cNvSpPr>
            <a:spLocks noGrp="1"/>
          </p:cNvSpPr>
          <p:nvPr/>
        </p:nvSpPr>
        <p:spPr>
          <a:xfrm>
            <a:off x="7304548" y="3826780"/>
            <a:ext cx="309029" cy="71867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00" b="1">
                <a:solidFill>
                  <a:srgbClr val="003F8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Pod</a:t>
            </a:r>
            <a:endParaRPr sz="700"/>
          </a:p>
        </p:txBody>
      </p:sp>
      <p:sp>
        <p:nvSpPr>
          <p:cNvPr id="670" name="Shape 61"/>
          <p:cNvSpPr>
            <a:spLocks noGrp="1"/>
          </p:cNvSpPr>
          <p:nvPr/>
        </p:nvSpPr>
        <p:spPr>
          <a:xfrm>
            <a:off x="3689627" y="4487959"/>
            <a:ext cx="4793544" cy="194041"/>
          </a:xfrm>
          <a:prstGeom prst="rect">
            <a:avLst/>
          </a:prstGeom>
          <a:solidFill>
            <a:srgbClr val="FFF8F7"/>
          </a:solidFill>
          <a:ln w="12700">
            <a:solidFill>
              <a:srgbClr val="E43D30"/>
            </a:solidFill>
            <a:prstDash val="solid"/>
          </a:ln>
        </p:spPr>
      </p:sp>
      <p:sp>
        <p:nvSpPr>
          <p:cNvPr id="671" name="Text 62"/>
          <p:cNvSpPr>
            <a:spLocks noGrp="1"/>
          </p:cNvSpPr>
          <p:nvPr/>
        </p:nvSpPr>
        <p:spPr>
          <a:xfrm>
            <a:off x="3833361" y="4527485"/>
            <a:ext cx="4506075" cy="10061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00" b="1">
                <a:solidFill>
                  <a:srgbClr val="E43D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SubGroupPolicy：selector · size · minSubGroups · networkTopology</a:t>
            </a:r>
            <a:endParaRPr sz="7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" name="Google Shape;614;p67"/>
          <p:cNvSpPr>
            <a:spLocks noGrp="1"/>
          </p:cNvSpPr>
          <p:nvPr>
            <p:ph type="title"/>
          </p:nvPr>
        </p:nvSpPr>
        <p:spPr>
          <a:xfrm>
            <a:off x="311700" y="0"/>
            <a:ext cx="6949800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>Topology Placement by Group</a:t>
            </a:r>
          </a:p>
        </p:txBody>
      </p:sp>
      <p:sp>
        <p:nvSpPr>
          <p:cNvPr id="618" name="Text 10"/>
          <p:cNvSpPr>
            <a:spLocks noGrp="1"/>
          </p:cNvSpPr>
          <p:nvPr/>
        </p:nvSpPr>
        <p:spPr>
          <a:xfrm>
            <a:off x="964011" y="1242784"/>
            <a:ext cx="7130611" cy="170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sz="130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PodGroup limits the highest tier the complete job may span; </a:t>
            </a:r>
            <a:endParaRPr sz="1300" b="1">
              <a:solidFill>
                <a:srgbClr val="17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0" indent="0" algn="ctr">
              <a:buNone/>
            </a:pPr>
            <a:r>
              <a:rPr sz="130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each SubGroup defines the local boundary for a role or parallel group.</a:t>
            </a:r>
            <a:endParaRPr sz="1300" b="1">
              <a:solidFill>
                <a:srgbClr val="17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646" name="Imag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1695" y="1685925"/>
            <a:ext cx="5248910" cy="3162935"/>
          </a:xfrm>
          <a:prstGeom prst="rect">
            <a:avLst/>
          </a:prstGeom>
        </p:spPr>
      </p:pic>
      <p:sp>
        <p:nvSpPr>
          <p:cNvPr id="621" name="Shape 12"/>
          <p:cNvSpPr>
            <a:spLocks noGrp="1"/>
          </p:cNvSpPr>
          <p:nvPr/>
        </p:nvSpPr>
        <p:spPr>
          <a:xfrm>
            <a:off x="6286277" y="1877370"/>
            <a:ext cx="2067119" cy="2718230"/>
          </a:xfrm>
          <a:prstGeom prst="rect">
            <a:avLst/>
          </a:prstGeom>
          <a:solidFill>
            <a:srgbClr val="F8FAFC"/>
          </a:solidFill>
          <a:ln w="12700">
            <a:solidFill>
              <a:srgbClr val="003F8F"/>
            </a:solidFill>
            <a:prstDash val="solid"/>
          </a:ln>
        </p:spPr>
      </p:sp>
      <p:sp>
        <p:nvSpPr>
          <p:cNvPr id="622" name="Shape 13"/>
          <p:cNvSpPr>
            <a:spLocks noGrp="1"/>
          </p:cNvSpPr>
          <p:nvPr/>
        </p:nvSpPr>
        <p:spPr>
          <a:xfrm>
            <a:off x="6425350" y="2016443"/>
            <a:ext cx="821790" cy="240216"/>
          </a:xfrm>
          <a:prstGeom prst="chevron">
            <a:avLst/>
          </a:prstGeom>
          <a:solidFill>
            <a:srgbClr val="003F8F"/>
          </a:solidFill>
          <a:ln w="12700">
            <a:solidFill>
              <a:srgbClr val="003F8F">
                <a:alpha val="0"/>
              </a:srgbClr>
            </a:solidFill>
            <a:prstDash val="solid"/>
          </a:ln>
        </p:spPr>
      </p:sp>
      <p:sp>
        <p:nvSpPr>
          <p:cNvPr id="623" name="Text 14"/>
          <p:cNvSpPr>
            <a:spLocks noGrp="1"/>
          </p:cNvSpPr>
          <p:nvPr/>
        </p:nvSpPr>
        <p:spPr>
          <a:xfrm>
            <a:off x="6475921" y="2041729"/>
            <a:ext cx="682718" cy="1706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84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Placement example</a:t>
            </a:r>
            <a:endParaRPr sz="845"/>
          </a:p>
        </p:txBody>
      </p:sp>
      <p:sp>
        <p:nvSpPr>
          <p:cNvPr id="624" name="Shape 15"/>
          <p:cNvSpPr>
            <a:spLocks noGrp="1"/>
          </p:cNvSpPr>
          <p:nvPr/>
        </p:nvSpPr>
        <p:spPr>
          <a:xfrm>
            <a:off x="6475921" y="2421016"/>
            <a:ext cx="1668866" cy="455145"/>
          </a:xfrm>
          <a:prstGeom prst="rect">
            <a:avLst/>
          </a:prstGeom>
          <a:solidFill>
            <a:srgbClr val="FFFFFF"/>
          </a:solidFill>
          <a:ln w="12700">
            <a:solidFill>
              <a:srgbClr val="003F8F"/>
            </a:solidFill>
            <a:prstDash val="solid"/>
          </a:ln>
        </p:spPr>
      </p:sp>
      <p:sp>
        <p:nvSpPr>
          <p:cNvPr id="625" name="Shape 16"/>
          <p:cNvSpPr>
            <a:spLocks noGrp="1"/>
          </p:cNvSpPr>
          <p:nvPr/>
        </p:nvSpPr>
        <p:spPr>
          <a:xfrm>
            <a:off x="6577065" y="2522160"/>
            <a:ext cx="303430" cy="214930"/>
          </a:xfrm>
          <a:prstGeom prst="roundRect">
            <a:avLst>
              <a:gd name="adj" fmla="val 23529"/>
            </a:avLst>
          </a:prstGeom>
          <a:solidFill>
            <a:srgbClr val="003F8F"/>
          </a:solidFill>
          <a:ln w="12700">
            <a:solidFill>
              <a:srgbClr val="003F8F"/>
            </a:solidFill>
            <a:prstDash val="solid"/>
          </a:ln>
        </p:spPr>
      </p:sp>
      <p:sp>
        <p:nvSpPr>
          <p:cNvPr id="626" name="Text 17"/>
          <p:cNvSpPr>
            <a:spLocks noGrp="1"/>
          </p:cNvSpPr>
          <p:nvPr/>
        </p:nvSpPr>
        <p:spPr>
          <a:xfrm>
            <a:off x="6627637" y="2528481"/>
            <a:ext cx="202287" cy="195965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01</a:t>
            </a:r>
            <a:endParaRPr sz="700"/>
          </a:p>
        </p:txBody>
      </p:sp>
      <p:sp>
        <p:nvSpPr>
          <p:cNvPr id="627" name="Text 18"/>
          <p:cNvSpPr>
            <a:spLocks noGrp="1"/>
          </p:cNvSpPr>
          <p:nvPr/>
        </p:nvSpPr>
        <p:spPr>
          <a:xfrm>
            <a:off x="6956353" y="2503195"/>
            <a:ext cx="1074649" cy="1706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865" b="1">
                <a:solidFill>
                  <a:srgbClr val="003F8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PodGroup</a:t>
            </a:r>
            <a:endParaRPr sz="865"/>
          </a:p>
        </p:txBody>
      </p:sp>
      <p:sp>
        <p:nvSpPr>
          <p:cNvPr id="628" name="Text 19"/>
          <p:cNvSpPr>
            <a:spLocks noGrp="1"/>
          </p:cNvSpPr>
          <p:nvPr/>
        </p:nvSpPr>
        <p:spPr>
          <a:xfrm>
            <a:off x="6735014" y="2706272"/>
            <a:ext cx="1441294" cy="56893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00">
                <a:solidFill>
                  <a:srgbClr val="5D6B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May span up to the Core tier</a:t>
            </a:r>
            <a:endParaRPr sz="700"/>
          </a:p>
        </p:txBody>
      </p:sp>
      <p:sp>
        <p:nvSpPr>
          <p:cNvPr id="629" name="Shape 20"/>
          <p:cNvSpPr>
            <a:spLocks noGrp="1"/>
          </p:cNvSpPr>
          <p:nvPr/>
        </p:nvSpPr>
        <p:spPr>
          <a:xfrm>
            <a:off x="6475921" y="2989948"/>
            <a:ext cx="1668866" cy="455145"/>
          </a:xfrm>
          <a:prstGeom prst="rect">
            <a:avLst/>
          </a:prstGeom>
          <a:solidFill>
            <a:srgbClr val="FFFFFF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630" name="Shape 21"/>
          <p:cNvSpPr>
            <a:spLocks noGrp="1"/>
          </p:cNvSpPr>
          <p:nvPr/>
        </p:nvSpPr>
        <p:spPr>
          <a:xfrm>
            <a:off x="6577065" y="3091092"/>
            <a:ext cx="303430" cy="214930"/>
          </a:xfrm>
          <a:prstGeom prst="roundRect">
            <a:avLst>
              <a:gd name="adj" fmla="val 23529"/>
            </a:avLst>
          </a:prstGeom>
          <a:solidFill>
            <a:srgbClr val="0B5CAD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631" name="Text 22"/>
          <p:cNvSpPr>
            <a:spLocks noGrp="1"/>
          </p:cNvSpPr>
          <p:nvPr/>
        </p:nvSpPr>
        <p:spPr>
          <a:xfrm>
            <a:off x="6627637" y="3097413"/>
            <a:ext cx="202287" cy="195965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02</a:t>
            </a:r>
            <a:endParaRPr sz="700"/>
          </a:p>
        </p:txBody>
      </p:sp>
      <p:sp>
        <p:nvSpPr>
          <p:cNvPr id="632" name="Text 23"/>
          <p:cNvSpPr>
            <a:spLocks noGrp="1"/>
          </p:cNvSpPr>
          <p:nvPr/>
        </p:nvSpPr>
        <p:spPr>
          <a:xfrm>
            <a:off x="6956353" y="3072127"/>
            <a:ext cx="1074649" cy="1706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865" b="1">
                <a:solidFill>
                  <a:srgbClr val="003F8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Prefill SubGroup</a:t>
            </a:r>
            <a:endParaRPr sz="865"/>
          </a:p>
        </p:txBody>
      </p:sp>
      <p:sp>
        <p:nvSpPr>
          <p:cNvPr id="633" name="Text 24"/>
          <p:cNvSpPr>
            <a:spLocks noGrp="1"/>
          </p:cNvSpPr>
          <p:nvPr/>
        </p:nvSpPr>
        <p:spPr>
          <a:xfrm>
            <a:off x="6773206" y="3291886"/>
            <a:ext cx="1441294" cy="56893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00">
                <a:solidFill>
                  <a:srgbClr val="5D6B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Must stay within one Leaf</a:t>
            </a:r>
            <a:endParaRPr sz="700"/>
          </a:p>
        </p:txBody>
      </p:sp>
      <p:sp>
        <p:nvSpPr>
          <p:cNvPr id="634" name="Shape 25"/>
          <p:cNvSpPr>
            <a:spLocks noGrp="1"/>
          </p:cNvSpPr>
          <p:nvPr/>
        </p:nvSpPr>
        <p:spPr>
          <a:xfrm>
            <a:off x="6475921" y="3558880"/>
            <a:ext cx="1668866" cy="455145"/>
          </a:xfrm>
          <a:prstGeom prst="rect">
            <a:avLst/>
          </a:prstGeom>
          <a:solidFill>
            <a:srgbClr val="FFFFFF"/>
          </a:solidFill>
          <a:ln w="12700">
            <a:solidFill>
              <a:srgbClr val="6F8193"/>
            </a:solidFill>
            <a:prstDash val="solid"/>
          </a:ln>
        </p:spPr>
      </p:sp>
      <p:sp>
        <p:nvSpPr>
          <p:cNvPr id="635" name="Shape 26"/>
          <p:cNvSpPr>
            <a:spLocks noGrp="1"/>
          </p:cNvSpPr>
          <p:nvPr/>
        </p:nvSpPr>
        <p:spPr>
          <a:xfrm>
            <a:off x="6577065" y="3660023"/>
            <a:ext cx="303430" cy="214930"/>
          </a:xfrm>
          <a:prstGeom prst="roundRect">
            <a:avLst>
              <a:gd name="adj" fmla="val 23529"/>
            </a:avLst>
          </a:prstGeom>
          <a:solidFill>
            <a:srgbClr val="0B5CAD"/>
          </a:solidFill>
          <a:ln w="12700">
            <a:solidFill>
              <a:srgbClr val="6F8193"/>
            </a:solidFill>
            <a:prstDash val="solid"/>
          </a:ln>
        </p:spPr>
      </p:sp>
      <p:sp>
        <p:nvSpPr>
          <p:cNvPr id="636" name="Text 27"/>
          <p:cNvSpPr>
            <a:spLocks noGrp="1"/>
          </p:cNvSpPr>
          <p:nvPr/>
        </p:nvSpPr>
        <p:spPr>
          <a:xfrm>
            <a:off x="6627637" y="3666345"/>
            <a:ext cx="202287" cy="195965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02</a:t>
            </a:r>
            <a:endParaRPr sz="700"/>
          </a:p>
        </p:txBody>
      </p:sp>
      <p:sp>
        <p:nvSpPr>
          <p:cNvPr id="637" name="Text 28"/>
          <p:cNvSpPr>
            <a:spLocks noGrp="1"/>
          </p:cNvSpPr>
          <p:nvPr/>
        </p:nvSpPr>
        <p:spPr>
          <a:xfrm>
            <a:off x="6956353" y="3671788"/>
            <a:ext cx="1074649" cy="1706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865" b="1">
                <a:solidFill>
                  <a:srgbClr val="003F8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Decode SubGroup</a:t>
            </a:r>
            <a:endParaRPr sz="865"/>
          </a:p>
        </p:txBody>
      </p:sp>
      <p:sp>
        <p:nvSpPr>
          <p:cNvPr id="638" name="Text 29"/>
          <p:cNvSpPr>
            <a:spLocks noGrp="1"/>
          </p:cNvSpPr>
          <p:nvPr/>
        </p:nvSpPr>
        <p:spPr>
          <a:xfrm>
            <a:off x="6773206" y="3848965"/>
            <a:ext cx="1441294" cy="5689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sz="700">
                <a:solidFill>
                  <a:srgbClr val="5D6B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Prefer one Leaf; relax upward if needed</a:t>
            </a:r>
            <a:endParaRPr sz="700">
              <a:solidFill>
                <a:srgbClr val="5D6B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39" name="Text 30"/>
          <p:cNvSpPr>
            <a:spLocks noGrp="1"/>
          </p:cNvSpPr>
          <p:nvPr/>
        </p:nvSpPr>
        <p:spPr>
          <a:xfrm>
            <a:off x="6513850" y="4178383"/>
            <a:ext cx="1580366" cy="24021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0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Gang readiness, role minimums and topology boundaries must all hold</a:t>
            </a:r>
            <a:endParaRPr sz="7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" name="Google Shape;614;p67"/>
          <p:cNvSpPr>
            <a:spLocks noGrp="1"/>
          </p:cNvSpPr>
          <p:nvPr>
            <p:ph type="title"/>
          </p:nvPr>
        </p:nvSpPr>
        <p:spPr>
          <a:xfrm>
            <a:off x="311700" y="0"/>
            <a:ext cx="6949800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>Multi-Level Network Topology</a:t>
            </a:r>
          </a:p>
        </p:txBody>
      </p:sp>
      <p:pic>
        <p:nvPicPr>
          <p:cNvPr id="623" name="Google Shape;556;p15"/>
          <p:cNvPicPr>
            <a:picLocks noChangeAspect="1"/>
          </p:cNvPicPr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51277" y="1300598"/>
            <a:ext cx="5273424" cy="3177446"/>
          </a:xfrm>
          <a:prstGeom prst="rect">
            <a:avLst/>
          </a:prstGeom>
          <a:ln>
            <a:noFill/>
          </a:ln>
        </p:spPr>
      </p:pic>
      <p:pic>
        <p:nvPicPr>
          <p:cNvPr id="624" name="Google Shape;557;p15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835299" y="1080000"/>
            <a:ext cx="2704565" cy="2499511"/>
          </a:xfrm>
          <a:prstGeom prst="rect">
            <a:avLst/>
          </a:prstGeom>
          <a:ln>
            <a:noFill/>
          </a:ln>
        </p:spPr>
      </p:pic>
      <p:sp>
        <p:nvSpPr>
          <p:cNvPr id="617" name="Google Shape;558;p15"/>
          <p:cNvSpPr>
            <a:spLocks noGrp="1"/>
          </p:cNvSpPr>
          <p:nvPr/>
        </p:nvSpPr>
        <p:spPr>
          <a:xfrm>
            <a:off x="6530571" y="3679946"/>
            <a:ext cx="1313424" cy="456141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5400" cmpd="sng">
            <a:solidFill>
              <a:srgbClr val="CF5D00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sz="755" b="0" i="0" u="none" cap="none">
                <a:solidFill>
                  <a:schemeClr val="lt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PodGroup(highestTierAllowed: 3</a:t>
            </a:r>
            <a:br>
              <a:rPr sz="755" b="0" i="0" u="none" cap="none">
                <a:solidFill>
                  <a:schemeClr val="lt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br>
            <a:r>
              <a:rPr sz="755" b="0" i="0" u="none" cap="none">
                <a:solidFill>
                  <a:schemeClr val="lt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minMember:8)</a:t>
            </a:r>
            <a:endParaRPr sz="755" b="0" i="0" u="none" cap="none">
              <a:solidFill>
                <a:schemeClr val="lt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18" name="Google Shape;559;p15"/>
          <p:cNvSpPr>
            <a:spLocks noGrp="1"/>
          </p:cNvSpPr>
          <p:nvPr/>
        </p:nvSpPr>
        <p:spPr>
          <a:xfrm>
            <a:off x="5691223" y="4363261"/>
            <a:ext cx="1265598" cy="456739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5400" cmpd="sng">
            <a:solidFill>
              <a:srgbClr val="CF5D00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sz="755" b="0" i="0" u="none" cap="none">
                <a:solidFill>
                  <a:schemeClr val="lt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SubGroup-prefill</a:t>
            </a:r>
            <a:endParaRPr sz="755" b="0" i="0" u="none" cap="none">
              <a:solidFill>
                <a:schemeClr val="lt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0" marR="0" lvl="0" indent="0" algn="ctr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sz="755" b="0" i="0" u="none" cap="none">
                <a:solidFill>
                  <a:schemeClr val="lt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(highestTierAllowed: 1</a:t>
            </a:r>
            <a:br>
              <a:rPr sz="755" b="0" i="0" u="none" cap="none">
                <a:solidFill>
                  <a:schemeClr val="lt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br>
            <a:r>
              <a:rPr sz="755" b="0" i="0" u="none" cap="none">
                <a:solidFill>
                  <a:schemeClr val="lt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minMember:4)</a:t>
            </a:r>
            <a:endParaRPr sz="755" b="0" i="0" u="none" cap="none">
              <a:solidFill>
                <a:schemeClr val="lt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19" name="Google Shape;560;p15"/>
          <p:cNvSpPr>
            <a:spLocks noGrp="1"/>
          </p:cNvSpPr>
          <p:nvPr/>
        </p:nvSpPr>
        <p:spPr>
          <a:xfrm>
            <a:off x="7422527" y="4363261"/>
            <a:ext cx="1266196" cy="456739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5400" cmpd="sng">
            <a:solidFill>
              <a:srgbClr val="CF5D00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sz="755" b="0" i="0" u="none" cap="none">
                <a:solidFill>
                  <a:schemeClr val="lt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SubGroup-Decode</a:t>
            </a:r>
            <a:endParaRPr sz="755" b="0" i="0" u="none" cap="none">
              <a:solidFill>
                <a:schemeClr val="lt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0" marR="0" lvl="0" indent="0" algn="ctr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sz="755" b="0" i="0" u="none" cap="none">
                <a:solidFill>
                  <a:schemeClr val="lt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(highestTierAllowed: 2</a:t>
            </a:r>
            <a:br>
              <a:rPr sz="755" b="0" i="0" u="none" cap="none">
                <a:solidFill>
                  <a:schemeClr val="lt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br>
            <a:r>
              <a:rPr sz="755" b="0" i="0" u="none" cap="none">
                <a:solidFill>
                  <a:schemeClr val="lt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minMember:4)</a:t>
            </a:r>
            <a:endParaRPr sz="755" b="0" i="0" u="none" cap="none">
              <a:solidFill>
                <a:schemeClr val="lt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cxnSp>
        <p:nvCxnSpPr>
          <p:cNvPr id="628" name="Google Shape;561;p15"/>
          <p:cNvCxnSpPr>
            <a:stCxn id="0" idx="2"/>
            <a:endCxn id="0" idx="0"/>
          </p:cNvCxnSpPr>
          <p:nvPr/>
        </p:nvCxnSpPr>
        <p:spPr>
          <a:xfrm flipH="1">
            <a:off x="6324154" y="4136087"/>
            <a:ext cx="863129" cy="227080"/>
          </a:xfrm>
          <a:prstGeom prst="straightConnector1">
            <a:avLst/>
          </a:prstGeom>
          <a:ln w="25400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29" name="Google Shape;562;p15"/>
          <p:cNvCxnSpPr>
            <a:stCxn id="0" idx="2"/>
            <a:endCxn id="0" idx="0"/>
          </p:cNvCxnSpPr>
          <p:nvPr/>
        </p:nvCxnSpPr>
        <p:spPr>
          <a:xfrm>
            <a:off x="7187283" y="4136087"/>
            <a:ext cx="868213" cy="227080"/>
          </a:xfrm>
          <a:prstGeom prst="straightConnector1">
            <a:avLst/>
          </a:prstGeom>
          <a:ln w="25400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" name="Google Shape;614;p67"/>
          <p:cNvSpPr>
            <a:spLocks noGrp="1"/>
          </p:cNvSpPr>
          <p:nvPr>
            <p:ph type="title"/>
          </p:nvPr>
        </p:nvSpPr>
        <p:spPr>
          <a:xfrm>
            <a:off x="311700" y="0"/>
            <a:ext cx="6949800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>HyperNode Auto-Discovery</a:t>
            </a:r>
          </a:p>
        </p:txBody>
      </p:sp>
      <p:sp>
        <p:nvSpPr>
          <p:cNvPr id="634" name="Google Shape;589;p16"/>
          <p:cNvSpPr>
            <a:spLocks noGrp="1"/>
          </p:cNvSpPr>
          <p:nvPr/>
        </p:nvSpPr>
        <p:spPr>
          <a:xfrm>
            <a:off x="5952310" y="2586878"/>
            <a:ext cx="2514690" cy="651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285750" marR="0" lvl="0" indent="-171450" algn="l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Clr>
                <a:schemeClr val="dk1"/>
              </a:buClr>
              <a:buSzPts val="1283"/>
              <a:buFont typeface="Arial" panose="020B0604020202090204"/>
              <a:buNone/>
            </a:pPr>
            <a:endParaRPr sz="1285" b="0" i="0" u="none" cap="none">
              <a:solidFill>
                <a:srgbClr val="595959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68" name="Google Shape;568;p16"/>
          <p:cNvSpPr/>
          <p:nvPr/>
        </p:nvSpPr>
        <p:spPr>
          <a:xfrm>
            <a:off x="162560" y="1169035"/>
            <a:ext cx="2459990" cy="3744595"/>
          </a:xfrm>
          <a:prstGeom prst="roundRect">
            <a:avLst>
              <a:gd name="adj" fmla="val 16667"/>
            </a:avLst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</a:pPr>
            <a:endParaRPr sz="1000" b="0" i="0" u="none" strike="noStrik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pic>
        <p:nvPicPr>
          <p:cNvPr id="569" name="Google Shape;569;p16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233045" y="1501775"/>
            <a:ext cx="1188085" cy="763270"/>
          </a:xfrm>
          <a:prstGeom prst="rect">
            <a:avLst/>
          </a:prstGeom>
          <a:noFill/>
          <a:ln>
            <a:noFill/>
          </a:ln>
        </p:spPr>
      </p:pic>
      <p:sp>
        <p:nvSpPr>
          <p:cNvPr id="570" name="Google Shape;570;p16"/>
          <p:cNvSpPr txBox="1"/>
          <p:nvPr/>
        </p:nvSpPr>
        <p:spPr>
          <a:xfrm>
            <a:off x="382905" y="1282700"/>
            <a:ext cx="295338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 panose="020B0604020202090204"/>
              <a:buNone/>
            </a:pPr>
            <a:r>
              <a:rPr lang="en-GB" sz="1000" b="0" i="0" u="none" strike="noStrike" cap="none">
                <a:solidFill>
                  <a:srgbClr val="595959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AI Cluster &amp; Cloud Environment</a:t>
            </a:r>
            <a:endParaRPr sz="1000" b="0" i="0" u="none" strike="noStrike" cap="none">
              <a:solidFill>
                <a:srgbClr val="595959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pic>
        <p:nvPicPr>
          <p:cNvPr id="571" name="Google Shape;571;p16" descr="6535def5-349e-4f76-baed-0bfc4fbe92ba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310640" y="1654810"/>
            <a:ext cx="1242060" cy="400685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16"/>
          <p:cNvSpPr/>
          <p:nvPr/>
        </p:nvSpPr>
        <p:spPr>
          <a:xfrm>
            <a:off x="334010" y="2265045"/>
            <a:ext cx="2218690" cy="831215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</a:pPr>
            <a:r>
              <a:rPr lang="en-GB" sz="1000" b="1" i="0" u="none" strike="noStrik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On-Premise：</a:t>
            </a:r>
            <a:endParaRPr sz="1000" b="1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</a:pPr>
            <a:r>
              <a:rPr lang="en-GB" sz="1000" b="0" i="0" u="none" strike="noStrik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1. </a:t>
            </a:r>
            <a:r>
              <a:rPr lang="en-GB" sz="1000" b="1" i="0" u="none" strike="noStrik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NVLink</a:t>
            </a:r>
            <a:r>
              <a:rPr lang="en-GB" sz="1000" b="0" i="0" u="none" strike="noStrik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Fabric Manager API</a:t>
            </a:r>
            <a:endParaRPr sz="10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</a:pPr>
            <a:r>
              <a:rPr lang="en-GB" sz="1000" b="0" i="0" u="none" strike="noStrik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2. </a:t>
            </a:r>
            <a:r>
              <a:rPr lang="en-GB" sz="1000" b="1" i="0" u="none" strike="noStrik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IB</a:t>
            </a:r>
            <a:r>
              <a:rPr lang="en-GB" sz="1000" b="0" i="0" u="none" strike="noStrik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Subnet Manager (OpenSM)</a:t>
            </a:r>
            <a:endParaRPr sz="10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</a:pPr>
            <a:r>
              <a:rPr lang="en-GB" sz="1000" b="0" i="0" u="none" strike="noStrik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3. </a:t>
            </a:r>
            <a:r>
              <a:rPr lang="en-GB" sz="1000" b="1" i="0" u="none" strike="noStrik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RoCE</a:t>
            </a:r>
            <a:r>
              <a:rPr lang="en-GB" sz="1000" b="0" i="0" u="none" strike="noStrik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LLDP/CDP</a:t>
            </a:r>
            <a:endParaRPr sz="1000" b="0" i="0" u="none" strike="noStrik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573" name="Google Shape;573;p16"/>
          <p:cNvSpPr/>
          <p:nvPr/>
        </p:nvSpPr>
        <p:spPr>
          <a:xfrm>
            <a:off x="503555" y="3990975"/>
            <a:ext cx="1804035" cy="692785"/>
          </a:xfrm>
          <a:prstGeom prst="rect">
            <a:avLst/>
          </a:prstGeom>
          <a:solidFill>
            <a:srgbClr val="4472C4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</a:pPr>
            <a:r>
              <a:rPr lang="en-GB" sz="1000" b="1" i="0" u="none" strike="noStrik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Cloud：</a:t>
            </a:r>
            <a:endParaRPr sz="1000" b="1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</a:pPr>
            <a:r>
              <a:rPr lang="en-GB" sz="1000" b="0" i="0" u="none" strike="noStrik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1. Cloud Provider APIs</a:t>
            </a:r>
            <a:endParaRPr sz="10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</a:pPr>
            <a:r>
              <a:rPr lang="en-GB" sz="1000" b="0" i="0" u="none" strike="noStrik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2. DPU/SmartNIC Telemetry</a:t>
            </a:r>
            <a:endParaRPr sz="1000" b="0" i="0" u="none" strike="noStrik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pic>
        <p:nvPicPr>
          <p:cNvPr id="574" name="Google Shape;574;p16" descr="00330cde-fb42-4146-9bcd-8c6a0bc5a912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295275" y="3141980"/>
            <a:ext cx="2257425" cy="913765"/>
          </a:xfrm>
          <a:prstGeom prst="rect">
            <a:avLst/>
          </a:prstGeom>
          <a:noFill/>
          <a:ln>
            <a:noFill/>
          </a:ln>
        </p:spPr>
      </p:pic>
      <p:sp>
        <p:nvSpPr>
          <p:cNvPr id="575" name="Google Shape;575;p16"/>
          <p:cNvSpPr/>
          <p:nvPr/>
        </p:nvSpPr>
        <p:spPr>
          <a:xfrm>
            <a:off x="3336290" y="1169035"/>
            <a:ext cx="2526030" cy="3745230"/>
          </a:xfrm>
          <a:prstGeom prst="roundRect">
            <a:avLst>
              <a:gd name="adj" fmla="val 16667"/>
            </a:avLst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</a:pPr>
            <a:endParaRPr sz="1000" b="0" i="0" u="none" strike="noStrik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pic>
        <p:nvPicPr>
          <p:cNvPr id="576" name="Google Shape;576;p16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4385310" y="1207770"/>
            <a:ext cx="542925" cy="427355"/>
          </a:xfrm>
          <a:prstGeom prst="rect">
            <a:avLst/>
          </a:prstGeom>
          <a:noFill/>
          <a:ln>
            <a:noFill/>
          </a:ln>
        </p:spPr>
      </p:pic>
      <p:sp>
        <p:nvSpPr>
          <p:cNvPr id="577" name="Google Shape;577;p16"/>
          <p:cNvSpPr txBox="1"/>
          <p:nvPr/>
        </p:nvSpPr>
        <p:spPr>
          <a:xfrm>
            <a:off x="3908425" y="1635125"/>
            <a:ext cx="1463040" cy="375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 panose="020B0604020202090204"/>
              <a:buNone/>
            </a:pPr>
            <a:r>
              <a:rPr lang="en-GB" sz="1000" b="0" i="0" u="none" strike="noStrike" cap="none">
                <a:solidFill>
                  <a:srgbClr val="595959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Vocano Control Plane</a:t>
            </a:r>
            <a:endParaRPr sz="1000" b="0" i="0" u="none" strike="noStrike" cap="none">
              <a:solidFill>
                <a:srgbClr val="595959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grpSp>
        <p:nvGrpSpPr>
          <p:cNvPr id="578" name="Google Shape;578;p16"/>
          <p:cNvGrpSpPr/>
          <p:nvPr/>
        </p:nvGrpSpPr>
        <p:grpSpPr>
          <a:xfrm>
            <a:off x="3535045" y="2055495"/>
            <a:ext cx="850265" cy="2628265"/>
            <a:chOff x="1859913" y="1655545"/>
            <a:chExt cx="1262420" cy="1471395"/>
          </a:xfrm>
        </p:grpSpPr>
        <p:sp>
          <p:nvSpPr>
            <p:cNvPr id="579" name="Google Shape;579;p16"/>
            <p:cNvSpPr/>
            <p:nvPr/>
          </p:nvSpPr>
          <p:spPr>
            <a:xfrm>
              <a:off x="1859913" y="1655545"/>
              <a:ext cx="1262420" cy="1471395"/>
            </a:xfrm>
            <a:prstGeom prst="rect">
              <a:avLst/>
            </a:prstGeom>
            <a:solidFill>
              <a:srgbClr val="4472C4"/>
            </a:solidFill>
            <a:ln w="12700" cap="flat" cmpd="sng">
              <a:solidFill>
                <a:srgbClr val="1C305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 panose="020B0604020202090204"/>
                <a:buNone/>
              </a:pPr>
              <a:r>
                <a:rPr lang="en-GB" sz="1000" b="0" i="0" u="none" strike="noStrike" cap="none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Discovery Manager</a:t>
              </a:r>
              <a:endParaRPr sz="1000" b="0" i="0" u="none" strike="noStrik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580" name="Google Shape;580;p16"/>
            <p:cNvSpPr/>
            <p:nvPr/>
          </p:nvSpPr>
          <p:spPr>
            <a:xfrm>
              <a:off x="1994734" y="2207629"/>
              <a:ext cx="1037089" cy="274442"/>
            </a:xfrm>
            <a:prstGeom prst="rect">
              <a:avLst/>
            </a:prstGeom>
            <a:solidFill>
              <a:srgbClr val="4472C4"/>
            </a:solidFill>
            <a:ln w="12700" cap="flat" cmpd="sng">
              <a:solidFill>
                <a:srgbClr val="1C305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45700" rIns="0" bIns="45700" anchor="ctr" anchorCtr="0">
              <a:noAutofit/>
            </a:bodyPr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 panose="020B0604020202090204"/>
                <a:buNone/>
              </a:pPr>
              <a:r>
                <a:rPr lang="en-GB" sz="1000" b="0" i="0" u="none" strike="noStrike" cap="none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NodeLabels</a:t>
              </a:r>
              <a:endParaRPr sz="10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 panose="020B0604020202090204"/>
                <a:buNone/>
              </a:pPr>
              <a:r>
                <a:rPr lang="en-GB" sz="1000" b="0" i="0" u="none" strike="noStrike" cap="none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Discoverer</a:t>
              </a:r>
              <a:endParaRPr sz="1000" b="0" i="0" u="none" strike="noStrik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581" name="Google Shape;581;p16"/>
            <p:cNvSpPr/>
            <p:nvPr/>
          </p:nvSpPr>
          <p:spPr>
            <a:xfrm>
              <a:off x="1990964" y="1868487"/>
              <a:ext cx="1008805" cy="274442"/>
            </a:xfrm>
            <a:prstGeom prst="rect">
              <a:avLst/>
            </a:prstGeom>
            <a:solidFill>
              <a:srgbClr val="4472C4"/>
            </a:solidFill>
            <a:ln w="12700" cap="flat" cmpd="sng">
              <a:solidFill>
                <a:srgbClr val="1C305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45700" rIns="0" bIns="45700" anchor="ctr" anchorCtr="0">
              <a:noAutofit/>
            </a:bodyPr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 panose="020B0604020202090204"/>
                <a:buNone/>
              </a:pPr>
              <a:r>
                <a:rPr lang="en-GB" sz="1000" b="0" i="0" u="none" strike="noStrike" cap="none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UFM</a:t>
              </a:r>
              <a:endParaRPr sz="10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 panose="020B0604020202090204"/>
                <a:buNone/>
              </a:pPr>
              <a:r>
                <a:rPr lang="en-GB" sz="1000" b="0" i="0" u="none" strike="noStrike" cap="none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Discoverer</a:t>
              </a:r>
              <a:endParaRPr sz="1000" b="0" i="0" u="none" strike="noStrik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582" name="Google Shape;582;p16"/>
            <p:cNvSpPr/>
            <p:nvPr/>
          </p:nvSpPr>
          <p:spPr>
            <a:xfrm>
              <a:off x="1994735" y="2542150"/>
              <a:ext cx="1032375" cy="274442"/>
            </a:xfrm>
            <a:prstGeom prst="rect">
              <a:avLst/>
            </a:prstGeom>
            <a:solidFill>
              <a:srgbClr val="4472C4"/>
            </a:solidFill>
            <a:ln w="12700" cap="flat" cmpd="sng">
              <a:solidFill>
                <a:srgbClr val="1C305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45700" rIns="0" bIns="45700" anchor="ctr" anchorCtr="0">
              <a:noAutofit/>
            </a:bodyPr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 panose="020B0604020202090204"/>
                <a:buNone/>
              </a:pPr>
              <a:r>
                <a:rPr lang="en-GB" sz="1000" b="0" i="0" u="none" strike="noStrike" cap="none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RoCE</a:t>
              </a:r>
              <a:endParaRPr sz="10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 panose="020B0604020202090204"/>
                <a:buNone/>
              </a:pPr>
              <a:r>
                <a:rPr lang="en-GB" sz="1000" b="0" i="0" u="none" strike="noStrike" cap="none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Discoverer</a:t>
              </a:r>
              <a:endParaRPr sz="1000" b="0" i="0" u="none" strike="noStrik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</p:grpSp>
      <p:sp>
        <p:nvSpPr>
          <p:cNvPr id="583" name="Google Shape;583;p16"/>
          <p:cNvSpPr/>
          <p:nvPr/>
        </p:nvSpPr>
        <p:spPr>
          <a:xfrm>
            <a:off x="3625215" y="4236720"/>
            <a:ext cx="699135" cy="336550"/>
          </a:xfrm>
          <a:prstGeom prst="rect">
            <a:avLst/>
          </a:prstGeom>
          <a:solidFill>
            <a:srgbClr val="4472C4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</a:pPr>
            <a:r>
              <a:rPr lang="en-GB" sz="1000" b="0" i="0" u="none" strike="noStrik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other</a:t>
            </a:r>
            <a:endParaRPr sz="10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</a:pPr>
            <a:r>
              <a:rPr lang="en-GB" sz="1000" b="0" i="0" u="none" strike="noStrik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Discoverers</a:t>
            </a:r>
            <a:endParaRPr sz="1000" b="0" i="0" u="none" strike="noStrik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584" name="Google Shape;584;p16"/>
          <p:cNvSpPr/>
          <p:nvPr/>
        </p:nvSpPr>
        <p:spPr>
          <a:xfrm>
            <a:off x="4991100" y="3066415"/>
            <a:ext cx="791845" cy="572770"/>
          </a:xfrm>
          <a:prstGeom prst="rect">
            <a:avLst/>
          </a:prstGeom>
          <a:solidFill>
            <a:srgbClr val="4472C4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90204"/>
              <a:buNone/>
            </a:pPr>
            <a:r>
              <a:rPr lang="en-GB" sz="900" b="0" i="0" u="none" strike="noStrik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HyperNode</a:t>
            </a:r>
            <a:br>
              <a:rPr lang="en-GB" sz="900" b="0" i="0" u="none" strike="noStrik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</a:br>
            <a:r>
              <a:rPr lang="en-GB" sz="900" b="0" i="0" u="none" strike="noStrik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Controller</a:t>
            </a:r>
            <a:endParaRPr sz="900" b="0" i="0" u="none" strike="noStrik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grpSp>
        <p:nvGrpSpPr>
          <p:cNvPr id="585" name="Google Shape;585;p16"/>
          <p:cNvGrpSpPr/>
          <p:nvPr/>
        </p:nvGrpSpPr>
        <p:grpSpPr>
          <a:xfrm>
            <a:off x="2603500" y="2631440"/>
            <a:ext cx="840105" cy="665480"/>
            <a:chOff x="5098" y="3843"/>
            <a:chExt cx="1323" cy="1048"/>
          </a:xfrm>
        </p:grpSpPr>
        <p:cxnSp>
          <p:nvCxnSpPr>
            <p:cNvPr id="586" name="Google Shape;586;p16"/>
            <p:cNvCxnSpPr/>
            <p:nvPr/>
          </p:nvCxnSpPr>
          <p:spPr>
            <a:xfrm>
              <a:off x="5176" y="4891"/>
              <a:ext cx="1167" cy="0"/>
            </a:xfrm>
            <a:prstGeom prst="straightConnector1">
              <a:avLst/>
            </a:prstGeom>
            <a:noFill/>
            <a:ln w="31750" cap="flat" cmpd="sng">
              <a:solidFill>
                <a:srgbClr val="44C380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587" name="Google Shape;587;p16"/>
            <p:cNvSpPr txBox="1"/>
            <p:nvPr/>
          </p:nvSpPr>
          <p:spPr>
            <a:xfrm>
              <a:off x="5098" y="3843"/>
              <a:ext cx="1323" cy="6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90204"/>
                <a:buNone/>
              </a:pPr>
              <a:r>
                <a:rPr lang="en-GB" sz="10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Report Network Topology</a:t>
              </a:r>
              <a:endParaRPr sz="10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</p:grpSp>
      <p:cxnSp>
        <p:nvCxnSpPr>
          <p:cNvPr id="588" name="Google Shape;588;p16"/>
          <p:cNvCxnSpPr/>
          <p:nvPr/>
        </p:nvCxnSpPr>
        <p:spPr>
          <a:xfrm>
            <a:off x="4413885" y="3302000"/>
            <a:ext cx="680085" cy="0"/>
          </a:xfrm>
          <a:prstGeom prst="straightConnector1">
            <a:avLst/>
          </a:prstGeom>
          <a:noFill/>
          <a:ln w="31750" cap="flat" cmpd="sng">
            <a:solidFill>
              <a:srgbClr val="44C38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590" name="Google Shape;590;p16"/>
          <p:cNvSpPr txBox="1"/>
          <p:nvPr/>
        </p:nvSpPr>
        <p:spPr>
          <a:xfrm>
            <a:off x="4382770" y="2586990"/>
            <a:ext cx="968375" cy="42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</a:pPr>
            <a:r>
              <a:rPr lang="en-GB" sz="10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Update HyperNode Hierarchy Tree</a:t>
            </a:r>
            <a:endParaRPr sz="10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cxnSp>
        <p:nvCxnSpPr>
          <p:cNvPr id="591" name="Google Shape;591;p16"/>
          <p:cNvCxnSpPr/>
          <p:nvPr/>
        </p:nvCxnSpPr>
        <p:spPr>
          <a:xfrm>
            <a:off x="5897880" y="3269615"/>
            <a:ext cx="622935" cy="0"/>
          </a:xfrm>
          <a:prstGeom prst="straightConnector1">
            <a:avLst/>
          </a:prstGeom>
          <a:noFill/>
          <a:ln w="31750" cap="flat" cmpd="sng">
            <a:solidFill>
              <a:srgbClr val="44C38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592" name="Google Shape;592;p16"/>
          <p:cNvSpPr txBox="1"/>
          <p:nvPr/>
        </p:nvSpPr>
        <p:spPr>
          <a:xfrm>
            <a:off x="7085965" y="2842895"/>
            <a:ext cx="826135" cy="42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 panose="020B0604020202090204"/>
              <a:buNone/>
            </a:pPr>
            <a:endParaRPr sz="8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593" name="Google Shape;593;p16"/>
          <p:cNvSpPr txBox="1"/>
          <p:nvPr/>
        </p:nvSpPr>
        <p:spPr>
          <a:xfrm>
            <a:off x="5822315" y="2631440"/>
            <a:ext cx="878840" cy="42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</a:pPr>
            <a:r>
              <a:rPr lang="en-GB" sz="10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Create</a:t>
            </a:r>
            <a:endParaRPr sz="10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</a:pPr>
            <a:r>
              <a:rPr lang="en-GB" sz="10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/Update</a:t>
            </a:r>
            <a:endParaRPr sz="10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</a:pPr>
            <a:r>
              <a:rPr lang="en-GB" sz="10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HyperNode</a:t>
            </a:r>
            <a:endParaRPr sz="10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594" name="Google Shape;594;p16"/>
          <p:cNvSpPr/>
          <p:nvPr/>
        </p:nvSpPr>
        <p:spPr>
          <a:xfrm>
            <a:off x="6576060" y="1169035"/>
            <a:ext cx="2526030" cy="3745230"/>
          </a:xfrm>
          <a:prstGeom prst="roundRect">
            <a:avLst>
              <a:gd name="adj" fmla="val 16667"/>
            </a:avLst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</a:pPr>
            <a:endParaRPr sz="1000" b="0" i="0" u="none" strike="noStrik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595" name="Google Shape;595;p16"/>
          <p:cNvSpPr/>
          <p:nvPr/>
        </p:nvSpPr>
        <p:spPr>
          <a:xfrm>
            <a:off x="6786880" y="1207770"/>
            <a:ext cx="2172335" cy="314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</a:pPr>
            <a:r>
              <a:rPr lang="en-GB" sz="1200" b="0" i="0" u="none" strike="noStrike" cap="none">
                <a:solidFill>
                  <a:srgbClr val="595959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HyerNode API Objects</a:t>
            </a:r>
            <a:endParaRPr sz="1200" b="0" i="0" u="none" strike="noStrike" cap="none">
              <a:solidFill>
                <a:srgbClr val="595959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pic>
        <p:nvPicPr>
          <p:cNvPr id="596" name="Google Shape;596;p16" title="carbon (13).png"/>
          <p:cNvPicPr preferRelativeResize="0"/>
          <p:nvPr/>
        </p:nvPicPr>
        <p:blipFill rotWithShape="1">
          <a:blip r:embed="rId5"/>
          <a:srcRect l="11276" t="11867" r="11384" b="12254"/>
          <a:stretch>
            <a:fillRect/>
          </a:stretch>
        </p:blipFill>
        <p:spPr>
          <a:xfrm>
            <a:off x="6635750" y="2010412"/>
            <a:ext cx="2412900" cy="2229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" name="Google Shape;614;p67"/>
          <p:cNvSpPr>
            <a:spLocks noGrp="1"/>
          </p:cNvSpPr>
          <p:nvPr>
            <p:ph type="title"/>
          </p:nvPr>
        </p:nvSpPr>
        <p:spPr>
          <a:xfrm>
            <a:off x="311700" y="0"/>
            <a:ext cx="6949800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>Topology-Scoped Preemption</a:t>
            </a:r>
          </a:p>
        </p:txBody>
      </p:sp>
      <p:sp>
        <p:nvSpPr>
          <p:cNvPr id="615" name="Shape 5"/>
          <p:cNvSpPr>
            <a:spLocks noGrp="1"/>
          </p:cNvSpPr>
          <p:nvPr/>
        </p:nvSpPr>
        <p:spPr>
          <a:xfrm>
            <a:off x="240000" y="1164100"/>
            <a:ext cx="8660000" cy="0"/>
          </a:xfrm>
          <a:prstGeom prst="line">
            <a:avLst/>
          </a:prstGeom>
          <a:noFill/>
          <a:ln w="11430">
            <a:solidFill>
              <a:srgbClr val="B9C8D8"/>
            </a:solidFill>
            <a:prstDash val="solid"/>
            <a:headEnd type="none"/>
          </a:ln>
        </p:spPr>
      </p:sp>
      <p:sp>
        <p:nvSpPr>
          <p:cNvPr id="616" name="Shape 6"/>
          <p:cNvSpPr>
            <a:spLocks noGrp="1"/>
          </p:cNvSpPr>
          <p:nvPr/>
        </p:nvSpPr>
        <p:spPr>
          <a:xfrm>
            <a:off x="240000" y="1128166"/>
            <a:ext cx="963021" cy="71867"/>
          </a:xfrm>
          <a:prstGeom prst="rect">
            <a:avLst/>
          </a:prstGeom>
          <a:solidFill>
            <a:srgbClr val="E43D30"/>
          </a:solidFill>
          <a:ln w="12700">
            <a:solidFill>
              <a:srgbClr val="E43D30">
                <a:alpha val="0"/>
              </a:srgbClr>
            </a:solidFill>
            <a:prstDash val="solid"/>
          </a:ln>
        </p:spPr>
      </p:sp>
      <p:sp>
        <p:nvSpPr>
          <p:cNvPr id="617" name="Shape 8"/>
          <p:cNvSpPr>
            <a:spLocks noGrp="1"/>
          </p:cNvSpPr>
          <p:nvPr/>
        </p:nvSpPr>
        <p:spPr>
          <a:xfrm>
            <a:off x="311867" y="1264714"/>
            <a:ext cx="8559386" cy="344963"/>
          </a:xfrm>
          <a:prstGeom prst="rect">
            <a:avLst/>
          </a:prstGeom>
          <a:solidFill>
            <a:srgbClr val="FFFFFF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618" name="Shape 9"/>
          <p:cNvSpPr>
            <a:spLocks noGrp="1"/>
          </p:cNvSpPr>
          <p:nvPr/>
        </p:nvSpPr>
        <p:spPr>
          <a:xfrm>
            <a:off x="311867" y="1264714"/>
            <a:ext cx="86241" cy="344963"/>
          </a:xfrm>
          <a:prstGeom prst="rect">
            <a:avLst/>
          </a:prstGeom>
          <a:solidFill>
            <a:srgbClr val="E43D30"/>
          </a:solidFill>
          <a:ln w="12700">
            <a:solidFill>
              <a:srgbClr val="E43D30"/>
            </a:solidFill>
            <a:prstDash val="solid"/>
          </a:ln>
        </p:spPr>
      </p:sp>
      <p:sp>
        <p:nvSpPr>
          <p:cNvPr id="619" name="Text 10"/>
          <p:cNvSpPr>
            <a:spLocks noGrp="1"/>
          </p:cNvSpPr>
          <p:nvPr/>
        </p:nvSpPr>
        <p:spPr>
          <a:xfrm>
            <a:off x="527469" y="1329394"/>
            <a:ext cx="8106622" cy="194041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115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The target SubGroup needs 4 GPUs in one Leaf; fragmented capacity across domains still cannot start it.</a:t>
            </a:r>
            <a:endParaRPr sz="1115"/>
          </a:p>
        </p:txBody>
      </p:sp>
      <p:sp>
        <p:nvSpPr>
          <p:cNvPr id="620" name="Shape 11"/>
          <p:cNvSpPr>
            <a:spLocks noGrp="1"/>
          </p:cNvSpPr>
          <p:nvPr/>
        </p:nvSpPr>
        <p:spPr>
          <a:xfrm>
            <a:off x="311867" y="1739037"/>
            <a:ext cx="2874689" cy="3032797"/>
          </a:xfrm>
          <a:prstGeom prst="rect">
            <a:avLst/>
          </a:prstGeom>
          <a:solidFill>
            <a:srgbClr val="FFFFFF"/>
          </a:solidFill>
          <a:ln w="12700">
            <a:solidFill>
              <a:srgbClr val="6F8193"/>
            </a:solidFill>
            <a:prstDash val="solid"/>
          </a:ln>
        </p:spPr>
      </p:sp>
      <p:sp>
        <p:nvSpPr>
          <p:cNvPr id="621" name="Shape 12"/>
          <p:cNvSpPr>
            <a:spLocks noGrp="1"/>
          </p:cNvSpPr>
          <p:nvPr/>
        </p:nvSpPr>
        <p:spPr>
          <a:xfrm>
            <a:off x="469975" y="1889959"/>
            <a:ext cx="826473" cy="273095"/>
          </a:xfrm>
          <a:prstGeom prst="chevron">
            <a:avLst/>
          </a:prstGeom>
          <a:solidFill>
            <a:srgbClr val="6F8193"/>
          </a:solidFill>
          <a:ln w="12700">
            <a:solidFill>
              <a:srgbClr val="6F8193">
                <a:alpha val="0"/>
              </a:srgbClr>
            </a:solidFill>
            <a:prstDash val="solid"/>
          </a:ln>
        </p:spPr>
      </p:sp>
      <p:sp>
        <p:nvSpPr>
          <p:cNvPr id="622" name="Text 13"/>
          <p:cNvSpPr>
            <a:spLocks noGrp="1"/>
          </p:cNvSpPr>
          <p:nvPr/>
        </p:nvSpPr>
        <p:spPr>
          <a:xfrm>
            <a:off x="527469" y="1918705"/>
            <a:ext cx="668365" cy="194041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6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Before</a:t>
            </a:r>
            <a:endParaRPr sz="960"/>
          </a:p>
        </p:txBody>
      </p:sp>
      <p:sp>
        <p:nvSpPr>
          <p:cNvPr id="623" name="Text 14"/>
          <p:cNvSpPr>
            <a:spLocks noGrp="1"/>
          </p:cNvSpPr>
          <p:nvPr/>
        </p:nvSpPr>
        <p:spPr>
          <a:xfrm>
            <a:off x="642456" y="2321162"/>
            <a:ext cx="2213510" cy="165295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80" b="1">
                <a:solidFill>
                  <a:srgbClr val="003F8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Target: Decode SubGroup × 4</a:t>
            </a:r>
            <a:endParaRPr sz="980"/>
          </a:p>
        </p:txBody>
      </p:sp>
      <p:sp>
        <p:nvSpPr>
          <p:cNvPr id="624" name="Shape 15"/>
          <p:cNvSpPr>
            <a:spLocks noGrp="1"/>
          </p:cNvSpPr>
          <p:nvPr/>
        </p:nvSpPr>
        <p:spPr>
          <a:xfrm>
            <a:off x="549029" y="2752365"/>
            <a:ext cx="1135502" cy="1185809"/>
          </a:xfrm>
          <a:prstGeom prst="rect">
            <a:avLst/>
          </a:prstGeom>
          <a:solidFill>
            <a:srgbClr val="F8FAFC"/>
          </a:solidFill>
          <a:ln w="12700">
            <a:solidFill>
              <a:srgbClr val="6F8193"/>
            </a:solidFill>
            <a:prstDash val="solid"/>
          </a:ln>
        </p:spPr>
      </p:sp>
      <p:sp>
        <p:nvSpPr>
          <p:cNvPr id="625" name="Text 16"/>
          <p:cNvSpPr>
            <a:spLocks noGrp="1"/>
          </p:cNvSpPr>
          <p:nvPr/>
        </p:nvSpPr>
        <p:spPr>
          <a:xfrm>
            <a:off x="635270" y="2838606"/>
            <a:ext cx="963021" cy="129361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30" b="1">
                <a:solidFill>
                  <a:srgbClr val="003F8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Leaf A</a:t>
            </a:r>
            <a:endParaRPr sz="730"/>
          </a:p>
        </p:txBody>
      </p:sp>
      <p:sp>
        <p:nvSpPr>
          <p:cNvPr id="626" name="Shape 17"/>
          <p:cNvSpPr>
            <a:spLocks noGrp="1"/>
          </p:cNvSpPr>
          <p:nvPr/>
        </p:nvSpPr>
        <p:spPr>
          <a:xfrm>
            <a:off x="678390" y="3126075"/>
            <a:ext cx="344963" cy="244349"/>
          </a:xfrm>
          <a:prstGeom prst="rect">
            <a:avLst/>
          </a:prstGeom>
          <a:solidFill>
            <a:srgbClr val="A8B7C6"/>
          </a:solidFill>
          <a:ln w="12700">
            <a:solidFill>
              <a:srgbClr val="6F8193"/>
            </a:solidFill>
            <a:prstDash val="solid"/>
          </a:ln>
        </p:spPr>
      </p:sp>
      <p:sp>
        <p:nvSpPr>
          <p:cNvPr id="627" name="Text 18"/>
          <p:cNvSpPr>
            <a:spLocks noGrp="1"/>
          </p:cNvSpPr>
          <p:nvPr/>
        </p:nvSpPr>
        <p:spPr>
          <a:xfrm>
            <a:off x="678390" y="3197942"/>
            <a:ext cx="344963" cy="7905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T</a:t>
            </a:r>
            <a:endParaRPr sz="700"/>
          </a:p>
        </p:txBody>
      </p:sp>
      <p:sp>
        <p:nvSpPr>
          <p:cNvPr id="628" name="Shape 19"/>
          <p:cNvSpPr>
            <a:spLocks noGrp="1"/>
          </p:cNvSpPr>
          <p:nvPr/>
        </p:nvSpPr>
        <p:spPr>
          <a:xfrm>
            <a:off x="1152714" y="3126075"/>
            <a:ext cx="344963" cy="244349"/>
          </a:xfrm>
          <a:prstGeom prst="rect">
            <a:avLst/>
          </a:prstGeom>
          <a:solidFill>
            <a:srgbClr val="A8B7C6"/>
          </a:solidFill>
          <a:ln w="12700">
            <a:solidFill>
              <a:srgbClr val="6F8193"/>
            </a:solidFill>
            <a:prstDash val="solid"/>
          </a:ln>
        </p:spPr>
      </p:sp>
      <p:sp>
        <p:nvSpPr>
          <p:cNvPr id="629" name="Text 20"/>
          <p:cNvSpPr>
            <a:spLocks noGrp="1"/>
          </p:cNvSpPr>
          <p:nvPr/>
        </p:nvSpPr>
        <p:spPr>
          <a:xfrm>
            <a:off x="1152714" y="3197942"/>
            <a:ext cx="344963" cy="7905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T</a:t>
            </a:r>
            <a:endParaRPr sz="700"/>
          </a:p>
        </p:txBody>
      </p:sp>
      <p:sp>
        <p:nvSpPr>
          <p:cNvPr id="630" name="Shape 21"/>
          <p:cNvSpPr>
            <a:spLocks noGrp="1"/>
          </p:cNvSpPr>
          <p:nvPr/>
        </p:nvSpPr>
        <p:spPr>
          <a:xfrm>
            <a:off x="678390" y="3463851"/>
            <a:ext cx="344963" cy="244349"/>
          </a:xfrm>
          <a:prstGeom prst="rect">
            <a:avLst/>
          </a:prstGeom>
          <a:solidFill>
            <a:srgbClr val="FFFFFF"/>
          </a:solidFill>
          <a:ln w="12700">
            <a:solidFill>
              <a:srgbClr val="6F8193"/>
            </a:solidFill>
            <a:prstDash val="solid"/>
          </a:ln>
        </p:spPr>
      </p:sp>
      <p:sp>
        <p:nvSpPr>
          <p:cNvPr id="631" name="Text 22"/>
          <p:cNvSpPr>
            <a:spLocks noGrp="1"/>
          </p:cNvSpPr>
          <p:nvPr/>
        </p:nvSpPr>
        <p:spPr>
          <a:xfrm>
            <a:off x="678390" y="3535718"/>
            <a:ext cx="344963" cy="7905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00" b="1">
                <a:solidFill>
                  <a:srgbClr val="003F8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Free</a:t>
            </a:r>
            <a:endParaRPr sz="700"/>
          </a:p>
        </p:txBody>
      </p:sp>
      <p:sp>
        <p:nvSpPr>
          <p:cNvPr id="632" name="Shape 23"/>
          <p:cNvSpPr>
            <a:spLocks noGrp="1"/>
          </p:cNvSpPr>
          <p:nvPr/>
        </p:nvSpPr>
        <p:spPr>
          <a:xfrm>
            <a:off x="1152714" y="3463851"/>
            <a:ext cx="344963" cy="244349"/>
          </a:xfrm>
          <a:prstGeom prst="rect">
            <a:avLst/>
          </a:prstGeom>
          <a:solidFill>
            <a:srgbClr val="FFFFFF"/>
          </a:solidFill>
          <a:ln w="12700">
            <a:solidFill>
              <a:srgbClr val="6F8193"/>
            </a:solidFill>
            <a:prstDash val="solid"/>
          </a:ln>
        </p:spPr>
      </p:sp>
      <p:sp>
        <p:nvSpPr>
          <p:cNvPr id="633" name="Text 24"/>
          <p:cNvSpPr>
            <a:spLocks noGrp="1"/>
          </p:cNvSpPr>
          <p:nvPr/>
        </p:nvSpPr>
        <p:spPr>
          <a:xfrm>
            <a:off x="1152714" y="3535718"/>
            <a:ext cx="344963" cy="7905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00" b="1">
                <a:solidFill>
                  <a:srgbClr val="003F8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Free</a:t>
            </a:r>
            <a:endParaRPr sz="700"/>
          </a:p>
        </p:txBody>
      </p:sp>
      <p:sp>
        <p:nvSpPr>
          <p:cNvPr id="634" name="Shape 25"/>
          <p:cNvSpPr>
            <a:spLocks noGrp="1"/>
          </p:cNvSpPr>
          <p:nvPr/>
        </p:nvSpPr>
        <p:spPr>
          <a:xfrm>
            <a:off x="1892946" y="2752365"/>
            <a:ext cx="1135502" cy="1185809"/>
          </a:xfrm>
          <a:prstGeom prst="rect">
            <a:avLst/>
          </a:prstGeom>
          <a:solidFill>
            <a:srgbClr val="F8FAFC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635" name="Text 26"/>
          <p:cNvSpPr>
            <a:spLocks noGrp="1"/>
          </p:cNvSpPr>
          <p:nvPr/>
        </p:nvSpPr>
        <p:spPr>
          <a:xfrm>
            <a:off x="1979187" y="2838606"/>
            <a:ext cx="963021" cy="129361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30" b="1">
                <a:solidFill>
                  <a:srgbClr val="003F8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Leaf B</a:t>
            </a:r>
            <a:endParaRPr sz="730"/>
          </a:p>
        </p:txBody>
      </p:sp>
      <p:sp>
        <p:nvSpPr>
          <p:cNvPr id="636" name="Shape 27"/>
          <p:cNvSpPr>
            <a:spLocks noGrp="1"/>
          </p:cNvSpPr>
          <p:nvPr/>
        </p:nvSpPr>
        <p:spPr>
          <a:xfrm>
            <a:off x="2022307" y="3126075"/>
            <a:ext cx="344963" cy="244349"/>
          </a:xfrm>
          <a:prstGeom prst="rect">
            <a:avLst/>
          </a:prstGeom>
          <a:solidFill>
            <a:srgbClr val="A8B7C6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637" name="Text 28"/>
          <p:cNvSpPr>
            <a:spLocks noGrp="1"/>
          </p:cNvSpPr>
          <p:nvPr/>
        </p:nvSpPr>
        <p:spPr>
          <a:xfrm>
            <a:off x="2022307" y="3197942"/>
            <a:ext cx="344963" cy="7905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T</a:t>
            </a:r>
            <a:endParaRPr sz="700"/>
          </a:p>
        </p:txBody>
      </p:sp>
      <p:sp>
        <p:nvSpPr>
          <p:cNvPr id="638" name="Shape 29"/>
          <p:cNvSpPr>
            <a:spLocks noGrp="1"/>
          </p:cNvSpPr>
          <p:nvPr/>
        </p:nvSpPr>
        <p:spPr>
          <a:xfrm>
            <a:off x="2496631" y="3126075"/>
            <a:ext cx="344963" cy="244349"/>
          </a:xfrm>
          <a:prstGeom prst="rect">
            <a:avLst/>
          </a:prstGeom>
          <a:solidFill>
            <a:srgbClr val="A8B7C6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639" name="Text 30"/>
          <p:cNvSpPr>
            <a:spLocks noGrp="1"/>
          </p:cNvSpPr>
          <p:nvPr/>
        </p:nvSpPr>
        <p:spPr>
          <a:xfrm>
            <a:off x="2496631" y="3197942"/>
            <a:ext cx="344963" cy="7905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T</a:t>
            </a:r>
            <a:endParaRPr sz="700"/>
          </a:p>
        </p:txBody>
      </p:sp>
      <p:sp>
        <p:nvSpPr>
          <p:cNvPr id="640" name="Shape 31"/>
          <p:cNvSpPr>
            <a:spLocks noGrp="1"/>
          </p:cNvSpPr>
          <p:nvPr/>
        </p:nvSpPr>
        <p:spPr>
          <a:xfrm>
            <a:off x="2022307" y="3463851"/>
            <a:ext cx="344963" cy="244349"/>
          </a:xfrm>
          <a:prstGeom prst="rect">
            <a:avLst/>
          </a:prstGeom>
          <a:solidFill>
            <a:srgbClr val="FFFFFF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641" name="Text 32"/>
          <p:cNvSpPr>
            <a:spLocks noGrp="1"/>
          </p:cNvSpPr>
          <p:nvPr/>
        </p:nvSpPr>
        <p:spPr>
          <a:xfrm>
            <a:off x="2022307" y="3535718"/>
            <a:ext cx="344963" cy="7905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00" b="1">
                <a:solidFill>
                  <a:srgbClr val="003F8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Free</a:t>
            </a:r>
            <a:endParaRPr sz="700"/>
          </a:p>
        </p:txBody>
      </p:sp>
      <p:sp>
        <p:nvSpPr>
          <p:cNvPr id="642" name="Shape 33"/>
          <p:cNvSpPr>
            <a:spLocks noGrp="1"/>
          </p:cNvSpPr>
          <p:nvPr/>
        </p:nvSpPr>
        <p:spPr>
          <a:xfrm>
            <a:off x="2496631" y="3463851"/>
            <a:ext cx="344963" cy="244349"/>
          </a:xfrm>
          <a:prstGeom prst="rect">
            <a:avLst/>
          </a:prstGeom>
          <a:solidFill>
            <a:srgbClr val="FFFFFF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643" name="Text 34"/>
          <p:cNvSpPr>
            <a:spLocks noGrp="1"/>
          </p:cNvSpPr>
          <p:nvPr/>
        </p:nvSpPr>
        <p:spPr>
          <a:xfrm>
            <a:off x="2496631" y="3535718"/>
            <a:ext cx="344963" cy="7905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00" b="1">
                <a:solidFill>
                  <a:srgbClr val="003F8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Free</a:t>
            </a:r>
            <a:endParaRPr sz="700"/>
          </a:p>
        </p:txBody>
      </p:sp>
      <p:sp>
        <p:nvSpPr>
          <p:cNvPr id="644" name="Shape 35"/>
          <p:cNvSpPr>
            <a:spLocks noGrp="1"/>
          </p:cNvSpPr>
          <p:nvPr/>
        </p:nvSpPr>
        <p:spPr>
          <a:xfrm>
            <a:off x="549029" y="4117842"/>
            <a:ext cx="2479419" cy="445577"/>
          </a:xfrm>
          <a:prstGeom prst="rect">
            <a:avLst/>
          </a:prstGeom>
          <a:solidFill>
            <a:srgbClr val="FFFFFF"/>
          </a:solidFill>
          <a:ln w="12700">
            <a:solidFill>
              <a:srgbClr val="E43D30"/>
            </a:solidFill>
            <a:prstDash val="solid"/>
          </a:ln>
        </p:spPr>
      </p:sp>
      <p:sp>
        <p:nvSpPr>
          <p:cNvPr id="645" name="Text 36"/>
          <p:cNvSpPr>
            <a:spLocks noGrp="1"/>
          </p:cNvSpPr>
          <p:nvPr/>
        </p:nvSpPr>
        <p:spPr>
          <a:xfrm>
            <a:off x="664017" y="4196896"/>
            <a:ext cx="754606" cy="30184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100" b="1">
                <a:solidFill>
                  <a:srgbClr val="003F8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Result</a:t>
            </a:r>
            <a:endParaRPr sz="1100"/>
          </a:p>
        </p:txBody>
      </p:sp>
      <p:sp>
        <p:nvSpPr>
          <p:cNvPr id="646" name="Text 37"/>
          <p:cNvSpPr>
            <a:spLocks noGrp="1"/>
          </p:cNvSpPr>
          <p:nvPr/>
        </p:nvSpPr>
        <p:spPr>
          <a:xfrm>
            <a:off x="1296648" y="4182722"/>
            <a:ext cx="1631486" cy="32340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sz="945">
                <a:solidFill>
                  <a:srgbClr val="5D6B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Four GPUs are free in total, but no Leaf can host the complete SubGroup</a:t>
            </a:r>
            <a:endParaRPr sz="945">
              <a:solidFill>
                <a:srgbClr val="5D6B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47" name="Shape 38"/>
          <p:cNvSpPr>
            <a:spLocks noGrp="1"/>
          </p:cNvSpPr>
          <p:nvPr/>
        </p:nvSpPr>
        <p:spPr>
          <a:xfrm>
            <a:off x="3315917" y="3097328"/>
            <a:ext cx="301842" cy="301842"/>
          </a:xfrm>
          <a:prstGeom prst="chevron">
            <a:avLst/>
          </a:prstGeom>
          <a:solidFill>
            <a:srgbClr val="003F8F"/>
          </a:solidFill>
          <a:ln w="12700">
            <a:solidFill>
              <a:srgbClr val="003F8F">
                <a:alpha val="0"/>
              </a:srgbClr>
            </a:solidFill>
            <a:prstDash val="solid"/>
          </a:ln>
        </p:spPr>
      </p:sp>
      <p:sp>
        <p:nvSpPr>
          <p:cNvPr id="648" name="Shape 39"/>
          <p:cNvSpPr>
            <a:spLocks noGrp="1"/>
          </p:cNvSpPr>
          <p:nvPr/>
        </p:nvSpPr>
        <p:spPr>
          <a:xfrm>
            <a:off x="3783054" y="1739037"/>
            <a:ext cx="1796680" cy="3032797"/>
          </a:xfrm>
          <a:prstGeom prst="rect">
            <a:avLst/>
          </a:prstGeom>
          <a:solidFill>
            <a:srgbClr val="F8FAFC"/>
          </a:solidFill>
          <a:ln w="12700">
            <a:solidFill>
              <a:srgbClr val="003F8F"/>
            </a:solidFill>
            <a:prstDash val="solid"/>
          </a:ln>
        </p:spPr>
      </p:sp>
      <p:sp>
        <p:nvSpPr>
          <p:cNvPr id="649" name="Shape 40"/>
          <p:cNvSpPr>
            <a:spLocks noGrp="1"/>
          </p:cNvSpPr>
          <p:nvPr/>
        </p:nvSpPr>
        <p:spPr>
          <a:xfrm>
            <a:off x="3941162" y="1889959"/>
            <a:ext cx="919900" cy="273095"/>
          </a:xfrm>
          <a:prstGeom prst="chevron">
            <a:avLst/>
          </a:prstGeom>
          <a:solidFill>
            <a:srgbClr val="003F8F"/>
          </a:solidFill>
          <a:ln w="12700">
            <a:solidFill>
              <a:srgbClr val="003F8F">
                <a:alpha val="0"/>
              </a:srgbClr>
            </a:solidFill>
            <a:prstDash val="solid"/>
          </a:ln>
        </p:spPr>
      </p:sp>
      <p:sp>
        <p:nvSpPr>
          <p:cNvPr id="650" name="Text 41"/>
          <p:cNvSpPr>
            <a:spLocks noGrp="1"/>
          </p:cNvSpPr>
          <p:nvPr/>
        </p:nvSpPr>
        <p:spPr>
          <a:xfrm>
            <a:off x="3998656" y="1918705"/>
            <a:ext cx="761793" cy="194041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6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Scheduling decision</a:t>
            </a:r>
            <a:endParaRPr sz="960"/>
          </a:p>
        </p:txBody>
      </p:sp>
      <p:sp>
        <p:nvSpPr>
          <p:cNvPr id="651" name="Shape 42"/>
          <p:cNvSpPr>
            <a:spLocks noGrp="1"/>
          </p:cNvSpPr>
          <p:nvPr/>
        </p:nvSpPr>
        <p:spPr>
          <a:xfrm>
            <a:off x="4020216" y="2371469"/>
            <a:ext cx="1329544" cy="531817"/>
          </a:xfrm>
          <a:prstGeom prst="rect">
            <a:avLst/>
          </a:prstGeom>
          <a:solidFill>
            <a:srgbClr val="FFFFFF"/>
          </a:solidFill>
          <a:ln w="12700">
            <a:solidFill>
              <a:srgbClr val="003F8F"/>
            </a:solidFill>
            <a:prstDash val="solid"/>
          </a:ln>
        </p:spPr>
      </p:sp>
      <p:sp>
        <p:nvSpPr>
          <p:cNvPr id="652" name="Shape 43"/>
          <p:cNvSpPr>
            <a:spLocks noGrp="1"/>
          </p:cNvSpPr>
          <p:nvPr/>
        </p:nvSpPr>
        <p:spPr>
          <a:xfrm>
            <a:off x="4135203" y="2486456"/>
            <a:ext cx="344963" cy="244349"/>
          </a:xfrm>
          <a:prstGeom prst="roundRect">
            <a:avLst>
              <a:gd name="adj" fmla="val 23529"/>
            </a:avLst>
          </a:prstGeom>
          <a:solidFill>
            <a:srgbClr val="003F8F"/>
          </a:solidFill>
          <a:ln w="12700">
            <a:solidFill>
              <a:srgbClr val="003F8F"/>
            </a:solidFill>
            <a:prstDash val="solid"/>
          </a:ln>
        </p:spPr>
      </p:sp>
      <p:sp>
        <p:nvSpPr>
          <p:cNvPr id="653" name="Text 44"/>
          <p:cNvSpPr>
            <a:spLocks noGrp="1"/>
          </p:cNvSpPr>
          <p:nvPr/>
        </p:nvSpPr>
        <p:spPr>
          <a:xfrm>
            <a:off x="4192697" y="2493643"/>
            <a:ext cx="229975" cy="2227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01</a:t>
            </a:r>
            <a:endParaRPr sz="700"/>
          </a:p>
        </p:txBody>
      </p:sp>
      <p:sp>
        <p:nvSpPr>
          <p:cNvPr id="654" name="Text 45"/>
          <p:cNvSpPr>
            <a:spLocks noGrp="1"/>
          </p:cNvSpPr>
          <p:nvPr/>
        </p:nvSpPr>
        <p:spPr>
          <a:xfrm>
            <a:off x="4566407" y="2464896"/>
            <a:ext cx="653992" cy="194041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80" b="1">
                <a:solidFill>
                  <a:srgbClr val="003F8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Choose domain</a:t>
            </a:r>
            <a:endParaRPr sz="980"/>
          </a:p>
        </p:txBody>
      </p:sp>
      <p:sp>
        <p:nvSpPr>
          <p:cNvPr id="655" name="Text 46"/>
          <p:cNvSpPr>
            <a:spLocks noGrp="1"/>
          </p:cNvSpPr>
          <p:nvPr/>
        </p:nvSpPr>
        <p:spPr>
          <a:xfrm>
            <a:off x="4149577" y="2745178"/>
            <a:ext cx="1070822" cy="7905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30">
                <a:solidFill>
                  <a:srgbClr val="5D6B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Leaf B</a:t>
            </a:r>
            <a:endParaRPr sz="730"/>
          </a:p>
        </p:txBody>
      </p:sp>
      <p:sp>
        <p:nvSpPr>
          <p:cNvPr id="656" name="Shape 47"/>
          <p:cNvSpPr>
            <a:spLocks noGrp="1"/>
          </p:cNvSpPr>
          <p:nvPr/>
        </p:nvSpPr>
        <p:spPr>
          <a:xfrm>
            <a:off x="4552033" y="2953593"/>
            <a:ext cx="244349" cy="344963"/>
          </a:xfrm>
          <a:prstGeom prst="downArrow">
            <a:avLst/>
          </a:prstGeom>
          <a:solidFill>
            <a:srgbClr val="9EB3C7"/>
          </a:solidFill>
          <a:ln w="12700">
            <a:solidFill>
              <a:srgbClr val="9EB3C7">
                <a:alpha val="0"/>
              </a:srgbClr>
            </a:solidFill>
            <a:prstDash val="solid"/>
          </a:ln>
        </p:spPr>
      </p:sp>
      <p:sp>
        <p:nvSpPr>
          <p:cNvPr id="657" name="Shape 48"/>
          <p:cNvSpPr>
            <a:spLocks noGrp="1"/>
          </p:cNvSpPr>
          <p:nvPr/>
        </p:nvSpPr>
        <p:spPr>
          <a:xfrm>
            <a:off x="4020216" y="3377610"/>
            <a:ext cx="1329544" cy="531817"/>
          </a:xfrm>
          <a:prstGeom prst="rect">
            <a:avLst/>
          </a:prstGeom>
          <a:solidFill>
            <a:srgbClr val="FFFFFF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658" name="Shape 49"/>
          <p:cNvSpPr>
            <a:spLocks noGrp="1"/>
          </p:cNvSpPr>
          <p:nvPr/>
        </p:nvSpPr>
        <p:spPr>
          <a:xfrm>
            <a:off x="4135203" y="3462653"/>
            <a:ext cx="344963" cy="244349"/>
          </a:xfrm>
          <a:prstGeom prst="roundRect">
            <a:avLst>
              <a:gd name="adj" fmla="val 23529"/>
            </a:avLst>
          </a:prstGeom>
          <a:solidFill>
            <a:srgbClr val="0B5CAD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659" name="Text 50"/>
          <p:cNvSpPr>
            <a:spLocks noGrp="1"/>
          </p:cNvSpPr>
          <p:nvPr/>
        </p:nvSpPr>
        <p:spPr>
          <a:xfrm>
            <a:off x="4192697" y="3493795"/>
            <a:ext cx="229975" cy="2227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02</a:t>
            </a:r>
            <a:endParaRPr sz="700"/>
          </a:p>
        </p:txBody>
      </p:sp>
      <p:sp>
        <p:nvSpPr>
          <p:cNvPr id="660" name="Text 51"/>
          <p:cNvSpPr>
            <a:spLocks noGrp="1"/>
          </p:cNvSpPr>
          <p:nvPr/>
        </p:nvSpPr>
        <p:spPr>
          <a:xfrm>
            <a:off x="4566407" y="3471037"/>
            <a:ext cx="653992" cy="194041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80" b="1">
                <a:solidFill>
                  <a:srgbClr val="003F8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Expand victims</a:t>
            </a:r>
            <a:endParaRPr sz="980"/>
          </a:p>
        </p:txBody>
      </p:sp>
      <p:sp>
        <p:nvSpPr>
          <p:cNvPr id="661" name="Text 52"/>
          <p:cNvSpPr>
            <a:spLocks noGrp="1"/>
          </p:cNvSpPr>
          <p:nvPr/>
        </p:nvSpPr>
        <p:spPr>
          <a:xfrm>
            <a:off x="4149577" y="3751320"/>
            <a:ext cx="1070822" cy="7905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30">
                <a:solidFill>
                  <a:srgbClr val="5D6B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Whole-job reclaim</a:t>
            </a:r>
            <a:endParaRPr sz="730"/>
          </a:p>
        </p:txBody>
      </p:sp>
      <p:sp>
        <p:nvSpPr>
          <p:cNvPr id="662" name="Shape 53"/>
          <p:cNvSpPr>
            <a:spLocks noGrp="1"/>
          </p:cNvSpPr>
          <p:nvPr/>
        </p:nvSpPr>
        <p:spPr>
          <a:xfrm>
            <a:off x="4552033" y="3959734"/>
            <a:ext cx="244349" cy="344963"/>
          </a:xfrm>
          <a:prstGeom prst="downArrow">
            <a:avLst/>
          </a:prstGeom>
          <a:solidFill>
            <a:srgbClr val="9EB3C7"/>
          </a:solidFill>
          <a:ln w="12700">
            <a:solidFill>
              <a:srgbClr val="9EB3C7">
                <a:alpha val="0"/>
              </a:srgbClr>
            </a:solidFill>
            <a:prstDash val="solid"/>
          </a:ln>
        </p:spPr>
      </p:sp>
      <p:sp>
        <p:nvSpPr>
          <p:cNvPr id="663" name="Shape 54"/>
          <p:cNvSpPr>
            <a:spLocks noGrp="1"/>
          </p:cNvSpPr>
          <p:nvPr/>
        </p:nvSpPr>
        <p:spPr>
          <a:xfrm>
            <a:off x="4020216" y="4319071"/>
            <a:ext cx="1329544" cy="273095"/>
          </a:xfrm>
          <a:prstGeom prst="rect">
            <a:avLst/>
          </a:prstGeom>
          <a:solidFill>
            <a:srgbClr val="FFFFFF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664" name="Text 55"/>
          <p:cNvSpPr>
            <a:spLocks noGrp="1"/>
          </p:cNvSpPr>
          <p:nvPr/>
        </p:nvSpPr>
        <p:spPr>
          <a:xfrm>
            <a:off x="4099270" y="4392036"/>
            <a:ext cx="1171436" cy="12936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sz="785" b="1">
                <a:solidFill>
                  <a:srgbClr val="003F8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Validate Gang + SubGroup + topology</a:t>
            </a:r>
            <a:endParaRPr sz="785" b="1">
              <a:solidFill>
                <a:srgbClr val="003F8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65" name="Shape 56"/>
          <p:cNvSpPr>
            <a:spLocks noGrp="1"/>
          </p:cNvSpPr>
          <p:nvPr/>
        </p:nvSpPr>
        <p:spPr>
          <a:xfrm>
            <a:off x="5701909" y="3097328"/>
            <a:ext cx="301842" cy="301842"/>
          </a:xfrm>
          <a:prstGeom prst="chevron">
            <a:avLst/>
          </a:prstGeom>
          <a:solidFill>
            <a:srgbClr val="003F8F"/>
          </a:solidFill>
          <a:ln w="12700">
            <a:solidFill>
              <a:srgbClr val="003F8F">
                <a:alpha val="0"/>
              </a:srgbClr>
            </a:solidFill>
            <a:prstDash val="solid"/>
          </a:ln>
        </p:spPr>
      </p:sp>
      <p:sp>
        <p:nvSpPr>
          <p:cNvPr id="666" name="Shape 57"/>
          <p:cNvSpPr>
            <a:spLocks noGrp="1"/>
          </p:cNvSpPr>
          <p:nvPr/>
        </p:nvSpPr>
        <p:spPr>
          <a:xfrm>
            <a:off x="6161859" y="1739037"/>
            <a:ext cx="2709394" cy="3032797"/>
          </a:xfrm>
          <a:prstGeom prst="rect">
            <a:avLst/>
          </a:prstGeom>
          <a:solidFill>
            <a:srgbClr val="FFFFFF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667" name="Shape 58"/>
          <p:cNvSpPr>
            <a:spLocks noGrp="1"/>
          </p:cNvSpPr>
          <p:nvPr/>
        </p:nvSpPr>
        <p:spPr>
          <a:xfrm>
            <a:off x="6319967" y="1889959"/>
            <a:ext cx="826473" cy="273095"/>
          </a:xfrm>
          <a:prstGeom prst="chevron">
            <a:avLst/>
          </a:prstGeom>
          <a:solidFill>
            <a:srgbClr val="003F8F"/>
          </a:solidFill>
          <a:ln w="12700">
            <a:solidFill>
              <a:srgbClr val="003F8F">
                <a:alpha val="0"/>
              </a:srgbClr>
            </a:solidFill>
            <a:prstDash val="solid"/>
          </a:ln>
        </p:spPr>
      </p:sp>
      <p:sp>
        <p:nvSpPr>
          <p:cNvPr id="668" name="Text 59"/>
          <p:cNvSpPr>
            <a:spLocks noGrp="1"/>
          </p:cNvSpPr>
          <p:nvPr/>
        </p:nvSpPr>
        <p:spPr>
          <a:xfrm>
            <a:off x="6377461" y="1918705"/>
            <a:ext cx="668365" cy="194041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6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After</a:t>
            </a:r>
            <a:endParaRPr sz="960"/>
          </a:p>
        </p:txBody>
      </p:sp>
      <p:sp>
        <p:nvSpPr>
          <p:cNvPr id="669" name="Text 60"/>
          <p:cNvSpPr>
            <a:spLocks noGrp="1"/>
          </p:cNvSpPr>
          <p:nvPr/>
        </p:nvSpPr>
        <p:spPr>
          <a:xfrm>
            <a:off x="6442141" y="2321162"/>
            <a:ext cx="2156017" cy="165295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80" b="1">
                <a:solidFill>
                  <a:srgbClr val="003F8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Place all four in Leaf B</a:t>
            </a:r>
            <a:endParaRPr sz="980"/>
          </a:p>
        </p:txBody>
      </p:sp>
      <p:sp>
        <p:nvSpPr>
          <p:cNvPr id="670" name="Shape 61"/>
          <p:cNvSpPr>
            <a:spLocks noGrp="1"/>
          </p:cNvSpPr>
          <p:nvPr/>
        </p:nvSpPr>
        <p:spPr>
          <a:xfrm>
            <a:off x="6514008" y="2752365"/>
            <a:ext cx="2012282" cy="1185809"/>
          </a:xfrm>
          <a:prstGeom prst="rect">
            <a:avLst/>
          </a:prstGeom>
          <a:solidFill>
            <a:srgbClr val="F3F7FC"/>
          </a:solidFill>
          <a:ln w="12700">
            <a:solidFill>
              <a:srgbClr val="003F8F"/>
            </a:solidFill>
            <a:prstDash val="solid"/>
          </a:ln>
        </p:spPr>
      </p:sp>
      <p:sp>
        <p:nvSpPr>
          <p:cNvPr id="671" name="Text 62"/>
          <p:cNvSpPr>
            <a:spLocks noGrp="1"/>
          </p:cNvSpPr>
          <p:nvPr/>
        </p:nvSpPr>
        <p:spPr>
          <a:xfrm>
            <a:off x="6643369" y="2852979"/>
            <a:ext cx="1753560" cy="14373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45" b="1">
                <a:solidFill>
                  <a:srgbClr val="003F8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Leaf B · Selected Domain</a:t>
            </a:r>
            <a:endParaRPr sz="745"/>
          </a:p>
        </p:txBody>
      </p:sp>
      <p:sp>
        <p:nvSpPr>
          <p:cNvPr id="672" name="Shape 63"/>
          <p:cNvSpPr>
            <a:spLocks noGrp="1"/>
          </p:cNvSpPr>
          <p:nvPr/>
        </p:nvSpPr>
        <p:spPr>
          <a:xfrm>
            <a:off x="6801477" y="3169195"/>
            <a:ext cx="517444" cy="244349"/>
          </a:xfrm>
          <a:prstGeom prst="rect">
            <a:avLst/>
          </a:prstGeom>
          <a:solidFill>
            <a:srgbClr val="DCEBFA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673" name="Text 64"/>
          <p:cNvSpPr>
            <a:spLocks noGrp="1"/>
          </p:cNvSpPr>
          <p:nvPr/>
        </p:nvSpPr>
        <p:spPr>
          <a:xfrm>
            <a:off x="6801477" y="3241062"/>
            <a:ext cx="517444" cy="7905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00" b="1">
                <a:solidFill>
                  <a:srgbClr val="003F8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Decode</a:t>
            </a:r>
            <a:endParaRPr sz="700"/>
          </a:p>
        </p:txBody>
      </p:sp>
      <p:sp>
        <p:nvSpPr>
          <p:cNvPr id="674" name="Shape 65"/>
          <p:cNvSpPr>
            <a:spLocks noGrp="1"/>
          </p:cNvSpPr>
          <p:nvPr/>
        </p:nvSpPr>
        <p:spPr>
          <a:xfrm>
            <a:off x="7556083" y="3169195"/>
            <a:ext cx="517444" cy="244349"/>
          </a:xfrm>
          <a:prstGeom prst="rect">
            <a:avLst/>
          </a:prstGeom>
          <a:solidFill>
            <a:srgbClr val="DCEBFA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675" name="Text 66"/>
          <p:cNvSpPr>
            <a:spLocks noGrp="1"/>
          </p:cNvSpPr>
          <p:nvPr/>
        </p:nvSpPr>
        <p:spPr>
          <a:xfrm>
            <a:off x="7556083" y="3241062"/>
            <a:ext cx="517444" cy="7905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00" b="1">
                <a:solidFill>
                  <a:srgbClr val="003F8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Decode</a:t>
            </a:r>
            <a:endParaRPr sz="700"/>
          </a:p>
        </p:txBody>
      </p:sp>
      <p:sp>
        <p:nvSpPr>
          <p:cNvPr id="676" name="Shape 67"/>
          <p:cNvSpPr>
            <a:spLocks noGrp="1"/>
          </p:cNvSpPr>
          <p:nvPr/>
        </p:nvSpPr>
        <p:spPr>
          <a:xfrm>
            <a:off x="6801477" y="3514158"/>
            <a:ext cx="517444" cy="244349"/>
          </a:xfrm>
          <a:prstGeom prst="rect">
            <a:avLst/>
          </a:prstGeom>
          <a:solidFill>
            <a:srgbClr val="DCEBFA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677" name="Text 68"/>
          <p:cNvSpPr>
            <a:spLocks noGrp="1"/>
          </p:cNvSpPr>
          <p:nvPr/>
        </p:nvSpPr>
        <p:spPr>
          <a:xfrm>
            <a:off x="6801477" y="3586025"/>
            <a:ext cx="517444" cy="7905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00" b="1">
                <a:solidFill>
                  <a:srgbClr val="003F8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Decode</a:t>
            </a:r>
            <a:endParaRPr sz="700"/>
          </a:p>
        </p:txBody>
      </p:sp>
      <p:sp>
        <p:nvSpPr>
          <p:cNvPr id="678" name="Shape 69"/>
          <p:cNvSpPr>
            <a:spLocks noGrp="1"/>
          </p:cNvSpPr>
          <p:nvPr/>
        </p:nvSpPr>
        <p:spPr>
          <a:xfrm>
            <a:off x="7556083" y="3514158"/>
            <a:ext cx="517444" cy="244349"/>
          </a:xfrm>
          <a:prstGeom prst="rect">
            <a:avLst/>
          </a:prstGeom>
          <a:solidFill>
            <a:srgbClr val="DCEBFA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679" name="Text 70"/>
          <p:cNvSpPr>
            <a:spLocks noGrp="1"/>
          </p:cNvSpPr>
          <p:nvPr/>
        </p:nvSpPr>
        <p:spPr>
          <a:xfrm>
            <a:off x="7556083" y="3586025"/>
            <a:ext cx="517444" cy="7905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00" b="1">
                <a:solidFill>
                  <a:srgbClr val="003F8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Decode</a:t>
            </a:r>
            <a:endParaRPr sz="700"/>
          </a:p>
        </p:txBody>
      </p:sp>
      <p:sp>
        <p:nvSpPr>
          <p:cNvPr id="680" name="Shape 71"/>
          <p:cNvSpPr>
            <a:spLocks noGrp="1"/>
          </p:cNvSpPr>
          <p:nvPr/>
        </p:nvSpPr>
        <p:spPr>
          <a:xfrm>
            <a:off x="6514008" y="4067535"/>
            <a:ext cx="2012282" cy="517444"/>
          </a:xfrm>
          <a:prstGeom prst="rect">
            <a:avLst/>
          </a:prstGeom>
          <a:solidFill>
            <a:srgbClr val="FFFFFF"/>
          </a:solidFill>
          <a:ln w="12700">
            <a:solidFill>
              <a:srgbClr val="003F8F"/>
            </a:solidFill>
            <a:prstDash val="solid"/>
          </a:ln>
        </p:spPr>
      </p:sp>
      <p:sp>
        <p:nvSpPr>
          <p:cNvPr id="681" name="Text 72"/>
          <p:cNvSpPr>
            <a:spLocks noGrp="1"/>
          </p:cNvSpPr>
          <p:nvPr/>
        </p:nvSpPr>
        <p:spPr>
          <a:xfrm>
            <a:off x="6643369" y="4160963"/>
            <a:ext cx="1753560" cy="194041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80" b="1">
                <a:solidFill>
                  <a:srgbClr val="003F8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Commit condition</a:t>
            </a:r>
            <a:endParaRPr sz="980"/>
          </a:p>
        </p:txBody>
      </p:sp>
      <p:sp>
        <p:nvSpPr>
          <p:cNvPr id="682" name="Text 73"/>
          <p:cNvSpPr>
            <a:spLocks noGrp="1"/>
          </p:cNvSpPr>
          <p:nvPr/>
        </p:nvSpPr>
        <p:spPr>
          <a:xfrm>
            <a:off x="6643369" y="4441245"/>
            <a:ext cx="1753560" cy="646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30">
                <a:solidFill>
                  <a:srgbClr val="5D6B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Target PodGroup / SubGroup is fully pipelined</a:t>
            </a:r>
            <a:endParaRPr sz="73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" name="Google Shape;614;p67"/>
          <p:cNvSpPr>
            <a:spLocks noGrp="1"/>
          </p:cNvSpPr>
          <p:nvPr>
            <p:ph type="title"/>
          </p:nvPr>
        </p:nvSpPr>
        <p:spPr>
          <a:xfrm>
            <a:off x="311700" y="0"/>
            <a:ext cx="6949800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>Kthena Serving Abstractions</a:t>
            </a:r>
          </a:p>
        </p:txBody>
      </p:sp>
      <p:sp>
        <p:nvSpPr>
          <p:cNvPr id="615" name="Shape 5"/>
          <p:cNvSpPr>
            <a:spLocks noGrp="1"/>
          </p:cNvSpPr>
          <p:nvPr/>
        </p:nvSpPr>
        <p:spPr>
          <a:xfrm>
            <a:off x="240000" y="1149726"/>
            <a:ext cx="8660000" cy="0"/>
          </a:xfrm>
          <a:prstGeom prst="line">
            <a:avLst/>
          </a:prstGeom>
          <a:noFill/>
          <a:ln w="11430">
            <a:solidFill>
              <a:srgbClr val="B9C8D8"/>
            </a:solidFill>
            <a:prstDash val="solid"/>
            <a:headEnd type="none"/>
          </a:ln>
        </p:spPr>
      </p:sp>
      <p:sp>
        <p:nvSpPr>
          <p:cNvPr id="616" name="Shape 6"/>
          <p:cNvSpPr>
            <a:spLocks noGrp="1"/>
          </p:cNvSpPr>
          <p:nvPr/>
        </p:nvSpPr>
        <p:spPr>
          <a:xfrm>
            <a:off x="240000" y="1113793"/>
            <a:ext cx="963021" cy="71867"/>
          </a:xfrm>
          <a:prstGeom prst="rect">
            <a:avLst/>
          </a:prstGeom>
          <a:solidFill>
            <a:srgbClr val="E43D30"/>
          </a:solidFill>
          <a:ln w="12700">
            <a:solidFill>
              <a:srgbClr val="E43D30">
                <a:alpha val="0"/>
              </a:srgbClr>
            </a:solidFill>
            <a:prstDash val="solid"/>
          </a:ln>
        </p:spPr>
      </p:sp>
      <p:sp>
        <p:nvSpPr>
          <p:cNvPr id="617" name="Shape 8"/>
          <p:cNvSpPr>
            <a:spLocks noGrp="1"/>
          </p:cNvSpPr>
          <p:nvPr/>
        </p:nvSpPr>
        <p:spPr>
          <a:xfrm>
            <a:off x="311867" y="1250340"/>
            <a:ext cx="8559386" cy="344963"/>
          </a:xfrm>
          <a:prstGeom prst="rect">
            <a:avLst/>
          </a:prstGeom>
          <a:solidFill>
            <a:srgbClr val="FFFFFF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618" name="Shape 9"/>
          <p:cNvSpPr>
            <a:spLocks noGrp="1"/>
          </p:cNvSpPr>
          <p:nvPr/>
        </p:nvSpPr>
        <p:spPr>
          <a:xfrm>
            <a:off x="311867" y="1250340"/>
            <a:ext cx="86241" cy="344963"/>
          </a:xfrm>
          <a:prstGeom prst="rect">
            <a:avLst/>
          </a:prstGeom>
          <a:solidFill>
            <a:srgbClr val="E43D30"/>
          </a:solidFill>
          <a:ln w="12700">
            <a:solidFill>
              <a:srgbClr val="E43D30"/>
            </a:solidFill>
            <a:prstDash val="solid"/>
          </a:ln>
        </p:spPr>
      </p:sp>
      <p:sp>
        <p:nvSpPr>
          <p:cNvPr id="619" name="Text 10"/>
          <p:cNvSpPr>
            <a:spLocks noGrp="1"/>
          </p:cNvSpPr>
          <p:nvPr/>
        </p:nvSpPr>
        <p:spPr>
          <a:xfrm>
            <a:off x="527469" y="1315021"/>
            <a:ext cx="8106622" cy="194041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115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Serving semantics project into PodGroup, SubGroup and Pod—not an unrelated set of Deployments.</a:t>
            </a:r>
            <a:endParaRPr sz="1115" b="1">
              <a:solidFill>
                <a:srgbClr val="17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20" name="Shape 11"/>
          <p:cNvSpPr>
            <a:spLocks noGrp="1"/>
          </p:cNvSpPr>
          <p:nvPr/>
        </p:nvSpPr>
        <p:spPr>
          <a:xfrm>
            <a:off x="311867" y="1710290"/>
            <a:ext cx="5260680" cy="3075917"/>
          </a:xfrm>
          <a:prstGeom prst="rect">
            <a:avLst/>
          </a:prstGeom>
          <a:solidFill>
            <a:srgbClr val="FFFFFF"/>
          </a:solidFill>
          <a:ln w="12700">
            <a:solidFill>
              <a:srgbClr val="B7C4D1"/>
            </a:solidFill>
            <a:prstDash val="solid"/>
          </a:ln>
        </p:spPr>
      </p:sp>
      <p:pic>
        <p:nvPicPr>
          <p:cNvPr id="652" name="Imag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340" y="1731352"/>
            <a:ext cx="2972009" cy="2951048"/>
          </a:xfrm>
          <a:prstGeom prst="rect">
            <a:avLst/>
          </a:prstGeom>
        </p:spPr>
      </p:pic>
      <p:sp>
        <p:nvSpPr>
          <p:cNvPr id="622" name="Shape 14"/>
          <p:cNvSpPr>
            <a:spLocks noGrp="1"/>
          </p:cNvSpPr>
          <p:nvPr/>
        </p:nvSpPr>
        <p:spPr>
          <a:xfrm>
            <a:off x="5737842" y="1710290"/>
            <a:ext cx="3126224" cy="3075917"/>
          </a:xfrm>
          <a:prstGeom prst="rect">
            <a:avLst/>
          </a:prstGeom>
          <a:solidFill>
            <a:srgbClr val="F8FAFC"/>
          </a:solidFill>
          <a:ln w="12700">
            <a:solidFill>
              <a:srgbClr val="003F8F"/>
            </a:solidFill>
            <a:prstDash val="solid"/>
          </a:ln>
        </p:spPr>
      </p:sp>
      <p:sp>
        <p:nvSpPr>
          <p:cNvPr id="623" name="Shape 15"/>
          <p:cNvSpPr>
            <a:spLocks noGrp="1"/>
          </p:cNvSpPr>
          <p:nvPr/>
        </p:nvSpPr>
        <p:spPr>
          <a:xfrm>
            <a:off x="5903137" y="1861212"/>
            <a:ext cx="970207" cy="273095"/>
          </a:xfrm>
          <a:prstGeom prst="chevron">
            <a:avLst/>
          </a:prstGeom>
          <a:solidFill>
            <a:srgbClr val="003F8F"/>
          </a:solidFill>
          <a:ln w="12700">
            <a:solidFill>
              <a:srgbClr val="003F8F">
                <a:alpha val="0"/>
              </a:srgbClr>
            </a:solidFill>
            <a:prstDash val="solid"/>
          </a:ln>
        </p:spPr>
      </p:sp>
      <p:sp>
        <p:nvSpPr>
          <p:cNvPr id="624" name="Text 16"/>
          <p:cNvSpPr>
            <a:spLocks noGrp="1"/>
          </p:cNvSpPr>
          <p:nvPr/>
        </p:nvSpPr>
        <p:spPr>
          <a:xfrm>
            <a:off x="5960631" y="1889959"/>
            <a:ext cx="812100" cy="194041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4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Scheduling projection</a:t>
            </a:r>
            <a:endParaRPr sz="74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25" name="Shape 17"/>
          <p:cNvSpPr>
            <a:spLocks noGrp="1"/>
          </p:cNvSpPr>
          <p:nvPr/>
        </p:nvSpPr>
        <p:spPr>
          <a:xfrm>
            <a:off x="5953444" y="2285228"/>
            <a:ext cx="2695021" cy="431203"/>
          </a:xfrm>
          <a:prstGeom prst="rect">
            <a:avLst/>
          </a:prstGeom>
          <a:solidFill>
            <a:srgbClr val="FFFFFF"/>
          </a:solidFill>
          <a:ln w="12700">
            <a:solidFill>
              <a:srgbClr val="6F8193"/>
            </a:solidFill>
            <a:prstDash val="solid"/>
          </a:ln>
        </p:spPr>
      </p:sp>
      <p:sp>
        <p:nvSpPr>
          <p:cNvPr id="626" name="Text 18"/>
          <p:cNvSpPr>
            <a:spLocks noGrp="1"/>
          </p:cNvSpPr>
          <p:nvPr/>
        </p:nvSpPr>
        <p:spPr>
          <a:xfrm>
            <a:off x="6046871" y="2349909"/>
            <a:ext cx="790539" cy="14373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sz="745" b="1">
                <a:solidFill>
                  <a:srgbClr val="003F8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ModelServing</a:t>
            </a:r>
            <a:endParaRPr sz="745" b="1">
              <a:solidFill>
                <a:srgbClr val="003F8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27" name="Text 19"/>
          <p:cNvSpPr>
            <a:spLocks noGrp="1"/>
          </p:cNvSpPr>
          <p:nvPr/>
        </p:nvSpPr>
        <p:spPr>
          <a:xfrm>
            <a:off x="6837411" y="2342722"/>
            <a:ext cx="1113942" cy="1581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sz="745">
                <a:solidFill>
                  <a:srgbClr val="5D6B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Model, version and replica policy</a:t>
            </a:r>
            <a:endParaRPr sz="745">
              <a:solidFill>
                <a:srgbClr val="5D6B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28" name="Shape 20"/>
          <p:cNvSpPr>
            <a:spLocks noGrp="1"/>
          </p:cNvSpPr>
          <p:nvPr/>
        </p:nvSpPr>
        <p:spPr>
          <a:xfrm>
            <a:off x="8008846" y="2335535"/>
            <a:ext cx="503071" cy="179668"/>
          </a:xfrm>
          <a:prstGeom prst="rect">
            <a:avLst/>
          </a:prstGeom>
          <a:solidFill>
            <a:srgbClr val="F2F5F8"/>
          </a:solidFill>
          <a:ln w="8890">
            <a:solidFill>
              <a:srgbClr val="6F8193"/>
            </a:solidFill>
            <a:prstDash val="solid"/>
          </a:ln>
        </p:spPr>
      </p:sp>
      <p:sp>
        <p:nvSpPr>
          <p:cNvPr id="629" name="Text 21"/>
          <p:cNvSpPr>
            <a:spLocks noGrp="1"/>
          </p:cNvSpPr>
          <p:nvPr/>
        </p:nvSpPr>
        <p:spPr>
          <a:xfrm>
            <a:off x="8037593" y="2367876"/>
            <a:ext cx="445577" cy="10780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sz="745" b="1">
                <a:solidFill>
                  <a:srgbClr val="6F819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Service</a:t>
            </a:r>
            <a:endParaRPr sz="745" b="1">
              <a:solidFill>
                <a:srgbClr val="6F819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30" name="Shape 22"/>
          <p:cNvSpPr>
            <a:spLocks noGrp="1"/>
          </p:cNvSpPr>
          <p:nvPr/>
        </p:nvSpPr>
        <p:spPr>
          <a:xfrm>
            <a:off x="5953444" y="2838606"/>
            <a:ext cx="2695021" cy="431203"/>
          </a:xfrm>
          <a:prstGeom prst="rect">
            <a:avLst/>
          </a:prstGeom>
          <a:solidFill>
            <a:srgbClr val="FFFFFF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631" name="Text 23"/>
          <p:cNvSpPr>
            <a:spLocks noGrp="1"/>
          </p:cNvSpPr>
          <p:nvPr/>
        </p:nvSpPr>
        <p:spPr>
          <a:xfrm>
            <a:off x="6046871" y="2903286"/>
            <a:ext cx="790539" cy="14373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sz="745" b="1">
                <a:solidFill>
                  <a:srgbClr val="003F8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ServingGroup</a:t>
            </a:r>
            <a:endParaRPr sz="745" b="1">
              <a:solidFill>
                <a:srgbClr val="003F8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32" name="Text 24"/>
          <p:cNvSpPr>
            <a:spLocks noGrp="1"/>
          </p:cNvSpPr>
          <p:nvPr/>
        </p:nvSpPr>
        <p:spPr>
          <a:xfrm>
            <a:off x="6837411" y="2896100"/>
            <a:ext cx="1113942" cy="1581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sz="745">
                <a:solidFill>
                  <a:srgbClr val="5D6B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Complete serving instance / PD group</a:t>
            </a:r>
            <a:endParaRPr sz="745">
              <a:solidFill>
                <a:srgbClr val="5D6B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33" name="Shape 25"/>
          <p:cNvSpPr>
            <a:spLocks noGrp="1"/>
          </p:cNvSpPr>
          <p:nvPr/>
        </p:nvSpPr>
        <p:spPr>
          <a:xfrm>
            <a:off x="8008846" y="2888913"/>
            <a:ext cx="503071" cy="179668"/>
          </a:xfrm>
          <a:prstGeom prst="rect">
            <a:avLst/>
          </a:prstGeom>
          <a:solidFill>
            <a:srgbClr val="F2F5F8"/>
          </a:solidFill>
          <a:ln w="8890">
            <a:solidFill>
              <a:srgbClr val="6F8193"/>
            </a:solidFill>
            <a:prstDash val="solid"/>
          </a:ln>
        </p:spPr>
      </p:sp>
      <p:sp>
        <p:nvSpPr>
          <p:cNvPr id="634" name="Text 26"/>
          <p:cNvSpPr>
            <a:spLocks noGrp="1"/>
          </p:cNvSpPr>
          <p:nvPr/>
        </p:nvSpPr>
        <p:spPr>
          <a:xfrm>
            <a:off x="8037593" y="2921253"/>
            <a:ext cx="445577" cy="10780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sz="745" b="1">
                <a:solidFill>
                  <a:srgbClr val="6F819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PodGroup</a:t>
            </a:r>
            <a:endParaRPr sz="745" b="1">
              <a:solidFill>
                <a:srgbClr val="6F819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35" name="Shape 27"/>
          <p:cNvSpPr>
            <a:spLocks noGrp="1"/>
          </p:cNvSpPr>
          <p:nvPr/>
        </p:nvSpPr>
        <p:spPr>
          <a:xfrm>
            <a:off x="5953444" y="3391983"/>
            <a:ext cx="2695021" cy="431203"/>
          </a:xfrm>
          <a:prstGeom prst="rect">
            <a:avLst/>
          </a:prstGeom>
          <a:solidFill>
            <a:srgbClr val="FFFFFF"/>
          </a:solidFill>
          <a:ln w="12700">
            <a:solidFill>
              <a:srgbClr val="6F8193"/>
            </a:solidFill>
            <a:prstDash val="solid"/>
          </a:ln>
        </p:spPr>
      </p:sp>
      <p:sp>
        <p:nvSpPr>
          <p:cNvPr id="636" name="Text 28"/>
          <p:cNvSpPr>
            <a:spLocks noGrp="1"/>
          </p:cNvSpPr>
          <p:nvPr/>
        </p:nvSpPr>
        <p:spPr>
          <a:xfrm>
            <a:off x="6046871" y="3456664"/>
            <a:ext cx="790539" cy="14373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sz="745" b="1">
                <a:solidFill>
                  <a:srgbClr val="003F8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Role / Instance</a:t>
            </a:r>
            <a:endParaRPr sz="745" b="1">
              <a:solidFill>
                <a:srgbClr val="003F8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37" name="Text 29"/>
          <p:cNvSpPr>
            <a:spLocks noGrp="1"/>
          </p:cNvSpPr>
          <p:nvPr/>
        </p:nvSpPr>
        <p:spPr>
          <a:xfrm>
            <a:off x="6772531" y="3449677"/>
            <a:ext cx="1178822" cy="1582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sz="745">
                <a:solidFill>
                  <a:srgbClr val="5D6B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Prefill · Decode </a:t>
            </a:r>
            <a:endParaRPr sz="745">
              <a:solidFill>
                <a:srgbClr val="5D6B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38" name="Shape 30"/>
          <p:cNvSpPr>
            <a:spLocks noGrp="1"/>
          </p:cNvSpPr>
          <p:nvPr/>
        </p:nvSpPr>
        <p:spPr>
          <a:xfrm>
            <a:off x="8008846" y="3442290"/>
            <a:ext cx="503071" cy="179668"/>
          </a:xfrm>
          <a:prstGeom prst="rect">
            <a:avLst/>
          </a:prstGeom>
          <a:solidFill>
            <a:srgbClr val="F2F5F8"/>
          </a:solidFill>
          <a:ln w="8890">
            <a:solidFill>
              <a:srgbClr val="6F8193"/>
            </a:solidFill>
            <a:prstDash val="solid"/>
          </a:ln>
        </p:spPr>
      </p:sp>
      <p:sp>
        <p:nvSpPr>
          <p:cNvPr id="639" name="Text 31"/>
          <p:cNvSpPr>
            <a:spLocks noGrp="1"/>
          </p:cNvSpPr>
          <p:nvPr/>
        </p:nvSpPr>
        <p:spPr>
          <a:xfrm>
            <a:off x="8037593" y="3474631"/>
            <a:ext cx="445577" cy="10780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sz="745" b="1">
                <a:solidFill>
                  <a:srgbClr val="6F819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SubGroup</a:t>
            </a:r>
            <a:endParaRPr sz="745" b="1">
              <a:solidFill>
                <a:srgbClr val="6F819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40" name="Shape 32"/>
          <p:cNvSpPr>
            <a:spLocks noGrp="1"/>
          </p:cNvSpPr>
          <p:nvPr/>
        </p:nvSpPr>
        <p:spPr>
          <a:xfrm>
            <a:off x="5953444" y="3945361"/>
            <a:ext cx="2695021" cy="431203"/>
          </a:xfrm>
          <a:prstGeom prst="rect">
            <a:avLst/>
          </a:prstGeom>
          <a:solidFill>
            <a:srgbClr val="FFFFFF"/>
          </a:solidFill>
          <a:ln w="12700">
            <a:solidFill>
              <a:srgbClr val="6F8193"/>
            </a:solidFill>
            <a:prstDash val="solid"/>
          </a:ln>
        </p:spPr>
      </p:sp>
      <p:sp>
        <p:nvSpPr>
          <p:cNvPr id="641" name="Text 33"/>
          <p:cNvSpPr>
            <a:spLocks noGrp="1"/>
          </p:cNvSpPr>
          <p:nvPr/>
        </p:nvSpPr>
        <p:spPr>
          <a:xfrm>
            <a:off x="6046871" y="4010041"/>
            <a:ext cx="790539" cy="14373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sz="745" b="1">
                <a:solidFill>
                  <a:srgbClr val="003F8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Entry / Worker</a:t>
            </a:r>
            <a:endParaRPr sz="745" b="1">
              <a:solidFill>
                <a:srgbClr val="003F8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42" name="Text 34"/>
          <p:cNvSpPr>
            <a:spLocks noGrp="1"/>
          </p:cNvSpPr>
          <p:nvPr/>
        </p:nvSpPr>
        <p:spPr>
          <a:xfrm>
            <a:off x="6837411" y="4002855"/>
            <a:ext cx="1113942" cy="1581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sz="745">
                <a:solidFill>
                  <a:srgbClr val="5D6B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Concrete runtime replicas</a:t>
            </a:r>
            <a:endParaRPr sz="745">
              <a:solidFill>
                <a:srgbClr val="5D6B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43" name="Shape 35"/>
          <p:cNvSpPr>
            <a:spLocks noGrp="1"/>
          </p:cNvSpPr>
          <p:nvPr/>
        </p:nvSpPr>
        <p:spPr>
          <a:xfrm>
            <a:off x="8008846" y="3995668"/>
            <a:ext cx="503071" cy="179668"/>
          </a:xfrm>
          <a:prstGeom prst="rect">
            <a:avLst/>
          </a:prstGeom>
          <a:solidFill>
            <a:srgbClr val="F2F5F8"/>
          </a:solidFill>
          <a:ln w="8890">
            <a:solidFill>
              <a:srgbClr val="6F8193"/>
            </a:solidFill>
            <a:prstDash val="solid"/>
          </a:ln>
        </p:spPr>
      </p:sp>
      <p:sp>
        <p:nvSpPr>
          <p:cNvPr id="644" name="Text 36"/>
          <p:cNvSpPr>
            <a:spLocks noGrp="1"/>
          </p:cNvSpPr>
          <p:nvPr/>
        </p:nvSpPr>
        <p:spPr>
          <a:xfrm>
            <a:off x="8037593" y="4028008"/>
            <a:ext cx="445577" cy="10780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sz="745" b="1">
                <a:solidFill>
                  <a:srgbClr val="6F819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Pod</a:t>
            </a:r>
            <a:endParaRPr sz="745" b="1">
              <a:solidFill>
                <a:srgbClr val="6F819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" name="Google Shape;614;p67"/>
          <p:cNvSpPr>
            <a:spLocks noGrp="1"/>
          </p:cNvSpPr>
          <p:nvPr>
            <p:ph type="title"/>
          </p:nvPr>
        </p:nvSpPr>
        <p:spPr>
          <a:xfrm>
            <a:off x="311700" y="0"/>
            <a:ext cx="6949800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>Serving Scale-Out</a:t>
            </a:r>
          </a:p>
        </p:txBody>
      </p:sp>
      <p:sp>
        <p:nvSpPr>
          <p:cNvPr id="615" name="Rectangle 7"/>
          <p:cNvSpPr>
            <a:spLocks noGrp="1"/>
          </p:cNvSpPr>
          <p:nvPr/>
        </p:nvSpPr>
        <p:spPr>
          <a:xfrm>
            <a:off x="240000" y="1189013"/>
            <a:ext cx="971079" cy="72469"/>
          </a:xfrm>
          <a:prstGeom prst="rect">
            <a:avLst/>
          </a:prstGeom>
          <a:solidFill>
            <a:srgbClr val="EF3C32"/>
          </a:solidFill>
          <a:ln>
            <a:solidFill>
              <a:srgbClr val="EF3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16" name="Connector 8"/>
          <p:cNvSpPr>
            <a:spLocks noGrp="1"/>
          </p:cNvSpPr>
          <p:nvPr/>
        </p:nvSpPr>
        <p:spPr>
          <a:xfrm>
            <a:off x="1211079" y="1225247"/>
            <a:ext cx="7688921" cy="0"/>
          </a:xfrm>
          <a:prstGeom prst="line">
            <a:avLst/>
          </a:prstGeom>
          <a:ln w="10160">
            <a:solidFill>
              <a:srgbClr val="B8C5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617" name="Rectangle 11"/>
          <p:cNvSpPr>
            <a:spLocks noGrp="1"/>
          </p:cNvSpPr>
          <p:nvPr/>
        </p:nvSpPr>
        <p:spPr>
          <a:xfrm>
            <a:off x="268987" y="1341197"/>
            <a:ext cx="8631013" cy="311615"/>
          </a:xfrm>
          <a:prstGeom prst="rect">
            <a:avLst/>
          </a:prstGeom>
          <a:solidFill>
            <a:srgbClr val="FFFFFF"/>
          </a:solidFill>
          <a:ln w="1143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18" name="Rectangle 12"/>
          <p:cNvSpPr>
            <a:spLocks noGrp="1"/>
          </p:cNvSpPr>
          <p:nvPr/>
        </p:nvSpPr>
        <p:spPr>
          <a:xfrm>
            <a:off x="268987" y="1341197"/>
            <a:ext cx="86962" cy="311615"/>
          </a:xfrm>
          <a:prstGeom prst="rect">
            <a:avLst/>
          </a:prstGeom>
          <a:solidFill>
            <a:srgbClr val="EF3C32"/>
          </a:solidFill>
          <a:ln>
            <a:solidFill>
              <a:srgbClr val="EF3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19" name="TextBox 13"/>
          <p:cNvSpPr>
            <a:spLocks noGrp="1"/>
          </p:cNvSpPr>
          <p:nvPr/>
        </p:nvSpPr>
        <p:spPr>
          <a:xfrm>
            <a:off x="457406" y="1406418"/>
            <a:ext cx="8188954" cy="144937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buNone/>
              <a:defRPr sz="705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05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Scale-out first creates real Serving PodGroup demand; queue fairness then reclaims capacity borrowed by training.</a:t>
            </a:r>
            <a:endParaRPr sz="705" b="1">
              <a:solidFill>
                <a:srgbClr val="17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20" name="Rounded Rectangle 14"/>
          <p:cNvSpPr>
            <a:spLocks noGrp="1"/>
          </p:cNvSpPr>
          <p:nvPr/>
        </p:nvSpPr>
        <p:spPr>
          <a:xfrm>
            <a:off x="312469" y="1776008"/>
            <a:ext cx="2572636" cy="15508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21" name="Rounded Rectangle 15"/>
          <p:cNvSpPr>
            <a:spLocks noGrp="1"/>
          </p:cNvSpPr>
          <p:nvPr/>
        </p:nvSpPr>
        <p:spPr>
          <a:xfrm>
            <a:off x="312469" y="1776008"/>
            <a:ext cx="2572636" cy="275381"/>
          </a:xfrm>
          <a:prstGeom prst="roundRect">
            <a:avLst>
              <a:gd name="adj" fmla="val 8000"/>
            </a:avLst>
          </a:prstGeom>
          <a:solidFill>
            <a:srgbClr val="0B5CAD"/>
          </a:solidFill>
          <a:ln w="1016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22" name="TextBox 16"/>
          <p:cNvSpPr>
            <a:spLocks noGrp="1"/>
          </p:cNvSpPr>
          <p:nvPr/>
        </p:nvSpPr>
        <p:spPr>
          <a:xfrm>
            <a:off x="428418" y="1841230"/>
            <a:ext cx="2340736" cy="13044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buNone/>
              <a:defRPr sz="7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01  Kthena creates scale-out demand</a:t>
            </a:r>
            <a:endParaRPr sz="7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23" name="Rounded Rectangle 17"/>
          <p:cNvSpPr>
            <a:spLocks noGrp="1"/>
          </p:cNvSpPr>
          <p:nvPr/>
        </p:nvSpPr>
        <p:spPr>
          <a:xfrm>
            <a:off x="493640" y="2189079"/>
            <a:ext cx="2210293" cy="333356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016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24" name="TextBox 18"/>
          <p:cNvSpPr>
            <a:spLocks noGrp="1"/>
          </p:cNvSpPr>
          <p:nvPr/>
        </p:nvSpPr>
        <p:spPr>
          <a:xfrm>
            <a:off x="566109" y="2232561"/>
            <a:ext cx="2065355" cy="123197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buNone/>
              <a:defRPr sz="700" b="1">
                <a:solidFill>
                  <a:srgbClr val="003F8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00" b="1">
                <a:solidFill>
                  <a:srgbClr val="003F8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Traffic / latency signals</a:t>
            </a:r>
            <a:endParaRPr sz="700" b="1">
              <a:solidFill>
                <a:srgbClr val="003F8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25" name="TextBox 19"/>
          <p:cNvSpPr>
            <a:spLocks noGrp="1"/>
          </p:cNvSpPr>
          <p:nvPr/>
        </p:nvSpPr>
        <p:spPr>
          <a:xfrm>
            <a:off x="566109" y="2370251"/>
            <a:ext cx="2065355" cy="94209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buNone/>
              <a:defRPr sz="700" b="0">
                <a:solidFill>
                  <a:srgbClr val="6678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00" b="0">
                <a:solidFill>
                  <a:srgbClr val="6678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AutoscalingPolicy computes role replicas</a:t>
            </a:r>
            <a:endParaRPr sz="700" b="0">
              <a:solidFill>
                <a:srgbClr val="66788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26" name="Down Arrow 20"/>
          <p:cNvSpPr>
            <a:spLocks noGrp="1"/>
          </p:cNvSpPr>
          <p:nvPr/>
        </p:nvSpPr>
        <p:spPr>
          <a:xfrm>
            <a:off x="1500954" y="2536929"/>
            <a:ext cx="202912" cy="173925"/>
          </a:xfrm>
          <a:prstGeom prst="downArrow">
            <a:avLst/>
          </a:prstGeom>
          <a:solidFill>
            <a:srgbClr val="356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27" name="Rounded Rectangle 21"/>
          <p:cNvSpPr>
            <a:spLocks noGrp="1"/>
          </p:cNvSpPr>
          <p:nvPr/>
        </p:nvSpPr>
        <p:spPr>
          <a:xfrm>
            <a:off x="493640" y="2754335"/>
            <a:ext cx="2210293" cy="333356"/>
          </a:xfrm>
          <a:prstGeom prst="roundRect">
            <a:avLst>
              <a:gd name="adj" fmla="val 8000"/>
            </a:avLst>
          </a:prstGeom>
          <a:solidFill>
            <a:srgbClr val="EAF2FF"/>
          </a:solidFill>
          <a:ln w="1016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28" name="TextBox 22"/>
          <p:cNvSpPr>
            <a:spLocks noGrp="1"/>
          </p:cNvSpPr>
          <p:nvPr/>
        </p:nvSpPr>
        <p:spPr>
          <a:xfrm>
            <a:off x="566109" y="2797816"/>
            <a:ext cx="2065355" cy="123197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buNone/>
              <a:defRPr sz="700" b="1">
                <a:solidFill>
                  <a:srgbClr val="003F8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00" b="1">
                <a:solidFill>
                  <a:srgbClr val="003F8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Increase Prefill / Decode replicas</a:t>
            </a:r>
            <a:endParaRPr sz="700" b="1">
              <a:solidFill>
                <a:srgbClr val="003F8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29" name="TextBox 23"/>
          <p:cNvSpPr>
            <a:spLocks noGrp="1"/>
          </p:cNvSpPr>
          <p:nvPr/>
        </p:nvSpPr>
        <p:spPr>
          <a:xfrm>
            <a:off x="566109" y="2935506"/>
            <a:ext cx="2065355" cy="94209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buNone/>
              <a:defRPr sz="700" b="0">
                <a:solidFill>
                  <a:srgbClr val="6678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00" b="0">
                <a:solidFill>
                  <a:srgbClr val="6678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Update ModelServing and PodGroup</a:t>
            </a:r>
            <a:endParaRPr sz="700" b="0">
              <a:solidFill>
                <a:srgbClr val="66788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30" name="Right Arrow 24"/>
          <p:cNvSpPr>
            <a:spLocks noGrp="1"/>
          </p:cNvSpPr>
          <p:nvPr/>
        </p:nvSpPr>
        <p:spPr>
          <a:xfrm>
            <a:off x="2928585" y="2435473"/>
            <a:ext cx="304368" cy="246393"/>
          </a:xfrm>
          <a:prstGeom prst="rightArrow">
            <a:avLst/>
          </a:prstGeom>
          <a:solidFill>
            <a:srgbClr val="0B5C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31" name="Rounded Rectangle 25"/>
          <p:cNvSpPr>
            <a:spLocks noGrp="1"/>
          </p:cNvSpPr>
          <p:nvPr/>
        </p:nvSpPr>
        <p:spPr>
          <a:xfrm>
            <a:off x="3290929" y="1776008"/>
            <a:ext cx="2572636" cy="15508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356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32" name="Rounded Rectangle 26"/>
          <p:cNvSpPr>
            <a:spLocks noGrp="1"/>
          </p:cNvSpPr>
          <p:nvPr/>
        </p:nvSpPr>
        <p:spPr>
          <a:xfrm>
            <a:off x="3290929" y="1776008"/>
            <a:ext cx="2572636" cy="275381"/>
          </a:xfrm>
          <a:prstGeom prst="roundRect">
            <a:avLst>
              <a:gd name="adj" fmla="val 8000"/>
            </a:avLst>
          </a:prstGeom>
          <a:solidFill>
            <a:srgbClr val="356F9E"/>
          </a:solidFill>
          <a:ln w="10160">
            <a:solidFill>
              <a:srgbClr val="356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33" name="TextBox 27"/>
          <p:cNvSpPr>
            <a:spLocks noGrp="1"/>
          </p:cNvSpPr>
          <p:nvPr/>
        </p:nvSpPr>
        <p:spPr>
          <a:xfrm>
            <a:off x="3406879" y="1841230"/>
            <a:ext cx="2340736" cy="13044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buNone/>
              <a:defRPr sz="7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02  Queue determines capacity return</a:t>
            </a:r>
            <a:endParaRPr sz="7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34" name="Rounded Rectangle 28"/>
          <p:cNvSpPr>
            <a:spLocks noGrp="1"/>
          </p:cNvSpPr>
          <p:nvPr/>
        </p:nvSpPr>
        <p:spPr>
          <a:xfrm>
            <a:off x="3472100" y="2189079"/>
            <a:ext cx="2210293" cy="333356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0160">
            <a:solidFill>
              <a:srgbClr val="356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35" name="TextBox 29"/>
          <p:cNvSpPr>
            <a:spLocks noGrp="1"/>
          </p:cNvSpPr>
          <p:nvPr/>
        </p:nvSpPr>
        <p:spPr>
          <a:xfrm>
            <a:off x="3544568" y="2232561"/>
            <a:ext cx="2065355" cy="123197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buNone/>
              <a:defRPr sz="700" b="1">
                <a:solidFill>
                  <a:srgbClr val="003F8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00" b="1">
                <a:solidFill>
                  <a:srgbClr val="003F8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Serving Queue adds 4 pending GPUs</a:t>
            </a:r>
            <a:endParaRPr sz="700" b="1">
              <a:solidFill>
                <a:srgbClr val="003F8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36" name="TextBox 30"/>
          <p:cNvSpPr>
            <a:spLocks noGrp="1"/>
          </p:cNvSpPr>
          <p:nvPr/>
        </p:nvSpPr>
        <p:spPr>
          <a:xfrm>
            <a:off x="3544568" y="2370251"/>
            <a:ext cx="2065355" cy="94209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buNone/>
              <a:defRPr sz="700" b="0">
                <a:solidFill>
                  <a:srgbClr val="6678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00" b="0">
                <a:solidFill>
                  <a:srgbClr val="6678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Real workload demand enters scheduling</a:t>
            </a:r>
            <a:endParaRPr sz="700" b="0">
              <a:solidFill>
                <a:srgbClr val="66788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37" name="Down Arrow 31"/>
          <p:cNvSpPr>
            <a:spLocks noGrp="1"/>
          </p:cNvSpPr>
          <p:nvPr/>
        </p:nvSpPr>
        <p:spPr>
          <a:xfrm>
            <a:off x="4479414" y="2536929"/>
            <a:ext cx="202912" cy="173925"/>
          </a:xfrm>
          <a:prstGeom prst="downArrow">
            <a:avLst/>
          </a:prstGeom>
          <a:solidFill>
            <a:srgbClr val="356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38" name="Rounded Rectangle 32"/>
          <p:cNvSpPr>
            <a:spLocks noGrp="1"/>
          </p:cNvSpPr>
          <p:nvPr/>
        </p:nvSpPr>
        <p:spPr>
          <a:xfrm>
            <a:off x="3472100" y="2754335"/>
            <a:ext cx="2210293" cy="333356"/>
          </a:xfrm>
          <a:prstGeom prst="roundRect">
            <a:avLst>
              <a:gd name="adj" fmla="val 8000"/>
            </a:avLst>
          </a:prstGeom>
          <a:solidFill>
            <a:srgbClr val="EAF2FF"/>
          </a:solidFill>
          <a:ln w="10160">
            <a:solidFill>
              <a:srgbClr val="356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39" name="TextBox 33"/>
          <p:cNvSpPr>
            <a:spLocks noGrp="1"/>
          </p:cNvSpPr>
          <p:nvPr/>
        </p:nvSpPr>
        <p:spPr>
          <a:xfrm>
            <a:off x="3544568" y="2797816"/>
            <a:ext cx="2065355" cy="123197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buNone/>
              <a:defRPr sz="700" b="1">
                <a:solidFill>
                  <a:srgbClr val="003F8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Serving 2 &lt; Deserved 6</a:t>
            </a:r>
          </a:p>
        </p:txBody>
      </p:sp>
      <p:sp>
        <p:nvSpPr>
          <p:cNvPr id="640" name="TextBox 34"/>
          <p:cNvSpPr>
            <a:spLocks noGrp="1"/>
          </p:cNvSpPr>
          <p:nvPr/>
        </p:nvSpPr>
        <p:spPr>
          <a:xfrm>
            <a:off x="3544568" y="2935506"/>
            <a:ext cx="2065355" cy="94209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buNone/>
              <a:defRPr sz="700" b="0">
                <a:solidFill>
                  <a:srgbClr val="6678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00" b="0">
                <a:solidFill>
                  <a:srgbClr val="6678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Training 10 &gt; deserved 6: return 4 GPUs</a:t>
            </a:r>
            <a:endParaRPr sz="700" b="0">
              <a:solidFill>
                <a:srgbClr val="66788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41" name="Right Arrow 35"/>
          <p:cNvSpPr>
            <a:spLocks noGrp="1"/>
          </p:cNvSpPr>
          <p:nvPr/>
        </p:nvSpPr>
        <p:spPr>
          <a:xfrm>
            <a:off x="5907046" y="2435473"/>
            <a:ext cx="304368" cy="246393"/>
          </a:xfrm>
          <a:prstGeom prst="rightArrow">
            <a:avLst/>
          </a:prstGeom>
          <a:solidFill>
            <a:srgbClr val="0B5C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42" name="Rounded Rectangle 36"/>
          <p:cNvSpPr>
            <a:spLocks noGrp="1"/>
          </p:cNvSpPr>
          <p:nvPr/>
        </p:nvSpPr>
        <p:spPr>
          <a:xfrm>
            <a:off x="6269389" y="1776008"/>
            <a:ext cx="2572636" cy="15508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3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43" name="Rounded Rectangle 37"/>
          <p:cNvSpPr>
            <a:spLocks noGrp="1"/>
          </p:cNvSpPr>
          <p:nvPr/>
        </p:nvSpPr>
        <p:spPr>
          <a:xfrm>
            <a:off x="6269389" y="1776008"/>
            <a:ext cx="2572636" cy="275381"/>
          </a:xfrm>
          <a:prstGeom prst="roundRect">
            <a:avLst>
              <a:gd name="adj" fmla="val 8000"/>
            </a:avLst>
          </a:prstGeom>
          <a:solidFill>
            <a:srgbClr val="003F8F"/>
          </a:solidFill>
          <a:ln w="10160">
            <a:solidFill>
              <a:srgbClr val="003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44" name="TextBox 38"/>
          <p:cNvSpPr>
            <a:spLocks noGrp="1"/>
          </p:cNvSpPr>
          <p:nvPr/>
        </p:nvSpPr>
        <p:spPr>
          <a:xfrm>
            <a:off x="6385339" y="1841230"/>
            <a:ext cx="2340736" cy="13044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buNone/>
              <a:defRPr sz="7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03  Volcano reclaims and places as a whole</a:t>
            </a:r>
            <a:endParaRPr sz="7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45" name="Rounded Rectangle 39"/>
          <p:cNvSpPr>
            <a:spLocks noGrp="1"/>
          </p:cNvSpPr>
          <p:nvPr/>
        </p:nvSpPr>
        <p:spPr>
          <a:xfrm>
            <a:off x="6450561" y="2138351"/>
            <a:ext cx="2210293" cy="333356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0160">
            <a:solidFill>
              <a:srgbClr val="003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46" name="TextBox 40"/>
          <p:cNvSpPr>
            <a:spLocks noGrp="1"/>
          </p:cNvSpPr>
          <p:nvPr/>
        </p:nvSpPr>
        <p:spPr>
          <a:xfrm>
            <a:off x="6523029" y="2181833"/>
            <a:ext cx="2065355" cy="123197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buNone/>
              <a:defRPr sz="700" b="1">
                <a:solidFill>
                  <a:srgbClr val="003F8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00" b="1">
                <a:solidFill>
                  <a:srgbClr val="003F8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Select one complete victim job</a:t>
            </a:r>
            <a:endParaRPr sz="700" b="1">
              <a:solidFill>
                <a:srgbClr val="003F8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47" name="TextBox 41"/>
          <p:cNvSpPr>
            <a:spLocks noGrp="1"/>
          </p:cNvSpPr>
          <p:nvPr/>
        </p:nvSpPr>
        <p:spPr>
          <a:xfrm>
            <a:off x="6523029" y="2319523"/>
            <a:ext cx="2065355" cy="94209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buNone/>
              <a:defRPr sz="700" b="0">
                <a:solidFill>
                  <a:srgbClr val="6678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00" b="0">
                <a:solidFill>
                  <a:srgbClr val="6678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Training returns 4 GPUs</a:t>
            </a:r>
            <a:endParaRPr sz="700" b="0">
              <a:solidFill>
                <a:srgbClr val="66788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48" name="Down Arrow 42"/>
          <p:cNvSpPr>
            <a:spLocks noGrp="1"/>
          </p:cNvSpPr>
          <p:nvPr/>
        </p:nvSpPr>
        <p:spPr>
          <a:xfrm>
            <a:off x="7457874" y="2486201"/>
            <a:ext cx="202912" cy="159431"/>
          </a:xfrm>
          <a:prstGeom prst="downArrow">
            <a:avLst/>
          </a:prstGeom>
          <a:solidFill>
            <a:srgbClr val="356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49" name="Rounded Rectangle 43"/>
          <p:cNvSpPr>
            <a:spLocks noGrp="1"/>
          </p:cNvSpPr>
          <p:nvPr/>
        </p:nvSpPr>
        <p:spPr>
          <a:xfrm>
            <a:off x="6450561" y="2689113"/>
            <a:ext cx="2210293" cy="333356"/>
          </a:xfrm>
          <a:prstGeom prst="roundRect">
            <a:avLst>
              <a:gd name="adj" fmla="val 8000"/>
            </a:avLst>
          </a:prstGeom>
          <a:solidFill>
            <a:srgbClr val="EAF2FF"/>
          </a:solidFill>
          <a:ln w="10160">
            <a:solidFill>
              <a:srgbClr val="003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50" name="TextBox 44"/>
          <p:cNvSpPr>
            <a:spLocks noGrp="1"/>
          </p:cNvSpPr>
          <p:nvPr/>
        </p:nvSpPr>
        <p:spPr>
          <a:xfrm>
            <a:off x="6523029" y="2732594"/>
            <a:ext cx="2065355" cy="123197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buNone/>
              <a:defRPr sz="700" b="1">
                <a:solidFill>
                  <a:srgbClr val="003F8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SubGroupPolicy + HyperNode</a:t>
            </a:r>
          </a:p>
        </p:txBody>
      </p:sp>
      <p:sp>
        <p:nvSpPr>
          <p:cNvPr id="651" name="TextBox 45"/>
          <p:cNvSpPr>
            <a:spLocks noGrp="1"/>
          </p:cNvSpPr>
          <p:nvPr/>
        </p:nvSpPr>
        <p:spPr>
          <a:xfrm>
            <a:off x="6523029" y="2870285"/>
            <a:ext cx="2065355" cy="94209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buNone/>
              <a:defRPr sz="700" b="0">
                <a:solidFill>
                  <a:srgbClr val="6678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00" b="0">
                <a:solidFill>
                  <a:srgbClr val="6678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Place by role group and network topology</a:t>
            </a:r>
            <a:endParaRPr sz="700" b="0">
              <a:solidFill>
                <a:srgbClr val="66788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52" name="TextBox 46"/>
          <p:cNvSpPr>
            <a:spLocks noGrp="1"/>
          </p:cNvSpPr>
          <p:nvPr/>
        </p:nvSpPr>
        <p:spPr>
          <a:xfrm>
            <a:off x="341456" y="3450033"/>
            <a:ext cx="1884184" cy="144937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buNone/>
              <a:defRPr sz="700" b="1">
                <a:solidFill>
                  <a:srgbClr val="003F8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00" b="1">
                <a:solidFill>
                  <a:srgbClr val="003F8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Shared GPU pool state</a:t>
            </a:r>
            <a:endParaRPr sz="700" b="1">
              <a:solidFill>
                <a:srgbClr val="003F8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53" name="Rounded Rectangle 47"/>
          <p:cNvSpPr>
            <a:spLocks noGrp="1"/>
          </p:cNvSpPr>
          <p:nvPr/>
        </p:nvSpPr>
        <p:spPr>
          <a:xfrm>
            <a:off x="312469" y="3681933"/>
            <a:ext cx="2862510" cy="8406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B8C5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54" name="TextBox 48"/>
          <p:cNvSpPr>
            <a:spLocks noGrp="1"/>
          </p:cNvSpPr>
          <p:nvPr/>
        </p:nvSpPr>
        <p:spPr>
          <a:xfrm>
            <a:off x="428418" y="3761649"/>
            <a:ext cx="1101523" cy="144937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buNone/>
              <a:defRPr sz="700" b="1">
                <a:solidFill>
                  <a:srgbClr val="003F8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00" b="1">
                <a:solidFill>
                  <a:srgbClr val="003F8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T0 | Low serving load</a:t>
            </a:r>
            <a:endParaRPr sz="700" b="1">
              <a:solidFill>
                <a:srgbClr val="003F8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55" name="Rectangle 49"/>
          <p:cNvSpPr>
            <a:spLocks noGrp="1"/>
          </p:cNvSpPr>
          <p:nvPr/>
        </p:nvSpPr>
        <p:spPr>
          <a:xfrm>
            <a:off x="442912" y="3993548"/>
            <a:ext cx="202912" cy="202912"/>
          </a:xfrm>
          <a:prstGeom prst="rect">
            <a:avLst/>
          </a:prstGeom>
          <a:solidFill>
            <a:srgbClr val="EAF2FF"/>
          </a:solidFill>
          <a:ln w="889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56" name="Rectangle 50"/>
          <p:cNvSpPr>
            <a:spLocks noGrp="1"/>
          </p:cNvSpPr>
          <p:nvPr/>
        </p:nvSpPr>
        <p:spPr>
          <a:xfrm>
            <a:off x="703799" y="3993548"/>
            <a:ext cx="202912" cy="202912"/>
          </a:xfrm>
          <a:prstGeom prst="rect">
            <a:avLst/>
          </a:prstGeom>
          <a:solidFill>
            <a:srgbClr val="EAF2FF"/>
          </a:solidFill>
          <a:ln w="889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57" name="Rectangle 51"/>
          <p:cNvSpPr>
            <a:spLocks noGrp="1"/>
          </p:cNvSpPr>
          <p:nvPr/>
        </p:nvSpPr>
        <p:spPr>
          <a:xfrm>
            <a:off x="964686" y="3993548"/>
            <a:ext cx="202912" cy="202912"/>
          </a:xfrm>
          <a:prstGeom prst="rect">
            <a:avLst/>
          </a:prstGeom>
          <a:solidFill>
            <a:srgbClr val="EEF2F6"/>
          </a:solidFill>
          <a:ln w="8890">
            <a:solidFill>
              <a:srgbClr val="71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58" name="Rectangle 52"/>
          <p:cNvSpPr>
            <a:spLocks noGrp="1"/>
          </p:cNvSpPr>
          <p:nvPr/>
        </p:nvSpPr>
        <p:spPr>
          <a:xfrm>
            <a:off x="1225573" y="3993548"/>
            <a:ext cx="202912" cy="202912"/>
          </a:xfrm>
          <a:prstGeom prst="rect">
            <a:avLst/>
          </a:prstGeom>
          <a:solidFill>
            <a:srgbClr val="EEF2F6"/>
          </a:solidFill>
          <a:ln w="8890">
            <a:solidFill>
              <a:srgbClr val="71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59" name="Rectangle 53"/>
          <p:cNvSpPr>
            <a:spLocks noGrp="1"/>
          </p:cNvSpPr>
          <p:nvPr/>
        </p:nvSpPr>
        <p:spPr>
          <a:xfrm>
            <a:off x="1486460" y="3993548"/>
            <a:ext cx="202912" cy="202912"/>
          </a:xfrm>
          <a:prstGeom prst="rect">
            <a:avLst/>
          </a:prstGeom>
          <a:solidFill>
            <a:srgbClr val="EEF2F6"/>
          </a:solidFill>
          <a:ln w="8890">
            <a:solidFill>
              <a:srgbClr val="71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60" name="Rectangle 54"/>
          <p:cNvSpPr>
            <a:spLocks noGrp="1"/>
          </p:cNvSpPr>
          <p:nvPr/>
        </p:nvSpPr>
        <p:spPr>
          <a:xfrm>
            <a:off x="1747347" y="3993548"/>
            <a:ext cx="202912" cy="202912"/>
          </a:xfrm>
          <a:prstGeom prst="rect">
            <a:avLst/>
          </a:prstGeom>
          <a:solidFill>
            <a:srgbClr val="EEF2F6"/>
          </a:solidFill>
          <a:ln w="8890">
            <a:solidFill>
              <a:srgbClr val="71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61" name="Rectangle 55"/>
          <p:cNvSpPr>
            <a:spLocks noGrp="1"/>
          </p:cNvSpPr>
          <p:nvPr/>
        </p:nvSpPr>
        <p:spPr>
          <a:xfrm>
            <a:off x="442912" y="4268929"/>
            <a:ext cx="202912" cy="202912"/>
          </a:xfrm>
          <a:prstGeom prst="rect">
            <a:avLst/>
          </a:prstGeom>
          <a:solidFill>
            <a:srgbClr val="EEF2F6"/>
          </a:solidFill>
          <a:ln w="8890">
            <a:solidFill>
              <a:srgbClr val="71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62" name="Rectangle 56"/>
          <p:cNvSpPr>
            <a:spLocks noGrp="1"/>
          </p:cNvSpPr>
          <p:nvPr/>
        </p:nvSpPr>
        <p:spPr>
          <a:xfrm>
            <a:off x="703799" y="4268929"/>
            <a:ext cx="202912" cy="202912"/>
          </a:xfrm>
          <a:prstGeom prst="rect">
            <a:avLst/>
          </a:prstGeom>
          <a:solidFill>
            <a:srgbClr val="EEF2F6"/>
          </a:solidFill>
          <a:ln w="8890">
            <a:solidFill>
              <a:srgbClr val="71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63" name="Rectangle 57"/>
          <p:cNvSpPr>
            <a:spLocks noGrp="1"/>
          </p:cNvSpPr>
          <p:nvPr/>
        </p:nvSpPr>
        <p:spPr>
          <a:xfrm>
            <a:off x="964686" y="4268929"/>
            <a:ext cx="202912" cy="202912"/>
          </a:xfrm>
          <a:prstGeom prst="rect">
            <a:avLst/>
          </a:prstGeom>
          <a:solidFill>
            <a:srgbClr val="EEF2F6"/>
          </a:solidFill>
          <a:ln w="8890">
            <a:solidFill>
              <a:srgbClr val="71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64" name="Rectangle 58"/>
          <p:cNvSpPr>
            <a:spLocks noGrp="1"/>
          </p:cNvSpPr>
          <p:nvPr/>
        </p:nvSpPr>
        <p:spPr>
          <a:xfrm>
            <a:off x="1225573" y="4268929"/>
            <a:ext cx="202912" cy="202912"/>
          </a:xfrm>
          <a:prstGeom prst="rect">
            <a:avLst/>
          </a:prstGeom>
          <a:solidFill>
            <a:srgbClr val="EEF2F6"/>
          </a:solidFill>
          <a:ln w="8890">
            <a:solidFill>
              <a:srgbClr val="71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65" name="Rectangle 59"/>
          <p:cNvSpPr>
            <a:spLocks noGrp="1"/>
          </p:cNvSpPr>
          <p:nvPr/>
        </p:nvSpPr>
        <p:spPr>
          <a:xfrm>
            <a:off x="1486460" y="4268929"/>
            <a:ext cx="202912" cy="202912"/>
          </a:xfrm>
          <a:prstGeom prst="rect">
            <a:avLst/>
          </a:prstGeom>
          <a:solidFill>
            <a:srgbClr val="EEF2F6"/>
          </a:solidFill>
          <a:ln w="8890">
            <a:solidFill>
              <a:srgbClr val="71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66" name="Rectangle 60"/>
          <p:cNvSpPr>
            <a:spLocks noGrp="1"/>
          </p:cNvSpPr>
          <p:nvPr/>
        </p:nvSpPr>
        <p:spPr>
          <a:xfrm>
            <a:off x="1747347" y="4268929"/>
            <a:ext cx="202912" cy="202912"/>
          </a:xfrm>
          <a:prstGeom prst="rect">
            <a:avLst/>
          </a:prstGeom>
          <a:solidFill>
            <a:srgbClr val="EEF2F6"/>
          </a:solidFill>
          <a:ln w="8890">
            <a:solidFill>
              <a:srgbClr val="71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67" name="TextBox 61"/>
          <p:cNvSpPr>
            <a:spLocks noGrp="1"/>
          </p:cNvSpPr>
          <p:nvPr/>
        </p:nvSpPr>
        <p:spPr>
          <a:xfrm>
            <a:off x="2138678" y="3935573"/>
            <a:ext cx="760921" cy="11595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buNone/>
              <a:defRPr sz="700" b="1">
                <a:solidFill>
                  <a:srgbClr val="0B5CA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Serving 2</a:t>
            </a:r>
          </a:p>
        </p:txBody>
      </p:sp>
      <p:sp>
        <p:nvSpPr>
          <p:cNvPr id="668" name="TextBox 62"/>
          <p:cNvSpPr>
            <a:spLocks noGrp="1"/>
          </p:cNvSpPr>
          <p:nvPr/>
        </p:nvSpPr>
        <p:spPr>
          <a:xfrm>
            <a:off x="2138678" y="4123992"/>
            <a:ext cx="797155" cy="11595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buNone/>
              <a:defRPr sz="700" b="1">
                <a:solidFill>
                  <a:srgbClr val="71809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Training 10</a:t>
            </a:r>
          </a:p>
        </p:txBody>
      </p:sp>
      <p:sp>
        <p:nvSpPr>
          <p:cNvPr id="669" name="TextBox 63"/>
          <p:cNvSpPr>
            <a:spLocks noGrp="1"/>
          </p:cNvSpPr>
          <p:nvPr/>
        </p:nvSpPr>
        <p:spPr>
          <a:xfrm>
            <a:off x="2138678" y="4312410"/>
            <a:ext cx="855130" cy="101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buNone/>
              <a:defRPr sz="700" b="0">
                <a:solidFill>
                  <a:srgbClr val="6678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00" b="0">
                <a:solidFill>
                  <a:srgbClr val="6678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Training borrows 4</a:t>
            </a:r>
            <a:endParaRPr sz="700" b="0">
              <a:solidFill>
                <a:srgbClr val="66788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70" name="Right Arrow 64"/>
          <p:cNvSpPr>
            <a:spLocks noGrp="1"/>
          </p:cNvSpPr>
          <p:nvPr/>
        </p:nvSpPr>
        <p:spPr>
          <a:xfrm>
            <a:off x="3319916" y="3950067"/>
            <a:ext cx="550762" cy="260887"/>
          </a:xfrm>
          <a:prstGeom prst="rightArrow">
            <a:avLst/>
          </a:prstGeom>
          <a:solidFill>
            <a:srgbClr val="0B5C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71" name="TextBox 65"/>
          <p:cNvSpPr>
            <a:spLocks noGrp="1"/>
          </p:cNvSpPr>
          <p:nvPr/>
        </p:nvSpPr>
        <p:spPr>
          <a:xfrm>
            <a:off x="3218460" y="4268929"/>
            <a:ext cx="753674" cy="101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buNone/>
              <a:defRPr sz="700" b="1">
                <a:solidFill>
                  <a:srgbClr val="003F8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00" b="1">
                <a:solidFill>
                  <a:srgbClr val="003F8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Return 4 GPUs</a:t>
            </a:r>
            <a:endParaRPr sz="700" b="1">
              <a:solidFill>
                <a:srgbClr val="003F8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72" name="Rounded Rectangle 66"/>
          <p:cNvSpPr>
            <a:spLocks noGrp="1"/>
          </p:cNvSpPr>
          <p:nvPr/>
        </p:nvSpPr>
        <p:spPr>
          <a:xfrm>
            <a:off x="4109824" y="3681933"/>
            <a:ext cx="2862510" cy="8406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B8C5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73" name="TextBox 67"/>
          <p:cNvSpPr>
            <a:spLocks noGrp="1"/>
          </p:cNvSpPr>
          <p:nvPr/>
        </p:nvSpPr>
        <p:spPr>
          <a:xfrm>
            <a:off x="4225774" y="3761649"/>
            <a:ext cx="1101523" cy="144937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buNone/>
              <a:defRPr sz="700" b="1">
                <a:solidFill>
                  <a:srgbClr val="003F8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00" b="1">
                <a:solidFill>
                  <a:srgbClr val="003F8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T1 | Scale-out complete</a:t>
            </a:r>
            <a:endParaRPr sz="700" b="1">
              <a:solidFill>
                <a:srgbClr val="003F8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74" name="Rectangle 68"/>
          <p:cNvSpPr>
            <a:spLocks noGrp="1"/>
          </p:cNvSpPr>
          <p:nvPr/>
        </p:nvSpPr>
        <p:spPr>
          <a:xfrm>
            <a:off x="4240267" y="3993548"/>
            <a:ext cx="202912" cy="202912"/>
          </a:xfrm>
          <a:prstGeom prst="rect">
            <a:avLst/>
          </a:prstGeom>
          <a:solidFill>
            <a:srgbClr val="EAF2FF"/>
          </a:solidFill>
          <a:ln w="889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75" name="Rectangle 69"/>
          <p:cNvSpPr>
            <a:spLocks noGrp="1"/>
          </p:cNvSpPr>
          <p:nvPr/>
        </p:nvSpPr>
        <p:spPr>
          <a:xfrm>
            <a:off x="4501155" y="3993548"/>
            <a:ext cx="202912" cy="202912"/>
          </a:xfrm>
          <a:prstGeom prst="rect">
            <a:avLst/>
          </a:prstGeom>
          <a:solidFill>
            <a:srgbClr val="EAF2FF"/>
          </a:solidFill>
          <a:ln w="889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76" name="Rectangle 70"/>
          <p:cNvSpPr>
            <a:spLocks noGrp="1"/>
          </p:cNvSpPr>
          <p:nvPr/>
        </p:nvSpPr>
        <p:spPr>
          <a:xfrm>
            <a:off x="4762041" y="3993548"/>
            <a:ext cx="202912" cy="202912"/>
          </a:xfrm>
          <a:prstGeom prst="rect">
            <a:avLst/>
          </a:prstGeom>
          <a:solidFill>
            <a:srgbClr val="EAF2FF"/>
          </a:solidFill>
          <a:ln w="889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77" name="Rectangle 71"/>
          <p:cNvSpPr>
            <a:spLocks noGrp="1"/>
          </p:cNvSpPr>
          <p:nvPr/>
        </p:nvSpPr>
        <p:spPr>
          <a:xfrm>
            <a:off x="5022928" y="3993548"/>
            <a:ext cx="202912" cy="202912"/>
          </a:xfrm>
          <a:prstGeom prst="rect">
            <a:avLst/>
          </a:prstGeom>
          <a:solidFill>
            <a:srgbClr val="EAF2FF"/>
          </a:solidFill>
          <a:ln w="889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78" name="Rectangle 72"/>
          <p:cNvSpPr>
            <a:spLocks noGrp="1"/>
          </p:cNvSpPr>
          <p:nvPr/>
        </p:nvSpPr>
        <p:spPr>
          <a:xfrm>
            <a:off x="5283816" y="3993548"/>
            <a:ext cx="202912" cy="202912"/>
          </a:xfrm>
          <a:prstGeom prst="rect">
            <a:avLst/>
          </a:prstGeom>
          <a:solidFill>
            <a:srgbClr val="EAF2FF"/>
          </a:solidFill>
          <a:ln w="889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79" name="Rectangle 73"/>
          <p:cNvSpPr>
            <a:spLocks noGrp="1"/>
          </p:cNvSpPr>
          <p:nvPr/>
        </p:nvSpPr>
        <p:spPr>
          <a:xfrm>
            <a:off x="5544703" y="3993548"/>
            <a:ext cx="202912" cy="202912"/>
          </a:xfrm>
          <a:prstGeom prst="rect">
            <a:avLst/>
          </a:prstGeom>
          <a:solidFill>
            <a:srgbClr val="EAF2FF"/>
          </a:solidFill>
          <a:ln w="889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80" name="Rectangle 74"/>
          <p:cNvSpPr>
            <a:spLocks noGrp="1"/>
          </p:cNvSpPr>
          <p:nvPr/>
        </p:nvSpPr>
        <p:spPr>
          <a:xfrm>
            <a:off x="4240267" y="4268929"/>
            <a:ext cx="202912" cy="202912"/>
          </a:xfrm>
          <a:prstGeom prst="rect">
            <a:avLst/>
          </a:prstGeom>
          <a:solidFill>
            <a:srgbClr val="EEF2F6"/>
          </a:solidFill>
          <a:ln w="8890">
            <a:solidFill>
              <a:srgbClr val="71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81" name="Rectangle 75"/>
          <p:cNvSpPr>
            <a:spLocks noGrp="1"/>
          </p:cNvSpPr>
          <p:nvPr/>
        </p:nvSpPr>
        <p:spPr>
          <a:xfrm>
            <a:off x="4501155" y="4268929"/>
            <a:ext cx="202912" cy="202912"/>
          </a:xfrm>
          <a:prstGeom prst="rect">
            <a:avLst/>
          </a:prstGeom>
          <a:solidFill>
            <a:srgbClr val="EEF2F6"/>
          </a:solidFill>
          <a:ln w="8890">
            <a:solidFill>
              <a:srgbClr val="71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82" name="Rectangle 76"/>
          <p:cNvSpPr>
            <a:spLocks noGrp="1"/>
          </p:cNvSpPr>
          <p:nvPr/>
        </p:nvSpPr>
        <p:spPr>
          <a:xfrm>
            <a:off x="4762041" y="4268929"/>
            <a:ext cx="202912" cy="202912"/>
          </a:xfrm>
          <a:prstGeom prst="rect">
            <a:avLst/>
          </a:prstGeom>
          <a:solidFill>
            <a:srgbClr val="EEF2F6"/>
          </a:solidFill>
          <a:ln w="8890">
            <a:solidFill>
              <a:srgbClr val="71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83" name="Rectangle 77"/>
          <p:cNvSpPr>
            <a:spLocks noGrp="1"/>
          </p:cNvSpPr>
          <p:nvPr/>
        </p:nvSpPr>
        <p:spPr>
          <a:xfrm>
            <a:off x="5022928" y="4268929"/>
            <a:ext cx="202912" cy="202912"/>
          </a:xfrm>
          <a:prstGeom prst="rect">
            <a:avLst/>
          </a:prstGeom>
          <a:solidFill>
            <a:srgbClr val="EEF2F6"/>
          </a:solidFill>
          <a:ln w="8890">
            <a:solidFill>
              <a:srgbClr val="71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84" name="Rectangle 78"/>
          <p:cNvSpPr>
            <a:spLocks noGrp="1"/>
          </p:cNvSpPr>
          <p:nvPr/>
        </p:nvSpPr>
        <p:spPr>
          <a:xfrm>
            <a:off x="5283816" y="4268929"/>
            <a:ext cx="202912" cy="202912"/>
          </a:xfrm>
          <a:prstGeom prst="rect">
            <a:avLst/>
          </a:prstGeom>
          <a:solidFill>
            <a:srgbClr val="EEF2F6"/>
          </a:solidFill>
          <a:ln w="8890">
            <a:solidFill>
              <a:srgbClr val="71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85" name="Rectangle 79"/>
          <p:cNvSpPr>
            <a:spLocks noGrp="1"/>
          </p:cNvSpPr>
          <p:nvPr/>
        </p:nvSpPr>
        <p:spPr>
          <a:xfrm>
            <a:off x="5544703" y="4268929"/>
            <a:ext cx="202912" cy="202912"/>
          </a:xfrm>
          <a:prstGeom prst="rect">
            <a:avLst/>
          </a:prstGeom>
          <a:solidFill>
            <a:srgbClr val="EEF2F6"/>
          </a:solidFill>
          <a:ln w="8890">
            <a:solidFill>
              <a:srgbClr val="71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86" name="TextBox 80"/>
          <p:cNvSpPr>
            <a:spLocks noGrp="1"/>
          </p:cNvSpPr>
          <p:nvPr/>
        </p:nvSpPr>
        <p:spPr>
          <a:xfrm>
            <a:off x="5936033" y="3935573"/>
            <a:ext cx="760921" cy="11595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buNone/>
              <a:defRPr sz="700" b="1">
                <a:solidFill>
                  <a:srgbClr val="0B5CA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Serving 6</a:t>
            </a:r>
          </a:p>
        </p:txBody>
      </p:sp>
      <p:sp>
        <p:nvSpPr>
          <p:cNvPr id="687" name="TextBox 81"/>
          <p:cNvSpPr>
            <a:spLocks noGrp="1"/>
          </p:cNvSpPr>
          <p:nvPr/>
        </p:nvSpPr>
        <p:spPr>
          <a:xfrm>
            <a:off x="5936033" y="4123992"/>
            <a:ext cx="797155" cy="11595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buNone/>
              <a:defRPr sz="700" b="1">
                <a:solidFill>
                  <a:srgbClr val="71809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Training 6</a:t>
            </a:r>
          </a:p>
        </p:txBody>
      </p:sp>
      <p:sp>
        <p:nvSpPr>
          <p:cNvPr id="688" name="TextBox 82"/>
          <p:cNvSpPr>
            <a:spLocks noGrp="1"/>
          </p:cNvSpPr>
          <p:nvPr/>
        </p:nvSpPr>
        <p:spPr>
          <a:xfrm>
            <a:off x="5936033" y="4312410"/>
            <a:ext cx="855130" cy="101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buNone/>
              <a:defRPr sz="700" b="0">
                <a:solidFill>
                  <a:srgbClr val="6678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00" b="0">
                <a:solidFill>
                  <a:srgbClr val="6678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Both return to deserved share</a:t>
            </a:r>
            <a:endParaRPr sz="700" b="0">
              <a:solidFill>
                <a:srgbClr val="66788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89" name="Rounded Rectangle 83"/>
          <p:cNvSpPr>
            <a:spLocks noGrp="1"/>
          </p:cNvSpPr>
          <p:nvPr/>
        </p:nvSpPr>
        <p:spPr>
          <a:xfrm>
            <a:off x="7168000" y="3681933"/>
            <a:ext cx="1492854" cy="840636"/>
          </a:xfrm>
          <a:prstGeom prst="roundRect">
            <a:avLst>
              <a:gd name="adj" fmla="val 8000"/>
            </a:avLst>
          </a:prstGeom>
          <a:solidFill>
            <a:srgbClr val="EAF4F4"/>
          </a:solidFill>
          <a:ln w="11430">
            <a:solidFill>
              <a:srgbClr val="2B6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90" name="TextBox 84"/>
          <p:cNvSpPr>
            <a:spLocks noGrp="1"/>
          </p:cNvSpPr>
          <p:nvPr/>
        </p:nvSpPr>
        <p:spPr>
          <a:xfrm>
            <a:off x="7320184" y="3783389"/>
            <a:ext cx="1188485" cy="144937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buNone/>
              <a:defRPr sz="700" b="1">
                <a:solidFill>
                  <a:srgbClr val="2B6F7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00" b="1">
                <a:solidFill>
                  <a:srgbClr val="2B6F7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On scale-in</a:t>
            </a:r>
            <a:endParaRPr sz="700" b="1">
              <a:solidFill>
                <a:srgbClr val="2B6F7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91" name="TextBox 85"/>
          <p:cNvSpPr>
            <a:spLocks noGrp="1"/>
          </p:cNvSpPr>
          <p:nvPr/>
        </p:nvSpPr>
        <p:spPr>
          <a:xfrm>
            <a:off x="7320184" y="3993548"/>
            <a:ext cx="1188485" cy="391331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buNone/>
              <a:defRPr sz="700" b="0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00" b="0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Serving releases capacity
Training / Batch may borrow again</a:t>
            </a:r>
            <a:endParaRPr sz="700" b="0">
              <a:solidFill>
                <a:srgbClr val="17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92" name="Connector 86"/>
          <p:cNvSpPr>
            <a:spLocks noGrp="1"/>
          </p:cNvSpPr>
          <p:nvPr/>
        </p:nvSpPr>
        <p:spPr>
          <a:xfrm>
            <a:off x="7907180" y="4529816"/>
            <a:ext cx="0" cy="173925"/>
          </a:xfrm>
          <a:prstGeom prst="line">
            <a:avLst/>
          </a:prstGeom>
          <a:ln w="13970">
            <a:solidFill>
              <a:srgbClr val="2B6F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693" name="Connector 87"/>
          <p:cNvSpPr>
            <a:spLocks noGrp="1"/>
          </p:cNvSpPr>
          <p:nvPr/>
        </p:nvSpPr>
        <p:spPr>
          <a:xfrm flipH="1">
            <a:off x="1740100" y="4703741"/>
            <a:ext cx="6167079" cy="0"/>
          </a:xfrm>
          <a:prstGeom prst="line">
            <a:avLst/>
          </a:prstGeom>
          <a:ln w="13970">
            <a:solidFill>
              <a:srgbClr val="2B6F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694" name="Up Arrow 88"/>
          <p:cNvSpPr>
            <a:spLocks noGrp="1"/>
          </p:cNvSpPr>
          <p:nvPr/>
        </p:nvSpPr>
        <p:spPr>
          <a:xfrm>
            <a:off x="1616904" y="4529816"/>
            <a:ext cx="246393" cy="181172"/>
          </a:xfrm>
          <a:prstGeom prst="upArrow">
            <a:avLst/>
          </a:prstGeom>
          <a:solidFill>
            <a:srgbClr val="2B6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95" name="TextBox 89"/>
          <p:cNvSpPr>
            <a:spLocks noGrp="1"/>
          </p:cNvSpPr>
          <p:nvPr/>
        </p:nvSpPr>
        <p:spPr>
          <a:xfrm>
            <a:off x="4262008" y="4587791"/>
            <a:ext cx="1420385" cy="101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buNone/>
              <a:defRPr sz="700" b="1">
                <a:solidFill>
                  <a:srgbClr val="2B6F7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00" b="1">
                <a:solidFill>
                  <a:srgbClr val="2B6F7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Release; borrow again</a:t>
            </a:r>
            <a:endParaRPr sz="700" b="1">
              <a:solidFill>
                <a:srgbClr val="2B6F7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" name="Google Shape;614;p67"/>
          <p:cNvSpPr>
            <a:spLocks noGrp="1"/>
          </p:cNvSpPr>
          <p:nvPr>
            <p:ph type="title"/>
          </p:nvPr>
        </p:nvSpPr>
        <p:spPr>
          <a:xfrm>
            <a:off x="311700" y="0"/>
            <a:ext cx="6949800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>Prefill–Decode Disaggregation</a:t>
            </a:r>
          </a:p>
        </p:txBody>
      </p:sp>
      <p:sp>
        <p:nvSpPr>
          <p:cNvPr id="615" name="Google Shape;646;p22"/>
          <p:cNvSpPr>
            <a:spLocks noGrp="1"/>
          </p:cNvSpPr>
          <p:nvPr>
            <p:ph type="body" idx="1"/>
          </p:nvPr>
        </p:nvSpPr>
        <p:spPr>
          <a:xfrm>
            <a:off x="5702326" y="1532173"/>
            <a:ext cx="2671986" cy="3063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457200" lvl="0" indent="-228600" algn="l">
              <a:lnSpc>
                <a:spcPct val="130000"/>
              </a:lnSpc>
              <a:spcBef>
                <a:spcPts val="700"/>
              </a:spcBef>
              <a:spcAft>
                <a:spcPts val="700"/>
              </a:spcAft>
              <a:buSzPts val="1560"/>
              <a:buFont typeface="Arial" panose="020B0604020202090204"/>
              <a:buChar char="•"/>
            </a:pPr>
            <a:r>
              <a:rPr sz="955"/>
              <a:t>ServingGroup as atomic scheduling unit for xPyD (1P1D, 1P3D, etc.)</a:t>
            </a:r>
            <a:endParaRPr sz="955"/>
          </a:p>
          <a:p>
            <a:pPr marL="457200" lvl="0" indent="-228600" algn="l">
              <a:lnSpc>
                <a:spcPct val="130000"/>
              </a:lnSpc>
              <a:spcBef>
                <a:spcPts val="700"/>
              </a:spcBef>
              <a:spcAft>
                <a:spcPts val="700"/>
              </a:spcAft>
              <a:buSzPts val="1560"/>
              <a:buFont typeface="Arial" panose="020B0604020202090204"/>
              <a:buChar char="•"/>
            </a:pPr>
            <a:r>
              <a:rPr sz="955"/>
              <a:t>Gang Scheduling: all pods in a PD group scheduled together or not at all</a:t>
            </a:r>
            <a:endParaRPr sz="955"/>
          </a:p>
          <a:p>
            <a:pPr marL="457200" lvl="0" indent="-228600" algn="l">
              <a:lnSpc>
                <a:spcPct val="130000"/>
              </a:lnSpc>
              <a:spcBef>
                <a:spcPts val="700"/>
              </a:spcBef>
              <a:spcAft>
                <a:spcPts val="700"/>
              </a:spcAft>
              <a:buSzPts val="1560"/>
              <a:buFont typeface="Arial" panose="020B0604020202090204"/>
              <a:buChar char="•"/>
            </a:pPr>
            <a:r>
              <a:rPr sz="955"/>
              <a:t>Multi-level network topology-aware scheduling:</a:t>
            </a:r>
            <a:endParaRPr sz="955"/>
          </a:p>
          <a:p>
            <a:pPr marL="228600" lvl="0" indent="0" algn="l">
              <a:lnSpc>
                <a:spcPct val="130000"/>
              </a:lnSpc>
              <a:spcBef>
                <a:spcPts val="700"/>
              </a:spcBef>
              <a:spcAft>
                <a:spcPts val="700"/>
              </a:spcAft>
              <a:buSzPts val="1560"/>
              <a:buFont typeface="Arial" panose="020B0604020202090204"/>
              <a:buNone/>
            </a:pPr>
            <a:r>
              <a:rPr sz="955"/>
              <a:t>      </a:t>
            </a:r>
            <a:r>
              <a:rPr sz="865" b="1">
                <a:latin typeface="Arial" panose="020B0604020202090204"/>
                <a:ea typeface="Arial" panose="020B0604020202090204"/>
                <a:cs typeface="Arial" panose="020B0604020202090204"/>
              </a:rPr>
              <a:t>ServingGroup level</a:t>
            </a:r>
            <a:r>
              <a:rPr sz="865"/>
              <a:t>: co-locate entire PD  </a:t>
            </a:r>
            <a:endParaRPr sz="865"/>
          </a:p>
          <a:p>
            <a:pPr marL="0" lvl="0" indent="457200" algn="l">
              <a:lnSpc>
                <a:spcPct val="130000"/>
              </a:lnSpc>
              <a:spcBef>
                <a:spcPts val="700"/>
              </a:spcBef>
              <a:spcAft>
                <a:spcPts val="700"/>
              </a:spcAft>
              <a:buSzPts val="1560"/>
              <a:buFont typeface="Arial" panose="020B0604020202090204"/>
              <a:buNone/>
            </a:pPr>
            <a:r>
              <a:rPr sz="865"/>
              <a:t>group in same HyperNode</a:t>
            </a:r>
            <a:endParaRPr sz="865"/>
          </a:p>
          <a:p>
            <a:pPr marL="228600" lvl="0" indent="0" algn="l">
              <a:lnSpc>
                <a:spcPct val="130000"/>
              </a:lnSpc>
              <a:spcBef>
                <a:spcPts val="700"/>
              </a:spcBef>
              <a:spcAft>
                <a:spcPts val="700"/>
              </a:spcAft>
              <a:buSzPts val="1560"/>
              <a:buFont typeface="Arial" panose="020B0604020202090204"/>
              <a:buNone/>
            </a:pPr>
            <a:r>
              <a:rPr sz="865"/>
              <a:t>       </a:t>
            </a:r>
            <a:r>
              <a:rPr sz="865" b="1">
                <a:latin typeface="Arial" panose="020B0604020202090204"/>
                <a:ea typeface="Arial" panose="020B0604020202090204"/>
                <a:cs typeface="Arial" panose="020B0604020202090204"/>
              </a:rPr>
              <a:t>Role level</a:t>
            </a:r>
            <a:r>
              <a:rPr sz="865"/>
              <a:t>: co-locate Entry + Worker within </a:t>
            </a:r>
            <a:endParaRPr sz="865"/>
          </a:p>
          <a:p>
            <a:pPr marL="0" lvl="0" indent="457200" algn="l">
              <a:lnSpc>
                <a:spcPct val="130000"/>
              </a:lnSpc>
              <a:spcBef>
                <a:spcPts val="700"/>
              </a:spcBef>
              <a:spcAft>
                <a:spcPts val="700"/>
              </a:spcAft>
              <a:buSzPts val="1560"/>
              <a:buFont typeface="Arial" panose="020B0604020202090204"/>
              <a:buNone/>
            </a:pPr>
            <a:r>
              <a:rPr sz="865"/>
              <a:t>each Prefill/Decode role</a:t>
            </a:r>
            <a:endParaRPr sz="865"/>
          </a:p>
          <a:p>
            <a:pPr marL="457200" lvl="0" indent="-228600" algn="l">
              <a:lnSpc>
                <a:spcPct val="130000"/>
              </a:lnSpc>
              <a:spcBef>
                <a:spcPts val="700"/>
              </a:spcBef>
              <a:spcAft>
                <a:spcPts val="700"/>
              </a:spcAft>
              <a:buSzPts val="1560"/>
              <a:buFont typeface="Arial" panose="020B0604020202090204"/>
              <a:buChar char="•"/>
            </a:pPr>
            <a:r>
              <a:rPr sz="955"/>
              <a:t>Pluggable KV Connectors (LMCache, NIXL, Mooncake) for KV cache transfer between P and D</a:t>
            </a:r>
            <a:endParaRPr sz="955"/>
          </a:p>
        </p:txBody>
      </p:sp>
      <p:pic>
        <p:nvPicPr>
          <p:cNvPr id="619" name="Google Shape;647;p22"/>
          <p:cNvPicPr>
            <a:picLocks noChangeAspect="1"/>
          </p:cNvPicPr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65688" y="1304400"/>
            <a:ext cx="4775441" cy="3178309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" name="Google Shape;614;p67"/>
          <p:cNvSpPr>
            <a:spLocks noGrp="1"/>
          </p:cNvSpPr>
          <p:nvPr>
            <p:ph type="title"/>
          </p:nvPr>
        </p:nvSpPr>
        <p:spPr>
          <a:xfrm>
            <a:off x="311700" y="0"/>
            <a:ext cx="6949800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>Kthena Intelligent Routing</a:t>
            </a:r>
          </a:p>
        </p:txBody>
      </p:sp>
      <p:pic>
        <p:nvPicPr>
          <p:cNvPr id="618" name="Google Shape;653;p23"/>
          <p:cNvPicPr>
            <a:picLocks noChangeAspect="1"/>
          </p:cNvPicPr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192600" y="1529628"/>
            <a:ext cx="3491422" cy="2840744"/>
          </a:xfrm>
          <a:prstGeom prst="rect">
            <a:avLst/>
          </a:prstGeom>
          <a:ln>
            <a:noFill/>
          </a:ln>
        </p:spPr>
      </p:pic>
      <p:sp>
        <p:nvSpPr>
          <p:cNvPr id="616" name="Google Shape;654;p23"/>
          <p:cNvSpPr>
            <a:spLocks noGrp="1"/>
          </p:cNvSpPr>
          <p:nvPr>
            <p:ph type="body" idx="1"/>
          </p:nvPr>
        </p:nvSpPr>
        <p:spPr>
          <a:xfrm>
            <a:off x="4577547" y="1529628"/>
            <a:ext cx="3369853" cy="2598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rmAutofit/>
          </a:bodyPr>
          <a:lstStyle/>
          <a:p>
            <a:pPr marL="228600" lvl="0" indent="0" algn="l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SzPts val="805"/>
              <a:buFont typeface="Arial" panose="020B0604020202090204"/>
              <a:buNone/>
            </a:pPr>
            <a:r>
              <a:rPr sz="700" b="1">
                <a:solidFill>
                  <a:srgbClr val="FF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Smart Pluggable Routing Engine</a:t>
            </a:r>
            <a:endParaRPr sz="700">
              <a:solidFill>
                <a:srgbClr val="FF0000"/>
              </a:solidFill>
            </a:endParaRPr>
          </a:p>
          <a:p>
            <a:pPr marL="457200" lvl="0" indent="-228600" algn="l">
              <a:lnSpc>
                <a:spcPct val="80000"/>
              </a:lnSpc>
              <a:spcBef>
                <a:spcPts val="700"/>
              </a:spcBef>
              <a:spcAft>
                <a:spcPts val="700"/>
              </a:spcAft>
              <a:buSzPts val="805"/>
              <a:buFont typeface="Arial" panose="020B0604020202090204"/>
              <a:buChar char="•"/>
            </a:pPr>
            <a:r>
              <a:rPr sz="700" i="1">
                <a:latin typeface="Arial" panose="020B0604020202090204"/>
                <a:ea typeface="Arial" panose="020B0604020202090204"/>
                <a:cs typeface="Arial" panose="020B0604020202090204"/>
              </a:rPr>
              <a:t>prefix-cache</a:t>
            </a:r>
            <a:r>
              <a:rPr sz="700"/>
              <a:t> — route to pod with matching prompt prefix</a:t>
            </a:r>
            <a:endParaRPr sz="700"/>
          </a:p>
          <a:p>
            <a:pPr marL="457200" lvl="0" indent="-228600" algn="l">
              <a:lnSpc>
                <a:spcPct val="80000"/>
              </a:lnSpc>
              <a:spcBef>
                <a:spcPts val="700"/>
              </a:spcBef>
              <a:spcAft>
                <a:spcPts val="700"/>
              </a:spcAft>
              <a:buSzPts val="805"/>
              <a:buFont typeface="Arial" panose="020B0604020202090204"/>
              <a:buChar char="•"/>
            </a:pPr>
            <a:r>
              <a:rPr sz="700" i="1">
                <a:latin typeface="Arial" panose="020B0604020202090204"/>
                <a:ea typeface="Arial" panose="020B0604020202090204"/>
                <a:cs typeface="Arial" panose="020B0604020202090204"/>
              </a:rPr>
              <a:t>kvcache-aware</a:t>
            </a:r>
            <a:r>
              <a:rPr sz="700"/>
              <a:t> — Redis-based distributed KV block matching</a:t>
            </a:r>
            <a:endParaRPr sz="700"/>
          </a:p>
          <a:p>
            <a:pPr marL="457200" lvl="0" indent="-228600" algn="l">
              <a:lnSpc>
                <a:spcPct val="80000"/>
              </a:lnSpc>
              <a:spcBef>
                <a:spcPts val="700"/>
              </a:spcBef>
              <a:spcAft>
                <a:spcPts val="700"/>
              </a:spcAft>
              <a:buSzPts val="805"/>
              <a:buFont typeface="Arial" panose="020B0604020202090204"/>
              <a:buChar char="•"/>
            </a:pPr>
            <a:r>
              <a:rPr sz="700" i="1">
                <a:latin typeface="Arial" panose="020B0604020202090204"/>
                <a:ea typeface="Arial" panose="020B0604020202090204"/>
                <a:cs typeface="Arial" panose="020B0604020202090204"/>
              </a:rPr>
              <a:t>least-request</a:t>
            </a:r>
            <a:r>
              <a:rPr sz="700"/>
              <a:t> — avoid pods with long queues</a:t>
            </a:r>
            <a:endParaRPr sz="700"/>
          </a:p>
          <a:p>
            <a:pPr marL="457200" lvl="0" indent="-228600" algn="l">
              <a:lnSpc>
                <a:spcPct val="80000"/>
              </a:lnSpc>
              <a:spcBef>
                <a:spcPts val="700"/>
              </a:spcBef>
              <a:spcAft>
                <a:spcPts val="700"/>
              </a:spcAft>
              <a:buSzPts val="805"/>
              <a:buFont typeface="Arial" panose="020B0604020202090204"/>
              <a:buChar char="•"/>
            </a:pPr>
            <a:r>
              <a:rPr sz="700" i="1">
                <a:latin typeface="Arial" panose="020B0604020202090204"/>
                <a:ea typeface="Arial" panose="020B0604020202090204"/>
                <a:cs typeface="Arial" panose="020B0604020202090204"/>
              </a:rPr>
              <a:t>least-latency</a:t>
            </a:r>
            <a:r>
              <a:rPr sz="700"/>
              <a:t> — prefer lower TTFT / TPOT</a:t>
            </a:r>
            <a:endParaRPr sz="700"/>
          </a:p>
          <a:p>
            <a:pPr marL="457200" lvl="0" indent="-228600" algn="l">
              <a:lnSpc>
                <a:spcPct val="80000"/>
              </a:lnSpc>
              <a:spcBef>
                <a:spcPts val="700"/>
              </a:spcBef>
              <a:spcAft>
                <a:spcPts val="700"/>
              </a:spcAft>
              <a:buSzPts val="805"/>
              <a:buFont typeface="Arial" panose="020B0604020202090204"/>
              <a:buChar char="•"/>
            </a:pPr>
            <a:r>
              <a:rPr sz="700" i="1">
                <a:latin typeface="Arial" panose="020B0604020202090204"/>
                <a:ea typeface="Arial" panose="020B0604020202090204"/>
                <a:cs typeface="Arial" panose="020B0604020202090204"/>
              </a:rPr>
              <a:t>lora-affinity</a:t>
            </a:r>
            <a:r>
              <a:rPr sz="700"/>
              <a:t> — route to LoRA-loaded pod</a:t>
            </a:r>
            <a:endParaRPr sz="700"/>
          </a:p>
          <a:p>
            <a:pPr marL="457200" lvl="0" indent="-228600" algn="l">
              <a:lnSpc>
                <a:spcPct val="80000"/>
              </a:lnSpc>
              <a:spcBef>
                <a:spcPts val="700"/>
              </a:spcBef>
              <a:spcAft>
                <a:spcPts val="700"/>
              </a:spcAft>
              <a:buSzPts val="805"/>
              <a:buFont typeface="Arial" panose="020B0604020202090204"/>
              <a:buChar char="•"/>
            </a:pPr>
            <a:r>
              <a:rPr sz="700" i="1">
                <a:latin typeface="Arial" panose="020B0604020202090204"/>
                <a:ea typeface="Arial" panose="020B0604020202090204"/>
                <a:cs typeface="Arial" panose="020B0604020202090204"/>
              </a:rPr>
              <a:t>gpu-usage</a:t>
            </a:r>
            <a:r>
              <a:rPr sz="700"/>
              <a:t> — prefer free GPU KV cache</a:t>
            </a:r>
            <a:endParaRPr sz="700"/>
          </a:p>
          <a:p>
            <a:pPr marL="228600" lvl="0" indent="0" algn="l">
              <a:lnSpc>
                <a:spcPct val="130000"/>
              </a:lnSpc>
              <a:spcBef>
                <a:spcPts val="700"/>
              </a:spcBef>
              <a:spcAft>
                <a:spcPts val="700"/>
              </a:spcAft>
              <a:buSzPts val="805"/>
              <a:buFont typeface="Arial" panose="020B0604020202090204"/>
              <a:buNone/>
            </a:pPr>
            <a:r>
              <a:rPr sz="700" b="1">
                <a:solidFill>
                  <a:srgbClr val="FF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Token-Level Traffic Management</a:t>
            </a:r>
            <a:endParaRPr sz="700" b="1"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805"/>
              <a:buFont typeface="Arial" panose="020B0604020202090204"/>
              <a:buChar char="•"/>
            </a:pPr>
            <a:r>
              <a:rPr sz="700"/>
              <a:t>Token-based rate limiting (input + output, local + global Redis)</a:t>
            </a:r>
            <a:endParaRPr sz="700"/>
          </a:p>
          <a:p>
            <a: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805"/>
              <a:buFont typeface="Arial" panose="020B0604020202090204"/>
              <a:buChar char="•"/>
            </a:pPr>
            <a:r>
              <a:rPr sz="700"/>
              <a:t>Per-user fairness on historical token usage</a:t>
            </a:r>
            <a:endParaRPr sz="700"/>
          </a:p>
          <a:p>
            <a: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805"/>
              <a:buFont typeface="Arial" panose="020B0604020202090204"/>
              <a:buChar char="•"/>
            </a:pPr>
            <a:r>
              <a:rPr sz="700"/>
              <a:t>Weighted splitting for canary / A-B / multi-LoRA</a:t>
            </a:r>
            <a:endParaRPr sz="700"/>
          </a:p>
          <a:p>
            <a:pPr marL="228600" lvl="0" indent="0" algn="l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SzPts val="805"/>
              <a:buFont typeface="Arial" panose="020B0604020202090204"/>
              <a:buNone/>
            </a:pPr>
            <a:r>
              <a:rPr sz="700" b="1">
                <a:solidFill>
                  <a:srgbClr val="FF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Native PD Disaggregation Routing</a:t>
            </a:r>
            <a:endParaRPr sz="700" b="1"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700"/>
              </a:spcAft>
              <a:buSzPts val="805"/>
              <a:buFont typeface="Arial" panose="020B0604020202090204"/>
              <a:buChar char="•"/>
            </a:pPr>
            <a:r>
              <a:rPr sz="700"/>
              <a:t>Split Prefill and Decode by group; transfer KV through pluggable connectors.</a:t>
            </a:r>
            <a:endParaRPr sz="7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losing title"/>
          <p:cNvSpPr>
            <a:spLocks noGrp="1"/>
          </p:cNvSpPr>
          <p:nvPr/>
        </p:nvSpPr>
        <p:spPr>
          <a:xfrm>
            <a:off x="552450" y="1485900"/>
            <a:ext cx="43815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Thank You</a:t>
            </a:r>
            <a:endParaRPr sz="3150" b="1">
              <a:solidFill>
                <a:srgbClr val="FFFFFF"/>
              </a:solidFill>
            </a:endParaRPr>
          </a:p>
          <a:p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Questions?</a:t>
            </a:r>
            <a:endParaRPr sz="3150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SNA24">
  <a:themeElements>
    <a:clrScheme name="Custom 2">
      <a:dk1>
        <a:srgbClr val="000000"/>
      </a:dk1>
      <a:lt1>
        <a:srgbClr val="FFFFFF"/>
      </a:lt1>
      <a:dk2>
        <a:srgbClr val="000000"/>
      </a:dk2>
      <a:lt2>
        <a:srgbClr val="EEEEEE"/>
      </a:lt2>
      <a:accent1>
        <a:srgbClr val="083E4F"/>
      </a:accent1>
      <a:accent2>
        <a:srgbClr val="262267"/>
      </a:accent2>
      <a:accent3>
        <a:srgbClr val="305BA9"/>
      </a:accent3>
      <a:accent4>
        <a:srgbClr val="B0DDFF"/>
      </a:accent4>
      <a:accent5>
        <a:srgbClr val="FFC217"/>
      </a:accent5>
      <a:accent6>
        <a:srgbClr val="FFA35F"/>
      </a:accent6>
      <a:hlink>
        <a:srgbClr val="FF7F15"/>
      </a:hlink>
      <a:folHlink>
        <a:srgbClr val="FFA35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ustom 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SSNA24">
  <a:themeElements>
    <a:clrScheme name="Custom 2">
      <a:dk1>
        <a:srgbClr val="000000"/>
      </a:dk1>
      <a:lt1>
        <a:srgbClr val="FFFFFF"/>
      </a:lt1>
      <a:dk2>
        <a:srgbClr val="000000"/>
      </a:dk2>
      <a:lt2>
        <a:srgbClr val="EEEEEE"/>
      </a:lt2>
      <a:accent1>
        <a:srgbClr val="083E4F"/>
      </a:accent1>
      <a:accent2>
        <a:srgbClr val="262267"/>
      </a:accent2>
      <a:accent3>
        <a:srgbClr val="305BA9"/>
      </a:accent3>
      <a:accent4>
        <a:srgbClr val="B0DDFF"/>
      </a:accent4>
      <a:accent5>
        <a:srgbClr val="FFC217"/>
      </a:accent5>
      <a:accent6>
        <a:srgbClr val="FFA35F"/>
      </a:accent6>
      <a:hlink>
        <a:srgbClr val="FF7F15"/>
      </a:hlink>
      <a:folHlink>
        <a:srgbClr val="FFA35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ustom 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9569</Words>
  <Application>WPS Presentation</Application>
  <PresentationFormat>Converted Presentation</PresentationFormat>
  <Paragraphs>670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6" baseType="lpstr">
      <vt:lpstr>Arial</vt:lpstr>
      <vt:lpstr>宋体</vt:lpstr>
      <vt:lpstr>Wingdings</vt:lpstr>
      <vt:lpstr>Arial</vt:lpstr>
      <vt:lpstr>PingFang SC</vt:lpstr>
      <vt:lpstr>微软雅黑</vt:lpstr>
      <vt:lpstr>汉仪旗黑</vt:lpstr>
      <vt:lpstr>宋体</vt:lpstr>
      <vt:lpstr>Arial Unicode MS</vt:lpstr>
      <vt:lpstr>Calibri</vt:lpstr>
      <vt:lpstr>Helvetica Neue</vt:lpstr>
      <vt:lpstr>汉仪书宋二KW</vt:lpstr>
      <vt:lpstr>Arial Bold</vt:lpstr>
      <vt:lpstr>OSSNA24</vt:lpstr>
      <vt:lpstr>Cloud Native AI</vt:lpstr>
      <vt:lpstr>Speakers</vt:lpstr>
      <vt:lpstr>Agenda</vt:lpstr>
      <vt:lpstr>Workload Drift</vt:lpstr>
      <vt:lpstr>Volcano Overview</vt:lpstr>
      <vt:lpstr>Unified Scheduling Architecture</vt:lpstr>
      <vt:lpstr>Fast-Path Agent Scheduling</vt:lpstr>
      <vt:lpstr>Dynamic Node Sharding</vt:lpstr>
      <vt:lpstr>Colocation Foundations</vt:lpstr>
      <vt:lpstr>Why Pod-Level Eviction Fails</vt:lpstr>
      <vt:lpstr>Gang-Aware Reclaim</vt:lpstr>
      <vt:lpstr>Recoverable Handover</vt:lpstr>
      <vt:lpstr>PodGroup and SubGroup</vt:lpstr>
      <vt:lpstr>Topology Placement by Group</vt:lpstr>
      <vt:lpstr>Multi-Level Network Topology</vt:lpstr>
      <vt:lpstr>HyperNode Auto-Discovery</vt:lpstr>
      <vt:lpstr>Topology-Scoped Preemption</vt:lpstr>
      <vt:lpstr>Kthena Serving Abstractions</vt:lpstr>
      <vt:lpstr>Serving Scale-Out</vt:lpstr>
      <vt:lpstr>Prefill–Decode Disaggregation</vt:lpstr>
      <vt:lpstr>Kthena Intelligent Routing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Volcano: A UnifiedScheduling Platform forCloud Native AI</dc:title>
  <dc:creator>Walnut Exporter</dc:creator>
  <cp:lastModifiedBy>汪琳</cp:lastModifiedBy>
  <cp:revision>25</cp:revision>
  <dcterms:created xsi:type="dcterms:W3CDTF">2026-09-02T09:34:41Z</dcterms:created>
  <dcterms:modified xsi:type="dcterms:W3CDTF">2026-09-02T09:34:41Z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02BFA8629BB5C547CBBE976AA4EDBD0E_42</vt:lpwstr>
  </property>
  <property fmtid="{D5CDD505-2E9C-101B-9397-08002B2CF9AE}" pid="3" name="KSOProductBuildVer">
    <vt:lpwstr>1033-7.2.2.8955</vt:lpwstr>
  </property>
</Properties>
</file>